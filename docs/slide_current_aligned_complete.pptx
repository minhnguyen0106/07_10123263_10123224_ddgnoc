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2/chart" xmlns:ns5="https://web.wps.cn/et/2018/main" xmlns:ns6="http://schemas.openxmlformats.org/officeDocument/2006/relationships">
  <c:date1904 val="0"/>
  <c:lang val="zh-CN"/>
  <c:roundedCorners val="0"/>
  <ns1:AlternateContent>
    <ns1:Choice Requires="c14">
      <ns2:style val="102"/>
    </ns1:Choice>
    <ns1:Fallback>
      <c:style val="2"/>
    </ns1:Fallback>
  </ns1:AlternateContent>
  <c:chart>
    <c:title>
      <c:tx>
        <c:rich>
          <ns3:bodyPr rot="0" spcFirstLastPara="0" vertOverflow="ellipsis" vert="horz" wrap="square" anchor="ctr" anchorCtr="1"/>
          <ns3:lstStyle/>
          <ns3:p>
            <ns3:pPr>
              <ns3:defRPr lang="en-US" sz="18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r>
              <ns3:rPr sz="1275" b="1">
                <ns3:solidFill>
                  <ns3:srgbClr val="102A43"/>
                </ns3:solidFill>
                <ns3:latin typeface="Arial" panose="020B0604020202020204"/>
                <ns3:ea typeface="Arial" panose="020B0604020202020204"/>
                <ns3:cs typeface="Arial" panose="020B0604020202020204"/>
              </ns3:rPr>
              <ns3:t>RMSE trên tập test (USD, thấp hơn tốt hơn)</ns3:t>
            </ns3:r>
            <ns3:endParaRPr sz="1275" b="1">
              <ns3:solidFill>
                <ns3:srgbClr val="102A43"/>
              </ns3:solidFill>
              <ns3:latin typeface="Arial" panose="020B0604020202020204"/>
              <ns3:ea typeface="Arial" panose="020B0604020202020204"/>
              <ns3:cs typeface="Arial" panose="020B0604020202020204"/>
            </ns3:endParaRPr>
          </ns3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RMSE</c:f>
              <c:strCache>
                <c:ptCount val="1"/>
                <c:pt idx="0">
                  <c:v>RMSE</c:v>
                </c:pt>
              </c:strCache>
            </c:strRef>
          </c:tx>
          <c:spPr>
            <ns3:solidFill>
              <ns3:srgbClr val="167D8D"/>
            </ns3:solidFill>
          </c:spPr>
          <c:invertIfNegative val="0"/>
          <c:dPt>
            <c:idx val="0"/>
            <c:invertIfNegative val="0"/>
            <c:bubble3D val="0"/>
            <c:spPr>
              <ns3:solidFill>
                <ns3:srgbClr val="167D8D"/>
              </ns3:solidFill>
            </c:spPr>
          </c:dPt>
          <c:dPt>
            <c:idx val="1"/>
            <c:invertIfNegative val="0"/>
            <c:bubble3D val="0"/>
            <c:spPr>
              <ns3:solidFill>
                <ns3:srgbClr val="173F5F"/>
              </ns3:solidFill>
            </c:spPr>
          </c:dPt>
          <c:dPt>
            <c:idx val="2"/>
            <c:invertIfNegative val="0"/>
            <c:bubble3D val="0"/>
            <c:spPr>
              <ns3:solidFill>
                <ns3:srgbClr val="E9C46A"/>
              </ns3:solidFill>
            </c:spPr>
          </c:dPt>
          <c:dPt>
            <c:idx val="3"/>
            <c:invertIfNegative val="0"/>
            <c:bubble3D val="0"/>
            <c:spPr>
              <ns3:solidFill>
                <ns3:srgbClr val="E76F51"/>
              </ns3:solidFill>
            </c:spPr>
          </c:dPt>
          <c:dLbls>
            <c:numFmt formatCode="General" sourceLinked="1"/>
            <c:spPr>
              <ns3:noFill/>
              <ns3:ln>
                <ns3:noFill/>
              </ns3:ln>
              <ns3:effectLst/>
            </c:spPr>
            <c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1000" b="0" i="0" u="none" strike="noStrike" kern="1200" baseline="0">
                    <ns3:solidFill>
                      <ns3:schemeClr val="tx1"/>
                    </ns3:solidFill>
                    <ns3:latin typeface="+mn-lt"/>
                    <ns3:ea typeface="+mn-ea"/>
                    <ns3:cs typeface="+mn-cs"/>
                  </ns3:defRPr>
                </ns3:pPr>
              </ns3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layout/>
                <ns4:showLeaderLines val="0"/>
                <ns4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Gradient Boosting</c:v>
                </c:pt>
                <c:pt idx="1">
                  <c:v>Random Forest</c:v>
                </c:pt>
                <c:pt idx="2">
                  <c:v>Decision Tree</c:v>
                </c:pt>
                <c:pt idx="3">
                  <c:v>Linear Regression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46839.74</c:v>
                </c:pt>
                <c:pt idx="1">
                  <c:v>50180.69</c:v>
                </c:pt>
                <c:pt idx="2">
                  <c:v>63434.37</c:v>
                </c:pt>
                <c:pt idx="3">
                  <c:v>72701.33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ns3:ln w="9525">
              <ns3:solidFill>
                <ns3:srgbClr val="D7E0E8"/>
              </ns3:solidFill>
              <ns3:prstDash val="solid"/>
              <ns3:round/>
            </ns3:ln>
          </c:spPr>
        </c:majorGridlines>
        <c:numFmt formatCode="#,##0" sourceLinked="1"/>
        <c:majorTickMark val="none"/>
        <c:minorTickMark val="none"/>
        <c:tickLblPos val="nextTo"/>
        <c:spPr>
          <ns3:ln w="9525">
            <ns3:solidFill>
              <ns3:srgbClr val="D4D4D4"/>
            </ns3:solidFill>
            <ns3:prstDash val="solid"/>
            <ns3:round/>
          </ns3:ln>
        </c:spPr>
        <c:txPr>
          <ns3:bodyPr rot="-60000000" spcFirstLastPara="0" vertOverflow="ellipsis" vert="horz" wrap="square" anchor="ctr" anchorCtr="1"/>
          <ns3:lstStyle/>
          <ns3:p>
            <ns3:pPr>
              <ns3:defRPr lang="en-US" sz="900" b="0" i="0" u="none" strike="noStrike" kern="1200" baseline="0">
                <ns3:solidFill>
                  <ns3:srgbClr val="5F6C7B"/>
                </ns3:solidFill>
                <ns3:latin typeface="Arial" panose="020B0604020202020204"/>
                <ns3:ea typeface="Arial" panose="020B0604020202020204"/>
                <ns3:cs typeface="Arial" panose="020B0604020202020204"/>
              </ns3:defRPr>
            </ns3:pPr>
          </ns3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ns3:ln w="9525">
            <ns3:solidFill>
              <ns3:srgbClr val="D7E0E8"/>
            </ns3:solidFill>
            <ns3:prstDash val="solid"/>
            <ns3:round/>
          </ns3:ln>
        </c:spPr>
        <c:txPr>
          <ns3:bodyPr rot="-60000000" spcFirstLastPara="0" vertOverflow="ellipsis" vert="horz" wrap="square" anchor="ctr" anchorCtr="1"/>
          <ns3:lstStyle/>
          <ns3:p>
            <ns3:pPr>
              <ns3:defRPr lang="en-US" sz="975" b="0" i="0" u="none" strike="noStrike" kern="1200" baseline="0">
                <ns3:solidFill>
                  <ns3:srgbClr val="1D2939"/>
                </ns3:solidFill>
                <ns3:latin typeface="Arial" panose="020B0604020202020204"/>
                <ns3:ea typeface="Arial" panose="020B0604020202020204"/>
                <ns3:cs typeface="Arial" panose="020B0604020202020204"/>
              </ns3:defRPr>
            </ns3:pPr>
          </ns3:p>
        </c:txPr>
        <c:crossAx val="48650112"/>
        <c:crosses val="autoZero"/>
        <c:crossBetween val="between"/>
      </c:valAx>
      <c:spPr>
        <ns3:solidFill>
          <ns3:srgbClr val="FFFFFF"/>
        </ns3:solidFill>
        <ns3:ln w="0">
          <ns3:solidFill>
            <ns3:srgbClr val="FFFFFF"/>
          </ns3:solidFill>
          <ns3:prstDash val="solid"/>
        </ns3:ln>
      </c:spPr>
    </c:plotArea>
    <c:plotVisOnly val="1"/>
    <c:dispBlanksAs val="gap"/>
    <c:showDLblsOverMax val="0"/>
    <c:extLst>
      <c:ext uri="{0b15fc19-7d7d-44ad-8c2d-2c3a37ce22c3}">
        <ns5:chartProps chartId="{3cb23841-030e-40f8-bea9-6d2f839c9e7a}"/>
      </c:ext>
    </c:extLst>
  </c:chart>
  <c:spPr>
    <ns3:solidFill>
      <ns3:srgbClr val="FFFFFF"/>
    </ns3:solidFill>
    <ns3:ln w="0">
      <ns3:solidFill>
        <ns3:srgbClr val="FFFFFF"/>
      </ns3:solidFill>
      <ns3:prstDash val="solid"/>
    </ns3:ln>
  </c:spPr>
  <c:txPr>
    <ns3:bodyPr/>
    <ns3:lstStyle/>
    <ns3:p>
      <ns3:pPr>
        <ns3:defRPr lang="en-US"/>
      </ns3:pPr>
    </ns3:p>
  </c:txPr>
  <c:externalData ns6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30-40 giây.</a:t>
            </a:r>
          </a:p>
          <a:p>
            <a:r>
              <a:t>Mở đầu bằng mục tiêu xây dựng hệ thống dự đoán giá nhà California từ dữ liệu, model, API đến Docker Compose.</a:t>
            </a:r>
          </a:p>
          <a:p>
            <a:r>
              <a:t>Nguồn: README.md, ai-models/colab, ai-models/models.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45 giây.</a:t>
            </a:r>
          </a:p>
          <a:p>
            <a:r>
              <a:t>Đây là bài toán supervised regression. API nhận 9 trường raw, backend và AI service tạo thêm 3 tỷ lệ trước khi dự đoán.</a:t>
            </a:r>
          </a:p>
          <a:p>
            <a:r>
              <a:t>Nguồn: ai-models/src/train.py, ai-models/models/schema.json.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50 giây.</a:t>
            </a:r>
          </a:p>
          <a:p>
            <a:r>
              <a:t>Dataset có 20.640 dòng, 10 cột, 207 giá trị thiếu ở total_bedrooms và target median_house_value.</a:t>
            </a:r>
          </a:p>
          <a:p>
            <a:r>
              <a:t>Nguồn: ai-models/data/housing.csv.zip, ai-models/colab/01_eda.ipynb.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Nhấn mạnh phân phối target lệch phải, dữ liệu thiếu tập trung ở total_bedrooms và nhu cầu xử lý trước huấn luyện.</a:t>
            </a:r>
          </a:p>
          <a:p>
            <a:r>
              <a:t>Nguồn hình: ai-models/colab/01_eda.ipynb.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median_income có tương quan mạnh với target, quan hệ không hoàn toàn tuyến tính nên model cây và boosting có ý nghĩa.</a:t>
            </a:r>
          </a:p>
          <a:p>
            <a:r>
              <a:t>Nguồn: ai-models/colab/01_eda.ipynb, ai-models/data/housing.csv.zip.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Đi qua các bước split, impute, tạo 3 tỷ lệ, scale, encode và ghép preprocessor với model.</a:t>
            </a:r>
          </a:p>
          <a:p>
            <a:r>
              <a:t>Nguồn: ai-models/src/preprocess.py, ai-models/src/train.py, ai-models/service/main.py.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45 giây.</a:t>
            </a:r>
          </a:p>
          <a:p>
            <a:r>
              <a:t>Bốn model được dùng để so sánh gồm Linear Regression, Decision Tree, Random Forest và Gradient Boosting.</a:t>
            </a:r>
          </a:p>
          <a:p>
            <a:r>
              <a:t>Nguồn: ai-models/src/train.py.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55 giây.</a:t>
            </a:r>
          </a:p>
          <a:p>
            <a:r>
              <a:t>Lần chạy kiểm tra mặc định cho thấy Gradient Boosting đứng đầu với Test RMSE 46.839,74, MAE 30.660,42 và R² 0,8326.</a:t>
            </a:r>
          </a:p>
          <a:p>
            <a:r>
              <a:t>Nguồn: ai-models/src/train.py.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70 giây.</a:t>
            </a:r>
          </a:p>
          <a:p>
            <a:r>
              <a:t>Đọc bảng theo thứ tự model. Gradient Boosting có MAE thấp nhất và R² cao nhất trong lần chạy kiểm tra.</a:t>
            </a:r>
          </a:p>
          <a:p>
            <a:r>
              <a:t>Nguồn: ai-models/src/train.py.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Artifact cuối là Pipeline chứa preprocessor và GradientBoostingRegressor. metadata.json ghi RMSE 46.794,54, MAE 30.649,37 và R² 0,8329.</a:t>
            </a:r>
          </a:p>
          <a:p>
            <a:r>
              <a:t>Nguồn: ai-models/models/model.joblib, ai-models/models/metadata.json, ai-models/colab/04_evaluate.ipynb.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Frontend là FastAPI trả HTML form, Backend validate và điều phối, AI Service tải model, MongoDB lưu lịch sử prediction.</a:t>
            </a:r>
          </a:p>
          <a:p>
            <a:r>
              <a:t>Nguồn: docker-compose.yml, app/frontend/main.py, app/backend/main.py, ai-models/service/main.py.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Đi theo 6 bước của request. Điểm chính là proxy frontend, validate backend, tạo feature ratio và truy vết bằng X-Request-ID.</a:t>
            </a:r>
          </a:p>
          <a:p>
            <a:r>
              <a:t>Nguồn: app/frontend/main.py, app/backend/main.py, ai-models/service/main.py.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Compose config parse được bốn service. Docker daemon không kết nối trong phiên kiểm tra nên chưa xác nhận chạy container end-to-end.</a:t>
            </a:r>
          </a:p>
          <a:p>
            <a:r>
              <a:t>Nguồn: docker-compose.yml, .env.example,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65 giây.</a:t>
            </a:r>
          </a:p>
          <a:p>
            <a:r>
              <a:t>12 pytest pass khi chạy hai suite riêng: 7 test AI Service và 5 test Backend. Compose config cũng pass.</a:t>
            </a:r>
          </a:p>
          <a:p>
            <a:r>
              <a:t>Giới hạn: Docker end-to-end, MongoDB thật, smoke test và load test chưa được xác nhận trong repo hiện tại.</a:t>
            </a:r>
          </a:p>
          <a:p>
            <a:r>
              <a:t>Nguồn: ai-models/service/tests, app/backend/tests, docker compose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55 giây.</a:t>
            </a:r>
          </a:p>
          <a:p>
            <a:r>
              <a:t>README hiện mô tả hướng triển khai Render cho AI Service, Backend, Frontend và MongoDB Atlas cho database.</a:t>
            </a:r>
          </a:p>
          <a:p>
            <a:r>
              <a:t>URL public vẫn TBD. Có thể dùng ngrok fallback cho frontend local qua cổng 3000 khi demo.</a:t>
            </a:r>
          </a:p>
          <a:p>
            <a:r>
              <a:t>Nguồn: README.md, .env.example, docker-compose.yml.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Thời lượng: 60 giây.</a:t>
            </a:r>
          </a:p>
          <a:p>
            <a:r>
              <a:t>Kết luận: dự án đã có model artifact, schema validation, ba service FastAPI, Docker Compose và test cơ bản.</a:t>
            </a:r>
          </a:p>
          <a:p>
            <a:r>
              <a:t>Ưu tiên tiếp theo: chạy Compose end-to-end, cập nhật URL public, test Mongo history, thêm smoke/load test và CI/CD.</a:t>
            </a:r>
          </a:p>
          <a:p>
            <a:r>
              <a:t>Nguồn: README.md và repository hiện tại.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7096125" y="0"/>
            <a:ext cx="509587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6625" y="1783796"/>
            <a:ext cx="4619625" cy="3147534"/>
          </a:xfrm>
          <a:prstGeom prst="roundRect">
            <a:avLst>
              <a:gd name="adj" fmla="val 1237"/>
            </a:avLst>
          </a:prstGeom>
        </p:spPr>
      </p:pic>
      <p:sp>
        <p:nvSpPr>
          <p:cNvPr id="4" name="Rectangle 3"/>
          <p:cNvSpPr>
            <a:spLocks noGrp="1"/>
          </p:cNvSpPr>
          <p:nvPr/>
        </p:nvSpPr>
        <p:spPr>
          <a:xfrm>
            <a:off x="7096125" y="0"/>
            <a:ext cx="95250" cy="685800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590550"/>
            <a:ext cx="557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BÁO CÁO BÀI TẬP LỚN</a:t>
            </a:r>
            <a:endParaRPr sz="1050" b="1">
              <a:solidFill>
                <a:srgbClr val="E9C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1143000"/>
            <a:ext cx="5715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7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DỰ ĐOÁN GIÁ NHÀ</a:t>
            </a:r>
            <a:endParaRPr sz="37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7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CALIFORNIA</a:t>
            </a:r>
            <a:endParaRPr sz="37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2952750"/>
            <a:ext cx="5572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California Housing Price Prediction</a:t>
            </a:r>
            <a:endParaRPr sz="1800" b="0">
              <a:solidFill>
                <a:srgbClr val="D9E3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357187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2A9D8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A9D8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Machine Learning · FastAPI · Docker Compose · MongoDB</a:t>
            </a:r>
            <a:endParaRPr sz="1350" b="1">
              <a:solidFill>
                <a:srgbClr val="2A9D8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85800" y="4580890"/>
            <a:ext cx="4953000" cy="8769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endParaRPr lang="vi-VN"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vi-VN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Thành Viên: </a:t>
            </a:r>
            <a:endParaRPr lang="vi-VN"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indent="457200"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vi-VN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Nguyễn Đức Minh - </a:t>
            </a:r>
            <a:r>
              <a:rPr lang="vi-VN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10123224</a:t>
            </a:r>
            <a:endParaRPr lang="vi-VN"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indent="457200"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vi-VN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Đào Chính Quang - </a:t>
            </a:r>
            <a:r>
              <a:rPr lang="vi-VN" sz="15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10123263</a:t>
            </a:r>
            <a:endParaRPr lang="vi-VN" sz="15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58102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B9C8D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B9C8D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Repository: cali-house-price-prediction-git</a:t>
            </a:r>
            <a:endParaRPr sz="975" b="0">
              <a:solidFill>
                <a:srgbClr val="B9C8D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Straight Connector 10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nội dung: README.md, ai-models/colab, ai-models/models</a:t>
            </a:r>
            <a:endParaRPr sz="825" b="0">
              <a:solidFill>
                <a:srgbClr val="D9E3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· PROBLEM FRAMING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Bài toán dự đoán giá nhà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381125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Dự đoán median_house_value từ 9 trường raw và 3 đặc trưng tạo thêm.</a:t>
            </a:r>
            <a:endParaRPr sz="165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62000" y="2238375"/>
            <a:ext cx="2857500" cy="1809750"/>
          </a:xfrm>
          <a:prstGeom prst="roundRect">
            <a:avLst>
              <a:gd name="adj" fmla="val 3684"/>
            </a:avLst>
          </a:prstGeom>
          <a:solidFill>
            <a:srgbClr val="EAF6F5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Rectangle 6"/>
          <p:cNvSpPr>
            <a:spLocks noGrp="1"/>
          </p:cNvSpPr>
          <p:nvPr/>
        </p:nvSpPr>
        <p:spPr>
          <a:xfrm>
            <a:off x="971550" y="2447925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INPUT</a:t>
            </a:r>
            <a:endParaRPr sz="105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71550" y="290512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 biến số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ocean_proximity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286250" y="2238375"/>
            <a:ext cx="2857500" cy="1809750"/>
          </a:xfrm>
          <a:prstGeom prst="roundRect">
            <a:avLst>
              <a:gd name="adj" fmla="val 3684"/>
            </a:avLst>
          </a:prstGeom>
          <a:solidFill>
            <a:srgbClr val="EAF1F8"/>
          </a:solidFill>
          <a:ln w="9525">
            <a:solidFill>
              <a:srgbClr val="173F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4495800" y="2447925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MÔ HÌNH</a:t>
            </a:r>
            <a:endParaRPr sz="1050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495800" y="290512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Tiền xử lý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Gradient Boosting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810500" y="2238375"/>
            <a:ext cx="2857500" cy="1809750"/>
          </a:xfrm>
          <a:prstGeom prst="roundRect">
            <a:avLst>
              <a:gd name="adj" fmla="val 3684"/>
            </a:avLst>
          </a:prstGeom>
          <a:solidFill>
            <a:srgbClr val="FCEDE8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8020050" y="2447925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</a:t>
            </a:r>
            <a:endParaRPr sz="1050" b="1">
              <a:solidFill>
                <a:srgbClr val="E76F5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020050" y="2905125"/>
            <a:ext cx="2438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Giá nhà dự đoán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(USD)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ight Arrow 14"/>
          <p:cNvSpPr>
            <a:spLocks noGrp="1"/>
          </p:cNvSpPr>
          <p:nvPr/>
        </p:nvSpPr>
        <p:spPr>
          <a:xfrm>
            <a:off x="3762375" y="2952750"/>
            <a:ext cx="361950" cy="304800"/>
          </a:xfrm>
          <a:prstGeom prst="rightArrow">
            <a:avLst/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6" name="Right Arrow 15"/>
          <p:cNvSpPr>
            <a:spLocks noGrp="1"/>
          </p:cNvSpPr>
          <p:nvPr/>
        </p:nvSpPr>
        <p:spPr>
          <a:xfrm>
            <a:off x="7286625" y="2952750"/>
            <a:ext cx="361950" cy="304800"/>
          </a:xfrm>
          <a:prstGeom prst="rightArrow">
            <a:avLst/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62000" y="4524375"/>
            <a:ext cx="9906000" cy="123825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Rectangle 17"/>
          <p:cNvSpPr>
            <a:spLocks noGrp="1"/>
          </p:cNvSpPr>
          <p:nvPr/>
        </p:nvSpPr>
        <p:spPr>
          <a:xfrm>
            <a:off x="1000125" y="4695825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TIÊU CHÍ ĐÁNH GIÁ</a:t>
            </a:r>
            <a:endParaRPr sz="105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000125" y="510540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RMSE</a:t>
            </a:r>
            <a:endParaRPr sz="21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143250" y="510540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MAE</a:t>
            </a:r>
            <a:endParaRPr sz="21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5286375" y="5105400"/>
            <a:ext cx="1333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R²</a:t>
            </a:r>
            <a:endParaRPr sz="21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191375" y="50101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Mục tiêu: giảm sai số dự đoán và giữ quy trình triển khai ổn định.</a:t>
            </a:r>
            <a:endParaRPr sz="12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Straight Connector 22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ai-models/src/train.py, ai-models/models/schema.json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" name="Rectangle 52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· DATA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Dataset California Housing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466850"/>
            <a:ext cx="2095500" cy="112395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466850"/>
            <a:ext cx="57150" cy="1123950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38200" y="15811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20.640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38200" y="2009775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Dòng dữ liệu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952750" y="1466850"/>
            <a:ext cx="2095500" cy="112395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2952750" y="1466850"/>
            <a:ext cx="57150" cy="1123950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124200" y="15811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124200" y="2009775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Cột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5238750" y="1466850"/>
            <a:ext cx="2095500" cy="112395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 13"/>
          <p:cNvSpPr>
            <a:spLocks noGrp="1"/>
          </p:cNvSpPr>
          <p:nvPr/>
        </p:nvSpPr>
        <p:spPr>
          <a:xfrm>
            <a:off x="5238750" y="1466850"/>
            <a:ext cx="57150" cy="11239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5410200" y="15811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207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410200" y="2009775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Giá trị thiếu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410200" y="229552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Chỉ ở total_bedrooms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524750" y="1466850"/>
            <a:ext cx="4000500" cy="112395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7524750" y="1466850"/>
            <a:ext cx="57150" cy="1123950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7696200" y="158115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median_house_value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696200" y="2009775"/>
            <a:ext cx="3714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Biến mục tiêu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696200" y="2295525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 14.999 · Median 179.700 · Max 500.001 USD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66750" y="3028950"/>
            <a:ext cx="4000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 đặc trưng đầu vào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66750" y="3476625"/>
            <a:ext cx="1428750" cy="381000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Nhóm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2095500" y="3476625"/>
            <a:ext cx="3714750" cy="381000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Đặc trưng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5810250" y="3476625"/>
            <a:ext cx="1238250" cy="381000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Kiểu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66750" y="3857625"/>
            <a:ext cx="1428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Vị trí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095500" y="3857625"/>
            <a:ext cx="3714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longitude, latitude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810250" y="3857625"/>
            <a:ext cx="1238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Số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666750" y="4238625"/>
            <a:ext cx="1428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Nhà ở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2095500" y="4238625"/>
            <a:ext cx="3714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housing_median_age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Rectangle 31"/>
          <p:cNvSpPr>
            <a:spLocks noGrp="1"/>
          </p:cNvSpPr>
          <p:nvPr/>
        </p:nvSpPr>
        <p:spPr>
          <a:xfrm>
            <a:off x="5810250" y="4238625"/>
            <a:ext cx="12382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Số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666750" y="4619625"/>
            <a:ext cx="1428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Quy mô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2095500" y="4619625"/>
            <a:ext cx="3714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total_rooms, total_bedrooms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Rectangle 34"/>
          <p:cNvSpPr>
            <a:spLocks noGrp="1"/>
          </p:cNvSpPr>
          <p:nvPr/>
        </p:nvSpPr>
        <p:spPr>
          <a:xfrm>
            <a:off x="5810250" y="4619625"/>
            <a:ext cx="1238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Số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666750" y="5000625"/>
            <a:ext cx="1428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Dân cư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Rectangle 36"/>
          <p:cNvSpPr>
            <a:spLocks noGrp="1"/>
          </p:cNvSpPr>
          <p:nvPr/>
        </p:nvSpPr>
        <p:spPr>
          <a:xfrm>
            <a:off x="2095500" y="5000625"/>
            <a:ext cx="3714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population, households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ectangle 37"/>
          <p:cNvSpPr>
            <a:spLocks noGrp="1"/>
          </p:cNvSpPr>
          <p:nvPr/>
        </p:nvSpPr>
        <p:spPr>
          <a:xfrm>
            <a:off x="5810250" y="5000625"/>
            <a:ext cx="12382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Số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ectangle 38"/>
          <p:cNvSpPr>
            <a:spLocks noGrp="1"/>
          </p:cNvSpPr>
          <p:nvPr/>
        </p:nvSpPr>
        <p:spPr>
          <a:xfrm>
            <a:off x="666750" y="5381625"/>
            <a:ext cx="1428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Kinh tế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ectangle 39"/>
          <p:cNvSpPr>
            <a:spLocks noGrp="1"/>
          </p:cNvSpPr>
          <p:nvPr/>
        </p:nvSpPr>
        <p:spPr>
          <a:xfrm>
            <a:off x="2095500" y="5381625"/>
            <a:ext cx="3714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median_income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ectangle 40"/>
          <p:cNvSpPr>
            <a:spLocks noGrp="1"/>
          </p:cNvSpPr>
          <p:nvPr/>
        </p:nvSpPr>
        <p:spPr>
          <a:xfrm>
            <a:off x="5810250" y="5381625"/>
            <a:ext cx="1238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Số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ectangle 41"/>
          <p:cNvSpPr>
            <a:spLocks noGrp="1"/>
          </p:cNvSpPr>
          <p:nvPr/>
        </p:nvSpPr>
        <p:spPr>
          <a:xfrm>
            <a:off x="666750" y="5762625"/>
            <a:ext cx="1428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Địa lý</a:t>
            </a:r>
            <a:endParaRPr sz="97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2095500" y="5762625"/>
            <a:ext cx="37147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ocean_proximity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Rectangle 43"/>
          <p:cNvSpPr>
            <a:spLocks noGrp="1"/>
          </p:cNvSpPr>
          <p:nvPr/>
        </p:nvSpPr>
        <p:spPr>
          <a:xfrm>
            <a:off x="5810250" y="5762625"/>
            <a:ext cx="1238250" cy="381000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Phân loại</a:t>
            </a:r>
            <a:endParaRPr sz="9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7381875" y="3143250"/>
            <a:ext cx="4143375" cy="2809875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6" name="Rectangle 45"/>
          <p:cNvSpPr>
            <a:spLocks noGrp="1"/>
          </p:cNvSpPr>
          <p:nvPr/>
        </p:nvSpPr>
        <p:spPr>
          <a:xfrm>
            <a:off x="7620000" y="3381375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Điểm cần lưu ý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ectangle 46"/>
          <p:cNvSpPr>
            <a:spLocks noGrp="1"/>
          </p:cNvSpPr>
          <p:nvPr/>
        </p:nvSpPr>
        <p:spPr>
          <a:xfrm>
            <a:off x="7572375" y="3857625"/>
            <a:ext cx="3714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 fontScale="89636"/>
          </a:bodyPr>
          <a:lstStyle/>
          <a:p>
            <a:pPr marL="254000" indent="-127000" algn="l">
              <a:lnSpc>
                <a:spcPct val="100000"/>
              </a:lnSpc>
              <a:spcAft>
                <a:spcPts val="9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dữ liệu được mô tả là Kaggle California Housing.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9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ocean_proximity là biến phân loại duy nhất.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9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median_house_value có trần quan sát 500.001 USD.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9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Thiếu 207 giá trị total_bedrooms cần xử lý trước huấn luyện.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7620000" y="5572125"/>
            <a:ext cx="1047750" cy="26670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 w="9525">
            <a:solidFill>
              <a:srgbClr val="EAF6F5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Regression</a:t>
            </a:r>
            <a:endParaRPr sz="90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8810625" y="5572125"/>
            <a:ext cx="857250" cy="2667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EAF1F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Kaggle</a:t>
            </a:r>
            <a:endParaRPr sz="900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Rounded Rectangle 49"/>
          <p:cNvSpPr>
            <a:spLocks noGrp="1"/>
          </p:cNvSpPr>
          <p:nvPr/>
        </p:nvSpPr>
        <p:spPr>
          <a:xfrm>
            <a:off x="9810750" y="5572125"/>
            <a:ext cx="952500" cy="266700"/>
          </a:xfrm>
          <a:prstGeom prst="roundRect">
            <a:avLst>
              <a:gd name="adj" fmla="val 50000"/>
            </a:avLst>
          </a:prstGeom>
          <a:solidFill>
            <a:srgbClr val="FCEDE8"/>
          </a:solidFill>
          <a:ln w="9525">
            <a:solidFill>
              <a:srgbClr val="FCEDE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CSV ZIP</a:t>
            </a:r>
            <a:endParaRPr sz="900" b="1">
              <a:solidFill>
                <a:srgbClr val="E76F5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Straight Connector 50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52" name="Rectangle 51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ai-models/data/housing.csv.zip, ai-models/colab/01_eda.ipynb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EXPLORATORY DATA ANALYSIS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EDA: phân phối và chất lượng dữ liệu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476375"/>
            <a:ext cx="3333750" cy="433387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695325" y="16192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Phân phối biến mục tiêu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275" y="2406375"/>
            <a:ext cx="3028950" cy="1940475"/>
          </a:xfrm>
          <a:prstGeom prst="roundRect">
            <a:avLst>
              <a:gd name="adj" fmla="val 2105"/>
            </a:avLst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695325" y="4905375"/>
            <a:ext cx="2990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Giá nhà lệch phải; có cụm lớn tại mức trần 500.001 USD.</a:t>
            </a:r>
            <a:endParaRPr sz="105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429125" y="1476375"/>
            <a:ext cx="3333750" cy="433387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4600575" y="16192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Hai biến số quan trọng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2880843"/>
            <a:ext cx="3028950" cy="991540"/>
          </a:xfrm>
          <a:prstGeom prst="roundRect">
            <a:avLst>
              <a:gd name="adj" fmla="val 2105"/>
            </a:avLst>
          </a:prstGeom>
        </p:spPr>
      </p:pic>
      <p:sp>
        <p:nvSpPr>
          <p:cNvPr id="12" name="Rectangle 11"/>
          <p:cNvSpPr>
            <a:spLocks noGrp="1"/>
          </p:cNvSpPr>
          <p:nvPr/>
        </p:nvSpPr>
        <p:spPr>
          <a:xfrm>
            <a:off x="4600575" y="4905375"/>
            <a:ext cx="2990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median_income và housing_median_age có phân phối không đồng đều.</a:t>
            </a:r>
            <a:endParaRPr sz="105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334375" y="1476375"/>
            <a:ext cx="3333750" cy="433387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 13"/>
          <p:cNvSpPr>
            <a:spLocks noGrp="1"/>
          </p:cNvSpPr>
          <p:nvPr/>
        </p:nvSpPr>
        <p:spPr>
          <a:xfrm>
            <a:off x="8505825" y="161925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Bản đồ giá trị thiếu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2121135"/>
            <a:ext cx="3028950" cy="2510956"/>
          </a:xfrm>
          <a:prstGeom prst="roundRect">
            <a:avLst>
              <a:gd name="adj" fmla="val 2105"/>
            </a:avLst>
          </a:prstGeom>
        </p:spPr>
      </p:pic>
      <p:sp>
        <p:nvSpPr>
          <p:cNvPr id="16" name="Rectangle 15"/>
          <p:cNvSpPr>
            <a:spLocks noGrp="1"/>
          </p:cNvSpPr>
          <p:nvPr/>
        </p:nvSpPr>
        <p:spPr>
          <a:xfrm>
            <a:off x="8505825" y="4905375"/>
            <a:ext cx="2990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Thiếu dữ liệu tập trung ở total_bedrooms: 207 giá trị.</a:t>
            </a:r>
            <a:endParaRPr sz="105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hình: ai-models/colab/01_eda.ipynb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· EXPLORATORY DATA ANALYSIS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EDA: mối quan hệ đặc trưng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428750"/>
            <a:ext cx="3524250" cy="4333875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333875" y="1428750"/>
            <a:ext cx="3524250" cy="4333875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143875" y="1428750"/>
            <a:ext cx="3524250" cy="4333875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Rectangle 7"/>
          <p:cNvSpPr>
            <a:spLocks noGrp="1"/>
          </p:cNvSpPr>
          <p:nvPr/>
        </p:nvSpPr>
        <p:spPr>
          <a:xfrm>
            <a:off x="714375" y="1600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 trận tương quan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524375" y="1600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Income và giá nhà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334375" y="16002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Pairplot các biến chính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70" y="1952625"/>
            <a:ext cx="3132260" cy="2857500"/>
          </a:xfrm>
          <a:prstGeom prst="roundRect">
            <a:avLst>
              <a:gd name="adj" fmla="val 2000"/>
            </a:avLst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291095"/>
            <a:ext cx="3200400" cy="2180560"/>
          </a:xfrm>
          <a:prstGeom prst="roundRect">
            <a:avLst>
              <a:gd name="adj" fmla="val 2000"/>
            </a:avLst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426" y="1952625"/>
            <a:ext cx="2751148" cy="2857500"/>
          </a:xfrm>
          <a:prstGeom prst="roundRect">
            <a:avLst>
              <a:gd name="adj" fmla="val 2000"/>
            </a:avLst>
          </a:prstGeom>
        </p:spPr>
      </p:pic>
      <p:sp>
        <p:nvSpPr>
          <p:cNvPr id="14" name="Rectangle 13"/>
          <p:cNvSpPr>
            <a:spLocks noGrp="1"/>
          </p:cNvSpPr>
          <p:nvPr/>
        </p:nvSpPr>
        <p:spPr>
          <a:xfrm>
            <a:off x="714375" y="49720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median_income có tương quan dương mạnh nhất với target: 0,688.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524375" y="49720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Quan hệ tăng rõ, đồng thời xuất hiện dải trần tại 500.001 USD.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334375" y="49720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Các quan hệ phi tuyến gợi ý model cây có tiềm năng hơn tuyến tính.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hình: ai-models/colab/01_eda.ipynb, housing.csv.zip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 33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· FEATURE PIPELINE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Tiền xử lý dữ liệu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952625"/>
            <a:ext cx="1952625" cy="233362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95325" y="2095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67D8D"/>
          </a:solidFill>
          <a:ln w="9525">
            <a:solidFill>
              <a:srgbClr val="167D8D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95325" y="2781300"/>
            <a:ext cx="16097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Chia dữ liệu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95325" y="34004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80% train · 20% test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random_state = 42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ight Arrow 8"/>
          <p:cNvSpPr>
            <a:spLocks noGrp="1"/>
          </p:cNvSpPr>
          <p:nvPr/>
        </p:nvSpPr>
        <p:spPr>
          <a:xfrm>
            <a:off x="2524125" y="2952750"/>
            <a:ext cx="266700" cy="24765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828925" y="1952625"/>
            <a:ext cx="1952625" cy="233362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3000375" y="2095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9525">
            <a:solidFill>
              <a:srgbClr val="E76F5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000375" y="2781300"/>
            <a:ext cx="16097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Điền khuyết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000375" y="34004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Median cho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total_bedrooms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ight Arrow 13"/>
          <p:cNvSpPr>
            <a:spLocks noGrp="1"/>
          </p:cNvSpPr>
          <p:nvPr/>
        </p:nvSpPr>
        <p:spPr>
          <a:xfrm>
            <a:off x="4829175" y="2952750"/>
            <a:ext cx="266700" cy="24765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133975" y="1952625"/>
            <a:ext cx="1952625" cy="233362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305425" y="2095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5305425" y="2781300"/>
            <a:ext cx="16097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Tạo đặc trưng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5305425" y="34004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tỷ lệ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nhà ở / hộ dân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ight Arrow 18"/>
          <p:cNvSpPr>
            <a:spLocks noGrp="1"/>
          </p:cNvSpPr>
          <p:nvPr/>
        </p:nvSpPr>
        <p:spPr>
          <a:xfrm>
            <a:off x="7134225" y="2952750"/>
            <a:ext cx="266700" cy="24765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439025" y="1952625"/>
            <a:ext cx="1952625" cy="233362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610475" y="2095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73F5F"/>
          </a:solidFill>
          <a:ln w="9525">
            <a:solidFill>
              <a:srgbClr val="173F5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610475" y="2781300"/>
            <a:ext cx="16097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Biến đổi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610475" y="34004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StandardScaler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OneHotEncoder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ight Arrow 23"/>
          <p:cNvSpPr>
            <a:spLocks noGrp="1"/>
          </p:cNvSpPr>
          <p:nvPr/>
        </p:nvSpPr>
        <p:spPr>
          <a:xfrm>
            <a:off x="9439275" y="2952750"/>
            <a:ext cx="266700" cy="24765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744075" y="1952625"/>
            <a:ext cx="1952625" cy="2333625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915525" y="2095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9915525" y="2781300"/>
            <a:ext cx="16097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Pipeline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9915525" y="3400425"/>
            <a:ext cx="16097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preprocessor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model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857250" y="4762500"/>
            <a:ext cx="10477500" cy="1047750"/>
          </a:xfrm>
          <a:prstGeom prst="roundRect">
            <a:avLst>
              <a:gd name="adj" fmla="val 6364"/>
            </a:avLst>
          </a:prstGeom>
          <a:solidFill>
            <a:srgbClr val="FFF7D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Rectangle 29"/>
          <p:cNvSpPr>
            <a:spLocks noGrp="1"/>
          </p:cNvSpPr>
          <p:nvPr/>
        </p:nvSpPr>
        <p:spPr>
          <a:xfrm>
            <a:off x="1066800" y="4933950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Lưu ý triển khai</a:t>
            </a:r>
            <a:endParaRPr sz="12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3000375" y="4857750"/>
            <a:ext cx="8001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Bản model lưu gồm preprocessor + model. Median imputer được fit trước pipeline khi train; phía API yêu cầu input đầy đủ và tự tính 3 tỷ lệ trước khi dự đoán.</a:t>
            </a:r>
            <a:endParaRPr sz="127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Straight Connector 31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ai-models/src/preprocess.py, ai-models/src/train.py, ai-models/service/main.py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 · MODELING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Các model được huấn luyện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524000"/>
            <a:ext cx="5334000" cy="17621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524000"/>
            <a:ext cx="85725" cy="1762125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952500" y="1733550"/>
            <a:ext cx="1285875" cy="2667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EAF1F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Baseline</a:t>
            </a:r>
            <a:endParaRPr sz="900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52500" y="213360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Linear Regression</a:t>
            </a:r>
            <a:endParaRPr sz="20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52500" y="262890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Mốc tham chiếu tuyến tính, nhanh và dễ giải thích.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191250" y="1524000"/>
            <a:ext cx="5334000" cy="17621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 10"/>
          <p:cNvSpPr>
            <a:spLocks noGrp="1"/>
          </p:cNvSpPr>
          <p:nvPr/>
        </p:nvSpPr>
        <p:spPr>
          <a:xfrm>
            <a:off x="6191250" y="1524000"/>
            <a:ext cx="85725" cy="17621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477000" y="1733550"/>
            <a:ext cx="1285875" cy="266700"/>
          </a:xfrm>
          <a:prstGeom prst="roundRect">
            <a:avLst>
              <a:gd name="adj" fmla="val 50000"/>
            </a:avLst>
          </a:prstGeom>
          <a:solidFill>
            <a:srgbClr val="FCEDE8"/>
          </a:solidFill>
          <a:ln w="9525">
            <a:solidFill>
              <a:srgbClr val="FCEDE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Tree</a:t>
            </a:r>
            <a:endParaRPr sz="900" b="1">
              <a:solidFill>
                <a:srgbClr val="E76F5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477000" y="213360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Tree</a:t>
            </a:r>
            <a:endParaRPr sz="20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477000" y="262890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Mô hình hóa quan hệ phi tuyến; GridSearchCV cho max_depth và min_samples_split.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66750" y="3714750"/>
            <a:ext cx="5334000" cy="17621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666750" y="3714750"/>
            <a:ext cx="85725" cy="1762125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952500" y="3924300"/>
            <a:ext cx="1285875" cy="26670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 w="9525">
            <a:solidFill>
              <a:srgbClr val="EAF6F5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Ensemble</a:t>
            </a:r>
            <a:endParaRPr sz="90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952500" y="432435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 Forest</a:t>
            </a:r>
            <a:endParaRPr sz="20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52500" y="48196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Bagging nhiều cây; RandomizedSearchCV cho độ sâu, số cây và mức chia.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191250" y="3714750"/>
            <a:ext cx="5334000" cy="1762125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Rectangle 20"/>
          <p:cNvSpPr>
            <a:spLocks noGrp="1"/>
          </p:cNvSpPr>
          <p:nvPr/>
        </p:nvSpPr>
        <p:spPr>
          <a:xfrm>
            <a:off x="6191250" y="3714750"/>
            <a:ext cx="85725" cy="1762125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477000" y="3924300"/>
            <a:ext cx="1285875" cy="2667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FFF7DF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Final candidate</a:t>
            </a:r>
            <a:endParaRPr sz="900" b="1">
              <a:solidFill>
                <a:srgbClr val="E9C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477000" y="4324350"/>
            <a:ext cx="466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 Boosting</a:t>
            </a:r>
            <a:endParaRPr sz="20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477000" y="4819650"/>
            <a:ext cx="4667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Boosting tuần tự; tìm learning_rate, max_depth và n_estimators.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Straight Connector 24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ai-models/src/train.py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 38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 · TRAINING WORKFLOW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Quy trình huấn luyện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19125" y="2286000"/>
            <a:ext cx="1714500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173F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619125" y="2286000"/>
            <a:ext cx="1714500" cy="66675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733425" y="247650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housing.csv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33425" y="2847975"/>
            <a:ext cx="1485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20.640 dòng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2762250" y="1619250"/>
            <a:ext cx="1809750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ectangle 9"/>
          <p:cNvSpPr>
            <a:spLocks noGrp="1"/>
          </p:cNvSpPr>
          <p:nvPr/>
        </p:nvSpPr>
        <p:spPr>
          <a:xfrm>
            <a:off x="2762250" y="1619250"/>
            <a:ext cx="1809750" cy="66675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876550" y="1809750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 80%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876550" y="2181225"/>
            <a:ext cx="158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Fit imputer + pipeline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762250" y="3143250"/>
            <a:ext cx="1809750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 13"/>
          <p:cNvSpPr>
            <a:spLocks noGrp="1"/>
          </p:cNvSpPr>
          <p:nvPr/>
        </p:nvSpPr>
        <p:spPr>
          <a:xfrm>
            <a:off x="2762250" y="3143250"/>
            <a:ext cx="1809750" cy="6667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876550" y="3333750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20%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876550" y="3705225"/>
            <a:ext cx="158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Giữ riêng để đánh giá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5095875" y="1619250"/>
            <a:ext cx="2000250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Rectangle 17"/>
          <p:cNvSpPr>
            <a:spLocks noGrp="1"/>
          </p:cNvSpPr>
          <p:nvPr/>
        </p:nvSpPr>
        <p:spPr>
          <a:xfrm>
            <a:off x="5095875" y="1619250"/>
            <a:ext cx="2000250" cy="66675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5210175" y="1809750"/>
            <a:ext cx="177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 sánh model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210175" y="2181225"/>
            <a:ext cx="17716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train.py mặc định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620000" y="1619250"/>
            <a:ext cx="1762125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2A9D8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7620000" y="1619250"/>
            <a:ext cx="1762125" cy="66675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7734300" y="1809750"/>
            <a:ext cx="1533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Chọn model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7734300" y="2181225"/>
            <a:ext cx="15335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Theo Test RMSE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9906000" y="2286000"/>
            <a:ext cx="1714500" cy="104775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173F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Rectangle 25"/>
          <p:cNvSpPr>
            <a:spLocks noGrp="1"/>
          </p:cNvSpPr>
          <p:nvPr/>
        </p:nvSpPr>
        <p:spPr>
          <a:xfrm>
            <a:off x="9906000" y="2286000"/>
            <a:ext cx="1714500" cy="66675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10020300" y="2476500"/>
            <a:ext cx="1485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6491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Đánh giá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0020300" y="2847975"/>
            <a:ext cx="1485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RMSE · MAE · R²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ight Arrow 28"/>
          <p:cNvSpPr>
            <a:spLocks noGrp="1"/>
          </p:cNvSpPr>
          <p:nvPr/>
        </p:nvSpPr>
        <p:spPr>
          <a:xfrm>
            <a:off x="2362200" y="2552700"/>
            <a:ext cx="304800" cy="2286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0" name="Right Arrow 29"/>
          <p:cNvSpPr>
            <a:spLocks noGrp="1"/>
          </p:cNvSpPr>
          <p:nvPr/>
        </p:nvSpPr>
        <p:spPr>
          <a:xfrm>
            <a:off x="4572000" y="2047875"/>
            <a:ext cx="428625" cy="2286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1" name="Right Arrow 30"/>
          <p:cNvSpPr>
            <a:spLocks noGrp="1"/>
          </p:cNvSpPr>
          <p:nvPr/>
        </p:nvSpPr>
        <p:spPr>
          <a:xfrm>
            <a:off x="7143750" y="2047875"/>
            <a:ext cx="381000" cy="2286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2" name="Right Arrow 31"/>
          <p:cNvSpPr>
            <a:spLocks noGrp="1"/>
          </p:cNvSpPr>
          <p:nvPr/>
        </p:nvSpPr>
        <p:spPr>
          <a:xfrm>
            <a:off x="9429750" y="2552700"/>
            <a:ext cx="381000" cy="2286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3" name="Straight Connector 32"/>
          <p:cNvSpPr>
            <a:spLocks noGrp="1"/>
          </p:cNvSpPr>
          <p:nvPr/>
        </p:nvSpPr>
        <p:spPr>
          <a:xfrm>
            <a:off x="2428875" y="2800350"/>
            <a:ext cx="333375" cy="819150"/>
          </a:xfrm>
          <a:prstGeom prst="line">
            <a:avLst/>
          </a:prstGeom>
          <a:noFill/>
          <a:ln w="28575">
            <a:solidFill>
              <a:srgbClr val="D7E0E8"/>
            </a:solidFill>
            <a:prstDash val="solid"/>
          </a:ln>
        </p:spPr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904875" y="4905375"/>
            <a:ext cx="103822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Rectangle 34"/>
          <p:cNvSpPr>
            <a:spLocks noGrp="1"/>
          </p:cNvSpPr>
          <p:nvPr/>
        </p:nvSpPr>
        <p:spPr>
          <a:xfrm>
            <a:off x="1123950" y="5095875"/>
            <a:ext cx="180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quả chạy hiện tại</a:t>
            </a:r>
            <a:endParaRPr sz="12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Rectangle 35"/>
          <p:cNvSpPr>
            <a:spLocks noGrp="1"/>
          </p:cNvSpPr>
          <p:nvPr/>
        </p:nvSpPr>
        <p:spPr>
          <a:xfrm>
            <a:off x="3000375" y="5010150"/>
            <a:ext cx="795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0729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 Boosting đứng đầu: Test RMSE 46.839,74 · MAE 30.660,42 · R² 0,8326.</a:t>
            </a:r>
            <a:endParaRPr sz="14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Straight Connector 36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8" name="Rectangle 37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ai-models/src/train.py, kết quả chạy kiểm tra trong repo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 · EVALUATION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 sánh model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428750"/>
            <a:ext cx="6191250" cy="447675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34" name="Chart"/>
          <p:cNvGraphicFramePr/>
          <p:nvPr/>
        </p:nvGraphicFramePr>
        <p:xfrm>
          <a:off x="714375" y="1762125"/>
          <a:ext cx="5810250" cy="3476625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7" name="Rectangle 6"/>
          <p:cNvSpPr>
            <a:spLocks noGrp="1"/>
          </p:cNvSpPr>
          <p:nvPr/>
        </p:nvSpPr>
        <p:spPr>
          <a:xfrm>
            <a:off x="904875" y="539115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 số liệu: train.py mặc định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191375" y="15049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Bảng kết quả</a:t>
            </a:r>
            <a:endParaRPr sz="17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91375" y="1952625"/>
            <a:ext cx="2143125" cy="4857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334500" y="1952625"/>
            <a:ext cx="1047750" cy="4857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MAE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382250" y="1952625"/>
            <a:ext cx="952500" cy="4857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R²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191375" y="2438400"/>
            <a:ext cx="21431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 Boosting</a:t>
            </a:r>
            <a:endParaRPr sz="1050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334500" y="2438400"/>
            <a:ext cx="10477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30.660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382250" y="2438400"/>
            <a:ext cx="9525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0,8326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7191375" y="2924175"/>
            <a:ext cx="2143125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 Forest</a:t>
            </a:r>
            <a:endParaRPr sz="1050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334500" y="2924175"/>
            <a:ext cx="104775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32.334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382250" y="2924175"/>
            <a:ext cx="95250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0,8078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7191375" y="3409950"/>
            <a:ext cx="21431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 Tree</a:t>
            </a:r>
            <a:endParaRPr sz="1050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9334500" y="3409950"/>
            <a:ext cx="10477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39.637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0382250" y="3409950"/>
            <a:ext cx="9525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0,6929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191375" y="3895725"/>
            <a:ext cx="2143125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Linear Regression</a:t>
            </a:r>
            <a:endParaRPr sz="1050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334500" y="3895725"/>
            <a:ext cx="104775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50.899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0382250" y="3895725"/>
            <a:ext cx="95250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0,5967</a:t>
            </a:r>
            <a:endParaRPr sz="105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7191375" y="4648200"/>
            <a:ext cx="4143375" cy="1257300"/>
          </a:xfrm>
          <a:prstGeom prst="roundRect">
            <a:avLst>
              <a:gd name="adj" fmla="val 5303"/>
            </a:avLst>
          </a:prstGeom>
          <a:solidFill>
            <a:srgbClr val="EAF6F5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Rectangle 24"/>
          <p:cNvSpPr>
            <a:spLocks noGrp="1"/>
          </p:cNvSpPr>
          <p:nvPr/>
        </p:nvSpPr>
        <p:spPr>
          <a:xfrm>
            <a:off x="7429500" y="4819650"/>
            <a:ext cx="100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luận</a:t>
            </a:r>
            <a:endParaRPr sz="112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0" y="5143500"/>
            <a:ext cx="361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 Boosting có sai số thấp nhất và R² cao nhất trong lần chạy kiểm tra.</a:t>
            </a:r>
            <a:endParaRPr sz="13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Straight Connector 26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ai-models/src/train.py, kết quả chạy kiểm tra trong repo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 · SELECTED ARTIFACT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 cuối cùng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1428750"/>
            <a:ext cx="6191250" cy="447675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742950" y="1600200"/>
            <a:ext cx="5619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Phân tích residual trong notebook</a:t>
            </a:r>
            <a:endParaRPr sz="15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16" y="1952625"/>
            <a:ext cx="4702969" cy="3524250"/>
          </a:xfrm>
          <a:prstGeom prst="roundRect">
            <a:avLst>
              <a:gd name="adj" fmla="val 1622"/>
            </a:avLst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904875" y="5524500"/>
            <a:ext cx="542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Residual và metadata lấy từ artifact hiện tại.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91375" y="1504950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GradientBoostingRegressor</a:t>
            </a:r>
            <a:endParaRPr sz="21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191375" y="2028825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 w="9525">
            <a:solidFill>
              <a:srgbClr val="EAF6F5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version 1.0.0</a:t>
            </a:r>
            <a:endParaRPr sz="90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8524875" y="2028825"/>
            <a:ext cx="1095375" cy="26670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EAF1F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model.joblib</a:t>
            </a:r>
            <a:endParaRPr sz="900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9763125" y="2028825"/>
            <a:ext cx="1000125" cy="266700"/>
          </a:xfrm>
          <a:prstGeom prst="roundRect">
            <a:avLst>
              <a:gd name="adj" fmla="val 50000"/>
            </a:avLst>
          </a:prstGeom>
          <a:solidFill>
            <a:srgbClr val="FCEDE8"/>
          </a:solidFill>
          <a:ln w="9525">
            <a:solidFill>
              <a:srgbClr val="FCEDE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~1,03 MiB</a:t>
            </a:r>
            <a:endParaRPr sz="900" b="1">
              <a:solidFill>
                <a:srgbClr val="E76F5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191375" y="2571750"/>
            <a:ext cx="1285875" cy="10001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ectangle 13"/>
          <p:cNvSpPr>
            <a:spLocks noGrp="1"/>
          </p:cNvSpPr>
          <p:nvPr/>
        </p:nvSpPr>
        <p:spPr>
          <a:xfrm>
            <a:off x="7191375" y="2571750"/>
            <a:ext cx="57150" cy="1000125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362825" y="2686050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46.795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7362825" y="3114675"/>
            <a:ext cx="1000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RMSE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620125" y="2571750"/>
            <a:ext cx="1285875" cy="10001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Rectangle 17"/>
          <p:cNvSpPr>
            <a:spLocks noGrp="1"/>
          </p:cNvSpPr>
          <p:nvPr/>
        </p:nvSpPr>
        <p:spPr>
          <a:xfrm>
            <a:off x="8620125" y="2571750"/>
            <a:ext cx="57150" cy="1000125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8791575" y="2686050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30.649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791575" y="3114675"/>
            <a:ext cx="1000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MAE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10048875" y="2571750"/>
            <a:ext cx="1285875" cy="10001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10048875" y="2571750"/>
            <a:ext cx="57150" cy="1000125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10220325" y="2686050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0,8329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0220325" y="3114675"/>
            <a:ext cx="1000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R²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7191375" y="3905250"/>
            <a:ext cx="4143375" cy="142875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Rectangle 25"/>
          <p:cNvSpPr>
            <a:spLocks noGrp="1"/>
          </p:cNvSpPr>
          <p:nvPr/>
        </p:nvSpPr>
        <p:spPr>
          <a:xfrm>
            <a:off x="7429500" y="4095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Hyperparameters</a:t>
            </a:r>
            <a:endParaRPr sz="1200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429500" y="4438650"/>
            <a:ext cx="342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n_estimators = 200</a:t>
            </a:r>
            <a:endParaRPr sz="120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max_depth = 7</a:t>
            </a:r>
            <a:endParaRPr sz="120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learning_rate = 0,05</a:t>
            </a:r>
            <a:endParaRPr sz="120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random_state = 42</a:t>
            </a:r>
            <a:endParaRPr sz="1200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7381875" y="5476875"/>
            <a:ext cx="3619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Metadata artifact: 24/09/2026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Straight Connector 28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ai-models/models/model.joblib, metadata.json, ai-models/colab/04_evaluate.ipynb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Rectangle 34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 · SYSTEM DESIGN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Kiến trúc hệ thống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23875" y="2095500"/>
            <a:ext cx="2286000" cy="2000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173F5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523875" y="2095500"/>
            <a:ext cx="2286000" cy="95250"/>
          </a:xfrm>
          <a:prstGeom prst="rect">
            <a:avLst/>
          </a:prstGeom>
          <a:solidFill>
            <a:srgbClr val="173F5F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95325" y="24003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Frontend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1047750" y="2952750"/>
            <a:ext cx="1238250" cy="400050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EAF1F8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:3000</a:t>
            </a:r>
            <a:endParaRPr sz="1725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4375" y="35718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FastAPI + HTML form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333750" y="2095500"/>
            <a:ext cx="2286000" cy="2000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 10"/>
          <p:cNvSpPr>
            <a:spLocks noGrp="1"/>
          </p:cNvSpPr>
          <p:nvPr/>
        </p:nvSpPr>
        <p:spPr>
          <a:xfrm>
            <a:off x="3333750" y="2095500"/>
            <a:ext cx="2286000" cy="95250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3505200" y="24003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857625" y="2952750"/>
            <a:ext cx="1238250" cy="40005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 w="9525">
            <a:solidFill>
              <a:srgbClr val="EAF6F5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:8000</a:t>
            </a:r>
            <a:endParaRPr sz="172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524250" y="35718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FastAPI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143625" y="2095500"/>
            <a:ext cx="2286000" cy="2000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6143625" y="2095500"/>
            <a:ext cx="2286000" cy="95250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6315075" y="24003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667500" y="2952750"/>
            <a:ext cx="1238250" cy="4000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FFF7D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:8001</a:t>
            </a:r>
            <a:endParaRPr sz="1725" b="1">
              <a:solidFill>
                <a:srgbClr val="E9C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34125" y="35718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FastAPI + joblib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953500" y="2095500"/>
            <a:ext cx="2286000" cy="2000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Rectangle 20"/>
          <p:cNvSpPr>
            <a:spLocks noGrp="1"/>
          </p:cNvSpPr>
          <p:nvPr/>
        </p:nvSpPr>
        <p:spPr>
          <a:xfrm>
            <a:off x="8953500" y="2095500"/>
            <a:ext cx="2286000" cy="95250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9124950" y="240030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MongoDB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9477375" y="2952750"/>
            <a:ext cx="1238250" cy="400050"/>
          </a:xfrm>
          <a:prstGeom prst="roundRect">
            <a:avLst>
              <a:gd name="adj" fmla="val 50000"/>
            </a:avLst>
          </a:prstGeom>
          <a:solidFill>
            <a:srgbClr val="FCEDE8"/>
          </a:solidFill>
          <a:ln w="9525">
            <a:solidFill>
              <a:srgbClr val="FCEDE8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E76F5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:27017</a:t>
            </a:r>
            <a:endParaRPr sz="1725" b="1">
              <a:solidFill>
                <a:srgbClr val="E76F5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9144000" y="35718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Prediction history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ight Arrow 24"/>
          <p:cNvSpPr>
            <a:spLocks noGrp="1"/>
          </p:cNvSpPr>
          <p:nvPr/>
        </p:nvSpPr>
        <p:spPr>
          <a:xfrm>
            <a:off x="2857500" y="2895600"/>
            <a:ext cx="30480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6" name="Right Arrow 25"/>
          <p:cNvSpPr>
            <a:spLocks noGrp="1"/>
          </p:cNvSpPr>
          <p:nvPr/>
        </p:nvSpPr>
        <p:spPr>
          <a:xfrm>
            <a:off x="5667375" y="2895600"/>
            <a:ext cx="30480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7" name="Right Arrow 26"/>
          <p:cNvSpPr>
            <a:spLocks noGrp="1"/>
          </p:cNvSpPr>
          <p:nvPr/>
        </p:nvSpPr>
        <p:spPr>
          <a:xfrm>
            <a:off x="8477250" y="2895600"/>
            <a:ext cx="30480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2781300" y="25717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 fontScale="60606"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HTTP</a:t>
            </a:r>
            <a:endParaRPr sz="8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591175" y="25717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 fontScale="60606"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HTTP</a:t>
            </a:r>
            <a:endParaRPr sz="8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8353425" y="257175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t">
            <a:normAutofit fontScale="60606"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persist</a:t>
            </a:r>
            <a:endParaRPr sz="8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1524000" y="4762500"/>
            <a:ext cx="9144000" cy="904875"/>
          </a:xfrm>
          <a:prstGeom prst="roundRect">
            <a:avLst>
              <a:gd name="adj" fmla="val 736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Rectangle 31"/>
          <p:cNvSpPr>
            <a:spLocks noGrp="1"/>
          </p:cNvSpPr>
          <p:nvPr/>
        </p:nvSpPr>
        <p:spPr>
          <a:xfrm>
            <a:off x="1857375" y="4953000"/>
            <a:ext cx="847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docker-compose.yml tạo 4 service trên network nội bộ và map 3000, 8000, 8001, 27017 ra host.</a:t>
            </a:r>
            <a:endParaRPr sz="15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Straight Connector 32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4" name="Rectangle 33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docker-compose.yml, app/frontend/main.py, app/backend/main.py, ai-models/service/main.py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Rectangle 37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· RUNTIME FLOW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Luồng một request dự đoán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57250" y="1666875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1028700" y="18383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73F5F"/>
          </a:solidFill>
          <a:ln w="9525">
            <a:solidFill>
              <a:srgbClr val="173F5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619250" y="1857375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Nhập dữ liệu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95375" y="24479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 trường gốc trên giao diện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476750" y="1666875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648200" y="18383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67D8D"/>
          </a:solidFill>
          <a:ln w="9525">
            <a:solidFill>
              <a:srgbClr val="167D8D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238750" y="1857375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Frontend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714875" y="24479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Proxy /api/predict tới Backend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096250" y="1666875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267700" y="18383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 w="9525">
            <a:solidFill>
              <a:srgbClr val="E76F5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858250" y="1857375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334375" y="2447925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Validate và tạo 3 tỷ lệ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8096250" y="3905250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8267700" y="4076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 w="9525">
            <a:solidFill>
              <a:srgbClr val="E9C46A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858250" y="4095750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8334375" y="468630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Pipeline transform + predict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4476750" y="3905250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4648200" y="4076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9525">
            <a:solidFill>
              <a:srgbClr val="2A9D8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5238750" y="4095750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Lưu lịch sử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714875" y="468630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MongoDB nếu khả dụng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857250" y="3905250"/>
            <a:ext cx="3143250" cy="1524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1028700" y="4076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73F5F"/>
          </a:solidFill>
          <a:ln w="9525">
            <a:solidFill>
              <a:srgbClr val="173F5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619250" y="4095750"/>
            <a:ext cx="2143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Trả kết quả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1095375" y="468630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prediction + request_id</a:t>
            </a:r>
            <a:endParaRPr sz="12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ight Arrow 28"/>
          <p:cNvSpPr>
            <a:spLocks noGrp="1"/>
          </p:cNvSpPr>
          <p:nvPr/>
        </p:nvSpPr>
        <p:spPr>
          <a:xfrm>
            <a:off x="4048125" y="2266950"/>
            <a:ext cx="32385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0" name="Right Arrow 29"/>
          <p:cNvSpPr>
            <a:spLocks noGrp="1"/>
          </p:cNvSpPr>
          <p:nvPr/>
        </p:nvSpPr>
        <p:spPr>
          <a:xfrm>
            <a:off x="7667625" y="2266950"/>
            <a:ext cx="32385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1" name="Down Arrow 30"/>
          <p:cNvSpPr>
            <a:spLocks noGrp="1"/>
          </p:cNvSpPr>
          <p:nvPr/>
        </p:nvSpPr>
        <p:spPr>
          <a:xfrm>
            <a:off x="10715625" y="3286125"/>
            <a:ext cx="247650" cy="476250"/>
          </a:xfrm>
          <a:prstGeom prst="down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2" name="Right Arrow 31"/>
          <p:cNvSpPr>
            <a:spLocks noGrp="1"/>
          </p:cNvSpPr>
          <p:nvPr/>
        </p:nvSpPr>
        <p:spPr>
          <a:xfrm>
            <a:off x="7667625" y="4505325"/>
            <a:ext cx="32385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3" name="Right Arrow 32"/>
          <p:cNvSpPr>
            <a:spLocks noGrp="1"/>
          </p:cNvSpPr>
          <p:nvPr/>
        </p:nvSpPr>
        <p:spPr>
          <a:xfrm>
            <a:off x="4048125" y="4505325"/>
            <a:ext cx="323850" cy="266700"/>
          </a:xfrm>
          <a:prstGeom prst="rightArrow">
            <a:avLst/>
          </a:prstGeom>
          <a:solidFill>
            <a:srgbClr val="D7E0E8"/>
          </a:solidFill>
          <a:ln w="9525">
            <a:solidFill>
              <a:srgbClr val="D7E0E8"/>
            </a:solidFill>
            <a:prstDash val="solid"/>
          </a:ln>
        </p:spPr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3143250" y="5762625"/>
            <a:ext cx="5905500" cy="428625"/>
          </a:xfrm>
          <a:prstGeom prst="roundRect">
            <a:avLst>
              <a:gd name="adj" fmla="val 15556"/>
            </a:avLst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Rectangle 34"/>
          <p:cNvSpPr>
            <a:spLocks noGrp="1"/>
          </p:cNvSpPr>
          <p:nvPr/>
        </p:nvSpPr>
        <p:spPr>
          <a:xfrm>
            <a:off x="3286125" y="5819775"/>
            <a:ext cx="561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73F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X-Request-ID được truyền xuyên suốt để đối chiếu log giữa các service.</a:t>
            </a:r>
            <a:endParaRPr sz="1125" b="1">
              <a:solidFill>
                <a:srgbClr val="173F5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Straight Connector 35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7" name="Rectangle 36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app/frontend/main.py, app/backend/main.py, ai-models/service/main.py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 33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 · PACKAGING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và deployment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4287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Compose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952625"/>
            <a:ext cx="18097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476500" y="1952625"/>
            <a:ext cx="10477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524250" y="1952625"/>
            <a:ext cx="2762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 / image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66750" y="2476500"/>
            <a:ext cx="1809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frontend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476500" y="2476500"/>
            <a:ext cx="1047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3000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524250" y="2476500"/>
            <a:ext cx="2762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./app/frontend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666750" y="3000375"/>
            <a:ext cx="18097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2476500" y="3000375"/>
            <a:ext cx="10477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8000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524250" y="3000375"/>
            <a:ext cx="27622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./app/backend/Dockerfile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66750" y="3524250"/>
            <a:ext cx="1809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ai-service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476500" y="3524250"/>
            <a:ext cx="10477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8001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524250" y="3524250"/>
            <a:ext cx="27622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./ai-models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66750" y="4048125"/>
            <a:ext cx="18097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mongodb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2476500" y="4048125"/>
            <a:ext cx="10477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27017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524250" y="4048125"/>
            <a:ext cx="2762250" cy="5238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6667500" y="1428750"/>
            <a:ext cx="4857750" cy="1762125"/>
          </a:xfrm>
          <a:prstGeom prst="roundRect">
            <a:avLst>
              <a:gd name="adj" fmla="val 3784"/>
            </a:avLst>
          </a:prstGeom>
          <a:solidFill>
            <a:srgbClr val="EAF6F5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Rectangle 21"/>
          <p:cNvSpPr>
            <a:spLocks noGrp="1"/>
          </p:cNvSpPr>
          <p:nvPr/>
        </p:nvSpPr>
        <p:spPr>
          <a:xfrm>
            <a:off x="6934200" y="1666875"/>
            <a:ext cx="4191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Kiểm tra cấu hình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934200" y="2143125"/>
            <a:ext cx="1047750" cy="43815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9525">
            <a:solidFill>
              <a:srgbClr val="2E7D5B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PASS</a:t>
            </a:r>
            <a:endParaRPr sz="17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8172450" y="2076450"/>
            <a:ext cx="304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compose --env-file .env.example config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6667500" y="3429000"/>
            <a:ext cx="4857750" cy="1619250"/>
          </a:xfrm>
          <a:prstGeom prst="roundRect">
            <a:avLst>
              <a:gd name="adj" fmla="val 4118"/>
            </a:avLst>
          </a:prstGeom>
          <a:solidFill>
            <a:srgbClr val="FFF7D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Rectangle 25"/>
          <p:cNvSpPr>
            <a:spLocks noGrp="1"/>
          </p:cNvSpPr>
          <p:nvPr/>
        </p:nvSpPr>
        <p:spPr>
          <a:xfrm>
            <a:off x="6934200" y="36385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Runtime Docker</a:t>
            </a:r>
            <a:endParaRPr sz="15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6934200" y="4048125"/>
            <a:ext cx="409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B5473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B5473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chạy container</a:t>
            </a:r>
            <a:endParaRPr sz="1725" b="1">
              <a:solidFill>
                <a:srgbClr val="B5473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934200" y="4505325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63"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daemon chưa kết nối trong phiên kiểm tra, Compose config đã hợp lệ.</a:t>
            </a:r>
            <a:endParaRPr sz="11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666750" y="5095875"/>
            <a:ext cx="10858500" cy="876300"/>
          </a:xfrm>
          <a:prstGeom prst="roundRect">
            <a:avLst>
              <a:gd name="adj" fmla="val 760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Rectangle 29"/>
          <p:cNvSpPr>
            <a:spLocks noGrp="1"/>
          </p:cNvSpPr>
          <p:nvPr/>
        </p:nvSpPr>
        <p:spPr>
          <a:xfrm>
            <a:off x="904875" y="528637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Deployment public</a:t>
            </a:r>
            <a:endParaRPr sz="1275" b="1">
              <a:solidFill>
                <a:srgbClr val="E9C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3048000" y="521970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Render/ngrok fallback · URL public: TBD</a:t>
            </a:r>
            <a:endParaRPr sz="172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Straight Connector 31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33" name="Rectangle 32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docker-compose.yml, .env.example, README.md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 · VERIFICATION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Kiểm thử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476375"/>
            <a:ext cx="3333750" cy="123825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666750" y="1476375"/>
            <a:ext cx="57150" cy="1238250"/>
          </a:xfrm>
          <a:prstGeom prst="rect">
            <a:avLst/>
          </a:prstGeom>
          <a:solidFill>
            <a:srgbClr val="2E7D5B"/>
          </a:solidFill>
          <a:ln w="0">
            <a:noFill/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38200" y="15906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 / 12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38200" y="201930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Pytest đã pass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838200" y="2305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service: 7 · Backend: 5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286250" y="1476375"/>
            <a:ext cx="3333750" cy="123825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Rectangle 10"/>
          <p:cNvSpPr>
            <a:spLocks noGrp="1"/>
          </p:cNvSpPr>
          <p:nvPr/>
        </p:nvSpPr>
        <p:spPr>
          <a:xfrm>
            <a:off x="4286250" y="1476375"/>
            <a:ext cx="57150" cy="1238250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457700" y="15906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PASS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4457700" y="201930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Compose config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4457700" y="2305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compose config hợp lệ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7905750" y="1476375"/>
            <a:ext cx="3619500" cy="123825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ctangle 15"/>
          <p:cNvSpPr>
            <a:spLocks noGrp="1"/>
          </p:cNvSpPr>
          <p:nvPr/>
        </p:nvSpPr>
        <p:spPr>
          <a:xfrm>
            <a:off x="7905750" y="1476375"/>
            <a:ext cx="57150" cy="1238250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8077200" y="15906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2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CHẠY</a:t>
            </a:r>
            <a:endParaRPr sz="22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077200" y="2019300"/>
            <a:ext cx="333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End-to-end Docker</a:t>
            </a:r>
            <a:endParaRPr sz="1125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8077200" y="23050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daemon Docker chưa kết nối</a:t>
            </a:r>
            <a:endParaRPr sz="900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666750" y="3190875"/>
            <a:ext cx="5191125" cy="2524125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Rectangle 20"/>
          <p:cNvSpPr>
            <a:spLocks noGrp="1"/>
          </p:cNvSpPr>
          <p:nvPr/>
        </p:nvSpPr>
        <p:spPr>
          <a:xfrm>
            <a:off x="904875" y="3429000"/>
            <a:ext cx="4572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Phạm vi đã kiểm tra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04875" y="3905250"/>
            <a:ext cx="46196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Service: health, model-info, predict, validation.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Backend: health, predict, lỗi AI timeout/unavailable.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test dùng mock AI Service và MongoDB.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Compose config đọc 4 service và healthcheck AI.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191250" y="3190875"/>
            <a:ext cx="5334000" cy="2524125"/>
          </a:xfrm>
          <a:prstGeom prst="roundRect">
            <a:avLst>
              <a:gd name="adj" fmla="val 2642"/>
            </a:avLst>
          </a:prstGeom>
          <a:solidFill>
            <a:srgbClr val="FCEDE8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Rectangle 23"/>
          <p:cNvSpPr>
            <a:spLocks noGrp="1"/>
          </p:cNvSpPr>
          <p:nvPr/>
        </p:nvSpPr>
        <p:spPr>
          <a:xfrm>
            <a:off x="6429375" y="3429000"/>
            <a:ext cx="4762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Giới hạn kiểm thử</a:t>
            </a:r>
            <a:endParaRPr sz="165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6429375" y="3905250"/>
            <a:ext cx="4762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chạy container end-to-end trong Docker.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xác minh /api/history với MongoDB thật.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Không có smoke/load test trong repo hiện tại.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800"/>
              </a:spcAft>
              <a:buNone/>
              <a:def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Pytest gộp hai suite bị trùng tên module nên cần chạy riêng.</a:t>
            </a:r>
            <a:endParaRPr sz="120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Straight Connector 25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ai-models/service/tests, app/backend/tests, docker compose config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Rectangle 25"/>
          <p:cNvSpPr>
            <a:spLocks noGrp="1"/>
          </p:cNvSpPr>
          <p:nvPr/>
        </p:nvSpPr>
        <p:spPr>
          <a:xfrm>
            <a:off x="666750" y="323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67D8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 · DEPLOYMENT</a:t>
            </a:r>
            <a:endParaRPr sz="975" b="1">
              <a:solidFill>
                <a:srgbClr val="167D8D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5715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 hoạch triển khai public</a:t>
            </a:r>
            <a:endParaRPr sz="27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66750" y="1152525"/>
            <a:ext cx="714375" cy="476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050" b="1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66750" y="1476375"/>
            <a:ext cx="4857750" cy="409575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ectangle 5"/>
          <p:cNvSpPr>
            <a:spLocks noGrp="1"/>
          </p:cNvSpPr>
          <p:nvPr/>
        </p:nvSpPr>
        <p:spPr>
          <a:xfrm>
            <a:off x="904875" y="1714500"/>
            <a:ext cx="428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Render/Atlas theo README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04875" y="2238375"/>
            <a:ext cx="1809750" cy="4857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Hạng mục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714625" y="2238375"/>
            <a:ext cx="2333625" cy="485775"/>
          </a:xfrm>
          <a:prstGeom prst="rect">
            <a:avLst/>
          </a:prstGeom>
          <a:solidFill>
            <a:srgbClr val="102A43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Cách triển khai</a:t>
            </a:r>
            <a:endParaRPr sz="975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904875" y="2724150"/>
            <a:ext cx="18097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2714625" y="2724150"/>
            <a:ext cx="2333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 Docker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04875" y="3209925"/>
            <a:ext cx="180975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2714625" y="3209925"/>
            <a:ext cx="2333625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 Docker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904875" y="3695700"/>
            <a:ext cx="180975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Frontend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2714625" y="3695700"/>
            <a:ext cx="2333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Render Docker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04875" y="4181475"/>
            <a:ext cx="1809750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</a:t>
            </a:r>
            <a:endParaRPr sz="1125" b="1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714625" y="4181475"/>
            <a:ext cx="2333625" cy="485775"/>
          </a:xfrm>
          <a:prstGeom prst="rect">
            <a:avLst/>
          </a:prstGeom>
          <a:solidFill>
            <a:srgbClr val="EAF1F8"/>
          </a:solidFill>
          <a:ln w="9525">
            <a:solidFill>
              <a:srgbClr val="D7E0E8"/>
            </a:solidFill>
            <a:prstDash val="solid"/>
          </a:ln>
        </p:spPr>
        <p:txBody>
          <a:bodyPr wrap="square" lIns="85725" tIns="38100" rIns="85725" bIns="3810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MongoDB Atlas</a:t>
            </a:r>
            <a:endParaRPr sz="1125" b="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00125" y="49530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README.md</a:t>
            </a:r>
            <a:endParaRPr sz="97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905500" y="1476375"/>
            <a:ext cx="5619750" cy="4095750"/>
          </a:xfrm>
          <a:prstGeom prst="roundRect">
            <a:avLst>
              <a:gd name="adj" fmla="val 1628"/>
            </a:avLst>
          </a:prstGeom>
          <a:solidFill>
            <a:srgbClr val="FFF7D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Rectangle 18"/>
          <p:cNvSpPr>
            <a:spLocks noGrp="1"/>
          </p:cNvSpPr>
          <p:nvPr/>
        </p:nvSpPr>
        <p:spPr>
          <a:xfrm>
            <a:off x="6191250" y="1714500"/>
            <a:ext cx="504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7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Trạng thái hiện tại</a:t>
            </a:r>
            <a:endParaRPr sz="187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191250" y="2286000"/>
            <a:ext cx="247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B54736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B5473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TBD</a:t>
            </a:r>
            <a:endParaRPr sz="2850" b="1">
              <a:solidFill>
                <a:srgbClr val="B54736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6191250" y="3095625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Frontend, Backend và AI Service chưa có URL public.</a:t>
            </a:r>
            <a:endParaRPr sz="135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README không dùng URL Vercel/Render giả.</a:t>
            </a:r>
            <a:endParaRPr sz="135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Ngrok fallback có thể public frontend local qua cổng 3000.</a:t>
            </a:r>
            <a:endParaRPr sz="135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000"/>
              </a:spcAft>
              <a:buNone/>
              <a:def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Secrets như MongoDB URI không commit vào repo.</a:t>
            </a:r>
            <a:endParaRPr sz="1350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6191250" y="4857750"/>
            <a:ext cx="4762500" cy="428625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Rectangle 22"/>
          <p:cNvSpPr>
            <a:spLocks noGrp="1"/>
          </p:cNvSpPr>
          <p:nvPr/>
        </p:nvSpPr>
        <p:spPr>
          <a:xfrm>
            <a:off x="6334125" y="491490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Cập nhật bảng Demo Online sau khi deploy.</a:t>
            </a:r>
            <a:endParaRPr sz="1125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Straight Connector 23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D7E0E8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Nguồn: README.md, .env.example, docker-compose.yml</a:t>
            </a:r>
            <a:endParaRPr sz="825" b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666750" y="40005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E9C46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 · WRAP-UP</a:t>
            </a:r>
            <a:endParaRPr sz="1050" b="1">
              <a:solidFill>
                <a:srgbClr val="E9C46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66750" y="6858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8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Kết luận và hướng phát triển</a:t>
            </a:r>
            <a:endParaRPr sz="28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1191875" y="409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0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66750" y="1571625"/>
            <a:ext cx="3238500" cy="37147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167D8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571625"/>
            <a:ext cx="3238500" cy="85725"/>
          </a:xfrm>
          <a:prstGeom prst="rect">
            <a:avLst/>
          </a:prstGeom>
          <a:solidFill>
            <a:srgbClr val="167D8D"/>
          </a:solidFill>
          <a:ln w="0">
            <a:noFill/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04875" y="18859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Đã hoàn thành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933450" y="2571750"/>
            <a:ext cx="2667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Artifact Gradient Boosting + metadata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validation và feature engineering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Service, Backend, Frontend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Docker Compose + MongoDB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12/12 pytest pass khi chạy riêng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238625" y="1571625"/>
            <a:ext cx="3238500" cy="37147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76F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9" name="Rectangle 8"/>
          <p:cNvSpPr>
            <a:spLocks noGrp="1"/>
          </p:cNvSpPr>
          <p:nvPr/>
        </p:nvSpPr>
        <p:spPr>
          <a:xfrm>
            <a:off x="4238625" y="1571625"/>
            <a:ext cx="3238500" cy="85725"/>
          </a:xfrm>
          <a:prstGeom prst="rect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476750" y="18859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Giới hạn hiện tại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05325" y="2571750"/>
            <a:ext cx="2667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chạy Docker end-to-end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URL public vẫn TBD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Mongo history chưa test với DB thật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có benchmark/load test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Chưa có CI/CD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810500" y="1571625"/>
            <a:ext cx="3238500" cy="371475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9C46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3" name="Rectangle 12"/>
          <p:cNvSpPr>
            <a:spLocks noGrp="1"/>
          </p:cNvSpPr>
          <p:nvPr/>
        </p:nvSpPr>
        <p:spPr>
          <a:xfrm>
            <a:off x="7810500" y="1571625"/>
            <a:ext cx="3238500" cy="85725"/>
          </a:xfrm>
          <a:prstGeom prst="rect">
            <a:avLst/>
          </a:prstGeom>
          <a:solidFill>
            <a:srgbClr val="E9C46A"/>
          </a:solidFill>
          <a:ln w="0">
            <a:noFill/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8048625" y="18859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>
                <a:solidFill>
                  <a:srgbClr val="102A4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Bước tiếp theo</a:t>
            </a:r>
            <a:endParaRPr sz="1800" b="1">
              <a:solidFill>
                <a:srgbClr val="102A4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8077200" y="2571750"/>
            <a:ext cx="2667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14300" tIns="76200" rIns="114300" bIns="76200" anchor="t">
            <a:normAutofit/>
          </a:bodyPr>
          <a:lstStyle/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Chạy Compose trên Docker daemon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Cập nhật URL Render/ngrok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 /api/history với MongoDB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Bổ sung smoke/load test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indent="-127000" algn="l">
              <a:lnSpc>
                <a:spcPct val="100000"/>
              </a:lnSpc>
              <a:spcAft>
                <a:spcPts val="1200"/>
              </a:spcAft>
              <a:buNone/>
              <a:def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>
                <a:solidFill>
                  <a:srgbClr val="1D293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Thiết lập CI/CD</a:t>
            </a:r>
            <a:endParaRPr sz="1275">
              <a:solidFill>
                <a:srgbClr val="1D293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66750" y="56197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57150" rIns="95250" bIns="57150" anchor="ctr">
            <a:normAutofit fontScale="91270"/>
          </a:bodyPr>
          <a:lstStyle/>
          <a:p>
            <a:pPr algn="ctr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31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Q&amp;A</a:t>
            </a:r>
            <a:endParaRPr sz="31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666750" y="6477000"/>
            <a:ext cx="10858500" cy="0"/>
          </a:xfrm>
          <a:prstGeom prst="line">
            <a:avLst/>
          </a:prstGeom>
          <a:noFill/>
          <a:ln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66750" y="652462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D9E3E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Tổng hợp từ README.md và repository cali-house-price-prediction-git</a:t>
            </a:r>
            <a:endParaRPr sz="825" b="0">
              <a:solidFill>
                <a:srgbClr val="D9E3E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6871</Words>
  <Application>WPS Presentation</Application>
  <PresentationFormat>Converted Presentation</PresentationFormat>
  <Paragraphs>638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Đào Chính Quang</cp:lastModifiedBy>
  <cp:revision>1</cp:revision>
  <dcterms:created xsi:type="dcterms:W3CDTF">2026-09-27T12:29:53Z</dcterms:created>
  <dcterms:modified xsi:type="dcterms:W3CDTF">2026-09-27T12:29:53Z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CD0675A086CB42FCA49D615082F5B964_12</vt:lpwstr>
  </property>
</Properties>
</file>