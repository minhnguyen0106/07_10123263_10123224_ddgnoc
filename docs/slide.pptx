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800" b="1" i="0" u="none" strike="noStrike" kern="1200" baseline="0">
                <a:solidFill>
                  <a:schemeClr val="tx1"/>
                </a:solidFill>
                <a:latin typeface="+mn-lt"/>
                <a:ea typeface="+mn-ea"/>
                <a:cs typeface="+mn-cs"/>
              </a:defRPr>
            </a:pPr>
            <a:r>
              <a:rPr sz="1275" b="1">
                <a:solidFill>
                  <a:srgbClr val="102A43"/>
                </a:solidFill>
                <a:latin typeface="Arial" panose="020B0604020202020204"/>
                <a:ea typeface="Arial" panose="020B0604020202020204"/>
                <a:cs typeface="Arial" panose="020B0604020202020204"/>
              </a:rPr>
              <a:t>RMSE trên tập test (USD, thấp hơn tốt hơn)</a:t>
            </a:r>
            <a:endParaRPr sz="1275" b="1">
              <a:solidFill>
                <a:srgbClr val="102A43"/>
              </a:solidFill>
              <a:latin typeface="Arial" panose="020B0604020202020204"/>
              <a:ea typeface="Arial" panose="020B0604020202020204"/>
              <a:cs typeface="Arial" panose="020B0604020202020204"/>
            </a:endParaRPr>
          </a:p>
        </c:rich>
      </c:tx>
      <c:layout/>
      <c:overlay val="0"/>
    </c:title>
    <c:autoTitleDeleted val="0"/>
    <c:plotArea>
      <c:layout/>
      <c:barChart>
        <c:barDir val="bar"/>
        <c:grouping val="clustered"/>
        <c:varyColors val="1"/>
        <c:ser>
          <c:idx val="0"/>
          <c:order val="0"/>
          <c:tx>
            <c:strRef>
              <c:f>RMSE</c:f>
              <c:strCache>
                <c:ptCount val="1"/>
                <c:pt idx="0">
                  <c:v>RMSE</c:v>
                </c:pt>
              </c:strCache>
            </c:strRef>
          </c:tx>
          <c:spPr>
            <a:solidFill>
              <a:srgbClr val="167D8D"/>
            </a:solidFill>
          </c:spPr>
          <c:invertIfNegative val="0"/>
          <c:dPt>
            <c:idx val="0"/>
            <c:invertIfNegative val="0"/>
            <c:bubble3D val="0"/>
            <c:spPr>
              <a:solidFill>
                <a:srgbClr val="167D8D"/>
              </a:solidFill>
            </c:spPr>
          </c:dPt>
          <c:dPt>
            <c:idx val="1"/>
            <c:invertIfNegative val="0"/>
            <c:bubble3D val="0"/>
            <c:spPr>
              <a:solidFill>
                <a:srgbClr val="173F5F"/>
              </a:solidFill>
            </c:spPr>
          </c:dPt>
          <c:dPt>
            <c:idx val="2"/>
            <c:invertIfNegative val="0"/>
            <c:bubble3D val="0"/>
            <c:spPr>
              <a:solidFill>
                <a:srgbClr val="E9C46A"/>
              </a:solidFill>
            </c:spPr>
          </c:dPt>
          <c:dPt>
            <c:idx val="3"/>
            <c:invertIfNegative val="0"/>
            <c:bubble3D val="0"/>
            <c:spPr>
              <a:solidFill>
                <a:srgbClr val="E76F51"/>
              </a:solidFill>
            </c:spPr>
          </c:dPt>
          <c:dLbls>
            <c:numFmt formatCode="General" sourceLinked="1"/>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chemeClr val="tx1"/>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Data'!$A$2:$A$5</c:f>
              <c:strCache>
                <c:ptCount val="4"/>
                <c:pt idx="0">
                  <c:v>Gradient Boosting</c:v>
                </c:pt>
                <c:pt idx="1">
                  <c:v>Random Forest</c:v>
                </c:pt>
                <c:pt idx="2">
                  <c:v>Decision Tree</c:v>
                </c:pt>
                <c:pt idx="3">
                  <c:v>Linear Regression</c:v>
                </c:pt>
              </c:strCache>
            </c:strRef>
          </c:cat>
          <c:val>
            <c:numRef>
              <c:f>'Chart Data'!$B$2:$B$5</c:f>
              <c:numCache>
                <c:formatCode>General</c:formatCode>
                <c:ptCount val="4"/>
                <c:pt idx="0">
                  <c:v>46839.74</c:v>
                </c:pt>
                <c:pt idx="1">
                  <c:v>50180.69</c:v>
                </c:pt>
                <c:pt idx="2">
                  <c:v>62657.82</c:v>
                </c:pt>
                <c:pt idx="3">
                  <c:v>72701.33</c:v>
                </c:pt>
              </c:numCache>
            </c:numRef>
          </c:val>
        </c:ser>
        <c:dLbls>
          <c:showLegendKey val="0"/>
          <c:showVal val="1"/>
          <c:showCatName val="0"/>
          <c:showSerName val="0"/>
          <c:showPercent val="0"/>
          <c:showBubbleSize val="0"/>
        </c:dLbls>
        <c:gapWidth val="35"/>
        <c:axId val="48650112"/>
        <c:axId val="48672768"/>
      </c:barChart>
      <c:catAx>
        <c:axId val="48650112"/>
        <c:scaling>
          <c:orientation val="minMax"/>
        </c:scaling>
        <c:delete val="0"/>
        <c:axPos val="l"/>
        <c:majorGridlines>
          <c:spPr>
            <a:ln w="9525">
              <a:solidFill>
                <a:srgbClr val="D7E0E8"/>
              </a:solidFill>
              <a:prstDash val="solid"/>
              <a:round/>
            </a:ln>
          </c:spPr>
        </c:majorGridlines>
        <c:numFmt formatCode="#,##0"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en-US" sz="900" b="0" i="0" u="none" strike="noStrike" kern="1200" baseline="0">
                <a:solidFill>
                  <a:srgbClr val="5F6C7B"/>
                </a:solidFill>
                <a:latin typeface="Arial" panose="020B0604020202020204"/>
                <a:ea typeface="Arial" panose="020B0604020202020204"/>
                <a:cs typeface="Arial" panose="020B0604020202020204"/>
              </a:defRPr>
            </a:pPr>
          </a:p>
        </c:txPr>
        <c:crossAx val="48672768"/>
        <c:crosses val="autoZero"/>
        <c:auto val="1"/>
        <c:lblAlgn val="ctr"/>
        <c:lblOffset val="100"/>
        <c:noMultiLvlLbl val="0"/>
      </c:catAx>
      <c:valAx>
        <c:axId val="48672768"/>
        <c:scaling>
          <c:orientation val="minMax"/>
        </c:scaling>
        <c:delete val="0"/>
        <c:axPos val="b"/>
        <c:numFmt formatCode="General" sourceLinked="1"/>
        <c:majorTickMark val="none"/>
        <c:minorTickMark val="none"/>
        <c:tickLblPos val="nextTo"/>
        <c:spPr>
          <a:ln w="9525">
            <a:solidFill>
              <a:srgbClr val="D7E0E8"/>
            </a:solidFill>
            <a:prstDash val="solid"/>
            <a:round/>
          </a:ln>
        </c:spPr>
        <c:txPr>
          <a:bodyPr rot="-60000000" spcFirstLastPara="0" vertOverflow="ellipsis" vert="horz" wrap="square" anchor="ctr" anchorCtr="1"/>
          <a:lstStyle/>
          <a:p>
            <a:pPr>
              <a:defRPr lang="en-US" sz="975" b="0" i="0" u="none" strike="noStrike" kern="1200" baseline="0">
                <a:solidFill>
                  <a:srgbClr val="1D2939"/>
                </a:solidFill>
                <a:latin typeface="Arial" panose="020B0604020202020204"/>
                <a:ea typeface="Arial" panose="020B0604020202020204"/>
                <a:cs typeface="Arial" panose="020B0604020202020204"/>
              </a:defRPr>
            </a:pPr>
          </a:p>
        </c:txPr>
        <c:crossAx val="48650112"/>
        <c:crosses val="autoZero"/>
        <c:crossBetween val="between"/>
      </c:valAx>
      <c:spPr>
        <a:solidFill>
          <a:srgbClr val="FFFFFF"/>
        </a:solidFill>
        <a:ln w="0">
          <a:solidFill>
            <a:srgbClr val="FFFFFF"/>
          </a:solidFill>
          <a:prstDash val="solid"/>
        </a:ln>
      </c:spPr>
    </c:plotArea>
    <c:plotVisOnly val="1"/>
    <c:dispBlanksAs val="gap"/>
    <c:showDLblsOverMax val="0"/>
    <c:extLst>
      <c:ext uri="{0b15fc19-7d7d-44ad-8c2d-2c3a37ce22c3}">
        <chartProps xmlns="https://web.wps.cn/et/2018/main" chartId="{3cb23841-030e-40f8-bea9-6d2f839c9e7a}"/>
      </c:ext>
    </c:extLst>
  </c:chart>
  <c:spPr>
    <a:solidFill>
      <a:srgbClr val="FFFFFF"/>
    </a:solidFill>
    <a:ln w="0">
      <a:solidFill>
        <a:srgbClr val="FFFFFF"/>
      </a:solidFill>
      <a:prstDash val="solid"/>
    </a:ln>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30–40 giây.</a:t>
            </a:r>
          </a:p>
          <a:p>
            <a:r>
              <a:t>Mở đầu bằng mục tiêu: xây dựng quy trình dự đoán giá nhà California từ dữ liệu đến API.</a:t>
            </a:r>
          </a:p>
          <a:p>
            <a:r>
              <a:t>Nhấn mạnh toàn bộ số liệu trong slide lấy từ repository và kết quả chạy thực tế.</a:t>
            </a:r>
          </a:p>
          <a:p>
            <a:r>
              <a:t>Chuyển ý: bắt đầu từ bài toán và tiêu chí đánh giá.</a:t>
            </a:r>
          </a:p>
          <a:p>
            <a:r>
              <a:t>Nguồn: README.md;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45 giây.</a:t>
            </a:r>
          </a:p>
          <a:p>
            <a:r>
              <a:t>Giải thích đây là bài toán supervised regression. Input API gồm 9 trường gốc; backend tạo thêm 3 tỷ lệ trước khi gọi AI service.</a:t>
            </a:r>
          </a:p>
          <a:p>
            <a:r>
              <a:t>Ba chỉ số chính là RMSE, MAE và R².</a:t>
            </a:r>
          </a:p>
          <a:p>
            <a:r>
              <a:t>Chuyển ý: dữ liệu nền cho bài toán có quy mô và chất lượng như thế nào?</a:t>
            </a:r>
          </a:p>
          <a:p>
            <a:r>
              <a:t>Nguồn: ai-models/src/train.py; ai-service/app/schemas.py; backend/app/schemas.py.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50 giây.</a:t>
            </a:r>
          </a:p>
          <a:p>
            <a:r>
              <a:t>Nêu quy mô 20.640 dòng và 10 cột, trong đó 9 feature và 1 target.</a:t>
            </a:r>
          </a:p>
          <a:p>
            <a:r>
              <a:t>Chỉ total_bedrooms có dữ liệu thiếu: 207 dòng.</a:t>
            </a:r>
          </a:p>
          <a:p>
            <a:r>
              <a:t>Lưu ý giá trị mục tiêu bị chặn ở 500.001 USD, có thể ảnh hưởng các dự đoán ở phân khúc cao.</a:t>
            </a:r>
          </a:p>
          <a:p>
            <a:r>
              <a:t>Chuyển ý: xem phân phối và chất lượng dữ liệu bằng các hình EDA thực tế.</a:t>
            </a:r>
          </a:p>
          <a:p>
            <a:r>
              <a:t>Nguồn: ai-models/data/housing.csv.zip; ai-models/notebooks/01_eda.ipynb.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Hình trái: target có phân phối lệch phải và hiệu ứng trần.</a:t>
            </a:r>
          </a:p>
          <a:p>
            <a:r>
              <a:t>Hình giữa: phân phối median_income và housing_median_age.</a:t>
            </a:r>
          </a:p>
          <a:p>
            <a:r>
              <a:t>Hình phải: heatmap cho thấy missing chỉ nằm ở total_bedrooms.</a:t>
            </a:r>
          </a:p>
          <a:p>
            <a:r>
              <a:t>Quyết định kỹ thuật: dùng median imputation và đánh giá bằng metric ít nhạy hơn với outlier bên cạnh RMSE.</a:t>
            </a:r>
          </a:p>
          <a:p>
            <a:r>
              <a:t>Chuyển ý: tiếp theo xem các quan hệ giữa feature và target.</a:t>
            </a:r>
          </a:p>
          <a:p>
            <a:r>
              <a:t>Nguồn hình: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median_income có tương quan 0,688 với giá nhà, mạnh nhất trong các biến số. latitude có tương quan âm khoảng -0,144.</a:t>
            </a:r>
          </a:p>
          <a:p>
            <a:r>
              <a:t>Scatter cho thấy quan hệ không hoàn toàn tuyến tính và target có mức trần. Pairplot củng cố lựa chọn thử các mô hình cây và boosting.</a:t>
            </a:r>
          </a:p>
          <a:p>
            <a:r>
              <a:t>Chuyển ý: từ quan sát EDA, pipeline tiền xử lý được thiết kế như sau.</a:t>
            </a:r>
          </a:p>
          <a:p>
            <a:r>
              <a:t>Nguồn: ai-models/notebooks/ML_Project.ipynb; ai-models/data/housing.csv.zip.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Đi qua 5 bước: split, median imputation, feature engineering, scale/encode và ghép pipeline.</a:t>
            </a:r>
          </a:p>
          <a:p>
            <a:r>
              <a:t>Ba đặc trưng tạo thêm là rooms_per_household, bedrooms_per_room, population_per_household.</a:t>
            </a:r>
          </a:p>
          <a:p>
            <a:r>
              <a:t>Nêu rõ giới hạn hiện tại: imputer không nằm trong artifact cuối; API validation hiện yêu cầu trường đầu vào đầy đủ.</a:t>
            </a:r>
          </a:p>
          <a:p>
            <a:r>
              <a:t>Chuyển ý: pipeline này được dùng để huấn luyện bốn nhóm model.</a:t>
            </a:r>
          </a:p>
          <a:p>
            <a:r>
              <a:t>Nguồn: ai-models/src/preprocess.py; ai-models/src/train.py; ai-service/app/model.py.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45 giây.</a:t>
            </a:r>
          </a:p>
          <a:p>
            <a:r>
              <a:t>Giải thích vai trò của bốn model: linear làm baseline; ba model cây xử lý phi tuyến.</a:t>
            </a:r>
          </a:p>
          <a:p>
            <a:r>
              <a:t>Decision Tree dùng GridSearchCV. Random Forest và Gradient Boosting dùng RandomizedSearchCV để giới hạn chi phí tìm kiếm.</a:t>
            </a:r>
          </a:p>
          <a:p>
            <a:r>
              <a:t>Chuyển ý: toàn bộ model đi qua cùng một quy trình huấn luyện và test.</a:t>
            </a:r>
          </a:p>
          <a:p>
            <a:r>
              <a:t>Nguồn: ai-models/src/train.py.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55 giây.</a:t>
            </a:r>
          </a:p>
          <a:p>
            <a:r>
              <a:t>Mô tả cách tránh leakage: giữ tập test riêng; các bước fit thực hiện trên train.</a:t>
            </a:r>
          </a:p>
          <a:p>
            <a:r>
              <a:t>Tìm kiếm tham số dùng 5-fold cross-validation và neg_mean_squared_error.</a:t>
            </a:r>
          </a:p>
          <a:p>
            <a:r>
              <a:t>Kết quả chạy lại cho thấy Gradient Boosting có CV RMSE và test RMSE tốt nhất.</a:t>
            </a:r>
          </a:p>
          <a:p>
            <a:r>
              <a:t>Chuyển ý: xem bảng so sánh định lượng giữa bốn model.</a:t>
            </a:r>
          </a:p>
          <a:p>
            <a:r>
              <a:t>Nguồn: ai-models/src/train.py; log chạy thực tế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70 giây.</a:t>
            </a:r>
          </a:p>
          <a:p>
            <a:r>
              <a:t>Đọc biểu đồ từ tốt đến kém theo RMSE. Gradient Boosting tốt nhất với test RMSE 46.839,74; tiếp theo là Random Forest 50.180,69.</a:t>
            </a:r>
          </a:p>
          <a:p>
            <a:r>
              <a:t>Bảng bên phải bổ sung MAE và R². Gradient Boosting cũng dẫn đầu với MAE 30.660,42 và R² 0,8326.</a:t>
            </a:r>
          </a:p>
          <a:p>
            <a:r>
              <a:t>Các số này là kết quả chạy lại; metadata artifact hiện lưu một lần train khác, sẽ trình bày ở slide tiếp theo.</a:t>
            </a:r>
          </a:p>
          <a:p>
            <a:r>
              <a:t>Nguồn: log chạy ai-models/src/train.py --search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Artifact cuối là Pipeline chứa preprocessor và GradientBoostingRegressor.</a:t>
            </a:r>
          </a:p>
          <a:p>
            <a:r>
              <a:t>Metadata lưu RMSE 46.794,54, MAE 30.649,37 và R² 0,8329. Số này chênh nhẹ so với lần chạy lại vì là hai lần huấn luyện khác nhau.</a:t>
            </a:r>
          </a:p>
          <a:p>
            <a:r>
              <a:t>Model artifact có kích thước khoảng 1,03 MiB và version 1.0.0.</a:t>
            </a:r>
          </a:p>
          <a:p>
            <a:r>
              <a:t>Chuyển ý: model được đưa vào kiến trúc bốn service.</a:t>
            </a:r>
          </a:p>
          <a:p>
            <a:r>
              <a:t>Nguồn: ai-models/models/model.joblib; ai-models/models/metadata.json; ai-models/notebooks/ML_Project.ipynb.</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Frontend nhận dữ liệu người dùng và gọi backend. Backend validate, tạo feature và điều phối. AI service tải model để dự đoán. MongoDB lưu lịch sử nếu kết nối khả dụng.</a:t>
            </a:r>
          </a:p>
          <a:p>
            <a:r>
              <a:t>Bốn service chạy trong Docker Compose với các cổng 3000, 8000, 8001 và 27017.</a:t>
            </a:r>
          </a:p>
          <a:p>
            <a:r>
              <a:t>Chuyển ý: xem chi tiết một request đi qua hệ thống.</a:t>
            </a:r>
          </a:p>
          <a:p>
            <a:r>
              <a:t>Nguồn: docker-compose.yml; frontend/app/main.py; backend/app/main.py; ai-service/app/main.py.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Đi theo số thứ tự 1 đến 6. Điểm kỹ thuật quan trọng là backend tạo ba tỷ lệ trước khi gọi AI service.</a:t>
            </a:r>
          </a:p>
          <a:p>
            <a:r>
              <a:t>X-Request-ID giúp truy vết một yêu cầu qua nhiều service.</a:t>
            </a:r>
          </a:p>
          <a:p>
            <a:r>
              <a:t>Việc lưu MongoDB được thiết kế không làm thất bại response dự đoán nếu database tạm thời không sẵn sàng.</a:t>
            </a:r>
          </a:p>
          <a:p>
            <a:r>
              <a:t>Chuyển ý: đóng gói và trạng thái triển khai hiện tại.</a:t>
            </a:r>
          </a:p>
          <a:p>
            <a:r>
              <a:t>Nguồn: frontend/app/main.py; backend/app/main.py; backend/app/services/ai_client.py.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Compose định nghĩa đủ bốn service và cấu hình được parse thành công bằng lệnh config.</a:t>
            </a:r>
          </a:p>
          <a:p>
            <a:r>
              <a:t>Không khẳng định Docker chạy end-to-end vì daemon không hoạt động trong lúc đánh giá.</a:t>
            </a:r>
          </a:p>
          <a:p>
            <a:r>
              <a:t>Repository chưa có URL public; trạng thái được ghi rõ là đang chuẩn bị.</a:t>
            </a:r>
          </a:p>
          <a:p>
            <a:r>
              <a:t>Chuyển ý: dù chưa chạy Docker đầy đủ, unit test và smoke test cục bộ đã được thực hiện.</a:t>
            </a:r>
          </a:p>
          <a:p>
            <a:r>
              <a:t>Nguồn: docker-compose.yml; .env.example; README.md; kết quả lệnh docker compose config.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65 giây.</a:t>
            </a:r>
          </a:p>
          <a:p>
            <a:r>
              <a:t>Tổng cộng 12 test pytest pass: 7 cho AI service và 5 cho backend.</a:t>
            </a:r>
          </a:p>
          <a:p>
            <a:r>
              <a:t>Smoke test khởi động backend và AI service cục bộ, gọi predict thành công với giá dự đoán 262.225,38 USD và model version 1.0.0.</a:t>
            </a:r>
          </a:p>
          <a:p>
            <a:r>
              <a:t>Trình bày trung thực giới hạn: MongoDB không chạy, nên persistence và history chưa được xác nhận.</a:t>
            </a:r>
          </a:p>
          <a:p>
            <a:r>
              <a:t>Chuyển ý: load test đã có kịch bản nhưng chưa có kết quả đo.</a:t>
            </a:r>
          </a:p>
          <a:p>
            <a:r>
              <a:t>Nguồn: ai-service/tests; backend/tests; tests/smoke/smoke_test.py; log chạy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55 giây.</a:t>
            </a:r>
          </a:p>
          <a:p>
            <a:r>
              <a:t>Repository đã chuẩn bị script k6 với 10 VUs, 60 giây, ngưỡng p95 dưới 2 giây và error rate dưới 1%.</a:t>
            </a:r>
          </a:p>
          <a:p>
            <a:r>
              <a:t>Tuy nhiên k6 chưa có trong môi trường, nên không báo cáo p95, throughput hay error rate thực tế. Lighthouse cũng chưa đo.</a:t>
            </a:r>
          </a:p>
          <a:p>
            <a:r>
              <a:t>Chuyển ý: tổng kết kết quả đạt được và các bước cần hoàn thiện.</a:t>
            </a:r>
          </a:p>
          <a:p>
            <a:r>
              <a:t>Nguồn: tests/load/predict.js; docs/performance-test.md.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Thời lượng: 60 giây.</a:t>
            </a:r>
          </a:p>
          <a:p>
            <a:r>
              <a:t>Kết luận: dự án đã đi đủ chuỗi dữ liệu, mô hình, API và kiểm thử cơ bản. Gradient Boosting là model tốt nhất trong bốn model đã chạy.</a:t>
            </a:r>
          </a:p>
          <a:p>
            <a:r>
              <a:t>Nêu thẳng các phần chưa hoàn tất: deploy public, Docker end-to-end, Mongo history và benchmark hiệu năng.</a:t>
            </a:r>
          </a:p>
          <a:p>
            <a:r>
              <a:t>Đề xuất ưu tiên: chạy Compose đầy đủ, bổ sung benchmark, pin dependency và thiết lập CI/CD.</a:t>
            </a:r>
          </a:p>
          <a:p>
            <a:r>
              <a:t>Mời câu hỏi.</a:t>
            </a:r>
          </a:p>
          <a:p>
            <a:r>
              <a:t>Nguồn: tổng hợp toàn repository và kết quả kiểm tra ngày 27/09/2026.</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chart" Target="../charts/char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p:sp>
        <p:nvSpPr>
          <p:cNvPr id="13" name="Rectangle 12"/>
          <p:cNvSpPr>
            <a:spLocks noGrp="1"/>
          </p:cNvSpPr>
          <p:nvPr/>
        </p:nvSpPr>
        <p:spPr>
          <a:xfrm>
            <a:off x="0" y="0"/>
            <a:ext cx="12192000" cy="6858000"/>
          </a:xfrm>
          <a:prstGeom prst="rect">
            <a:avLst/>
          </a:prstGeom>
          <a:solidFill>
            <a:srgbClr val="102A43"/>
          </a:solidFill>
          <a:ln w="0">
            <a:noFill/>
            <a:prstDash val="solid"/>
          </a:ln>
        </p:spPr>
      </p:sp>
      <p:sp>
        <p:nvSpPr>
          <p:cNvPr id="2" name="Rectangle 1"/>
          <p:cNvSpPr>
            <a:spLocks noGrp="1"/>
          </p:cNvSpPr>
          <p:nvPr/>
        </p:nvSpPr>
        <p:spPr>
          <a:xfrm>
            <a:off x="7096125" y="0"/>
            <a:ext cx="5095875" cy="6858000"/>
          </a:xfrm>
          <a:prstGeom prst="rect">
            <a:avLst/>
          </a:prstGeom>
          <a:solidFill>
            <a:srgbClr val="FFFFFF"/>
          </a:solidFill>
          <a:ln w="0">
            <a:noFill/>
            <a:prstDash val="solid"/>
          </a:ln>
        </p:spPr>
      </p:sp>
      <p:pic>
        <p:nvPicPr>
          <p:cNvPr id="15" name="Picture 14"/>
          <p:cNvPicPr>
            <a:picLocks noChangeAspect="1"/>
          </p:cNvPicPr>
          <p:nvPr/>
        </p:nvPicPr>
        <p:blipFill>
          <a:blip r:embed="rId1"/>
          <a:stretch>
            <a:fillRect/>
          </a:stretch>
        </p:blipFill>
        <p:spPr>
          <a:xfrm>
            <a:off x="7286625" y="1783796"/>
            <a:ext cx="4619625" cy="3147534"/>
          </a:xfrm>
          <a:prstGeom prst="roundRect">
            <a:avLst>
              <a:gd name="adj" fmla="val 1237"/>
            </a:avLst>
          </a:prstGeom>
        </p:spPr>
      </p:pic>
      <p:sp>
        <p:nvSpPr>
          <p:cNvPr id="4" name="Rectangle 3"/>
          <p:cNvSpPr>
            <a:spLocks noGrp="1"/>
          </p:cNvSpPr>
          <p:nvPr/>
        </p:nvSpPr>
        <p:spPr>
          <a:xfrm>
            <a:off x="7096125" y="0"/>
            <a:ext cx="95250" cy="6858000"/>
          </a:xfrm>
          <a:prstGeom prst="rect">
            <a:avLst/>
          </a:prstGeom>
          <a:solidFill>
            <a:srgbClr val="E76F51"/>
          </a:solidFill>
          <a:ln w="0">
            <a:noFill/>
            <a:prstDash val="solid"/>
          </a:ln>
        </p:spPr>
      </p:sp>
      <p:sp>
        <p:nvSpPr>
          <p:cNvPr id="5" name="Rectangle 4"/>
          <p:cNvSpPr>
            <a:spLocks noGrp="1"/>
          </p:cNvSpPr>
          <p:nvPr/>
        </p:nvSpPr>
        <p:spPr>
          <a:xfrm>
            <a:off x="685800" y="590550"/>
            <a:ext cx="5572125"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9C46A"/>
                </a:solidFill>
                <a:latin typeface="Arial" panose="020B0604020202020204"/>
                <a:ea typeface="Arial" panose="020B0604020202020204"/>
                <a:cs typeface="Arial" panose="020B0604020202020204"/>
              </a:defRPr>
            </a:pPr>
            <a:r>
              <a:rPr sz="1050" b="1">
                <a:solidFill>
                  <a:srgbClr val="E9C46A"/>
                </a:solidFill>
                <a:latin typeface="Arial" panose="020B0604020202020204"/>
                <a:ea typeface="Arial" panose="020B0604020202020204"/>
                <a:cs typeface="Arial" panose="020B0604020202020204"/>
              </a:rPr>
              <a:t>BÁO CÁO BÀI TẬP LỚN</a:t>
            </a:r>
            <a:endParaRPr sz="1050" b="1">
              <a:solidFill>
                <a:srgbClr val="E9C46A"/>
              </a:solidFill>
              <a:latin typeface="Arial" panose="020B0604020202020204"/>
              <a:ea typeface="Arial" panose="020B0604020202020204"/>
              <a:cs typeface="Arial" panose="020B0604020202020204"/>
            </a:endParaRPr>
          </a:p>
        </p:txBody>
      </p:sp>
      <p:sp>
        <p:nvSpPr>
          <p:cNvPr id="6" name="Rectangle 5"/>
          <p:cNvSpPr>
            <a:spLocks noGrp="1"/>
          </p:cNvSpPr>
          <p:nvPr/>
        </p:nvSpPr>
        <p:spPr>
          <a:xfrm>
            <a:off x="685800" y="1143000"/>
            <a:ext cx="5715000" cy="1619250"/>
          </a:xfrm>
          <a:prstGeom prst="rect">
            <a:avLst/>
          </a:prstGeom>
          <a:noFill/>
          <a:ln w="0">
            <a:noFill/>
            <a:prstDash val="solid"/>
          </a:ln>
        </p:spPr>
        <p:txBody>
          <a:bodyPr wrap="square" lIns="0" tIns="0" rIns="0" bIns="0" anchor="t">
            <a:normAutofit/>
          </a:bodyPr>
          <a:lstStyle/>
          <a:p>
            <a:pPr algn="l">
              <a:lnSpc>
                <a:spcPct val="92000"/>
              </a:lnSpc>
              <a:buNone/>
              <a:defRPr sz="3750" b="1">
                <a:solidFill>
                  <a:srgbClr val="FFFFFF"/>
                </a:solidFill>
                <a:latin typeface="Arial" panose="020B0604020202020204"/>
                <a:ea typeface="Arial" panose="020B0604020202020204"/>
                <a:cs typeface="Arial" panose="020B0604020202020204"/>
              </a:defRPr>
            </a:pPr>
            <a:r>
              <a:rPr sz="3750" b="1">
                <a:solidFill>
                  <a:srgbClr val="FFFFFF"/>
                </a:solidFill>
                <a:latin typeface="Arial" panose="020B0604020202020204"/>
                <a:ea typeface="Arial" panose="020B0604020202020204"/>
                <a:cs typeface="Arial" panose="020B0604020202020204"/>
              </a:rPr>
              <a:t>DỰ ĐOÁN GIÁ NHÀ</a:t>
            </a:r>
            <a:endParaRPr sz="3750" b="1">
              <a:solidFill>
                <a:srgbClr val="FFFFFF"/>
              </a:solidFill>
              <a:latin typeface="Arial" panose="020B0604020202020204"/>
              <a:ea typeface="Arial" panose="020B0604020202020204"/>
              <a:cs typeface="Arial" panose="020B0604020202020204"/>
            </a:endParaRPr>
          </a:p>
          <a:p>
            <a:pPr algn="l">
              <a:lnSpc>
                <a:spcPct val="92000"/>
              </a:lnSpc>
              <a:buNone/>
              <a:defRPr sz="3750" b="1">
                <a:solidFill>
                  <a:srgbClr val="FFFFFF"/>
                </a:solidFill>
                <a:latin typeface="Arial" panose="020B0604020202020204"/>
                <a:ea typeface="Arial" panose="020B0604020202020204"/>
                <a:cs typeface="Arial" panose="020B0604020202020204"/>
              </a:defRPr>
            </a:pPr>
            <a:r>
              <a:rPr sz="3750" b="1">
                <a:solidFill>
                  <a:srgbClr val="FFFFFF"/>
                </a:solidFill>
                <a:latin typeface="Arial" panose="020B0604020202020204"/>
                <a:ea typeface="Arial" panose="020B0604020202020204"/>
                <a:cs typeface="Arial" panose="020B0604020202020204"/>
              </a:rPr>
              <a:t>CALIFORNIA</a:t>
            </a:r>
            <a:endParaRPr sz="37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685800" y="2952750"/>
            <a:ext cx="5572125" cy="361950"/>
          </a:xfrm>
          <a:prstGeom prst="rect">
            <a:avLst/>
          </a:prstGeom>
          <a:noFill/>
          <a:ln w="0">
            <a:noFill/>
            <a:prstDash val="solid"/>
          </a:ln>
        </p:spPr>
        <p:txBody>
          <a:bodyPr wrap="square" lIns="0" tIns="0" rIns="0" bIns="0" anchor="t">
            <a:normAutofit/>
          </a:bodyPr>
          <a:lstStyle/>
          <a:p>
            <a:pPr algn="l">
              <a:lnSpc>
                <a:spcPct val="100000"/>
              </a:lnSpc>
              <a:buNone/>
              <a:defRPr sz="1800" b="0">
                <a:solidFill>
                  <a:srgbClr val="D9E3EC"/>
                </a:solidFill>
                <a:latin typeface="Arial" panose="020B0604020202020204"/>
                <a:ea typeface="Arial" panose="020B0604020202020204"/>
                <a:cs typeface="Arial" panose="020B0604020202020204"/>
              </a:defRPr>
            </a:pPr>
            <a:r>
              <a:rPr sz="1800" b="0">
                <a:solidFill>
                  <a:srgbClr val="D9E3EC"/>
                </a:solidFill>
                <a:latin typeface="Arial" panose="020B0604020202020204"/>
                <a:ea typeface="Arial" panose="020B0604020202020204"/>
                <a:cs typeface="Arial" panose="020B0604020202020204"/>
              </a:rPr>
              <a:t>California Housing Price Prediction</a:t>
            </a:r>
            <a:endParaRPr sz="1800" b="0">
              <a:solidFill>
                <a:srgbClr val="D9E3EC"/>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685800" y="3571875"/>
            <a:ext cx="4572000" cy="304800"/>
          </a:xfrm>
          <a:prstGeom prst="rect">
            <a:avLst/>
          </a:prstGeom>
          <a:noFill/>
          <a:ln w="0">
            <a:noFill/>
            <a:prstDash val="solid"/>
          </a:ln>
        </p:spPr>
        <p:txBody>
          <a:bodyPr wrap="square" lIns="0" tIns="0" rIns="0" bIns="0" anchor="t">
            <a:normAutofit/>
          </a:bodyPr>
          <a:lstStyle/>
          <a:p>
            <a:pPr algn="l">
              <a:lnSpc>
                <a:spcPct val="100000"/>
              </a:lnSpc>
              <a:buNone/>
              <a:defRPr sz="1350" b="1">
                <a:solidFill>
                  <a:srgbClr val="2A9D8F"/>
                </a:solidFill>
                <a:latin typeface="Arial" panose="020B0604020202020204"/>
                <a:ea typeface="Arial" panose="020B0604020202020204"/>
                <a:cs typeface="Arial" panose="020B0604020202020204"/>
              </a:defRPr>
            </a:pPr>
            <a:r>
              <a:rPr sz="1350" b="1">
                <a:solidFill>
                  <a:srgbClr val="2A9D8F"/>
                </a:solidFill>
                <a:latin typeface="Arial" panose="020B0604020202020204"/>
                <a:ea typeface="Arial" panose="020B0604020202020204"/>
                <a:cs typeface="Arial" panose="020B0604020202020204"/>
              </a:rPr>
              <a:t>Machine Learning · FastAPI · Docker</a:t>
            </a:r>
            <a:endParaRPr sz="1350" b="1">
              <a:solidFill>
                <a:srgbClr val="2A9D8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685800" y="4580890"/>
            <a:ext cx="4953000" cy="876935"/>
          </a:xfrm>
          <a:prstGeom prst="rect">
            <a:avLst/>
          </a:prstGeom>
          <a:noFill/>
          <a:ln w="0">
            <a:noFill/>
            <a:prstDash val="solid"/>
          </a:ln>
        </p:spPr>
        <p:txBody>
          <a:bodyPr wrap="square" lIns="0" tIns="0" rIns="0" bIns="0" anchor="t">
            <a:normAutofit lnSpcReduction="10000"/>
          </a:bodyPr>
          <a:lstStyle/>
          <a:p>
            <a:pPr algn="l">
              <a:lnSpc>
                <a:spcPct val="100000"/>
              </a:lnSpc>
              <a:buNone/>
              <a:defRPr sz="1500" b="1">
                <a:solidFill>
                  <a:srgbClr val="FFFFFF"/>
                </a:solidFill>
                <a:latin typeface="Arial" panose="020B0604020202020204"/>
                <a:ea typeface="Arial" panose="020B0604020202020204"/>
                <a:cs typeface="Arial" panose="020B0604020202020204"/>
              </a:defRPr>
            </a:pPr>
            <a:endParaRPr lang="vi-VN" sz="1500" b="1">
              <a:solidFill>
                <a:srgbClr val="FFFFFF"/>
              </a:solidFill>
              <a:latin typeface="Arial" panose="020B0604020202020204"/>
              <a:ea typeface="Arial" panose="020B0604020202020204"/>
              <a:cs typeface="Arial" panose="020B0604020202020204"/>
            </a:endParaRPr>
          </a:p>
          <a:p>
            <a:pPr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Thành Viên: </a:t>
            </a:r>
            <a:endParaRPr lang="vi-VN" sz="1500" b="1">
              <a:solidFill>
                <a:srgbClr val="FFFFFF"/>
              </a:solidFill>
              <a:latin typeface="Arial" panose="020B0604020202020204"/>
              <a:ea typeface="Arial" panose="020B0604020202020204"/>
              <a:cs typeface="Arial" panose="020B0604020202020204"/>
            </a:endParaRPr>
          </a:p>
          <a:p>
            <a:pPr indent="457200"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Nguyễn Đức Minh - </a:t>
            </a:r>
            <a:r>
              <a:rPr lang="vi-VN" sz="1500" b="1">
                <a:solidFill>
                  <a:srgbClr val="FFFFFF"/>
                </a:solidFill>
                <a:latin typeface="Arial" panose="020B0604020202020204"/>
                <a:ea typeface="Arial" panose="020B0604020202020204"/>
                <a:cs typeface="Arial" panose="020B0604020202020204"/>
              </a:rPr>
              <a:t>10123224</a:t>
            </a:r>
            <a:endParaRPr lang="vi-VN" sz="1500" b="1">
              <a:solidFill>
                <a:srgbClr val="FFFFFF"/>
              </a:solidFill>
              <a:latin typeface="Arial" panose="020B0604020202020204"/>
              <a:ea typeface="Arial" panose="020B0604020202020204"/>
              <a:cs typeface="Arial" panose="020B0604020202020204"/>
            </a:endParaRPr>
          </a:p>
          <a:p>
            <a:pPr indent="457200" algn="l">
              <a:lnSpc>
                <a:spcPct val="100000"/>
              </a:lnSpc>
              <a:buNone/>
              <a:defRPr sz="1500" b="1">
                <a:solidFill>
                  <a:srgbClr val="FFFFFF"/>
                </a:solidFill>
                <a:latin typeface="Arial" panose="020B0604020202020204"/>
                <a:ea typeface="Arial" panose="020B0604020202020204"/>
                <a:cs typeface="Arial" panose="020B0604020202020204"/>
              </a:defRPr>
            </a:pPr>
            <a:r>
              <a:rPr lang="vi-VN" sz="1500" b="1">
                <a:solidFill>
                  <a:srgbClr val="FFFFFF"/>
                </a:solidFill>
                <a:latin typeface="Arial" panose="020B0604020202020204"/>
                <a:ea typeface="Arial" panose="020B0604020202020204"/>
                <a:cs typeface="Arial" panose="020B0604020202020204"/>
              </a:rPr>
              <a:t>Đào Chính Quang - </a:t>
            </a:r>
            <a:r>
              <a:rPr lang="vi-VN" sz="1500" b="1">
                <a:solidFill>
                  <a:srgbClr val="FFFFFF"/>
                </a:solidFill>
                <a:latin typeface="Arial" panose="020B0604020202020204"/>
                <a:ea typeface="Arial" panose="020B0604020202020204"/>
                <a:cs typeface="Arial" panose="020B0604020202020204"/>
              </a:rPr>
              <a:t>10123263</a:t>
            </a:r>
            <a:endParaRPr lang="vi-VN" sz="1500" b="1">
              <a:solidFill>
                <a:srgbClr val="FFFFFF"/>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685800" y="5810250"/>
            <a:ext cx="5715000" cy="228600"/>
          </a:xfrm>
          <a:prstGeom prst="rect">
            <a:avLst/>
          </a:prstGeom>
          <a:noFill/>
          <a:ln w="0">
            <a:noFill/>
            <a:prstDash val="solid"/>
          </a:ln>
        </p:spPr>
        <p:txBody>
          <a:bodyPr wrap="square" lIns="0" tIns="0" rIns="0" bIns="0" anchor="t">
            <a:normAutofit/>
          </a:bodyPr>
          <a:lstStyle/>
          <a:p>
            <a:pPr algn="l">
              <a:lnSpc>
                <a:spcPct val="100000"/>
              </a:lnSpc>
              <a:buNone/>
              <a:defRPr sz="975" b="0">
                <a:solidFill>
                  <a:srgbClr val="B9C8D6"/>
                </a:solidFill>
                <a:latin typeface="Arial" panose="020B0604020202020204"/>
                <a:ea typeface="Arial" panose="020B0604020202020204"/>
                <a:cs typeface="Arial" panose="020B0604020202020204"/>
              </a:defRPr>
            </a:pPr>
            <a:r>
              <a:rPr sz="975" b="0">
                <a:solidFill>
                  <a:srgbClr val="B9C8D6"/>
                </a:solidFill>
                <a:latin typeface="Arial" panose="020B0604020202020204"/>
                <a:ea typeface="Arial" panose="020B0604020202020204"/>
                <a:cs typeface="Arial" panose="020B0604020202020204"/>
              </a:rPr>
              <a:t>Repository: cali-house-price-prediction-git</a:t>
            </a:r>
            <a:endParaRPr sz="975" b="0">
              <a:solidFill>
                <a:srgbClr val="B9C8D6"/>
              </a:solidFill>
              <a:latin typeface="Arial" panose="020B0604020202020204"/>
              <a:ea typeface="Arial" panose="020B0604020202020204"/>
              <a:cs typeface="Arial" panose="020B0604020202020204"/>
            </a:endParaRPr>
          </a:p>
        </p:txBody>
      </p:sp>
      <p:sp>
        <p:nvSpPr>
          <p:cNvPr id="11" name="Straight Connector 10"/>
          <p:cNvSpPr>
            <a:spLocks noGrp="1"/>
          </p:cNvSpPr>
          <p:nvPr/>
        </p:nvSpPr>
        <p:spPr>
          <a:xfrm>
            <a:off x="666750" y="6477000"/>
            <a:ext cx="10858500" cy="0"/>
          </a:xfrm>
          <a:prstGeom prst="line">
            <a:avLst/>
          </a:prstGeom>
          <a:noFill/>
          <a:ln w="9525">
            <a:solidFill>
              <a:srgbClr val="FFFFFF">
                <a:alpha val="33333"/>
              </a:srgbClr>
            </a:solidFill>
            <a:prstDash val="solid"/>
          </a:ln>
        </p:spPr>
      </p:sp>
      <p:sp>
        <p:nvSpPr>
          <p:cNvPr id="12" name="Rectangle 11"/>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D9E3EC"/>
                </a:solidFill>
                <a:latin typeface="Arial" panose="020B0604020202020204"/>
                <a:ea typeface="Arial" panose="020B0604020202020204"/>
                <a:cs typeface="Arial" panose="020B0604020202020204"/>
              </a:defRPr>
            </a:pPr>
            <a:r>
              <a:rPr sz="825" b="0">
                <a:solidFill>
                  <a:srgbClr val="D9E3EC"/>
                </a:solidFill>
                <a:latin typeface="Arial" panose="020B0604020202020204"/>
                <a:ea typeface="Arial" panose="020B0604020202020204"/>
                <a:cs typeface="Arial" panose="020B0604020202020204"/>
              </a:rPr>
              <a:t>Nguồn hình: ai-models/notebooks/ML_Project.ipynb</a:t>
            </a:r>
            <a:endParaRPr sz="825" b="0">
              <a:solidFill>
                <a:srgbClr val="D9E3EC"/>
              </a:solidFill>
              <a:latin typeface="Arial" panose="020B0604020202020204"/>
              <a:ea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5" name="Rectangle 24"/>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01 · PROBLEM FRAMING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Bài toán dự đoán giá nhà</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02</a:t>
            </a:r>
            <a:endParaRPr sz="1050" b="1">
              <a:solidFill>
                <a:srgbClr val="5F6C7B"/>
              </a:solidFill>
              <a:latin typeface="Arial" panose="020B0604020202020204"/>
              <a:ea typeface="Arial" panose="020B0604020202020204"/>
              <a:cs typeface="Arial" panose="020B0604020202020204"/>
            </a:endParaRPr>
          </a:p>
        </p:txBody>
      </p:sp>
      <p:sp>
        <p:nvSpPr>
          <p:cNvPr id="5" name="Rectangle 4"/>
          <p:cNvSpPr>
            <a:spLocks noGrp="1"/>
          </p:cNvSpPr>
          <p:nvPr/>
        </p:nvSpPr>
        <p:spPr>
          <a:xfrm>
            <a:off x="666750" y="1381125"/>
            <a:ext cx="8096250" cy="361950"/>
          </a:xfrm>
          <a:prstGeom prst="rect">
            <a:avLst/>
          </a:prstGeom>
          <a:noFill/>
          <a:ln w="0">
            <a:noFill/>
            <a:prstDash val="solid"/>
          </a:ln>
        </p:spPr>
        <p:txBody>
          <a:bodyPr wrap="square" lIns="0" tIns="0" rIns="0" bIns="0" anchor="t">
            <a:normAutofit/>
          </a:bodyPr>
          <a:lstStyle/>
          <a:p>
            <a:pPr algn="l">
              <a:lnSpc>
                <a:spcPct val="100000"/>
              </a:lnSpc>
              <a:buNone/>
              <a:defRPr sz="1650" b="0">
                <a:solidFill>
                  <a:srgbClr val="5F6C7B"/>
                </a:solidFill>
                <a:latin typeface="Arial" panose="020B0604020202020204"/>
                <a:ea typeface="Arial" panose="020B0604020202020204"/>
                <a:cs typeface="Arial" panose="020B0604020202020204"/>
              </a:defRPr>
            </a:pPr>
            <a:r>
              <a:rPr sz="1650" b="0">
                <a:solidFill>
                  <a:srgbClr val="5F6C7B"/>
                </a:solidFill>
                <a:latin typeface="Arial" panose="020B0604020202020204"/>
                <a:ea typeface="Arial" panose="020B0604020202020204"/>
                <a:cs typeface="Arial" panose="020B0604020202020204"/>
              </a:rPr>
              <a:t>Ước lượng median_house_value từ 9 đặc trưng khu vực và vị trí.</a:t>
            </a:r>
            <a:endParaRPr sz="1650" b="0">
              <a:solidFill>
                <a:srgbClr val="5F6C7B"/>
              </a:solidFill>
              <a:latin typeface="Arial" panose="020B0604020202020204"/>
              <a:ea typeface="Arial" panose="020B0604020202020204"/>
              <a:cs typeface="Arial" panose="020B0604020202020204"/>
            </a:endParaRPr>
          </a:p>
        </p:txBody>
      </p:sp>
      <p:sp>
        <p:nvSpPr>
          <p:cNvPr id="6" name="Rounded Rectangle 5"/>
          <p:cNvSpPr>
            <a:spLocks noGrp="1"/>
          </p:cNvSpPr>
          <p:nvPr/>
        </p:nvSpPr>
        <p:spPr>
          <a:xfrm>
            <a:off x="762000" y="2238375"/>
            <a:ext cx="2857500" cy="1809750"/>
          </a:xfrm>
          <a:prstGeom prst="roundRect">
            <a:avLst>
              <a:gd name="adj" fmla="val 3684"/>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7" name="Rectangle 6"/>
          <p:cNvSpPr>
            <a:spLocks noGrp="1"/>
          </p:cNvSpPr>
          <p:nvPr/>
        </p:nvSpPr>
        <p:spPr>
          <a:xfrm>
            <a:off x="97155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67D8D"/>
                </a:solidFill>
                <a:latin typeface="Arial" panose="020B0604020202020204"/>
                <a:ea typeface="Arial" panose="020B0604020202020204"/>
                <a:cs typeface="Arial" panose="020B0604020202020204"/>
              </a:defRPr>
            </a:pPr>
            <a:r>
              <a:rPr sz="1050" b="1">
                <a:solidFill>
                  <a:srgbClr val="167D8D"/>
                </a:solidFill>
                <a:latin typeface="Arial" panose="020B0604020202020204"/>
                <a:ea typeface="Arial" panose="020B0604020202020204"/>
                <a:cs typeface="Arial" panose="020B0604020202020204"/>
              </a:rPr>
              <a:t>INPUT</a:t>
            </a:r>
            <a:endParaRPr sz="1050" b="1">
              <a:solidFill>
                <a:srgbClr val="167D8D"/>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97155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8 biến số</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 ocean_proximity</a:t>
            </a:r>
            <a:endParaRPr sz="1875" b="1">
              <a:solidFill>
                <a:srgbClr val="102A43"/>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286250" y="2238375"/>
            <a:ext cx="2857500" cy="1809750"/>
          </a:xfrm>
          <a:prstGeom prst="roundRect">
            <a:avLst>
              <a:gd name="adj" fmla="val 3684"/>
            </a:avLst>
          </a:prstGeom>
          <a:solidFill>
            <a:srgbClr val="EAF1F8"/>
          </a:solidFill>
          <a:ln w="9525">
            <a:solidFill>
              <a:srgbClr val="173F5F"/>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449580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73F5F"/>
                </a:solidFill>
                <a:latin typeface="Arial" panose="020B0604020202020204"/>
                <a:ea typeface="Arial" panose="020B0604020202020204"/>
                <a:cs typeface="Arial" panose="020B0604020202020204"/>
              </a:defRPr>
            </a:pPr>
            <a:r>
              <a:rPr sz="1050" b="1">
                <a:solidFill>
                  <a:srgbClr val="173F5F"/>
                </a:solidFill>
                <a:latin typeface="Arial" panose="020B0604020202020204"/>
                <a:ea typeface="Arial" panose="020B0604020202020204"/>
                <a:cs typeface="Arial" panose="020B0604020202020204"/>
              </a:rPr>
              <a:t>MÔ HÌNH</a:t>
            </a:r>
            <a:endParaRPr sz="1050" b="1">
              <a:solidFill>
                <a:srgbClr val="173F5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449580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Pipeline tiền xử lý</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 hồi quy</a:t>
            </a:r>
            <a:endParaRPr sz="1875" b="1">
              <a:solidFill>
                <a:srgbClr val="102A43"/>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7810500" y="2238375"/>
            <a:ext cx="2857500" cy="1809750"/>
          </a:xfrm>
          <a:prstGeom prst="roundRect">
            <a:avLst>
              <a:gd name="adj" fmla="val 3684"/>
            </a:avLst>
          </a:prstGeom>
          <a:solidFill>
            <a:srgbClr val="FCEDE8"/>
          </a:solidFill>
          <a:ln w="9525">
            <a:solidFill>
              <a:srgbClr val="E76F51"/>
            </a:solidFill>
            <a:prstDash val="solid"/>
          </a:ln>
        </p:spPr>
        <p:style>
          <a:lnRef idx="0">
            <a:srgbClr val="FFFFFF"/>
          </a:lnRef>
          <a:fillRef idx="0">
            <a:srgbClr val="FFFFFF"/>
          </a:fillRef>
          <a:effectRef idx="4">
            <a:srgbClr val="FFFFFF"/>
          </a:effectRef>
          <a:fontRef idx="major"/>
        </p:style>
      </p:sp>
      <p:sp>
        <p:nvSpPr>
          <p:cNvPr id="13" name="Rectangle 12"/>
          <p:cNvSpPr>
            <a:spLocks noGrp="1"/>
          </p:cNvSpPr>
          <p:nvPr/>
        </p:nvSpPr>
        <p:spPr>
          <a:xfrm>
            <a:off x="8020050" y="2447925"/>
            <a:ext cx="2438400" cy="26670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76F51"/>
                </a:solidFill>
                <a:latin typeface="Arial" panose="020B0604020202020204"/>
                <a:ea typeface="Arial" panose="020B0604020202020204"/>
                <a:cs typeface="Arial" panose="020B0604020202020204"/>
              </a:defRPr>
            </a:pPr>
            <a:r>
              <a:rPr sz="1050" b="1">
                <a:solidFill>
                  <a:srgbClr val="E76F51"/>
                </a:solidFill>
                <a:latin typeface="Arial" panose="020B0604020202020204"/>
                <a:ea typeface="Arial" panose="020B0604020202020204"/>
                <a:cs typeface="Arial" panose="020B0604020202020204"/>
              </a:rPr>
              <a:t>OUTPUT</a:t>
            </a:r>
            <a:endParaRPr sz="1050" b="1">
              <a:solidFill>
                <a:srgbClr val="E76F51"/>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8020050" y="2905125"/>
            <a:ext cx="2438400" cy="781050"/>
          </a:xfrm>
          <a:prstGeom prst="rect">
            <a:avLst/>
          </a:prstGeom>
          <a:noFill/>
          <a:ln w="0">
            <a:noFill/>
            <a:prstDash val="solid"/>
          </a:ln>
        </p:spPr>
        <p:txBody>
          <a:bodyPr wrap="square" lIns="0" tIns="0" rIns="0" bIns="0" anchor="ctr">
            <a:normAutofit/>
          </a:bodyPr>
          <a:lstStyle/>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Giá nhà dự đoán</a:t>
            </a:r>
            <a:endParaRPr sz="1875" b="1">
              <a:solidFill>
                <a:srgbClr val="102A43"/>
              </a:solidFill>
              <a:latin typeface="Arial" panose="020B0604020202020204"/>
              <a:ea typeface="Arial" panose="020B0604020202020204"/>
              <a:cs typeface="Arial" panose="020B0604020202020204"/>
            </a:endParaRPr>
          </a:p>
          <a:p>
            <a:pPr algn="ctr">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(USD)</a:t>
            </a:r>
            <a:endParaRPr sz="1875" b="1">
              <a:solidFill>
                <a:srgbClr val="102A43"/>
              </a:solidFill>
              <a:latin typeface="Arial" panose="020B0604020202020204"/>
              <a:ea typeface="Arial" panose="020B0604020202020204"/>
              <a:cs typeface="Arial" panose="020B0604020202020204"/>
            </a:endParaRPr>
          </a:p>
        </p:txBody>
      </p:sp>
      <p:sp>
        <p:nvSpPr>
          <p:cNvPr id="15" name="Right Arrow 14"/>
          <p:cNvSpPr>
            <a:spLocks noGrp="1"/>
          </p:cNvSpPr>
          <p:nvPr/>
        </p:nvSpPr>
        <p:spPr>
          <a:xfrm>
            <a:off x="3762375" y="2952750"/>
            <a:ext cx="361950" cy="304800"/>
          </a:xfrm>
          <a:prstGeom prst="rightArrow">
            <a:avLst/>
          </a:prstGeom>
          <a:solidFill>
            <a:srgbClr val="E9C46A"/>
          </a:solidFill>
          <a:ln w="9525">
            <a:solidFill>
              <a:srgbClr val="E9C46A"/>
            </a:solidFill>
            <a:prstDash val="solid"/>
          </a:ln>
        </p:spPr>
      </p:sp>
      <p:sp>
        <p:nvSpPr>
          <p:cNvPr id="16" name="Right Arrow 15"/>
          <p:cNvSpPr>
            <a:spLocks noGrp="1"/>
          </p:cNvSpPr>
          <p:nvPr/>
        </p:nvSpPr>
        <p:spPr>
          <a:xfrm>
            <a:off x="7286625" y="2952750"/>
            <a:ext cx="361950" cy="304800"/>
          </a:xfrm>
          <a:prstGeom prst="rightArrow">
            <a:avLst/>
          </a:prstGeom>
          <a:solidFill>
            <a:srgbClr val="E9C46A"/>
          </a:solidFill>
          <a:ln w="9525">
            <a:solidFill>
              <a:srgbClr val="E9C46A"/>
            </a:solidFill>
            <a:prstDash val="solid"/>
          </a:ln>
        </p:spPr>
      </p:sp>
      <p:sp>
        <p:nvSpPr>
          <p:cNvPr id="17" name="Rounded Rectangle 16"/>
          <p:cNvSpPr>
            <a:spLocks noGrp="1"/>
          </p:cNvSpPr>
          <p:nvPr/>
        </p:nvSpPr>
        <p:spPr>
          <a:xfrm>
            <a:off x="762000" y="4524375"/>
            <a:ext cx="990600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1000125" y="4695825"/>
            <a:ext cx="2333625" cy="238125"/>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167D8D"/>
                </a:solidFill>
                <a:latin typeface="Arial" panose="020B0604020202020204"/>
                <a:ea typeface="Arial" panose="020B0604020202020204"/>
                <a:cs typeface="Arial" panose="020B0604020202020204"/>
              </a:defRPr>
            </a:pPr>
            <a:r>
              <a:rPr sz="1050" b="1">
                <a:solidFill>
                  <a:srgbClr val="167D8D"/>
                </a:solidFill>
                <a:latin typeface="Arial" panose="020B0604020202020204"/>
                <a:ea typeface="Arial" panose="020B0604020202020204"/>
                <a:cs typeface="Arial" panose="020B0604020202020204"/>
              </a:rPr>
              <a:t>TIÊU CHÍ ĐÁNH GIÁ</a:t>
            </a:r>
            <a:endParaRPr sz="1050" b="1">
              <a:solidFill>
                <a:srgbClr val="167D8D"/>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1000125"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RMSE</a:t>
            </a:r>
            <a:endParaRPr sz="210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3143250"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MAE</a:t>
            </a:r>
            <a:endParaRPr sz="2100" b="1">
              <a:solidFill>
                <a:srgbClr val="102A43"/>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5286375" y="5105400"/>
            <a:ext cx="1333500" cy="381000"/>
          </a:xfrm>
          <a:prstGeom prst="rect">
            <a:avLst/>
          </a:prstGeom>
          <a:noFill/>
          <a:ln w="0">
            <a:noFill/>
            <a:prstDash val="solid"/>
          </a:ln>
        </p:spPr>
        <p:txBody>
          <a:bodyPr wrap="square" lIns="95250" tIns="57150" rIns="95250" bIns="57150" anchor="ctr">
            <a:normAutofit fontScale="83333"/>
          </a:bodyPr>
          <a:lstStyle/>
          <a:p>
            <a:pPr algn="ctr">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R²</a:t>
            </a:r>
            <a:endParaRPr sz="2100" b="1">
              <a:solidFill>
                <a:srgbClr val="102A43"/>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191375" y="5010150"/>
            <a:ext cx="3143250" cy="523875"/>
          </a:xfrm>
          <a:prstGeom prst="rect">
            <a:avLst/>
          </a:prstGeom>
          <a:noFill/>
          <a:ln w="0">
            <a:noFill/>
            <a:prstDash val="solid"/>
          </a:ln>
        </p:spPr>
        <p:txBody>
          <a:bodyPr wrap="square" lIns="95250" tIns="57150" rIns="95250" bIns="57150" anchor="ctr">
            <a:normAutofit/>
          </a:bodyPr>
          <a:lstStyle/>
          <a:p>
            <a:pPr algn="l">
              <a:lnSpc>
                <a:spcPct val="100000"/>
              </a:lnSpc>
              <a:buNone/>
              <a:defRPr sz="1275" b="0">
                <a:solidFill>
                  <a:srgbClr val="5F6C7B"/>
                </a:solidFill>
                <a:latin typeface="Arial" panose="020B0604020202020204"/>
                <a:ea typeface="Arial" panose="020B0604020202020204"/>
                <a:cs typeface="Arial" panose="020B0604020202020204"/>
              </a:defRPr>
            </a:pPr>
            <a:r>
              <a:rPr sz="1275" b="0">
                <a:solidFill>
                  <a:srgbClr val="5F6C7B"/>
                </a:solidFill>
                <a:latin typeface="Arial" panose="020B0604020202020204"/>
                <a:ea typeface="Arial" panose="020B0604020202020204"/>
                <a:cs typeface="Arial" panose="020B0604020202020204"/>
              </a:rPr>
              <a:t>Mục tiêu: sai số thấp và khả năng giải thích phương sai cao trên tập test.</a:t>
            </a:r>
            <a:endParaRPr sz="1275" b="0">
              <a:solidFill>
                <a:srgbClr val="5F6C7B"/>
              </a:solidFill>
              <a:latin typeface="Arial" panose="020B0604020202020204"/>
              <a:ea typeface="Arial" panose="020B0604020202020204"/>
              <a:cs typeface="Arial" panose="020B0604020202020204"/>
            </a:endParaRPr>
          </a:p>
        </p:txBody>
      </p:sp>
      <p:sp>
        <p:nvSpPr>
          <p:cNvPr id="23" name="Straight Connector 22"/>
          <p:cNvSpPr>
            <a:spLocks noGrp="1"/>
          </p:cNvSpPr>
          <p:nvPr/>
        </p:nvSpPr>
        <p:spPr>
          <a:xfrm>
            <a:off x="666750" y="6477000"/>
            <a:ext cx="10858500" cy="0"/>
          </a:xfrm>
          <a:prstGeom prst="line">
            <a:avLst/>
          </a:prstGeom>
          <a:noFill/>
          <a:ln w="9525">
            <a:solidFill>
              <a:srgbClr val="D7E0E8"/>
            </a:solidFill>
            <a:prstDash val="solid"/>
          </a:ln>
        </p:spPr>
      </p:sp>
      <p:sp>
        <p:nvSpPr>
          <p:cNvPr id="24" name="Rectangle 23"/>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 ai-service/app/schemas.py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53" name="Rectangle 52"/>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02 · DATA</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Dataset California Housing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03</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466850"/>
            <a:ext cx="57150" cy="1123950"/>
          </a:xfrm>
          <a:prstGeom prst="rect">
            <a:avLst/>
          </a:prstGeom>
          <a:solidFill>
            <a:srgbClr val="167D8D"/>
          </a:solidFill>
          <a:ln w="0">
            <a:noFill/>
            <a:prstDash val="solid"/>
          </a:ln>
        </p:spPr>
      </p:sp>
      <p:sp>
        <p:nvSpPr>
          <p:cNvPr id="7" name="Rectangle 6"/>
          <p:cNvSpPr>
            <a:spLocks noGrp="1"/>
          </p:cNvSpPr>
          <p:nvPr/>
        </p:nvSpPr>
        <p:spPr>
          <a:xfrm>
            <a:off x="838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20.640</a:t>
            </a:r>
            <a:endParaRPr sz="22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838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Dòng dữ liệu</a:t>
            </a:r>
            <a:endParaRPr sz="1125" b="1">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2952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2952750" y="1466850"/>
            <a:ext cx="57150" cy="1123950"/>
          </a:xfrm>
          <a:prstGeom prst="rect">
            <a:avLst/>
          </a:prstGeom>
          <a:solidFill>
            <a:srgbClr val="173F5F"/>
          </a:solidFill>
          <a:ln w="0">
            <a:noFill/>
            <a:prstDash val="solid"/>
          </a:ln>
        </p:spPr>
      </p:sp>
      <p:sp>
        <p:nvSpPr>
          <p:cNvPr id="11" name="Rectangle 10"/>
          <p:cNvSpPr>
            <a:spLocks noGrp="1"/>
          </p:cNvSpPr>
          <p:nvPr/>
        </p:nvSpPr>
        <p:spPr>
          <a:xfrm>
            <a:off x="3124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10</a:t>
            </a:r>
            <a:endParaRPr sz="2250"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3124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Cột</a:t>
            </a:r>
            <a:endParaRPr sz="1125" b="1">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5238750" y="1466850"/>
            <a:ext cx="2095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5238750" y="1466850"/>
            <a:ext cx="57150" cy="1123950"/>
          </a:xfrm>
          <a:prstGeom prst="rect">
            <a:avLst/>
          </a:prstGeom>
          <a:solidFill>
            <a:srgbClr val="E76F51"/>
          </a:solidFill>
          <a:ln w="0">
            <a:noFill/>
            <a:prstDash val="solid"/>
          </a:ln>
        </p:spPr>
      </p:sp>
      <p:sp>
        <p:nvSpPr>
          <p:cNvPr id="15" name="Rectangle 14"/>
          <p:cNvSpPr>
            <a:spLocks noGrp="1"/>
          </p:cNvSpPr>
          <p:nvPr/>
        </p:nvSpPr>
        <p:spPr>
          <a:xfrm>
            <a:off x="5410200" y="1581150"/>
            <a:ext cx="1809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207</a:t>
            </a:r>
            <a:endParaRPr sz="22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5410200" y="2009775"/>
            <a:ext cx="1809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Giá trị thiếu</a:t>
            </a:r>
            <a:endParaRPr sz="1125" b="1">
              <a:solidFill>
                <a:srgbClr val="5F6C7B"/>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5410200" y="2295525"/>
            <a:ext cx="1809750" cy="2095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Chỉ ở total_bedrooms</a:t>
            </a:r>
            <a:endParaRPr sz="900" b="0">
              <a:solidFill>
                <a:srgbClr val="5F6C7B"/>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7524750" y="1466850"/>
            <a:ext cx="4000500" cy="1123950"/>
          </a:xfrm>
          <a:prstGeom prst="roundRect">
            <a:avLst>
              <a:gd name="adj" fmla="val 593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9" name="Rectangle 18"/>
          <p:cNvSpPr>
            <a:spLocks noGrp="1"/>
          </p:cNvSpPr>
          <p:nvPr/>
        </p:nvSpPr>
        <p:spPr>
          <a:xfrm>
            <a:off x="7524750" y="1466850"/>
            <a:ext cx="57150" cy="1123950"/>
          </a:xfrm>
          <a:prstGeom prst="rect">
            <a:avLst/>
          </a:prstGeom>
          <a:solidFill>
            <a:srgbClr val="E9C46A"/>
          </a:solidFill>
          <a:ln w="0">
            <a:noFill/>
            <a:prstDash val="solid"/>
          </a:ln>
        </p:spPr>
      </p:sp>
      <p:sp>
        <p:nvSpPr>
          <p:cNvPr id="20" name="Rectangle 19"/>
          <p:cNvSpPr>
            <a:spLocks noGrp="1"/>
          </p:cNvSpPr>
          <p:nvPr/>
        </p:nvSpPr>
        <p:spPr>
          <a:xfrm>
            <a:off x="7696200" y="1581150"/>
            <a:ext cx="3714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median_house_value</a:t>
            </a:r>
            <a:endParaRPr sz="2250" b="1">
              <a:solidFill>
                <a:srgbClr val="102A43"/>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7696200" y="2009775"/>
            <a:ext cx="3714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Biến mục tiêu</a:t>
            </a:r>
            <a:endParaRPr sz="1125" b="1">
              <a:solidFill>
                <a:srgbClr val="5F6C7B"/>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696200" y="2295525"/>
            <a:ext cx="3714750" cy="2095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Min 14.999 · Median 179.700 · Max 500.001 USD</a:t>
            </a:r>
            <a:endParaRPr sz="900" b="0">
              <a:solidFill>
                <a:srgbClr val="5F6C7B"/>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666750" y="3028950"/>
            <a:ext cx="4000500" cy="333375"/>
          </a:xfrm>
          <a:prstGeom prst="rect">
            <a:avLst/>
          </a:prstGeom>
          <a:noFill/>
          <a:ln w="0">
            <a:noFill/>
            <a:prstDash val="solid"/>
          </a:ln>
        </p:spPr>
        <p:txBody>
          <a:bodyPr wrap="square" lIns="0" tIns="0" rIns="0" bIns="0" anchor="t">
            <a:normAutofit/>
          </a:bodyPr>
          <a:lstStyle/>
          <a:p>
            <a:pPr algn="l">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9 đặc trưng đầu vào</a:t>
            </a:r>
            <a:endParaRPr sz="180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666750" y="3476625"/>
            <a:ext cx="14287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Nhóm</a:t>
            </a:r>
            <a:endParaRPr sz="975" b="1">
              <a:solidFill>
                <a:srgbClr val="FFFFFF"/>
              </a:solidFill>
              <a:latin typeface="Arial" panose="020B0604020202020204"/>
              <a:ea typeface="Arial" panose="020B0604020202020204"/>
              <a:cs typeface="Arial" panose="020B0604020202020204"/>
            </a:endParaRPr>
          </a:p>
        </p:txBody>
      </p:sp>
      <p:sp>
        <p:nvSpPr>
          <p:cNvPr id="25" name="Rectangle 24"/>
          <p:cNvSpPr>
            <a:spLocks noGrp="1"/>
          </p:cNvSpPr>
          <p:nvPr/>
        </p:nvSpPr>
        <p:spPr>
          <a:xfrm>
            <a:off x="2095500" y="3476625"/>
            <a:ext cx="37147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Đặc trưng</a:t>
            </a:r>
            <a:endParaRPr sz="975" b="1">
              <a:solidFill>
                <a:srgbClr val="FFFFFF"/>
              </a:solidFill>
              <a:latin typeface="Arial" panose="020B0604020202020204"/>
              <a:ea typeface="Arial" panose="020B0604020202020204"/>
              <a:cs typeface="Arial" panose="020B0604020202020204"/>
            </a:endParaRPr>
          </a:p>
        </p:txBody>
      </p:sp>
      <p:sp>
        <p:nvSpPr>
          <p:cNvPr id="26" name="Rectangle 25"/>
          <p:cNvSpPr>
            <a:spLocks noGrp="1"/>
          </p:cNvSpPr>
          <p:nvPr/>
        </p:nvSpPr>
        <p:spPr>
          <a:xfrm>
            <a:off x="5810250" y="3476625"/>
            <a:ext cx="1238250" cy="381000"/>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Kiểu</a:t>
            </a:r>
            <a:endParaRPr sz="975"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666750" y="3857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Vị trí</a:t>
            </a:r>
            <a:endParaRPr sz="975" b="1">
              <a:solidFill>
                <a:srgbClr val="1D2939"/>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2095500" y="3857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longitude, latitude</a:t>
            </a:r>
            <a:endParaRPr sz="975" b="0">
              <a:solidFill>
                <a:srgbClr val="1D2939"/>
              </a:solidFill>
              <a:latin typeface="Arial" panose="020B0604020202020204"/>
              <a:ea typeface="Arial" panose="020B0604020202020204"/>
              <a:cs typeface="Arial" panose="020B0604020202020204"/>
            </a:endParaRPr>
          </a:p>
        </p:txBody>
      </p:sp>
      <p:sp>
        <p:nvSpPr>
          <p:cNvPr id="29" name="Rectangle 28"/>
          <p:cNvSpPr>
            <a:spLocks noGrp="1"/>
          </p:cNvSpPr>
          <p:nvPr/>
        </p:nvSpPr>
        <p:spPr>
          <a:xfrm>
            <a:off x="5810250" y="3857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0" name="Rectangle 29"/>
          <p:cNvSpPr>
            <a:spLocks noGrp="1"/>
          </p:cNvSpPr>
          <p:nvPr/>
        </p:nvSpPr>
        <p:spPr>
          <a:xfrm>
            <a:off x="666750" y="4238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Nhà ở</a:t>
            </a:r>
            <a:endParaRPr sz="975" b="1">
              <a:solidFill>
                <a:srgbClr val="1D2939"/>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2095500" y="4238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housing_median_age</a:t>
            </a:r>
            <a:endParaRPr sz="975" b="0">
              <a:solidFill>
                <a:srgbClr val="1D2939"/>
              </a:solidFill>
              <a:latin typeface="Arial" panose="020B0604020202020204"/>
              <a:ea typeface="Arial" panose="020B0604020202020204"/>
              <a:cs typeface="Arial" panose="020B0604020202020204"/>
            </a:endParaRPr>
          </a:p>
        </p:txBody>
      </p:sp>
      <p:sp>
        <p:nvSpPr>
          <p:cNvPr id="32" name="Rectangle 31"/>
          <p:cNvSpPr>
            <a:spLocks noGrp="1"/>
          </p:cNvSpPr>
          <p:nvPr/>
        </p:nvSpPr>
        <p:spPr>
          <a:xfrm>
            <a:off x="5810250" y="4238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3" name="Rectangle 32"/>
          <p:cNvSpPr>
            <a:spLocks noGrp="1"/>
          </p:cNvSpPr>
          <p:nvPr/>
        </p:nvSpPr>
        <p:spPr>
          <a:xfrm>
            <a:off x="666750" y="4619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Quy mô</a:t>
            </a:r>
            <a:endParaRPr sz="975" b="1">
              <a:solidFill>
                <a:srgbClr val="1D2939"/>
              </a:solidFill>
              <a:latin typeface="Arial" panose="020B0604020202020204"/>
              <a:ea typeface="Arial" panose="020B0604020202020204"/>
              <a:cs typeface="Arial" panose="020B0604020202020204"/>
            </a:endParaRPr>
          </a:p>
        </p:txBody>
      </p:sp>
      <p:sp>
        <p:nvSpPr>
          <p:cNvPr id="34" name="Rectangle 33"/>
          <p:cNvSpPr>
            <a:spLocks noGrp="1"/>
          </p:cNvSpPr>
          <p:nvPr/>
        </p:nvSpPr>
        <p:spPr>
          <a:xfrm>
            <a:off x="2095500" y="4619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total_rooms, total_bedrooms</a:t>
            </a:r>
            <a:endParaRPr sz="975" b="0">
              <a:solidFill>
                <a:srgbClr val="1D2939"/>
              </a:solidFill>
              <a:latin typeface="Arial" panose="020B0604020202020204"/>
              <a:ea typeface="Arial" panose="020B0604020202020204"/>
              <a:cs typeface="Arial" panose="020B0604020202020204"/>
            </a:endParaRPr>
          </a:p>
        </p:txBody>
      </p:sp>
      <p:sp>
        <p:nvSpPr>
          <p:cNvPr id="35" name="Rectangle 34"/>
          <p:cNvSpPr>
            <a:spLocks noGrp="1"/>
          </p:cNvSpPr>
          <p:nvPr/>
        </p:nvSpPr>
        <p:spPr>
          <a:xfrm>
            <a:off x="5810250" y="4619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6" name="Rectangle 35"/>
          <p:cNvSpPr>
            <a:spLocks noGrp="1"/>
          </p:cNvSpPr>
          <p:nvPr/>
        </p:nvSpPr>
        <p:spPr>
          <a:xfrm>
            <a:off x="666750" y="5000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Dân cư</a:t>
            </a:r>
            <a:endParaRPr sz="975" b="1">
              <a:solidFill>
                <a:srgbClr val="1D2939"/>
              </a:solidFill>
              <a:latin typeface="Arial" panose="020B0604020202020204"/>
              <a:ea typeface="Arial" panose="020B0604020202020204"/>
              <a:cs typeface="Arial" panose="020B0604020202020204"/>
            </a:endParaRPr>
          </a:p>
        </p:txBody>
      </p:sp>
      <p:sp>
        <p:nvSpPr>
          <p:cNvPr id="37" name="Rectangle 36"/>
          <p:cNvSpPr>
            <a:spLocks noGrp="1"/>
          </p:cNvSpPr>
          <p:nvPr/>
        </p:nvSpPr>
        <p:spPr>
          <a:xfrm>
            <a:off x="2095500" y="5000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population, households</a:t>
            </a:r>
            <a:endParaRPr sz="975" b="0">
              <a:solidFill>
                <a:srgbClr val="1D2939"/>
              </a:solidFill>
              <a:latin typeface="Arial" panose="020B0604020202020204"/>
              <a:ea typeface="Arial" panose="020B0604020202020204"/>
              <a:cs typeface="Arial" panose="020B0604020202020204"/>
            </a:endParaRPr>
          </a:p>
        </p:txBody>
      </p:sp>
      <p:sp>
        <p:nvSpPr>
          <p:cNvPr id="38" name="Rectangle 37"/>
          <p:cNvSpPr>
            <a:spLocks noGrp="1"/>
          </p:cNvSpPr>
          <p:nvPr/>
        </p:nvSpPr>
        <p:spPr>
          <a:xfrm>
            <a:off x="5810250" y="5000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39" name="Rectangle 38"/>
          <p:cNvSpPr>
            <a:spLocks noGrp="1"/>
          </p:cNvSpPr>
          <p:nvPr/>
        </p:nvSpPr>
        <p:spPr>
          <a:xfrm>
            <a:off x="666750" y="5381625"/>
            <a:ext cx="1428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Kinh tế</a:t>
            </a:r>
            <a:endParaRPr sz="975" b="1">
              <a:solidFill>
                <a:srgbClr val="1D2939"/>
              </a:solidFill>
              <a:latin typeface="Arial" panose="020B0604020202020204"/>
              <a:ea typeface="Arial" panose="020B0604020202020204"/>
              <a:cs typeface="Arial" panose="020B0604020202020204"/>
            </a:endParaRPr>
          </a:p>
        </p:txBody>
      </p:sp>
      <p:sp>
        <p:nvSpPr>
          <p:cNvPr id="40" name="Rectangle 39"/>
          <p:cNvSpPr>
            <a:spLocks noGrp="1"/>
          </p:cNvSpPr>
          <p:nvPr/>
        </p:nvSpPr>
        <p:spPr>
          <a:xfrm>
            <a:off x="2095500" y="5381625"/>
            <a:ext cx="37147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median_income</a:t>
            </a:r>
            <a:endParaRPr sz="975" b="0">
              <a:solidFill>
                <a:srgbClr val="1D2939"/>
              </a:solidFill>
              <a:latin typeface="Arial" panose="020B0604020202020204"/>
              <a:ea typeface="Arial" panose="020B0604020202020204"/>
              <a:cs typeface="Arial" panose="020B0604020202020204"/>
            </a:endParaRPr>
          </a:p>
        </p:txBody>
      </p:sp>
      <p:sp>
        <p:nvSpPr>
          <p:cNvPr id="41" name="Rectangle 40"/>
          <p:cNvSpPr>
            <a:spLocks noGrp="1"/>
          </p:cNvSpPr>
          <p:nvPr/>
        </p:nvSpPr>
        <p:spPr>
          <a:xfrm>
            <a:off x="5810250" y="5381625"/>
            <a:ext cx="1238250" cy="381000"/>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Số</a:t>
            </a:r>
            <a:endParaRPr sz="975" b="0">
              <a:solidFill>
                <a:srgbClr val="1D2939"/>
              </a:solidFill>
              <a:latin typeface="Arial" panose="020B0604020202020204"/>
              <a:ea typeface="Arial" panose="020B0604020202020204"/>
              <a:cs typeface="Arial" panose="020B0604020202020204"/>
            </a:endParaRPr>
          </a:p>
        </p:txBody>
      </p:sp>
      <p:sp>
        <p:nvSpPr>
          <p:cNvPr id="42" name="Rectangle 41"/>
          <p:cNvSpPr>
            <a:spLocks noGrp="1"/>
          </p:cNvSpPr>
          <p:nvPr/>
        </p:nvSpPr>
        <p:spPr>
          <a:xfrm>
            <a:off x="666750" y="5762625"/>
            <a:ext cx="1428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1D2939"/>
                </a:solidFill>
                <a:latin typeface="Arial" panose="020B0604020202020204"/>
                <a:ea typeface="Arial" panose="020B0604020202020204"/>
                <a:cs typeface="Arial" panose="020B0604020202020204"/>
              </a:defRPr>
            </a:pPr>
            <a:r>
              <a:rPr sz="975" b="1">
                <a:solidFill>
                  <a:srgbClr val="1D2939"/>
                </a:solidFill>
                <a:latin typeface="Arial" panose="020B0604020202020204"/>
                <a:ea typeface="Arial" panose="020B0604020202020204"/>
                <a:cs typeface="Arial" panose="020B0604020202020204"/>
              </a:rPr>
              <a:t>Địa lý</a:t>
            </a:r>
            <a:endParaRPr sz="975" b="1">
              <a:solidFill>
                <a:srgbClr val="1D2939"/>
              </a:solidFill>
              <a:latin typeface="Arial" panose="020B0604020202020204"/>
              <a:ea typeface="Arial" panose="020B0604020202020204"/>
              <a:cs typeface="Arial" panose="020B0604020202020204"/>
            </a:endParaRPr>
          </a:p>
        </p:txBody>
      </p:sp>
      <p:sp>
        <p:nvSpPr>
          <p:cNvPr id="43" name="Rectangle 42"/>
          <p:cNvSpPr>
            <a:spLocks noGrp="1"/>
          </p:cNvSpPr>
          <p:nvPr/>
        </p:nvSpPr>
        <p:spPr>
          <a:xfrm>
            <a:off x="2095500" y="5762625"/>
            <a:ext cx="37147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ocean_proximity</a:t>
            </a:r>
            <a:endParaRPr sz="975" b="0">
              <a:solidFill>
                <a:srgbClr val="1D2939"/>
              </a:solidFill>
              <a:latin typeface="Arial" panose="020B0604020202020204"/>
              <a:ea typeface="Arial" panose="020B0604020202020204"/>
              <a:cs typeface="Arial" panose="020B0604020202020204"/>
            </a:endParaRPr>
          </a:p>
        </p:txBody>
      </p:sp>
      <p:sp>
        <p:nvSpPr>
          <p:cNvPr id="44" name="Rectangle 43"/>
          <p:cNvSpPr>
            <a:spLocks noGrp="1"/>
          </p:cNvSpPr>
          <p:nvPr/>
        </p:nvSpPr>
        <p:spPr>
          <a:xfrm>
            <a:off x="5810250" y="5762625"/>
            <a:ext cx="1238250" cy="381000"/>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975" b="0">
                <a:solidFill>
                  <a:srgbClr val="1D2939"/>
                </a:solidFill>
                <a:latin typeface="Arial" panose="020B0604020202020204"/>
                <a:ea typeface="Arial" panose="020B0604020202020204"/>
                <a:cs typeface="Arial" panose="020B0604020202020204"/>
              </a:defRPr>
            </a:pPr>
            <a:r>
              <a:rPr sz="975" b="0">
                <a:solidFill>
                  <a:srgbClr val="1D2939"/>
                </a:solidFill>
                <a:latin typeface="Arial" panose="020B0604020202020204"/>
                <a:ea typeface="Arial" panose="020B0604020202020204"/>
                <a:cs typeface="Arial" panose="020B0604020202020204"/>
              </a:rPr>
              <a:t>Phân loại</a:t>
            </a:r>
            <a:endParaRPr sz="975" b="0">
              <a:solidFill>
                <a:srgbClr val="1D2939"/>
              </a:solidFill>
              <a:latin typeface="Arial" panose="020B0604020202020204"/>
              <a:ea typeface="Arial" panose="020B0604020202020204"/>
              <a:cs typeface="Arial" panose="020B0604020202020204"/>
            </a:endParaRPr>
          </a:p>
        </p:txBody>
      </p:sp>
      <p:sp>
        <p:nvSpPr>
          <p:cNvPr id="45" name="Rounded Rectangle 44"/>
          <p:cNvSpPr>
            <a:spLocks noGrp="1"/>
          </p:cNvSpPr>
          <p:nvPr/>
        </p:nvSpPr>
        <p:spPr>
          <a:xfrm>
            <a:off x="7381875" y="3143250"/>
            <a:ext cx="4143375" cy="2809875"/>
          </a:xfrm>
          <a:prstGeom prst="roundRect">
            <a:avLst>
              <a:gd name="adj" fmla="val 2373"/>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46" name="Rectangle 45"/>
          <p:cNvSpPr>
            <a:spLocks noGrp="1"/>
          </p:cNvSpPr>
          <p:nvPr/>
        </p:nvSpPr>
        <p:spPr>
          <a:xfrm>
            <a:off x="7620000" y="3381375"/>
            <a:ext cx="3619500" cy="304800"/>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Điểm cần lưu ý</a:t>
            </a:r>
            <a:endParaRPr sz="1650" b="1">
              <a:solidFill>
                <a:srgbClr val="102A43"/>
              </a:solidFill>
              <a:latin typeface="Arial" panose="020B0604020202020204"/>
              <a:ea typeface="Arial" panose="020B0604020202020204"/>
              <a:cs typeface="Arial" panose="020B0604020202020204"/>
            </a:endParaRPr>
          </a:p>
        </p:txBody>
      </p:sp>
      <p:sp>
        <p:nvSpPr>
          <p:cNvPr id="47" name="Rectangle 46"/>
          <p:cNvSpPr>
            <a:spLocks noGrp="1"/>
          </p:cNvSpPr>
          <p:nvPr/>
        </p:nvSpPr>
        <p:spPr>
          <a:xfrm>
            <a:off x="7572375" y="3857625"/>
            <a:ext cx="3714750" cy="1714500"/>
          </a:xfrm>
          <a:prstGeom prst="rect">
            <a:avLst/>
          </a:prstGeom>
          <a:noFill/>
          <a:ln w="0">
            <a:noFill/>
            <a:prstDash val="solid"/>
          </a:ln>
        </p:spPr>
        <p:txBody>
          <a:bodyPr wrap="square" lIns="114300" tIns="76200" rIns="114300" bIns="76200" anchor="t">
            <a:normAutofit fontScale="89636"/>
          </a:bodyPr>
          <a:lstStyle/>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Nguồn dữ liệu được mô tả là Kaggle California Housing.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ocean_proximity là biến phân loại duy nhất.</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median_house_value có trần quan sát 500.001 USD.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9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Thiếu 207 giá trị total_bedrooms cần xử lý trước huấn luyện.</a:t>
            </a:r>
            <a:endParaRPr sz="1275">
              <a:solidFill>
                <a:srgbClr val="1D2939"/>
              </a:solidFill>
              <a:latin typeface="Arial" panose="020B0604020202020204"/>
              <a:ea typeface="Arial" panose="020B0604020202020204"/>
              <a:cs typeface="Arial" panose="020B0604020202020204"/>
            </a:endParaRPr>
          </a:p>
        </p:txBody>
      </p:sp>
      <p:sp>
        <p:nvSpPr>
          <p:cNvPr id="48" name="Rounded Rectangle 47"/>
          <p:cNvSpPr>
            <a:spLocks noGrp="1"/>
          </p:cNvSpPr>
          <p:nvPr/>
        </p:nvSpPr>
        <p:spPr>
          <a:xfrm>
            <a:off x="7620000" y="5572125"/>
            <a:ext cx="1047750"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Regression</a:t>
            </a:r>
            <a:endParaRPr sz="900" b="1">
              <a:solidFill>
                <a:srgbClr val="167D8D"/>
              </a:solidFill>
              <a:latin typeface="Arial" panose="020B0604020202020204"/>
              <a:ea typeface="Arial" panose="020B0604020202020204"/>
              <a:cs typeface="Arial" panose="020B0604020202020204"/>
            </a:endParaRPr>
          </a:p>
        </p:txBody>
      </p:sp>
      <p:sp>
        <p:nvSpPr>
          <p:cNvPr id="49" name="Rounded Rectangle 48"/>
          <p:cNvSpPr>
            <a:spLocks noGrp="1"/>
          </p:cNvSpPr>
          <p:nvPr/>
        </p:nvSpPr>
        <p:spPr>
          <a:xfrm>
            <a:off x="8810625" y="5572125"/>
            <a:ext cx="857250"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Kaggle</a:t>
            </a:r>
            <a:endParaRPr sz="900" b="1">
              <a:solidFill>
                <a:srgbClr val="173F5F"/>
              </a:solidFill>
              <a:latin typeface="Arial" panose="020B0604020202020204"/>
              <a:ea typeface="Arial" panose="020B0604020202020204"/>
              <a:cs typeface="Arial" panose="020B0604020202020204"/>
            </a:endParaRPr>
          </a:p>
        </p:txBody>
      </p:sp>
      <p:sp>
        <p:nvSpPr>
          <p:cNvPr id="50" name="Rounded Rectangle 49"/>
          <p:cNvSpPr>
            <a:spLocks noGrp="1"/>
          </p:cNvSpPr>
          <p:nvPr/>
        </p:nvSpPr>
        <p:spPr>
          <a:xfrm>
            <a:off x="9810750" y="5572125"/>
            <a:ext cx="952500"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CSV ZIP</a:t>
            </a:r>
            <a:endParaRPr sz="900" b="1">
              <a:solidFill>
                <a:srgbClr val="E76F51"/>
              </a:solidFill>
              <a:latin typeface="Arial" panose="020B0604020202020204"/>
              <a:ea typeface="Arial" panose="020B0604020202020204"/>
              <a:cs typeface="Arial" panose="020B0604020202020204"/>
            </a:endParaRPr>
          </a:p>
        </p:txBody>
      </p:sp>
      <p:sp>
        <p:nvSpPr>
          <p:cNvPr id="51" name="Straight Connector 50"/>
          <p:cNvSpPr>
            <a:spLocks noGrp="1"/>
          </p:cNvSpPr>
          <p:nvPr/>
        </p:nvSpPr>
        <p:spPr>
          <a:xfrm>
            <a:off x="666750" y="6477000"/>
            <a:ext cx="10858500" cy="0"/>
          </a:xfrm>
          <a:prstGeom prst="line">
            <a:avLst/>
          </a:prstGeom>
          <a:noFill/>
          <a:ln w="9525">
            <a:solidFill>
              <a:srgbClr val="D7E0E8"/>
            </a:solidFill>
            <a:prstDash val="solid"/>
          </a:ln>
        </p:spPr>
      </p:sp>
      <p:sp>
        <p:nvSpPr>
          <p:cNvPr id="52" name="Rectangle 51"/>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ai-models/data/housing.csv.zip; ai-models/notebooks/01_eda.ipynb</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19" name="Rectangle 1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03 · EXPLORATORY DATA ANALYSIS</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EDA: phân phối và chất lượng dữ liệu</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04</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9532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Phân phối biến mục tiêu</a:t>
            </a:r>
            <a:endParaRPr sz="1425" b="1">
              <a:solidFill>
                <a:srgbClr val="102A43"/>
              </a:solidFill>
              <a:latin typeface="Arial" panose="020B0604020202020204"/>
              <a:ea typeface="Arial" panose="020B0604020202020204"/>
              <a:cs typeface="Arial" panose="020B0604020202020204"/>
            </a:endParaRPr>
          </a:p>
        </p:txBody>
      </p:sp>
      <p:pic>
        <p:nvPicPr>
          <p:cNvPr id="25" name="Picture 24"/>
          <p:cNvPicPr>
            <a:picLocks noChangeAspect="1"/>
          </p:cNvPicPr>
          <p:nvPr/>
        </p:nvPicPr>
        <p:blipFill>
          <a:blip r:embed="rId1"/>
          <a:stretch>
            <a:fillRect/>
          </a:stretch>
        </p:blipFill>
        <p:spPr>
          <a:xfrm>
            <a:off x="676275" y="2406375"/>
            <a:ext cx="3028950" cy="1940475"/>
          </a:xfrm>
          <a:prstGeom prst="roundRect">
            <a:avLst>
              <a:gd name="adj" fmla="val 2105"/>
            </a:avLst>
          </a:prstGeom>
        </p:spPr>
      </p:pic>
      <p:sp>
        <p:nvSpPr>
          <p:cNvPr id="8" name="Rectangle 7"/>
          <p:cNvSpPr>
            <a:spLocks noGrp="1"/>
          </p:cNvSpPr>
          <p:nvPr/>
        </p:nvSpPr>
        <p:spPr>
          <a:xfrm>
            <a:off x="69532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Giá nhà lệch phải; có cụm lớn tại mức trần 500.001 USD.</a:t>
            </a:r>
            <a:endParaRPr sz="1050"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42912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460057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Hai biến số quan trọng</a:t>
            </a:r>
            <a:endParaRPr sz="1425" b="1">
              <a:solidFill>
                <a:srgbClr val="102A43"/>
              </a:solidFill>
              <a:latin typeface="Arial" panose="020B0604020202020204"/>
              <a:ea typeface="Arial" panose="020B0604020202020204"/>
              <a:cs typeface="Arial" panose="020B0604020202020204"/>
            </a:endParaRPr>
          </a:p>
        </p:txBody>
      </p:sp>
      <p:pic>
        <p:nvPicPr>
          <p:cNvPr id="29" name="Picture 28"/>
          <p:cNvPicPr>
            <a:picLocks noChangeAspect="1"/>
          </p:cNvPicPr>
          <p:nvPr/>
        </p:nvPicPr>
        <p:blipFill>
          <a:blip r:embed="rId2"/>
          <a:stretch>
            <a:fillRect/>
          </a:stretch>
        </p:blipFill>
        <p:spPr>
          <a:xfrm>
            <a:off x="4581525" y="2880843"/>
            <a:ext cx="3028950" cy="991540"/>
          </a:xfrm>
          <a:prstGeom prst="roundRect">
            <a:avLst>
              <a:gd name="adj" fmla="val 2105"/>
            </a:avLst>
          </a:prstGeom>
        </p:spPr>
      </p:pic>
      <p:sp>
        <p:nvSpPr>
          <p:cNvPr id="12" name="Rectangle 11"/>
          <p:cNvSpPr>
            <a:spLocks noGrp="1"/>
          </p:cNvSpPr>
          <p:nvPr/>
        </p:nvSpPr>
        <p:spPr>
          <a:xfrm>
            <a:off x="460057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median_income và housing_median_age có phân phối không đồng đều.</a:t>
            </a:r>
            <a:endParaRPr sz="1050"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8334375" y="1476375"/>
            <a:ext cx="3333750" cy="4333875"/>
          </a:xfrm>
          <a:prstGeom prst="roundRect">
            <a:avLst>
              <a:gd name="adj" fmla="val 2000"/>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8505825" y="1619250"/>
            <a:ext cx="2990850" cy="3238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Bản đồ giá trị thiếu</a:t>
            </a:r>
            <a:endParaRPr sz="1425" b="1">
              <a:solidFill>
                <a:srgbClr val="102A43"/>
              </a:solidFill>
              <a:latin typeface="Arial" panose="020B0604020202020204"/>
              <a:ea typeface="Arial" panose="020B0604020202020204"/>
              <a:cs typeface="Arial" panose="020B0604020202020204"/>
            </a:endParaRPr>
          </a:p>
        </p:txBody>
      </p:sp>
      <p:pic>
        <p:nvPicPr>
          <p:cNvPr id="33" name="Picture 32"/>
          <p:cNvPicPr>
            <a:picLocks noChangeAspect="1"/>
          </p:cNvPicPr>
          <p:nvPr/>
        </p:nvPicPr>
        <p:blipFill>
          <a:blip r:embed="rId3"/>
          <a:stretch>
            <a:fillRect/>
          </a:stretch>
        </p:blipFill>
        <p:spPr>
          <a:xfrm>
            <a:off x="8486775" y="2121135"/>
            <a:ext cx="3028950" cy="2510956"/>
          </a:xfrm>
          <a:prstGeom prst="roundRect">
            <a:avLst>
              <a:gd name="adj" fmla="val 2105"/>
            </a:avLst>
          </a:prstGeom>
        </p:spPr>
      </p:pic>
      <p:sp>
        <p:nvSpPr>
          <p:cNvPr id="16" name="Rectangle 15"/>
          <p:cNvSpPr>
            <a:spLocks noGrp="1"/>
          </p:cNvSpPr>
          <p:nvPr/>
        </p:nvSpPr>
        <p:spPr>
          <a:xfrm>
            <a:off x="8505825" y="4905375"/>
            <a:ext cx="2990850" cy="685800"/>
          </a:xfrm>
          <a:prstGeom prst="rect">
            <a:avLst/>
          </a:prstGeom>
          <a:noFill/>
          <a:ln w="0">
            <a:noFill/>
            <a:prstDash val="solid"/>
          </a:ln>
        </p:spPr>
        <p:txBody>
          <a:bodyPr wrap="square" lIns="38100" tIns="19050" rIns="38100" bIns="19050" anchor="ctr">
            <a:normAutofit/>
          </a:bodyPr>
          <a:lstStyle/>
          <a:p>
            <a:pPr algn="l">
              <a:lnSpc>
                <a:spcPct val="100000"/>
              </a:lnSpc>
              <a:buNone/>
              <a:defRPr sz="1050" b="0">
                <a:solidFill>
                  <a:srgbClr val="5F6C7B"/>
                </a:solidFill>
                <a:latin typeface="Arial" panose="020B0604020202020204"/>
                <a:ea typeface="Arial" panose="020B0604020202020204"/>
                <a:cs typeface="Arial" panose="020B0604020202020204"/>
              </a:defRPr>
            </a:pPr>
            <a:r>
              <a:rPr sz="1050" b="0">
                <a:solidFill>
                  <a:srgbClr val="5F6C7B"/>
                </a:solidFill>
                <a:latin typeface="Arial" panose="020B0604020202020204"/>
                <a:ea typeface="Arial" panose="020B0604020202020204"/>
                <a:cs typeface="Arial" panose="020B0604020202020204"/>
              </a:rPr>
              <a:t>Thiếu dữ liệu tập trung ở total_bedrooms: 207 giá trị.</a:t>
            </a:r>
            <a:endParaRPr sz="1050" b="0">
              <a:solidFill>
                <a:srgbClr val="5F6C7B"/>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D7E0E8"/>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hình: ai-models/notebooks/ML_Project.ipynb (output thực tế)</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19" name="Rectangle 1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03 · EXPLORATORY DATA ANALYSIS</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EDA: mối quan hệ đặc trưng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05</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433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7" name="Rounded Rectangle 6"/>
          <p:cNvSpPr>
            <a:spLocks noGrp="1"/>
          </p:cNvSpPr>
          <p:nvPr/>
        </p:nvSpPr>
        <p:spPr>
          <a:xfrm>
            <a:off x="8143875" y="1428750"/>
            <a:ext cx="3524250" cy="4333875"/>
          </a:xfrm>
          <a:prstGeom prst="roundRect">
            <a:avLst>
              <a:gd name="adj" fmla="val 189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8" name="Rectangle 7"/>
          <p:cNvSpPr>
            <a:spLocks noGrp="1"/>
          </p:cNvSpPr>
          <p:nvPr/>
        </p:nvSpPr>
        <p:spPr>
          <a:xfrm>
            <a:off x="71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Ma trận tương quan</a:t>
            </a:r>
            <a:endParaRPr sz="14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452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Income và giá nhà</a:t>
            </a:r>
            <a:endParaRPr sz="1425" b="1">
              <a:solidFill>
                <a:srgbClr val="102A43"/>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8334375" y="1600200"/>
            <a:ext cx="3143250" cy="285750"/>
          </a:xfrm>
          <a:prstGeom prst="rect">
            <a:avLst/>
          </a:prstGeom>
          <a:noFill/>
          <a:ln w="0">
            <a:noFill/>
            <a:prstDash val="solid"/>
          </a:ln>
        </p:spPr>
        <p:txBody>
          <a:bodyPr wrap="square" lIns="0" tIns="0" rIns="0" bIns="0" anchor="t">
            <a:normAutofit/>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Pairplot các biến chính</a:t>
            </a:r>
            <a:endParaRPr sz="1425" b="1">
              <a:solidFill>
                <a:srgbClr val="102A43"/>
              </a:solidFill>
              <a:latin typeface="Arial" panose="020B0604020202020204"/>
              <a:ea typeface="Arial" panose="020B0604020202020204"/>
              <a:cs typeface="Arial" panose="020B0604020202020204"/>
            </a:endParaRPr>
          </a:p>
        </p:txBody>
      </p:sp>
      <p:pic>
        <p:nvPicPr>
          <p:cNvPr id="29" name="Picture 28"/>
          <p:cNvPicPr>
            <a:picLocks noChangeAspect="1"/>
          </p:cNvPicPr>
          <p:nvPr/>
        </p:nvPicPr>
        <p:blipFill>
          <a:blip r:embed="rId1"/>
          <a:stretch>
            <a:fillRect/>
          </a:stretch>
        </p:blipFill>
        <p:spPr>
          <a:xfrm>
            <a:off x="719870" y="1952625"/>
            <a:ext cx="3132260" cy="2857500"/>
          </a:xfrm>
          <a:prstGeom prst="roundRect">
            <a:avLst>
              <a:gd name="adj" fmla="val 2000"/>
            </a:avLst>
          </a:prstGeom>
        </p:spPr>
      </p:pic>
      <p:pic>
        <p:nvPicPr>
          <p:cNvPr id="30" name="Picture 29"/>
          <p:cNvPicPr>
            <a:picLocks noChangeAspect="1"/>
          </p:cNvPicPr>
          <p:nvPr/>
        </p:nvPicPr>
        <p:blipFill>
          <a:blip r:embed="rId2"/>
          <a:stretch>
            <a:fillRect/>
          </a:stretch>
        </p:blipFill>
        <p:spPr>
          <a:xfrm>
            <a:off x="4495800" y="2291095"/>
            <a:ext cx="3200400" cy="2180560"/>
          </a:xfrm>
          <a:prstGeom prst="roundRect">
            <a:avLst>
              <a:gd name="adj" fmla="val 2000"/>
            </a:avLst>
          </a:prstGeom>
        </p:spPr>
      </p:pic>
      <p:pic>
        <p:nvPicPr>
          <p:cNvPr id="31" name="Picture 30"/>
          <p:cNvPicPr>
            <a:picLocks noChangeAspect="1"/>
          </p:cNvPicPr>
          <p:nvPr/>
        </p:nvPicPr>
        <p:blipFill>
          <a:blip r:embed="rId3"/>
          <a:stretch>
            <a:fillRect/>
          </a:stretch>
        </p:blipFill>
        <p:spPr>
          <a:xfrm>
            <a:off x="8530426" y="1952625"/>
            <a:ext cx="2751148" cy="2857500"/>
          </a:xfrm>
          <a:prstGeom prst="roundRect">
            <a:avLst>
              <a:gd name="adj" fmla="val 2000"/>
            </a:avLst>
          </a:prstGeom>
        </p:spPr>
      </p:pic>
      <p:sp>
        <p:nvSpPr>
          <p:cNvPr id="14" name="Rectangle 13"/>
          <p:cNvSpPr>
            <a:spLocks noGrp="1"/>
          </p:cNvSpPr>
          <p:nvPr/>
        </p:nvSpPr>
        <p:spPr>
          <a:xfrm>
            <a:off x="71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median_income có tương quan dương mạnh nhất với target: 0,688.</a:t>
            </a:r>
            <a:endParaRPr sz="1125" b="0">
              <a:solidFill>
                <a:srgbClr val="5F6C7B"/>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452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Quan hệ tăng rõ, đồng thời xuất hiện dải trần tại 500.001 USD.</a:t>
            </a:r>
            <a:endParaRPr sz="1125" b="0">
              <a:solidFill>
                <a:srgbClr val="5F6C7B"/>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8334375" y="4972050"/>
            <a:ext cx="3143250" cy="571500"/>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Các quan hệ phi tuyến gợi ý model cây có tiềm năng hơn tuyến tính.</a:t>
            </a:r>
            <a:endParaRPr sz="1125" b="0">
              <a:solidFill>
                <a:srgbClr val="5F6C7B"/>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D7E0E8"/>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hình: ai-models/notebooks/ML_Project.ipynb; hệ số tính từ housing.csv.zip</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4" name="Rectangle 33"/>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04 · FEATURE PIPELINE</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Tiền xử lý dữ liệu</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06</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695325" y="2095500"/>
            <a:ext cx="457200" cy="457200"/>
          </a:xfrm>
          <a:prstGeom prst="roundRect">
            <a:avLst>
              <a:gd name="adj" fmla="val 50000"/>
            </a:avLst>
          </a:prstGeom>
          <a:solidFill>
            <a:srgbClr val="167D8D"/>
          </a:solidFill>
          <a:ln w="9525">
            <a:solidFill>
              <a:srgbClr val="167D8D"/>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01</a:t>
            </a:r>
            <a:endParaRPr sz="13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6953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Chia dữ liệu</a:t>
            </a:r>
            <a:endParaRPr sz="1575"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6953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80% train · 20% test</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random_state = 42</a:t>
            </a:r>
            <a:endParaRPr sz="1200" b="0">
              <a:solidFill>
                <a:srgbClr val="5F6C7B"/>
              </a:solidFill>
              <a:latin typeface="Arial" panose="020B0604020202020204"/>
              <a:ea typeface="Arial" panose="020B0604020202020204"/>
              <a:cs typeface="Arial" panose="020B0604020202020204"/>
            </a:endParaRPr>
          </a:p>
        </p:txBody>
      </p:sp>
      <p:sp>
        <p:nvSpPr>
          <p:cNvPr id="9" name="Right Arrow 8"/>
          <p:cNvSpPr>
            <a:spLocks noGrp="1"/>
          </p:cNvSpPr>
          <p:nvPr/>
        </p:nvSpPr>
        <p:spPr>
          <a:xfrm>
            <a:off x="2524125" y="2952750"/>
            <a:ext cx="266700" cy="247650"/>
          </a:xfrm>
          <a:prstGeom prst="rightArrow">
            <a:avLst/>
          </a:prstGeom>
          <a:solidFill>
            <a:srgbClr val="D7E0E8"/>
          </a:solidFill>
          <a:ln w="9525">
            <a:solidFill>
              <a:srgbClr val="D7E0E8"/>
            </a:solidFill>
            <a:prstDash val="solid"/>
          </a:ln>
        </p:spPr>
      </p:sp>
      <p:sp>
        <p:nvSpPr>
          <p:cNvPr id="10" name="Rounded Rectangle 9"/>
          <p:cNvSpPr>
            <a:spLocks noGrp="1"/>
          </p:cNvSpPr>
          <p:nvPr/>
        </p:nvSpPr>
        <p:spPr>
          <a:xfrm>
            <a:off x="282892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ounded Rectangle 10"/>
          <p:cNvSpPr>
            <a:spLocks noGrp="1"/>
          </p:cNvSpPr>
          <p:nvPr/>
        </p:nvSpPr>
        <p:spPr>
          <a:xfrm>
            <a:off x="3000375" y="2095500"/>
            <a:ext cx="457200" cy="457200"/>
          </a:xfrm>
          <a:prstGeom prst="roundRect">
            <a:avLst>
              <a:gd name="adj" fmla="val 50000"/>
            </a:avLst>
          </a:prstGeom>
          <a:solidFill>
            <a:srgbClr val="E76F51"/>
          </a:solidFill>
          <a:ln w="9525">
            <a:solidFill>
              <a:srgbClr val="E76F51"/>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02</a:t>
            </a:r>
            <a:endParaRPr sz="1350" b="1">
              <a:solidFill>
                <a:srgbClr val="FFFFFF"/>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300037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Điền khuyết</a:t>
            </a:r>
            <a:endParaRPr sz="1575" b="1">
              <a:solidFill>
                <a:srgbClr val="102A43"/>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300037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Median cho</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total_bedrooms</a:t>
            </a:r>
            <a:endParaRPr sz="1200" b="0">
              <a:solidFill>
                <a:srgbClr val="5F6C7B"/>
              </a:solidFill>
              <a:latin typeface="Arial" panose="020B0604020202020204"/>
              <a:ea typeface="Arial" panose="020B0604020202020204"/>
              <a:cs typeface="Arial" panose="020B0604020202020204"/>
            </a:endParaRPr>
          </a:p>
        </p:txBody>
      </p:sp>
      <p:sp>
        <p:nvSpPr>
          <p:cNvPr id="14" name="Right Arrow 13"/>
          <p:cNvSpPr>
            <a:spLocks noGrp="1"/>
          </p:cNvSpPr>
          <p:nvPr/>
        </p:nvSpPr>
        <p:spPr>
          <a:xfrm>
            <a:off x="4829175" y="2952750"/>
            <a:ext cx="266700" cy="247650"/>
          </a:xfrm>
          <a:prstGeom prst="rightArrow">
            <a:avLst/>
          </a:prstGeom>
          <a:solidFill>
            <a:srgbClr val="D7E0E8"/>
          </a:solidFill>
          <a:ln w="9525">
            <a:solidFill>
              <a:srgbClr val="D7E0E8"/>
            </a:solidFill>
            <a:prstDash val="solid"/>
          </a:ln>
        </p:spPr>
      </p:sp>
      <p:sp>
        <p:nvSpPr>
          <p:cNvPr id="15" name="Rounded Rectangle 14"/>
          <p:cNvSpPr>
            <a:spLocks noGrp="1"/>
          </p:cNvSpPr>
          <p:nvPr/>
        </p:nvSpPr>
        <p:spPr>
          <a:xfrm>
            <a:off x="51339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ounded Rectangle 15"/>
          <p:cNvSpPr>
            <a:spLocks noGrp="1"/>
          </p:cNvSpPr>
          <p:nvPr/>
        </p:nvSpPr>
        <p:spPr>
          <a:xfrm>
            <a:off x="5305425" y="2095500"/>
            <a:ext cx="457200" cy="457200"/>
          </a:xfrm>
          <a:prstGeom prst="roundRect">
            <a:avLst>
              <a:gd name="adj" fmla="val 50000"/>
            </a:avLst>
          </a:prstGeom>
          <a:solidFill>
            <a:srgbClr val="E9C46A"/>
          </a:solidFill>
          <a:ln w="9525">
            <a:solidFill>
              <a:srgbClr val="E9C46A"/>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03</a:t>
            </a:r>
            <a:endParaRPr sz="1350" b="1">
              <a:solidFill>
                <a:srgbClr val="FFFFFF"/>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53054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Tạo đặc trưng</a:t>
            </a:r>
            <a:endParaRPr sz="1575" b="1">
              <a:solidFill>
                <a:srgbClr val="102A43"/>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53054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3 tỷ lệ</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nhà ở / hộ dân</a:t>
            </a:r>
            <a:endParaRPr sz="1200" b="0">
              <a:solidFill>
                <a:srgbClr val="5F6C7B"/>
              </a:solidFill>
              <a:latin typeface="Arial" panose="020B0604020202020204"/>
              <a:ea typeface="Arial" panose="020B0604020202020204"/>
              <a:cs typeface="Arial" panose="020B0604020202020204"/>
            </a:endParaRPr>
          </a:p>
        </p:txBody>
      </p:sp>
      <p:sp>
        <p:nvSpPr>
          <p:cNvPr id="19" name="Right Arrow 18"/>
          <p:cNvSpPr>
            <a:spLocks noGrp="1"/>
          </p:cNvSpPr>
          <p:nvPr/>
        </p:nvSpPr>
        <p:spPr>
          <a:xfrm>
            <a:off x="7134225" y="2952750"/>
            <a:ext cx="266700" cy="247650"/>
          </a:xfrm>
          <a:prstGeom prst="rightArrow">
            <a:avLst/>
          </a:prstGeom>
          <a:solidFill>
            <a:srgbClr val="D7E0E8"/>
          </a:solidFill>
          <a:ln w="9525">
            <a:solidFill>
              <a:srgbClr val="D7E0E8"/>
            </a:solidFill>
            <a:prstDash val="solid"/>
          </a:ln>
        </p:spPr>
      </p:sp>
      <p:sp>
        <p:nvSpPr>
          <p:cNvPr id="20" name="Rounded Rectangle 19"/>
          <p:cNvSpPr>
            <a:spLocks noGrp="1"/>
          </p:cNvSpPr>
          <p:nvPr/>
        </p:nvSpPr>
        <p:spPr>
          <a:xfrm>
            <a:off x="743902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ounded Rectangle 20"/>
          <p:cNvSpPr>
            <a:spLocks noGrp="1"/>
          </p:cNvSpPr>
          <p:nvPr/>
        </p:nvSpPr>
        <p:spPr>
          <a:xfrm>
            <a:off x="7610475" y="2095500"/>
            <a:ext cx="457200" cy="4572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04</a:t>
            </a:r>
            <a:endParaRPr sz="1350" b="1">
              <a:solidFill>
                <a:srgbClr val="FFFFFF"/>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761047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Biến đổi</a:t>
            </a:r>
            <a:endParaRPr sz="1575" b="1">
              <a:solidFill>
                <a:srgbClr val="102A43"/>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761047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StandardScaler</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OneHotEncoder</a:t>
            </a:r>
            <a:endParaRPr sz="1200" b="0">
              <a:solidFill>
                <a:srgbClr val="5F6C7B"/>
              </a:solidFill>
              <a:latin typeface="Arial" panose="020B0604020202020204"/>
              <a:ea typeface="Arial" panose="020B0604020202020204"/>
              <a:cs typeface="Arial" panose="020B0604020202020204"/>
            </a:endParaRPr>
          </a:p>
        </p:txBody>
      </p:sp>
      <p:sp>
        <p:nvSpPr>
          <p:cNvPr id="24" name="Right Arrow 23"/>
          <p:cNvSpPr>
            <a:spLocks noGrp="1"/>
          </p:cNvSpPr>
          <p:nvPr/>
        </p:nvSpPr>
        <p:spPr>
          <a:xfrm>
            <a:off x="9439275" y="2952750"/>
            <a:ext cx="266700" cy="247650"/>
          </a:xfrm>
          <a:prstGeom prst="rightArrow">
            <a:avLst/>
          </a:prstGeom>
          <a:solidFill>
            <a:srgbClr val="D7E0E8"/>
          </a:solidFill>
          <a:ln w="9525">
            <a:solidFill>
              <a:srgbClr val="D7E0E8"/>
            </a:solidFill>
            <a:prstDash val="solid"/>
          </a:ln>
        </p:spPr>
      </p:sp>
      <p:sp>
        <p:nvSpPr>
          <p:cNvPr id="25" name="Rounded Rectangle 24"/>
          <p:cNvSpPr>
            <a:spLocks noGrp="1"/>
          </p:cNvSpPr>
          <p:nvPr/>
        </p:nvSpPr>
        <p:spPr>
          <a:xfrm>
            <a:off x="9744075" y="1952625"/>
            <a:ext cx="1952625" cy="2333625"/>
          </a:xfrm>
          <a:prstGeom prst="roundRect">
            <a:avLst>
              <a:gd name="adj" fmla="val 341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ounded Rectangle 25"/>
          <p:cNvSpPr>
            <a:spLocks noGrp="1"/>
          </p:cNvSpPr>
          <p:nvPr/>
        </p:nvSpPr>
        <p:spPr>
          <a:xfrm>
            <a:off x="9915525" y="2095500"/>
            <a:ext cx="457200" cy="457200"/>
          </a:xfrm>
          <a:prstGeom prst="roundRect">
            <a:avLst>
              <a:gd name="adj" fmla="val 50000"/>
            </a:avLst>
          </a:prstGeom>
          <a:solidFill>
            <a:srgbClr val="2A9D8F"/>
          </a:solidFill>
          <a:ln w="9525">
            <a:solidFill>
              <a:srgbClr val="2A9D8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05</a:t>
            </a:r>
            <a:endParaRPr sz="1350"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9915525" y="2781300"/>
            <a:ext cx="1609725" cy="523875"/>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Pipeline</a:t>
            </a:r>
            <a:endParaRPr sz="1575"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9915525" y="3400425"/>
            <a:ext cx="1609725" cy="5905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preprocessor</a:t>
            </a:r>
            <a:endParaRPr sz="1200" b="0">
              <a:solidFill>
                <a:srgbClr val="5F6C7B"/>
              </a:solidFill>
              <a:latin typeface="Arial" panose="020B0604020202020204"/>
              <a:ea typeface="Arial" panose="020B0604020202020204"/>
              <a:cs typeface="Arial" panose="020B0604020202020204"/>
            </a:endParaRPr>
          </a:p>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 model</a:t>
            </a:r>
            <a:endParaRPr sz="1200" b="0">
              <a:solidFill>
                <a:srgbClr val="5F6C7B"/>
              </a:solidFill>
              <a:latin typeface="Arial" panose="020B0604020202020204"/>
              <a:ea typeface="Arial" panose="020B0604020202020204"/>
              <a:cs typeface="Arial" panose="020B0604020202020204"/>
            </a:endParaRPr>
          </a:p>
        </p:txBody>
      </p:sp>
      <p:sp>
        <p:nvSpPr>
          <p:cNvPr id="29" name="Rounded Rectangle 28"/>
          <p:cNvSpPr>
            <a:spLocks noGrp="1"/>
          </p:cNvSpPr>
          <p:nvPr/>
        </p:nvSpPr>
        <p:spPr>
          <a:xfrm>
            <a:off x="857250" y="4762500"/>
            <a:ext cx="10477500" cy="1047750"/>
          </a:xfrm>
          <a:prstGeom prst="roundRect">
            <a:avLst>
              <a:gd name="adj" fmla="val 6364"/>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30" name="Rectangle 29"/>
          <p:cNvSpPr>
            <a:spLocks noGrp="1"/>
          </p:cNvSpPr>
          <p:nvPr/>
        </p:nvSpPr>
        <p:spPr>
          <a:xfrm>
            <a:off x="1066800" y="4933950"/>
            <a:ext cx="1809750" cy="257175"/>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102A43"/>
                </a:solidFill>
                <a:latin typeface="Arial" panose="020B0604020202020204"/>
                <a:ea typeface="Arial" panose="020B0604020202020204"/>
                <a:cs typeface="Arial" panose="020B0604020202020204"/>
              </a:defRPr>
            </a:pPr>
            <a:r>
              <a:rPr sz="1275" b="1">
                <a:solidFill>
                  <a:srgbClr val="102A43"/>
                </a:solidFill>
                <a:latin typeface="Arial" panose="020B0604020202020204"/>
                <a:ea typeface="Arial" panose="020B0604020202020204"/>
                <a:cs typeface="Arial" panose="020B0604020202020204"/>
              </a:rPr>
              <a:t>Lưu ý triển khai</a:t>
            </a:r>
            <a:endParaRPr sz="1275" b="1">
              <a:solidFill>
                <a:srgbClr val="102A43"/>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3000375" y="4857750"/>
            <a:ext cx="8001000" cy="685800"/>
          </a:xfrm>
          <a:prstGeom prst="rect">
            <a:avLst/>
          </a:prstGeom>
          <a:noFill/>
          <a:ln w="0">
            <a:noFill/>
            <a:prstDash val="solid"/>
          </a:ln>
        </p:spPr>
        <p:txBody>
          <a:bodyPr wrap="square" lIns="95250" tIns="57150" rIns="95250" bIns="57150" anchor="ctr">
            <a:normAutofit/>
          </a:bodyPr>
          <a:lstStyle/>
          <a:p>
            <a:pPr algn="l">
              <a:lnSpc>
                <a:spcPct val="100000"/>
              </a:lnSpc>
              <a:buNone/>
              <a:defRPr sz="1275" b="0">
                <a:solidFill>
                  <a:srgbClr val="1D2939"/>
                </a:solidFill>
                <a:latin typeface="Arial" panose="020B0604020202020204"/>
                <a:ea typeface="Arial" panose="020B0604020202020204"/>
                <a:cs typeface="Arial" panose="020B0604020202020204"/>
              </a:defRPr>
            </a:pPr>
            <a:r>
              <a:rPr sz="1275" b="0">
                <a:solidFill>
                  <a:srgbClr val="1D2939"/>
                </a:solidFill>
                <a:latin typeface="Arial" panose="020B0604020202020204"/>
                <a:ea typeface="Arial" panose="020B0604020202020204"/>
                <a:cs typeface="Arial" panose="020B0604020202020204"/>
              </a:rPr>
              <a:t>Bản model lưu gồm preprocessor + model. Median imputer được fit trước pipeline khi train; phía API yêu cầu input đầy đủ và tự tính 3 tỷ lệ trước khi dự đoán.</a:t>
            </a:r>
            <a:endParaRPr sz="1275" b="0">
              <a:solidFill>
                <a:srgbClr val="1D2939"/>
              </a:solidFill>
              <a:latin typeface="Arial" panose="020B0604020202020204"/>
              <a:ea typeface="Arial" panose="020B0604020202020204"/>
              <a:cs typeface="Arial" panose="020B0604020202020204"/>
            </a:endParaRPr>
          </a:p>
        </p:txBody>
      </p:sp>
      <p:sp>
        <p:nvSpPr>
          <p:cNvPr id="32" name="Straight Connector 31"/>
          <p:cNvSpPr>
            <a:spLocks noGrp="1"/>
          </p:cNvSpPr>
          <p:nvPr/>
        </p:nvSpPr>
        <p:spPr>
          <a:xfrm>
            <a:off x="666750" y="6477000"/>
            <a:ext cx="10858500" cy="0"/>
          </a:xfrm>
          <a:prstGeom prst="line">
            <a:avLst/>
          </a:prstGeom>
          <a:noFill/>
          <a:ln w="9525">
            <a:solidFill>
              <a:srgbClr val="D7E0E8"/>
            </a:solidFill>
            <a:prstDash val="solid"/>
          </a:ln>
        </p:spPr>
      </p:sp>
      <p:sp>
        <p:nvSpPr>
          <p:cNvPr id="33" name="Rectangle 32"/>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ai-models/src/preprocess.py; ai-models/src/train.py; ai-service/app/model.py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7" name="Rectangle 26"/>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05 · MODELING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Các model được huấn luyện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07</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52400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524000"/>
            <a:ext cx="85725" cy="1762125"/>
          </a:xfrm>
          <a:prstGeom prst="rect">
            <a:avLst/>
          </a:prstGeom>
          <a:solidFill>
            <a:srgbClr val="173F5F"/>
          </a:solidFill>
          <a:ln w="0">
            <a:noFill/>
            <a:prstDash val="solid"/>
          </a:ln>
        </p:spPr>
      </p:sp>
      <p:sp>
        <p:nvSpPr>
          <p:cNvPr id="7" name="Rounded Rectangle 6"/>
          <p:cNvSpPr>
            <a:spLocks noGrp="1"/>
          </p:cNvSpPr>
          <p:nvPr/>
        </p:nvSpPr>
        <p:spPr>
          <a:xfrm>
            <a:off x="952500" y="1733550"/>
            <a:ext cx="1285875"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Baseline</a:t>
            </a:r>
            <a:endParaRPr sz="900" b="1">
              <a:solidFill>
                <a:srgbClr val="173F5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952500" y="213360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Linear Regression</a:t>
            </a:r>
            <a:endParaRPr sz="20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952500" y="262890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Mốc tham chiếu tuyến tính, nhanh và dễ giải thích.</a:t>
            </a:r>
            <a:endParaRPr sz="1200"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6191250" y="152400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6191250" y="1524000"/>
            <a:ext cx="85725" cy="1762125"/>
          </a:xfrm>
          <a:prstGeom prst="rect">
            <a:avLst/>
          </a:prstGeom>
          <a:solidFill>
            <a:srgbClr val="E76F51"/>
          </a:solidFill>
          <a:ln w="0">
            <a:noFill/>
            <a:prstDash val="solid"/>
          </a:ln>
        </p:spPr>
      </p:sp>
      <p:sp>
        <p:nvSpPr>
          <p:cNvPr id="12" name="Rounded Rectangle 11"/>
          <p:cNvSpPr>
            <a:spLocks noGrp="1"/>
          </p:cNvSpPr>
          <p:nvPr/>
        </p:nvSpPr>
        <p:spPr>
          <a:xfrm>
            <a:off x="6477000" y="1733550"/>
            <a:ext cx="1285875"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Tree</a:t>
            </a:r>
            <a:endParaRPr sz="900" b="1">
              <a:solidFill>
                <a:srgbClr val="E76F51"/>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6477000" y="213360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Decision Tree</a:t>
            </a:r>
            <a:endParaRPr sz="2025" b="1">
              <a:solidFill>
                <a:srgbClr val="102A43"/>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6477000" y="262890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Mô hình hóa quan hệ phi tuyến; GridSearchCV cho max_depth và min_samples_split.</a:t>
            </a:r>
            <a:endParaRPr sz="1200"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666750" y="371475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666750" y="3714750"/>
            <a:ext cx="85725" cy="1762125"/>
          </a:xfrm>
          <a:prstGeom prst="rect">
            <a:avLst/>
          </a:prstGeom>
          <a:solidFill>
            <a:srgbClr val="167D8D"/>
          </a:solidFill>
          <a:ln w="0">
            <a:noFill/>
            <a:prstDash val="solid"/>
          </a:ln>
        </p:spPr>
      </p:sp>
      <p:sp>
        <p:nvSpPr>
          <p:cNvPr id="17" name="Rounded Rectangle 16"/>
          <p:cNvSpPr>
            <a:spLocks noGrp="1"/>
          </p:cNvSpPr>
          <p:nvPr/>
        </p:nvSpPr>
        <p:spPr>
          <a:xfrm>
            <a:off x="952500" y="3924300"/>
            <a:ext cx="1285875"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Ensemble</a:t>
            </a:r>
            <a:endParaRPr sz="900" b="1">
              <a:solidFill>
                <a:srgbClr val="167D8D"/>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952500" y="432435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Random Forest</a:t>
            </a:r>
            <a:endParaRPr sz="2025" b="1">
              <a:solidFill>
                <a:srgbClr val="102A43"/>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952500" y="481965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Bagging nhiều cây; RandomizedSearchCV cho độ sâu, số cây và mức chia.</a:t>
            </a:r>
            <a:endParaRPr sz="1200"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6191250" y="3714750"/>
            <a:ext cx="5334000" cy="1762125"/>
          </a:xfrm>
          <a:prstGeom prst="roundRect">
            <a:avLst>
              <a:gd name="adj" fmla="val 3784"/>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6191250" y="3714750"/>
            <a:ext cx="85725" cy="1762125"/>
          </a:xfrm>
          <a:prstGeom prst="rect">
            <a:avLst/>
          </a:prstGeom>
          <a:solidFill>
            <a:srgbClr val="E9C46A"/>
          </a:solidFill>
          <a:ln w="0">
            <a:noFill/>
            <a:prstDash val="solid"/>
          </a:ln>
        </p:spPr>
      </p:sp>
      <p:sp>
        <p:nvSpPr>
          <p:cNvPr id="22" name="Rounded Rectangle 21"/>
          <p:cNvSpPr>
            <a:spLocks noGrp="1"/>
          </p:cNvSpPr>
          <p:nvPr/>
        </p:nvSpPr>
        <p:spPr>
          <a:xfrm>
            <a:off x="6477000" y="3924300"/>
            <a:ext cx="1285875" cy="266700"/>
          </a:xfrm>
          <a:prstGeom prst="roundRect">
            <a:avLst>
              <a:gd name="adj" fmla="val 50000"/>
            </a:avLst>
          </a:prstGeom>
          <a:solidFill>
            <a:srgbClr val="FFF7DF"/>
          </a:solidFill>
          <a:ln w="9525">
            <a:solidFill>
              <a:srgbClr val="FFF7DF"/>
            </a:solidFill>
            <a:prstDash val="solid"/>
          </a:ln>
        </p:spPr>
        <p:txBody>
          <a:bodyPr wrap="square" lIns="76200" tIns="19050" rIns="76200" bIns="19050" anchor="ctr">
            <a:normAutofit/>
          </a:bodyPr>
          <a:lstStyle/>
          <a:p>
            <a:pPr algn="ctr">
              <a:lnSpc>
                <a:spcPct val="100000"/>
              </a:lnSpc>
              <a:buNone/>
              <a:defRPr sz="900" b="1">
                <a:solidFill>
                  <a:srgbClr val="E9C46A"/>
                </a:solidFill>
                <a:latin typeface="Arial" panose="020B0604020202020204"/>
                <a:ea typeface="Arial" panose="020B0604020202020204"/>
                <a:cs typeface="Arial" panose="020B0604020202020204"/>
              </a:defRPr>
            </a:pPr>
            <a:r>
              <a:rPr sz="900" b="1">
                <a:solidFill>
                  <a:srgbClr val="E9C46A"/>
                </a:solidFill>
                <a:latin typeface="Arial" panose="020B0604020202020204"/>
                <a:ea typeface="Arial" panose="020B0604020202020204"/>
                <a:cs typeface="Arial" panose="020B0604020202020204"/>
              </a:rPr>
              <a:t>Final candidate</a:t>
            </a:r>
            <a:endParaRPr sz="900" b="1">
              <a:solidFill>
                <a:srgbClr val="E9C46A"/>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6477000" y="4324350"/>
            <a:ext cx="4667250" cy="428625"/>
          </a:xfrm>
          <a:prstGeom prst="rect">
            <a:avLst/>
          </a:prstGeom>
          <a:noFill/>
          <a:ln w="0">
            <a:noFill/>
            <a:prstDash val="solid"/>
          </a:ln>
        </p:spPr>
        <p:txBody>
          <a:bodyPr wrap="square" lIns="0" tIns="0" rIns="0" bIns="0" anchor="t">
            <a:normAutofit/>
          </a:bodyPr>
          <a:lstStyle/>
          <a:p>
            <a:pPr algn="l">
              <a:lnSpc>
                <a:spcPct val="100000"/>
              </a:lnSpc>
              <a:buNone/>
              <a:defRPr sz="2025" b="1">
                <a:solidFill>
                  <a:srgbClr val="102A43"/>
                </a:solidFill>
                <a:latin typeface="Arial" panose="020B0604020202020204"/>
                <a:ea typeface="Arial" panose="020B0604020202020204"/>
                <a:cs typeface="Arial" panose="020B0604020202020204"/>
              </a:defRPr>
            </a:pPr>
            <a:r>
              <a:rPr sz="2025" b="1">
                <a:solidFill>
                  <a:srgbClr val="102A43"/>
                </a:solidFill>
                <a:latin typeface="Arial" panose="020B0604020202020204"/>
                <a:ea typeface="Arial" panose="020B0604020202020204"/>
                <a:cs typeface="Arial" panose="020B0604020202020204"/>
              </a:rPr>
              <a:t>Gradient Boosting</a:t>
            </a:r>
            <a:endParaRPr sz="2025"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6477000" y="4819650"/>
            <a:ext cx="4667250" cy="485775"/>
          </a:xfrm>
          <a:prstGeom prst="rect">
            <a:avLst/>
          </a:prstGeom>
          <a:noFill/>
          <a:ln w="0">
            <a:noFill/>
            <a:prstDash val="solid"/>
          </a:ln>
        </p:spPr>
        <p:txBody>
          <a:bodyPr wrap="square" lIns="0" tIns="0" rIns="0" bIns="0" anchor="ctr">
            <a:normAutofit/>
          </a:bodyPr>
          <a:lstStyle/>
          <a:p>
            <a:pPr algn="l">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Boosting tuần tự; tìm learning_rate, max_depth và n_estimators.</a:t>
            </a:r>
            <a:endParaRPr sz="1200" b="0">
              <a:solidFill>
                <a:srgbClr val="5F6C7B"/>
              </a:solidFill>
              <a:latin typeface="Arial" panose="020B0604020202020204"/>
              <a:ea typeface="Arial" panose="020B0604020202020204"/>
              <a:cs typeface="Arial" panose="020B0604020202020204"/>
            </a:endParaRPr>
          </a:p>
        </p:txBody>
      </p:sp>
      <p:sp>
        <p:nvSpPr>
          <p:cNvPr id="25" name="Straight Connector 24"/>
          <p:cNvSpPr>
            <a:spLocks noGrp="1"/>
          </p:cNvSpPr>
          <p:nvPr/>
        </p:nvSpPr>
        <p:spPr>
          <a:xfrm>
            <a:off x="666750" y="6477000"/>
            <a:ext cx="10858500" cy="0"/>
          </a:xfrm>
          <a:prstGeom prst="line">
            <a:avLst/>
          </a:prstGeom>
          <a:noFill/>
          <a:ln w="9525">
            <a:solidFill>
              <a:srgbClr val="D7E0E8"/>
            </a:solidFill>
            <a:prstDash val="solid"/>
          </a:ln>
        </p:spPr>
      </p:sp>
      <p:sp>
        <p:nvSpPr>
          <p:cNvPr id="26" name="Rectangle 25"/>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9" name="Rectangle 3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06 · TRAINING WORKFLOW</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Quy trình huấn luyện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08</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19125" y="2286000"/>
            <a:ext cx="1714500" cy="1047750"/>
          </a:xfrm>
          <a:prstGeom prst="roundRect">
            <a:avLst>
              <a:gd name="adj" fmla="val 6364"/>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19125" y="2286000"/>
            <a:ext cx="1714500" cy="66675"/>
          </a:xfrm>
          <a:prstGeom prst="rect">
            <a:avLst/>
          </a:prstGeom>
          <a:solidFill>
            <a:srgbClr val="173F5F"/>
          </a:solidFill>
          <a:ln w="0">
            <a:noFill/>
            <a:prstDash val="solid"/>
          </a:ln>
        </p:spPr>
      </p:sp>
      <p:sp>
        <p:nvSpPr>
          <p:cNvPr id="7" name="Rectangle 6"/>
          <p:cNvSpPr>
            <a:spLocks noGrp="1"/>
          </p:cNvSpPr>
          <p:nvPr/>
        </p:nvSpPr>
        <p:spPr>
          <a:xfrm>
            <a:off x="733425" y="2476500"/>
            <a:ext cx="148590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housing.csv</a:t>
            </a:r>
            <a:endParaRPr sz="1425"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733425" y="2847975"/>
            <a:ext cx="148590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20.640 dòng</a:t>
            </a:r>
            <a:endParaRPr sz="975"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2762250" y="1619250"/>
            <a:ext cx="1809750" cy="1047750"/>
          </a:xfrm>
          <a:prstGeom prst="roundRect">
            <a:avLst>
              <a:gd name="adj" fmla="val 6364"/>
            </a:avLst>
          </a:prstGeom>
          <a:solidFill>
            <a:srgbClr val="FFFFFF"/>
          </a:solidFill>
          <a:ln w="9525">
            <a:solidFill>
              <a:srgbClr val="167D8D"/>
            </a:solidFill>
            <a:prstDash val="solid"/>
          </a:ln>
        </p:spPr>
        <p:style>
          <a:lnRef idx="0">
            <a:srgbClr val="FFFFFF"/>
          </a:lnRef>
          <a:fillRef idx="0">
            <a:srgbClr val="FFFFFF"/>
          </a:fillRef>
          <a:effectRef idx="4">
            <a:srgbClr val="FFFFFF"/>
          </a:effectRef>
          <a:fontRef idx="major"/>
        </p:style>
      </p:sp>
      <p:sp>
        <p:nvSpPr>
          <p:cNvPr id="10" name="Rectangle 9"/>
          <p:cNvSpPr>
            <a:spLocks noGrp="1"/>
          </p:cNvSpPr>
          <p:nvPr/>
        </p:nvSpPr>
        <p:spPr>
          <a:xfrm>
            <a:off x="2762250" y="1619250"/>
            <a:ext cx="1809750" cy="66675"/>
          </a:xfrm>
          <a:prstGeom prst="rect">
            <a:avLst/>
          </a:prstGeom>
          <a:solidFill>
            <a:srgbClr val="167D8D"/>
          </a:solidFill>
          <a:ln w="0">
            <a:noFill/>
            <a:prstDash val="solid"/>
          </a:ln>
        </p:spPr>
      </p:sp>
      <p:sp>
        <p:nvSpPr>
          <p:cNvPr id="11" name="Rectangle 10"/>
          <p:cNvSpPr>
            <a:spLocks noGrp="1"/>
          </p:cNvSpPr>
          <p:nvPr/>
        </p:nvSpPr>
        <p:spPr>
          <a:xfrm>
            <a:off x="2876550" y="1809750"/>
            <a:ext cx="15811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Train 80%</a:t>
            </a:r>
            <a:endParaRPr sz="1425"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2876550" y="2181225"/>
            <a:ext cx="15811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Fit imputer + pipeline</a:t>
            </a:r>
            <a:endParaRPr sz="975"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2762250" y="3143250"/>
            <a:ext cx="1809750" cy="1047750"/>
          </a:xfrm>
          <a:prstGeom prst="roundRect">
            <a:avLst>
              <a:gd name="adj" fmla="val 6364"/>
            </a:avLst>
          </a:prstGeom>
          <a:solidFill>
            <a:srgbClr val="FFFFFF"/>
          </a:solidFill>
          <a:ln w="9525">
            <a:solidFill>
              <a:srgbClr val="E76F51"/>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2762250" y="3143250"/>
            <a:ext cx="1809750" cy="66675"/>
          </a:xfrm>
          <a:prstGeom prst="rect">
            <a:avLst/>
          </a:prstGeom>
          <a:solidFill>
            <a:srgbClr val="E76F51"/>
          </a:solidFill>
          <a:ln w="0">
            <a:noFill/>
            <a:prstDash val="solid"/>
          </a:ln>
        </p:spPr>
      </p:sp>
      <p:sp>
        <p:nvSpPr>
          <p:cNvPr id="15" name="Rectangle 14"/>
          <p:cNvSpPr>
            <a:spLocks noGrp="1"/>
          </p:cNvSpPr>
          <p:nvPr/>
        </p:nvSpPr>
        <p:spPr>
          <a:xfrm>
            <a:off x="2876550" y="3333750"/>
            <a:ext cx="15811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Test 20%</a:t>
            </a:r>
            <a:endParaRPr sz="1425"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876550" y="3705225"/>
            <a:ext cx="15811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Giữ riêng để đánh giá</a:t>
            </a:r>
            <a:endParaRPr sz="975" b="0">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5095875" y="1619250"/>
            <a:ext cx="2000250" cy="1047750"/>
          </a:xfrm>
          <a:prstGeom prst="roundRect">
            <a:avLst>
              <a:gd name="adj" fmla="val 6364"/>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5095875" y="1619250"/>
            <a:ext cx="2000250" cy="66675"/>
          </a:xfrm>
          <a:prstGeom prst="rect">
            <a:avLst/>
          </a:prstGeom>
          <a:solidFill>
            <a:srgbClr val="E9C46A"/>
          </a:solidFill>
          <a:ln w="0">
            <a:noFill/>
            <a:prstDash val="solid"/>
          </a:ln>
        </p:spPr>
      </p:sp>
      <p:sp>
        <p:nvSpPr>
          <p:cNvPr id="19" name="Rectangle 18"/>
          <p:cNvSpPr>
            <a:spLocks noGrp="1"/>
          </p:cNvSpPr>
          <p:nvPr/>
        </p:nvSpPr>
        <p:spPr>
          <a:xfrm>
            <a:off x="5210175" y="1809750"/>
            <a:ext cx="177165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Search + CV</a:t>
            </a:r>
            <a:endParaRPr sz="1425"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5210175" y="2181225"/>
            <a:ext cx="177165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5-fold · neg MSE</a:t>
            </a:r>
            <a:endParaRPr sz="975" b="0">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7620000" y="1619250"/>
            <a:ext cx="1762125" cy="1047750"/>
          </a:xfrm>
          <a:prstGeom prst="roundRect">
            <a:avLst>
              <a:gd name="adj" fmla="val 6364"/>
            </a:avLst>
          </a:prstGeom>
          <a:solidFill>
            <a:srgbClr val="FFFFFF"/>
          </a:solidFill>
          <a:ln w="9525">
            <a:solidFill>
              <a:srgbClr val="2A9D8F"/>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7620000" y="1619250"/>
            <a:ext cx="1762125" cy="66675"/>
          </a:xfrm>
          <a:prstGeom prst="rect">
            <a:avLst/>
          </a:prstGeom>
          <a:solidFill>
            <a:srgbClr val="2A9D8F"/>
          </a:solidFill>
          <a:ln w="0">
            <a:noFill/>
            <a:prstDash val="solid"/>
          </a:ln>
        </p:spPr>
      </p:sp>
      <p:sp>
        <p:nvSpPr>
          <p:cNvPr id="23" name="Rectangle 22"/>
          <p:cNvSpPr>
            <a:spLocks noGrp="1"/>
          </p:cNvSpPr>
          <p:nvPr/>
        </p:nvSpPr>
        <p:spPr>
          <a:xfrm>
            <a:off x="7734300" y="1809750"/>
            <a:ext cx="1533525"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Fit tốt nhất</a:t>
            </a:r>
            <a:endParaRPr sz="1425"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7734300" y="2181225"/>
            <a:ext cx="1533525"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Theo CV RMSE</a:t>
            </a:r>
            <a:endParaRPr sz="975" b="0">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9906000" y="2286000"/>
            <a:ext cx="1714500" cy="1047750"/>
          </a:xfrm>
          <a:prstGeom prst="roundRect">
            <a:avLst>
              <a:gd name="adj" fmla="val 6364"/>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9906000" y="2286000"/>
            <a:ext cx="1714500" cy="66675"/>
          </a:xfrm>
          <a:prstGeom prst="rect">
            <a:avLst/>
          </a:prstGeom>
          <a:solidFill>
            <a:srgbClr val="173F5F"/>
          </a:solidFill>
          <a:ln w="0">
            <a:noFill/>
            <a:prstDash val="solid"/>
          </a:ln>
        </p:spPr>
      </p:sp>
      <p:sp>
        <p:nvSpPr>
          <p:cNvPr id="27" name="Rectangle 26"/>
          <p:cNvSpPr>
            <a:spLocks noGrp="1"/>
          </p:cNvSpPr>
          <p:nvPr/>
        </p:nvSpPr>
        <p:spPr>
          <a:xfrm>
            <a:off x="10020300" y="2476500"/>
            <a:ext cx="1485900" cy="323850"/>
          </a:xfrm>
          <a:prstGeom prst="rect">
            <a:avLst/>
          </a:prstGeom>
          <a:noFill/>
          <a:ln w="0">
            <a:noFill/>
            <a:prstDash val="solid"/>
          </a:ln>
        </p:spPr>
        <p:txBody>
          <a:bodyPr wrap="square" lIns="95250" tIns="57150" rIns="95250" bIns="57150" anchor="ctr">
            <a:normAutofit fontScale="96491"/>
          </a:bodyPr>
          <a:lstStyle/>
          <a:p>
            <a:pPr algn="ctr">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Đánh giá</a:t>
            </a:r>
            <a:endParaRPr sz="1425"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10020300" y="2847975"/>
            <a:ext cx="1485900" cy="333375"/>
          </a:xfrm>
          <a:prstGeom prst="rect">
            <a:avLst/>
          </a:prstGeom>
          <a:noFill/>
          <a:ln w="0">
            <a:noFill/>
            <a:prstDash val="solid"/>
          </a:ln>
        </p:spPr>
        <p:txBody>
          <a:bodyPr wrap="square" lIns="95250" tIns="57150" rIns="95250" bIns="57150" anchor="ctr">
            <a:normAutofit/>
          </a:bodyPr>
          <a:lstStyle/>
          <a:p>
            <a:pPr algn="ctr">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RMSE · MAE · R²</a:t>
            </a:r>
            <a:endParaRPr sz="975" b="0">
              <a:solidFill>
                <a:srgbClr val="5F6C7B"/>
              </a:solidFill>
              <a:latin typeface="Arial" panose="020B0604020202020204"/>
              <a:ea typeface="Arial" panose="020B0604020202020204"/>
              <a:cs typeface="Arial" panose="020B0604020202020204"/>
            </a:endParaRPr>
          </a:p>
        </p:txBody>
      </p:sp>
      <p:sp>
        <p:nvSpPr>
          <p:cNvPr id="29" name="Right Arrow 28"/>
          <p:cNvSpPr>
            <a:spLocks noGrp="1"/>
          </p:cNvSpPr>
          <p:nvPr/>
        </p:nvSpPr>
        <p:spPr>
          <a:xfrm>
            <a:off x="2362200" y="2552700"/>
            <a:ext cx="304800" cy="228600"/>
          </a:xfrm>
          <a:prstGeom prst="rightArrow">
            <a:avLst/>
          </a:prstGeom>
          <a:solidFill>
            <a:srgbClr val="D7E0E8"/>
          </a:solidFill>
          <a:ln w="9525">
            <a:solidFill>
              <a:srgbClr val="D7E0E8"/>
            </a:solidFill>
            <a:prstDash val="solid"/>
          </a:ln>
        </p:spPr>
      </p:sp>
      <p:sp>
        <p:nvSpPr>
          <p:cNvPr id="30" name="Right Arrow 29"/>
          <p:cNvSpPr>
            <a:spLocks noGrp="1"/>
          </p:cNvSpPr>
          <p:nvPr/>
        </p:nvSpPr>
        <p:spPr>
          <a:xfrm>
            <a:off x="4572000" y="2047875"/>
            <a:ext cx="428625" cy="228600"/>
          </a:xfrm>
          <a:prstGeom prst="rightArrow">
            <a:avLst/>
          </a:prstGeom>
          <a:solidFill>
            <a:srgbClr val="D7E0E8"/>
          </a:solidFill>
          <a:ln w="9525">
            <a:solidFill>
              <a:srgbClr val="D7E0E8"/>
            </a:solidFill>
            <a:prstDash val="solid"/>
          </a:ln>
        </p:spPr>
      </p:sp>
      <p:sp>
        <p:nvSpPr>
          <p:cNvPr id="31" name="Right Arrow 30"/>
          <p:cNvSpPr>
            <a:spLocks noGrp="1"/>
          </p:cNvSpPr>
          <p:nvPr/>
        </p:nvSpPr>
        <p:spPr>
          <a:xfrm>
            <a:off x="7143750" y="2047875"/>
            <a:ext cx="381000" cy="228600"/>
          </a:xfrm>
          <a:prstGeom prst="rightArrow">
            <a:avLst/>
          </a:prstGeom>
          <a:solidFill>
            <a:srgbClr val="D7E0E8"/>
          </a:solidFill>
          <a:ln w="9525">
            <a:solidFill>
              <a:srgbClr val="D7E0E8"/>
            </a:solidFill>
            <a:prstDash val="solid"/>
          </a:ln>
        </p:spPr>
      </p:sp>
      <p:sp>
        <p:nvSpPr>
          <p:cNvPr id="32" name="Right Arrow 31"/>
          <p:cNvSpPr>
            <a:spLocks noGrp="1"/>
          </p:cNvSpPr>
          <p:nvPr/>
        </p:nvSpPr>
        <p:spPr>
          <a:xfrm>
            <a:off x="9429750" y="2552700"/>
            <a:ext cx="381000" cy="228600"/>
          </a:xfrm>
          <a:prstGeom prst="rightArrow">
            <a:avLst/>
          </a:prstGeom>
          <a:solidFill>
            <a:srgbClr val="D7E0E8"/>
          </a:solidFill>
          <a:ln w="9525">
            <a:solidFill>
              <a:srgbClr val="D7E0E8"/>
            </a:solidFill>
            <a:prstDash val="solid"/>
          </a:ln>
        </p:spPr>
      </p:sp>
      <p:sp>
        <p:nvSpPr>
          <p:cNvPr id="33" name="Straight Connector 32"/>
          <p:cNvSpPr>
            <a:spLocks noGrp="1"/>
          </p:cNvSpPr>
          <p:nvPr/>
        </p:nvSpPr>
        <p:spPr>
          <a:xfrm>
            <a:off x="2428875" y="2800350"/>
            <a:ext cx="333375" cy="819150"/>
          </a:xfrm>
          <a:prstGeom prst="line">
            <a:avLst/>
          </a:prstGeom>
          <a:noFill/>
          <a:ln w="28575">
            <a:solidFill>
              <a:srgbClr val="D7E0E8"/>
            </a:solidFill>
            <a:prstDash val="solid"/>
          </a:ln>
        </p:spPr>
      </p:sp>
      <p:sp>
        <p:nvSpPr>
          <p:cNvPr id="34" name="Rounded Rectangle 33"/>
          <p:cNvSpPr>
            <a:spLocks noGrp="1"/>
          </p:cNvSpPr>
          <p:nvPr/>
        </p:nvSpPr>
        <p:spPr>
          <a:xfrm>
            <a:off x="904875" y="4905375"/>
            <a:ext cx="10382250" cy="876300"/>
          </a:xfrm>
          <a:prstGeom prst="roundRect">
            <a:avLst>
              <a:gd name="adj" fmla="val 760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35" name="Rectangle 34"/>
          <p:cNvSpPr>
            <a:spLocks noGrp="1"/>
          </p:cNvSpPr>
          <p:nvPr/>
        </p:nvSpPr>
        <p:spPr>
          <a:xfrm>
            <a:off x="1123950" y="5095875"/>
            <a:ext cx="1809750" cy="257175"/>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167D8D"/>
                </a:solidFill>
                <a:latin typeface="Arial" panose="020B0604020202020204"/>
                <a:ea typeface="Arial" panose="020B0604020202020204"/>
                <a:cs typeface="Arial" panose="020B0604020202020204"/>
              </a:defRPr>
            </a:pPr>
            <a:r>
              <a:rPr sz="1275" b="1">
                <a:solidFill>
                  <a:srgbClr val="167D8D"/>
                </a:solidFill>
                <a:latin typeface="Arial" panose="020B0604020202020204"/>
                <a:ea typeface="Arial" panose="020B0604020202020204"/>
                <a:cs typeface="Arial" panose="020B0604020202020204"/>
              </a:rPr>
              <a:t>Kết quả chạy lại</a:t>
            </a:r>
            <a:endParaRPr sz="1275" b="1">
              <a:solidFill>
                <a:srgbClr val="167D8D"/>
              </a:solidFill>
              <a:latin typeface="Arial" panose="020B0604020202020204"/>
              <a:ea typeface="Arial" panose="020B0604020202020204"/>
              <a:cs typeface="Arial" panose="020B0604020202020204"/>
            </a:endParaRPr>
          </a:p>
        </p:txBody>
      </p:sp>
      <p:sp>
        <p:nvSpPr>
          <p:cNvPr id="36" name="Rectangle 35"/>
          <p:cNvSpPr>
            <a:spLocks noGrp="1"/>
          </p:cNvSpPr>
          <p:nvPr/>
        </p:nvSpPr>
        <p:spPr>
          <a:xfrm>
            <a:off x="3000375" y="5010150"/>
            <a:ext cx="7953375" cy="476250"/>
          </a:xfrm>
          <a:prstGeom prst="rect">
            <a:avLst/>
          </a:prstGeom>
          <a:noFill/>
          <a:ln w="0">
            <a:noFill/>
            <a:prstDash val="solid"/>
          </a:ln>
        </p:spPr>
        <p:txBody>
          <a:bodyPr wrap="square" lIns="95250" tIns="57150" rIns="95250" bIns="57150" anchor="ctr">
            <a:normAutofit fontScale="90729"/>
          </a:bodyPr>
          <a:lstStyle/>
          <a:p>
            <a:pPr algn="l">
              <a:lnSpc>
                <a:spcPct val="100000"/>
              </a:lnSpc>
              <a:buNone/>
              <a:defRPr sz="1425" b="1">
                <a:solidFill>
                  <a:srgbClr val="102A43"/>
                </a:solidFill>
                <a:latin typeface="Arial" panose="020B0604020202020204"/>
                <a:ea typeface="Arial" panose="020B0604020202020204"/>
                <a:cs typeface="Arial" panose="020B0604020202020204"/>
              </a:defRPr>
            </a:pPr>
            <a:r>
              <a:rPr sz="1425" b="1">
                <a:solidFill>
                  <a:srgbClr val="102A43"/>
                </a:solidFill>
                <a:latin typeface="Arial" panose="020B0604020202020204"/>
                <a:ea typeface="Arial" panose="020B0604020202020204"/>
                <a:cs typeface="Arial" panose="020B0604020202020204"/>
              </a:rPr>
              <a:t>Gradient Boosting đứng đầu: CV RMSE 47.197,84 · Test RMSE 46.839,74 · thời gian train 14,08 giây.</a:t>
            </a:r>
            <a:endParaRPr sz="1425" b="1">
              <a:solidFill>
                <a:srgbClr val="102A43"/>
              </a:solidFill>
              <a:latin typeface="Arial" panose="020B0604020202020204"/>
              <a:ea typeface="Arial" panose="020B0604020202020204"/>
              <a:cs typeface="Arial" panose="020B0604020202020204"/>
            </a:endParaRPr>
          </a:p>
        </p:txBody>
      </p:sp>
      <p:sp>
        <p:nvSpPr>
          <p:cNvPr id="37" name="Straight Connector 36"/>
          <p:cNvSpPr>
            <a:spLocks noGrp="1"/>
          </p:cNvSpPr>
          <p:nvPr/>
        </p:nvSpPr>
        <p:spPr>
          <a:xfrm>
            <a:off x="666750" y="6477000"/>
            <a:ext cx="10858500" cy="0"/>
          </a:xfrm>
          <a:prstGeom prst="line">
            <a:avLst/>
          </a:prstGeom>
          <a:noFill/>
          <a:ln w="9525">
            <a:solidFill>
              <a:srgbClr val="D7E0E8"/>
            </a:solidFill>
            <a:prstDash val="solid"/>
          </a:ln>
        </p:spPr>
      </p:sp>
      <p:sp>
        <p:nvSpPr>
          <p:cNvPr id="38" name="Rectangle 3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ai-models/src/train.py; kết quả chạy --search ngày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9" name="Rectangle 28"/>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07 · EVALUATION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So sánh model</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09</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6191250" cy="4476750"/>
          </a:xfrm>
          <a:prstGeom prst="roundRect">
            <a:avLst>
              <a:gd name="adj" fmla="val 148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graphicFrame>
        <p:nvGraphicFramePr>
          <p:cNvPr id="34" name="Chart"/>
          <p:cNvGraphicFramePr/>
          <p:nvPr/>
        </p:nvGraphicFramePr>
        <p:xfrm>
          <a:off x="714375" y="1762125"/>
          <a:ext cx="5810250" cy="3476625"/>
        </p:xfrm>
        <a:graphic>
          <a:graphicData uri="http://schemas.openxmlformats.org/drawingml/2006/chart">
            <c:chart xmlns:c="http://schemas.openxmlformats.org/drawingml/2006/chart" xmlns:r="http://schemas.openxmlformats.org/officeDocument/2006/relationships" r:id="rId1"/>
          </a:graphicData>
        </a:graphic>
      </p:graphicFrame>
      <p:sp>
        <p:nvSpPr>
          <p:cNvPr id="7" name="Rectangle 6"/>
          <p:cNvSpPr>
            <a:spLocks noGrp="1"/>
          </p:cNvSpPr>
          <p:nvPr/>
        </p:nvSpPr>
        <p:spPr>
          <a:xfrm>
            <a:off x="904875" y="5391150"/>
            <a:ext cx="5429250" cy="257175"/>
          </a:xfrm>
          <a:prstGeom prst="rect">
            <a:avLst/>
          </a:prstGeom>
          <a:noFill/>
          <a:ln w="0">
            <a:noFill/>
            <a:prstDash val="solid"/>
          </a:ln>
        </p:spPr>
        <p:txBody>
          <a:bodyPr wrap="square" lIns="0" tIns="0" rIns="0" bIns="0" anchor="t">
            <a:normAutofit/>
          </a:bodyPr>
          <a:lstStyle/>
          <a:p>
            <a:pPr algn="ctr">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Nguồn số liệu: chạy lại train.py --search</a:t>
            </a:r>
            <a:endParaRPr sz="900" b="0">
              <a:solidFill>
                <a:srgbClr val="5F6C7B"/>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7191375" y="1504950"/>
            <a:ext cx="4286250" cy="304800"/>
          </a:xfrm>
          <a:prstGeom prst="rect">
            <a:avLst/>
          </a:prstGeom>
          <a:noFill/>
          <a:ln w="0">
            <a:noFill/>
            <a:prstDash val="solid"/>
          </a:ln>
        </p:spPr>
        <p:txBody>
          <a:bodyPr wrap="square" lIns="0" tIns="0" rIns="0" bIns="0" anchor="t">
            <a:normAutofit/>
          </a:bodyPr>
          <a:lstStyle/>
          <a:p>
            <a:pPr algn="l">
              <a:lnSpc>
                <a:spcPct val="100000"/>
              </a:lnSpc>
              <a:buNone/>
              <a:defRPr sz="1725" b="1">
                <a:solidFill>
                  <a:srgbClr val="102A43"/>
                </a:solidFill>
                <a:latin typeface="Arial" panose="020B0604020202020204"/>
                <a:ea typeface="Arial" panose="020B0604020202020204"/>
                <a:cs typeface="Arial" panose="020B0604020202020204"/>
              </a:defRPr>
            </a:pPr>
            <a:r>
              <a:rPr sz="1725" b="1">
                <a:solidFill>
                  <a:srgbClr val="102A43"/>
                </a:solidFill>
                <a:latin typeface="Arial" panose="020B0604020202020204"/>
                <a:ea typeface="Arial" panose="020B0604020202020204"/>
                <a:cs typeface="Arial" panose="020B0604020202020204"/>
              </a:rPr>
              <a:t>Bảng kết quả</a:t>
            </a:r>
            <a:endParaRPr sz="1725" b="1">
              <a:solidFill>
                <a:srgbClr val="102A43"/>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91375" y="1952625"/>
            <a:ext cx="2143125"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Model</a:t>
            </a:r>
            <a:endParaRPr sz="975" b="1">
              <a:solidFill>
                <a:srgbClr val="FFFFFF"/>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9334500" y="1952625"/>
            <a:ext cx="104775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r">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MAE</a:t>
            </a:r>
            <a:endParaRPr sz="975" b="1">
              <a:solidFill>
                <a:srgbClr val="FFFFF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10382250" y="1952625"/>
            <a:ext cx="95250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r">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R²</a:t>
            </a:r>
            <a:endParaRPr sz="975" b="1">
              <a:solidFill>
                <a:srgbClr val="FFFFFF"/>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7191375" y="2438400"/>
            <a:ext cx="21431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Gradient Boosting</a:t>
            </a:r>
            <a:endParaRPr sz="1050" b="1">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9334500" y="2438400"/>
            <a:ext cx="1047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30.660</a:t>
            </a:r>
            <a:endParaRPr sz="1050" b="0">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10382250" y="2438400"/>
            <a:ext cx="95250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0,8326</a:t>
            </a:r>
            <a:endParaRPr sz="1050"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7191375" y="2924175"/>
            <a:ext cx="21431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Random Forest</a:t>
            </a:r>
            <a:endParaRPr sz="1050"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9334500" y="2924175"/>
            <a:ext cx="1047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32.334</a:t>
            </a:r>
            <a:endParaRPr sz="1050"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10382250" y="2924175"/>
            <a:ext cx="95250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0,8078</a:t>
            </a:r>
            <a:endParaRPr sz="1050" b="0">
              <a:solidFill>
                <a:srgbClr val="1D2939"/>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7191375" y="3409950"/>
            <a:ext cx="21431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Decision Tree</a:t>
            </a:r>
            <a:endParaRPr sz="1050" b="1">
              <a:solidFill>
                <a:srgbClr val="1D2939"/>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9334500" y="3409950"/>
            <a:ext cx="1047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40.652</a:t>
            </a:r>
            <a:endParaRPr sz="1050" b="0">
              <a:solidFill>
                <a:srgbClr val="1D2939"/>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10382250" y="3409950"/>
            <a:ext cx="95250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0,7004</a:t>
            </a:r>
            <a:endParaRPr sz="1050" b="0">
              <a:solidFill>
                <a:srgbClr val="1D2939"/>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7191375" y="3895725"/>
            <a:ext cx="21431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050" b="1">
                <a:solidFill>
                  <a:srgbClr val="1D2939"/>
                </a:solidFill>
                <a:latin typeface="Arial" panose="020B0604020202020204"/>
                <a:ea typeface="Arial" panose="020B0604020202020204"/>
                <a:cs typeface="Arial" panose="020B0604020202020204"/>
              </a:defRPr>
            </a:pPr>
            <a:r>
              <a:rPr sz="1050" b="1">
                <a:solidFill>
                  <a:srgbClr val="1D2939"/>
                </a:solidFill>
                <a:latin typeface="Arial" panose="020B0604020202020204"/>
                <a:ea typeface="Arial" panose="020B0604020202020204"/>
                <a:cs typeface="Arial" panose="020B0604020202020204"/>
              </a:rPr>
              <a:t>Linear Regression</a:t>
            </a:r>
            <a:endParaRPr sz="1050" b="1">
              <a:solidFill>
                <a:srgbClr val="1D2939"/>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9334500" y="3895725"/>
            <a:ext cx="1047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50.899</a:t>
            </a:r>
            <a:endParaRPr sz="1050" b="0">
              <a:solidFill>
                <a:srgbClr val="1D2939"/>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10382250" y="3895725"/>
            <a:ext cx="95250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r">
              <a:lnSpc>
                <a:spcPct val="100000"/>
              </a:lnSpc>
              <a:buNone/>
              <a:defRPr sz="1050" b="0">
                <a:solidFill>
                  <a:srgbClr val="1D2939"/>
                </a:solidFill>
                <a:latin typeface="Arial" panose="020B0604020202020204"/>
                <a:ea typeface="Arial" panose="020B0604020202020204"/>
                <a:cs typeface="Arial" panose="020B0604020202020204"/>
              </a:defRPr>
            </a:pPr>
            <a:r>
              <a:rPr sz="1050" b="0">
                <a:solidFill>
                  <a:srgbClr val="1D2939"/>
                </a:solidFill>
                <a:latin typeface="Arial" panose="020B0604020202020204"/>
                <a:ea typeface="Arial" panose="020B0604020202020204"/>
                <a:cs typeface="Arial" panose="020B0604020202020204"/>
              </a:rPr>
              <a:t>0,5967</a:t>
            </a:r>
            <a:endParaRPr sz="1050" b="0">
              <a:solidFill>
                <a:srgbClr val="1D2939"/>
              </a:solidFill>
              <a:latin typeface="Arial" panose="020B0604020202020204"/>
              <a:ea typeface="Arial" panose="020B0604020202020204"/>
              <a:cs typeface="Arial" panose="020B0604020202020204"/>
            </a:endParaRPr>
          </a:p>
        </p:txBody>
      </p:sp>
      <p:sp>
        <p:nvSpPr>
          <p:cNvPr id="24" name="Rounded Rectangle 23"/>
          <p:cNvSpPr>
            <a:spLocks noGrp="1"/>
          </p:cNvSpPr>
          <p:nvPr/>
        </p:nvSpPr>
        <p:spPr>
          <a:xfrm>
            <a:off x="7191375" y="4648200"/>
            <a:ext cx="4143375" cy="1257300"/>
          </a:xfrm>
          <a:prstGeom prst="roundRect">
            <a:avLst>
              <a:gd name="adj" fmla="val 5303"/>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25" name="Rectangle 24"/>
          <p:cNvSpPr>
            <a:spLocks noGrp="1"/>
          </p:cNvSpPr>
          <p:nvPr/>
        </p:nvSpPr>
        <p:spPr>
          <a:xfrm>
            <a:off x="7429500" y="4819650"/>
            <a:ext cx="1000125" cy="247650"/>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167D8D"/>
                </a:solidFill>
                <a:latin typeface="Arial" panose="020B0604020202020204"/>
                <a:ea typeface="Arial" panose="020B0604020202020204"/>
                <a:cs typeface="Arial" panose="020B0604020202020204"/>
              </a:defRPr>
            </a:pPr>
            <a:r>
              <a:rPr sz="1125" b="1">
                <a:solidFill>
                  <a:srgbClr val="167D8D"/>
                </a:solidFill>
                <a:latin typeface="Arial" panose="020B0604020202020204"/>
                <a:ea typeface="Arial" panose="020B0604020202020204"/>
                <a:cs typeface="Arial" panose="020B0604020202020204"/>
              </a:rPr>
              <a:t>Kết luận</a:t>
            </a:r>
            <a:endParaRPr sz="1125" b="1">
              <a:solidFill>
                <a:srgbClr val="167D8D"/>
              </a:solidFill>
              <a:latin typeface="Arial" panose="020B0604020202020204"/>
              <a:ea typeface="Arial" panose="020B0604020202020204"/>
              <a:cs typeface="Arial" panose="020B0604020202020204"/>
            </a:endParaRPr>
          </a:p>
        </p:txBody>
      </p:sp>
      <p:sp>
        <p:nvSpPr>
          <p:cNvPr id="26" name="Rectangle 25"/>
          <p:cNvSpPr>
            <a:spLocks noGrp="1"/>
          </p:cNvSpPr>
          <p:nvPr/>
        </p:nvSpPr>
        <p:spPr>
          <a:xfrm>
            <a:off x="7429500" y="5143500"/>
            <a:ext cx="3619500" cy="495300"/>
          </a:xfrm>
          <a:prstGeom prst="rect">
            <a:avLst/>
          </a:prstGeom>
          <a:noFill/>
          <a:ln w="0">
            <a:noFill/>
            <a:prstDash val="solid"/>
          </a:ln>
        </p:spPr>
        <p:txBody>
          <a:bodyPr wrap="square" lIns="0" tIns="0" rIns="0" bIns="0" anchor="ctr">
            <a:normAutofit/>
          </a:bodyPr>
          <a:lstStyle/>
          <a:p>
            <a:pPr algn="l">
              <a:lnSpc>
                <a:spcPct val="100000"/>
              </a:lnSpc>
              <a:buNone/>
              <a:defRPr sz="1350" b="1">
                <a:solidFill>
                  <a:srgbClr val="102A43"/>
                </a:solidFill>
                <a:latin typeface="Arial" panose="020B0604020202020204"/>
                <a:ea typeface="Arial" panose="020B0604020202020204"/>
                <a:cs typeface="Arial" panose="020B0604020202020204"/>
              </a:defRPr>
            </a:pPr>
            <a:r>
              <a:rPr sz="1350" b="1">
                <a:solidFill>
                  <a:srgbClr val="102A43"/>
                </a:solidFill>
                <a:latin typeface="Arial" panose="020B0604020202020204"/>
                <a:ea typeface="Arial" panose="020B0604020202020204"/>
                <a:cs typeface="Arial" panose="020B0604020202020204"/>
              </a:rPr>
              <a:t>Gradient Boosting có RMSE thấp nhất và R² cao nhất trong lần chạy lại.</a:t>
            </a:r>
            <a:endParaRPr sz="1350" b="1">
              <a:solidFill>
                <a:srgbClr val="102A43"/>
              </a:solidFill>
              <a:latin typeface="Arial" panose="020B0604020202020204"/>
              <a:ea typeface="Arial" panose="020B0604020202020204"/>
              <a:cs typeface="Arial" panose="020B0604020202020204"/>
            </a:endParaRPr>
          </a:p>
        </p:txBody>
      </p:sp>
      <p:sp>
        <p:nvSpPr>
          <p:cNvPr id="27" name="Straight Connector 26"/>
          <p:cNvSpPr>
            <a:spLocks noGrp="1"/>
          </p:cNvSpPr>
          <p:nvPr/>
        </p:nvSpPr>
        <p:spPr>
          <a:xfrm>
            <a:off x="666750" y="6477000"/>
            <a:ext cx="10858500" cy="0"/>
          </a:xfrm>
          <a:prstGeom prst="line">
            <a:avLst/>
          </a:prstGeom>
          <a:noFill/>
          <a:ln w="9525">
            <a:solidFill>
              <a:srgbClr val="D7E0E8"/>
            </a:solidFill>
            <a:prstDash val="solid"/>
          </a:ln>
        </p:spPr>
      </p:sp>
      <p:sp>
        <p:nvSpPr>
          <p:cNvPr id="28" name="Rectangle 2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log chạy ai-models/src/train.py --search ngày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1" name="Rectangle 30"/>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08 · SELECTED ARTIFACT</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Model cuối cùng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10</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1428750"/>
            <a:ext cx="6191250" cy="4476750"/>
          </a:xfrm>
          <a:prstGeom prst="roundRect">
            <a:avLst>
              <a:gd name="adj" fmla="val 1489"/>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742950" y="1600200"/>
            <a:ext cx="5619750" cy="295275"/>
          </a:xfrm>
          <a:prstGeom prst="rect">
            <a:avLst/>
          </a:prstGeom>
          <a:noFill/>
          <a:ln w="0">
            <a:noFill/>
            <a:prstDash val="solid"/>
          </a:ln>
        </p:spPr>
        <p:txBody>
          <a:bodyPr wrap="square" lIns="0" tIns="0" rIns="0" bIns="0" anchor="t">
            <a:normAutofit/>
          </a:bodyPr>
          <a:lstStyle/>
          <a:p>
            <a:pPr algn="l">
              <a:lnSpc>
                <a:spcPct val="100000"/>
              </a:lnSpc>
              <a:buNone/>
              <a:defRPr sz="1575" b="1">
                <a:solidFill>
                  <a:srgbClr val="102A43"/>
                </a:solidFill>
                <a:latin typeface="Arial" panose="020B0604020202020204"/>
                <a:ea typeface="Arial" panose="020B0604020202020204"/>
                <a:cs typeface="Arial" panose="020B0604020202020204"/>
              </a:defRPr>
            </a:pPr>
            <a:r>
              <a:rPr sz="1575" b="1">
                <a:solidFill>
                  <a:srgbClr val="102A43"/>
                </a:solidFill>
                <a:latin typeface="Arial" panose="020B0604020202020204"/>
                <a:ea typeface="Arial" panose="020B0604020202020204"/>
                <a:cs typeface="Arial" panose="020B0604020202020204"/>
              </a:rPr>
              <a:t>Phân tích residual trong notebook</a:t>
            </a:r>
            <a:endParaRPr sz="1575" b="1">
              <a:solidFill>
                <a:srgbClr val="102A43"/>
              </a:solidFill>
              <a:latin typeface="Arial" panose="020B0604020202020204"/>
              <a:ea typeface="Arial" panose="020B0604020202020204"/>
              <a:cs typeface="Arial" panose="020B0604020202020204"/>
            </a:endParaRPr>
          </a:p>
        </p:txBody>
      </p:sp>
      <p:pic>
        <p:nvPicPr>
          <p:cNvPr id="37" name="Picture 36"/>
          <p:cNvPicPr>
            <a:picLocks noChangeAspect="1"/>
          </p:cNvPicPr>
          <p:nvPr/>
        </p:nvPicPr>
        <p:blipFill>
          <a:blip r:embed="rId1"/>
          <a:stretch>
            <a:fillRect/>
          </a:stretch>
        </p:blipFill>
        <p:spPr>
          <a:xfrm>
            <a:off x="1268016" y="1952625"/>
            <a:ext cx="4702969" cy="3524250"/>
          </a:xfrm>
          <a:prstGeom prst="roundRect">
            <a:avLst>
              <a:gd name="adj" fmla="val 1622"/>
            </a:avLst>
          </a:prstGeom>
        </p:spPr>
      </p:pic>
      <p:sp>
        <p:nvSpPr>
          <p:cNvPr id="8" name="Rectangle 7"/>
          <p:cNvSpPr>
            <a:spLocks noGrp="1"/>
          </p:cNvSpPr>
          <p:nvPr/>
        </p:nvSpPr>
        <p:spPr>
          <a:xfrm>
            <a:off x="904875" y="5524500"/>
            <a:ext cx="5429250" cy="209550"/>
          </a:xfrm>
          <a:prstGeom prst="rect">
            <a:avLst/>
          </a:prstGeom>
          <a:noFill/>
          <a:ln w="0">
            <a:noFill/>
            <a:prstDash val="solid"/>
          </a:ln>
        </p:spPr>
        <p:txBody>
          <a:bodyPr wrap="square" lIns="0" tIns="0" rIns="0" bIns="0" anchor="t">
            <a:normAutofit/>
          </a:bodyPr>
          <a:lstStyle/>
          <a:p>
            <a:pPr algn="ctr">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Hình residual là output thực tế trong notebook.</a:t>
            </a:r>
            <a:endParaRPr sz="900" b="0">
              <a:solidFill>
                <a:srgbClr val="5F6C7B"/>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91375" y="1504950"/>
            <a:ext cx="4333875" cy="400050"/>
          </a:xfrm>
          <a:prstGeom prst="rect">
            <a:avLst/>
          </a:prstGeom>
          <a:noFill/>
          <a:ln w="0">
            <a:noFill/>
            <a:prstDash val="solid"/>
          </a:ln>
        </p:spPr>
        <p:txBody>
          <a:bodyPr wrap="square" lIns="0" tIns="0" rIns="0" bIns="0" anchor="t">
            <a:normAutofit/>
          </a:bodyPr>
          <a:lstStyle/>
          <a:p>
            <a:pPr algn="l">
              <a:lnSpc>
                <a:spcPct val="100000"/>
              </a:lnSpc>
              <a:buNone/>
              <a:defRPr sz="2100" b="1">
                <a:solidFill>
                  <a:srgbClr val="102A43"/>
                </a:solidFill>
                <a:latin typeface="Arial" panose="020B0604020202020204"/>
                <a:ea typeface="Arial" panose="020B0604020202020204"/>
                <a:cs typeface="Arial" panose="020B0604020202020204"/>
              </a:defRPr>
            </a:pPr>
            <a:r>
              <a:rPr sz="2100" b="1">
                <a:solidFill>
                  <a:srgbClr val="102A43"/>
                </a:solidFill>
                <a:latin typeface="Arial" panose="020B0604020202020204"/>
                <a:ea typeface="Arial" panose="020B0604020202020204"/>
                <a:cs typeface="Arial" panose="020B0604020202020204"/>
              </a:rPr>
              <a:t>GradientBoostingRegressor</a:t>
            </a:r>
            <a:endParaRPr sz="2100" b="1">
              <a:solidFill>
                <a:srgbClr val="102A43"/>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7191375" y="2028825"/>
            <a:ext cx="1190625" cy="266700"/>
          </a:xfrm>
          <a:prstGeom prst="roundRect">
            <a:avLst>
              <a:gd name="adj" fmla="val 50000"/>
            </a:avLst>
          </a:prstGeom>
          <a:solidFill>
            <a:srgbClr val="EAF6F5"/>
          </a:solidFill>
          <a:ln w="9525">
            <a:solidFill>
              <a:srgbClr val="EAF6F5"/>
            </a:solidFill>
            <a:prstDash val="solid"/>
          </a:ln>
        </p:spPr>
        <p:txBody>
          <a:bodyPr wrap="square" lIns="76200" tIns="19050" rIns="76200" bIns="19050" anchor="ctr">
            <a:normAutofit/>
          </a:bodyPr>
          <a:lstStyle/>
          <a:p>
            <a:pPr algn="ctr">
              <a:lnSpc>
                <a:spcPct val="100000"/>
              </a:lnSpc>
              <a:buNone/>
              <a:defRPr sz="900" b="1">
                <a:solidFill>
                  <a:srgbClr val="167D8D"/>
                </a:solidFill>
                <a:latin typeface="Arial" panose="020B0604020202020204"/>
                <a:ea typeface="Arial" panose="020B0604020202020204"/>
                <a:cs typeface="Arial" panose="020B0604020202020204"/>
              </a:defRPr>
            </a:pPr>
            <a:r>
              <a:rPr sz="900" b="1">
                <a:solidFill>
                  <a:srgbClr val="167D8D"/>
                </a:solidFill>
                <a:latin typeface="Arial" panose="020B0604020202020204"/>
                <a:ea typeface="Arial" panose="020B0604020202020204"/>
                <a:cs typeface="Arial" panose="020B0604020202020204"/>
              </a:rPr>
              <a:t>version 1.0.0</a:t>
            </a:r>
            <a:endParaRPr sz="900" b="1">
              <a:solidFill>
                <a:srgbClr val="167D8D"/>
              </a:solidFill>
              <a:latin typeface="Arial" panose="020B0604020202020204"/>
              <a:ea typeface="Arial" panose="020B0604020202020204"/>
              <a:cs typeface="Arial" panose="020B0604020202020204"/>
            </a:endParaRPr>
          </a:p>
        </p:txBody>
      </p:sp>
      <p:sp>
        <p:nvSpPr>
          <p:cNvPr id="11" name="Rounded Rectangle 10"/>
          <p:cNvSpPr>
            <a:spLocks noGrp="1"/>
          </p:cNvSpPr>
          <p:nvPr/>
        </p:nvSpPr>
        <p:spPr>
          <a:xfrm>
            <a:off x="8524875" y="2028825"/>
            <a:ext cx="1095375" cy="266700"/>
          </a:xfrm>
          <a:prstGeom prst="roundRect">
            <a:avLst>
              <a:gd name="adj" fmla="val 50000"/>
            </a:avLst>
          </a:prstGeom>
          <a:solidFill>
            <a:srgbClr val="EAF1F8"/>
          </a:solidFill>
          <a:ln w="9525">
            <a:solidFill>
              <a:srgbClr val="EAF1F8"/>
            </a:solidFill>
            <a:prstDash val="solid"/>
          </a:ln>
        </p:spPr>
        <p:txBody>
          <a:bodyPr wrap="square" lIns="76200" tIns="19050" rIns="76200" bIns="19050" anchor="ctr">
            <a:normAutofit/>
          </a:bodyPr>
          <a:lstStyle/>
          <a:p>
            <a:pPr algn="ctr">
              <a:lnSpc>
                <a:spcPct val="100000"/>
              </a:lnSpc>
              <a:buNone/>
              <a:defRPr sz="900" b="1">
                <a:solidFill>
                  <a:srgbClr val="173F5F"/>
                </a:solidFill>
                <a:latin typeface="Arial" panose="020B0604020202020204"/>
                <a:ea typeface="Arial" panose="020B0604020202020204"/>
                <a:cs typeface="Arial" panose="020B0604020202020204"/>
              </a:defRPr>
            </a:pPr>
            <a:r>
              <a:rPr sz="900" b="1">
                <a:solidFill>
                  <a:srgbClr val="173F5F"/>
                </a:solidFill>
                <a:latin typeface="Arial" panose="020B0604020202020204"/>
                <a:ea typeface="Arial" panose="020B0604020202020204"/>
                <a:cs typeface="Arial" panose="020B0604020202020204"/>
              </a:rPr>
              <a:t>model.joblib</a:t>
            </a:r>
            <a:endParaRPr sz="900" b="1">
              <a:solidFill>
                <a:srgbClr val="173F5F"/>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9763125" y="2028825"/>
            <a:ext cx="1000125" cy="266700"/>
          </a:xfrm>
          <a:prstGeom prst="roundRect">
            <a:avLst>
              <a:gd name="adj" fmla="val 50000"/>
            </a:avLst>
          </a:prstGeom>
          <a:solidFill>
            <a:srgbClr val="FCEDE8"/>
          </a:solidFill>
          <a:ln w="9525">
            <a:solidFill>
              <a:srgbClr val="FCEDE8"/>
            </a:solidFill>
            <a:prstDash val="solid"/>
          </a:ln>
        </p:spPr>
        <p:txBody>
          <a:bodyPr wrap="square" lIns="76200" tIns="19050" rIns="76200" bIns="19050" anchor="ctr">
            <a:normAutofit/>
          </a:bodyPr>
          <a:lstStyle/>
          <a:p>
            <a:pPr algn="ctr">
              <a:lnSpc>
                <a:spcPct val="100000"/>
              </a:lnSpc>
              <a:buNone/>
              <a:defRPr sz="900" b="1">
                <a:solidFill>
                  <a:srgbClr val="E76F51"/>
                </a:solidFill>
                <a:latin typeface="Arial" panose="020B0604020202020204"/>
                <a:ea typeface="Arial" panose="020B0604020202020204"/>
                <a:cs typeface="Arial" panose="020B0604020202020204"/>
              </a:defRPr>
            </a:pPr>
            <a:r>
              <a:rPr sz="900" b="1">
                <a:solidFill>
                  <a:srgbClr val="E76F51"/>
                </a:solidFill>
                <a:latin typeface="Arial" panose="020B0604020202020204"/>
                <a:ea typeface="Arial" panose="020B0604020202020204"/>
                <a:cs typeface="Arial" panose="020B0604020202020204"/>
              </a:rPr>
              <a:t>~1,03 MiB</a:t>
            </a:r>
            <a:endParaRPr sz="900" b="1">
              <a:solidFill>
                <a:srgbClr val="E76F51"/>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719137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ectangle 13"/>
          <p:cNvSpPr>
            <a:spLocks noGrp="1"/>
          </p:cNvSpPr>
          <p:nvPr/>
        </p:nvSpPr>
        <p:spPr>
          <a:xfrm>
            <a:off x="7191375" y="2571750"/>
            <a:ext cx="57150" cy="1000125"/>
          </a:xfrm>
          <a:prstGeom prst="rect">
            <a:avLst/>
          </a:prstGeom>
          <a:solidFill>
            <a:srgbClr val="167D8D"/>
          </a:solidFill>
          <a:ln w="0">
            <a:noFill/>
            <a:prstDash val="solid"/>
          </a:ln>
        </p:spPr>
      </p:sp>
      <p:sp>
        <p:nvSpPr>
          <p:cNvPr id="15" name="Rectangle 14"/>
          <p:cNvSpPr>
            <a:spLocks noGrp="1"/>
          </p:cNvSpPr>
          <p:nvPr/>
        </p:nvSpPr>
        <p:spPr>
          <a:xfrm>
            <a:off x="736282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46.795</a:t>
            </a:r>
            <a:endParaRPr sz="22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736282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RMSE</a:t>
            </a:r>
            <a:endParaRPr sz="1125" b="1">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862012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ectangle 17"/>
          <p:cNvSpPr>
            <a:spLocks noGrp="1"/>
          </p:cNvSpPr>
          <p:nvPr/>
        </p:nvSpPr>
        <p:spPr>
          <a:xfrm>
            <a:off x="8620125" y="2571750"/>
            <a:ext cx="57150" cy="1000125"/>
          </a:xfrm>
          <a:prstGeom prst="rect">
            <a:avLst/>
          </a:prstGeom>
          <a:solidFill>
            <a:srgbClr val="173F5F"/>
          </a:solidFill>
          <a:ln w="0">
            <a:noFill/>
            <a:prstDash val="solid"/>
          </a:ln>
        </p:spPr>
      </p:sp>
      <p:sp>
        <p:nvSpPr>
          <p:cNvPr id="19" name="Rectangle 18"/>
          <p:cNvSpPr>
            <a:spLocks noGrp="1"/>
          </p:cNvSpPr>
          <p:nvPr/>
        </p:nvSpPr>
        <p:spPr>
          <a:xfrm>
            <a:off x="879157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30.649</a:t>
            </a:r>
            <a:endParaRPr sz="225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879157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MAE</a:t>
            </a:r>
            <a:endParaRPr sz="1125" b="1">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10048875" y="2571750"/>
            <a:ext cx="1285875" cy="1000125"/>
          </a:xfrm>
          <a:prstGeom prst="roundRect">
            <a:avLst>
              <a:gd name="adj" fmla="val 6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10048875" y="2571750"/>
            <a:ext cx="57150" cy="1000125"/>
          </a:xfrm>
          <a:prstGeom prst="rect">
            <a:avLst/>
          </a:prstGeom>
          <a:solidFill>
            <a:srgbClr val="E9C46A"/>
          </a:solidFill>
          <a:ln w="0">
            <a:noFill/>
            <a:prstDash val="solid"/>
          </a:ln>
        </p:spPr>
      </p:sp>
      <p:sp>
        <p:nvSpPr>
          <p:cNvPr id="23" name="Rectangle 22"/>
          <p:cNvSpPr>
            <a:spLocks noGrp="1"/>
          </p:cNvSpPr>
          <p:nvPr/>
        </p:nvSpPr>
        <p:spPr>
          <a:xfrm>
            <a:off x="10220325" y="2686050"/>
            <a:ext cx="1000125"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0,8329</a:t>
            </a:r>
            <a:endParaRPr sz="225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10220325" y="3114675"/>
            <a:ext cx="1000125"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R²</a:t>
            </a:r>
            <a:endParaRPr sz="1125" b="1">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7191375" y="3905250"/>
            <a:ext cx="4143375" cy="1428750"/>
          </a:xfrm>
          <a:prstGeom prst="roundRect">
            <a:avLst>
              <a:gd name="adj" fmla="val 4667"/>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7429500" y="4095750"/>
            <a:ext cx="1714500" cy="238125"/>
          </a:xfrm>
          <a:prstGeom prst="rect">
            <a:avLst/>
          </a:prstGeom>
          <a:noFill/>
          <a:ln w="0">
            <a:noFill/>
            <a:prstDash val="solid"/>
          </a:ln>
        </p:spPr>
        <p:txBody>
          <a:bodyPr wrap="square" lIns="0" tIns="0" rIns="0" bIns="0" anchor="t">
            <a:normAutofit/>
          </a:bodyPr>
          <a:lstStyle/>
          <a:p>
            <a:pPr algn="l">
              <a:lnSpc>
                <a:spcPct val="100000"/>
              </a:lnSpc>
              <a:buNone/>
              <a:defRPr sz="1200" b="1">
                <a:solidFill>
                  <a:srgbClr val="167D8D"/>
                </a:solidFill>
                <a:latin typeface="Arial" panose="020B0604020202020204"/>
                <a:ea typeface="Arial" panose="020B0604020202020204"/>
                <a:cs typeface="Arial" panose="020B0604020202020204"/>
              </a:defRPr>
            </a:pPr>
            <a:r>
              <a:rPr sz="1200" b="1">
                <a:solidFill>
                  <a:srgbClr val="167D8D"/>
                </a:solidFill>
                <a:latin typeface="Arial" panose="020B0604020202020204"/>
                <a:ea typeface="Arial" panose="020B0604020202020204"/>
                <a:cs typeface="Arial" panose="020B0604020202020204"/>
              </a:rPr>
              <a:t>Hyperparameters</a:t>
            </a:r>
            <a:endParaRPr sz="1200" b="1">
              <a:solidFill>
                <a:srgbClr val="167D8D"/>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7429500" y="4438650"/>
            <a:ext cx="3429000" cy="781050"/>
          </a:xfrm>
          <a:prstGeom prst="rect">
            <a:avLst/>
          </a:prstGeom>
          <a:noFill/>
          <a:ln w="0">
            <a:noFill/>
            <a:prstDash val="solid"/>
          </a:ln>
        </p:spPr>
        <p:txBody>
          <a:bodyPr wrap="square" lIns="0" tIns="0" rIns="0" bIns="0" anchor="t">
            <a:normAutofit/>
          </a:bodyPr>
          <a:lstStyle/>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n_estimators = 200</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max_depth = 7</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learning_rate = 0,05</a:t>
            </a:r>
            <a:endParaRPr sz="1200" b="0">
              <a:solidFill>
                <a:srgbClr val="1D2939"/>
              </a:solidFill>
              <a:latin typeface="Arial" panose="020B0604020202020204"/>
              <a:ea typeface="Arial" panose="020B0604020202020204"/>
              <a:cs typeface="Arial" panose="020B0604020202020204"/>
            </a:endParaRPr>
          </a:p>
          <a:p>
            <a:pPr algn="l">
              <a:lnSpc>
                <a:spcPct val="100000"/>
              </a:lnSpc>
              <a:buNone/>
              <a:defRPr sz="1200" b="0">
                <a:solidFill>
                  <a:srgbClr val="1D2939"/>
                </a:solidFill>
                <a:latin typeface="Arial" panose="020B0604020202020204"/>
                <a:ea typeface="Arial" panose="020B0604020202020204"/>
                <a:cs typeface="Arial" panose="020B0604020202020204"/>
              </a:defRPr>
            </a:pPr>
            <a:r>
              <a:rPr sz="1200" b="0">
                <a:solidFill>
                  <a:srgbClr val="1D2939"/>
                </a:solidFill>
                <a:latin typeface="Arial" panose="020B0604020202020204"/>
                <a:ea typeface="Arial" panose="020B0604020202020204"/>
                <a:cs typeface="Arial" panose="020B0604020202020204"/>
              </a:rPr>
              <a:t>random_state = 42</a:t>
            </a:r>
            <a:endParaRPr sz="1200" b="0">
              <a:solidFill>
                <a:srgbClr val="1D2939"/>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7381875" y="5476875"/>
            <a:ext cx="3619500" cy="219075"/>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Metadata artifact: 24/09/2026</a:t>
            </a:r>
            <a:endParaRPr sz="900" b="0">
              <a:solidFill>
                <a:srgbClr val="5F6C7B"/>
              </a:solidFill>
              <a:latin typeface="Arial" panose="020B0604020202020204"/>
              <a:ea typeface="Arial" panose="020B0604020202020204"/>
              <a:cs typeface="Arial" panose="020B0604020202020204"/>
            </a:endParaRPr>
          </a:p>
        </p:txBody>
      </p:sp>
      <p:sp>
        <p:nvSpPr>
          <p:cNvPr id="29" name="Straight Connector 28"/>
          <p:cNvSpPr>
            <a:spLocks noGrp="1"/>
          </p:cNvSpPr>
          <p:nvPr/>
        </p:nvSpPr>
        <p:spPr>
          <a:xfrm>
            <a:off x="666750" y="6477000"/>
            <a:ext cx="10858500" cy="0"/>
          </a:xfrm>
          <a:prstGeom prst="line">
            <a:avLst/>
          </a:prstGeom>
          <a:noFill/>
          <a:ln w="9525">
            <a:solidFill>
              <a:srgbClr val="D7E0E8"/>
            </a:solidFill>
            <a:prstDash val="solid"/>
          </a:ln>
        </p:spPr>
      </p:sp>
      <p:sp>
        <p:nvSpPr>
          <p:cNvPr id="30" name="Rectangle 29"/>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ai-models/models/model.joblib; metadata.json; ML_Project.ipynb</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5" name="Rectangle 34"/>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09 · SYSTEM DESIGN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Kiến trúc hệ thống</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11</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523875" y="2095500"/>
            <a:ext cx="2286000" cy="2000250"/>
          </a:xfrm>
          <a:prstGeom prst="roundRect">
            <a:avLst>
              <a:gd name="adj" fmla="val 3333"/>
            </a:avLst>
          </a:prstGeom>
          <a:solidFill>
            <a:srgbClr val="FFFFFF"/>
          </a:solidFill>
          <a:ln w="9525">
            <a:solidFill>
              <a:srgbClr val="173F5F"/>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523875" y="2095500"/>
            <a:ext cx="2286000" cy="95250"/>
          </a:xfrm>
          <a:prstGeom prst="rect">
            <a:avLst/>
          </a:prstGeom>
          <a:solidFill>
            <a:srgbClr val="173F5F"/>
          </a:solidFill>
          <a:ln w="0">
            <a:noFill/>
            <a:prstDash val="solid"/>
          </a:ln>
        </p:spPr>
      </p:sp>
      <p:sp>
        <p:nvSpPr>
          <p:cNvPr id="7" name="Rectangle 6"/>
          <p:cNvSpPr>
            <a:spLocks noGrp="1"/>
          </p:cNvSpPr>
          <p:nvPr/>
        </p:nvSpPr>
        <p:spPr>
          <a:xfrm>
            <a:off x="695325"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Frontend</a:t>
            </a:r>
            <a:endParaRPr sz="1800" b="1">
              <a:solidFill>
                <a:srgbClr val="102A43"/>
              </a:solidFill>
              <a:latin typeface="Arial" panose="020B0604020202020204"/>
              <a:ea typeface="Arial" panose="020B0604020202020204"/>
              <a:cs typeface="Arial" panose="020B0604020202020204"/>
            </a:endParaRPr>
          </a:p>
        </p:txBody>
      </p:sp>
      <p:sp>
        <p:nvSpPr>
          <p:cNvPr id="8" name="Rounded Rectangle 7"/>
          <p:cNvSpPr>
            <a:spLocks noGrp="1"/>
          </p:cNvSpPr>
          <p:nvPr/>
        </p:nvSpPr>
        <p:spPr>
          <a:xfrm>
            <a:off x="1047750" y="2952750"/>
            <a:ext cx="1238250" cy="400050"/>
          </a:xfrm>
          <a:prstGeom prst="roundRect">
            <a:avLst>
              <a:gd name="adj" fmla="val 50000"/>
            </a:avLst>
          </a:prstGeom>
          <a:solidFill>
            <a:srgbClr val="EAF1F8"/>
          </a:solidFill>
          <a:ln w="9525">
            <a:solidFill>
              <a:srgbClr val="EAF1F8"/>
            </a:solidFill>
            <a:prstDash val="solid"/>
          </a:ln>
        </p:spPr>
        <p:txBody>
          <a:bodyPr wrap="square" lIns="0" tIns="0" rIns="0" bIns="0" anchor="ctr">
            <a:normAutofit/>
          </a:bodyPr>
          <a:lstStyle/>
          <a:p>
            <a:pPr algn="ctr">
              <a:lnSpc>
                <a:spcPct val="100000"/>
              </a:lnSpc>
              <a:buNone/>
              <a:defRPr sz="1725" b="1">
                <a:solidFill>
                  <a:srgbClr val="173F5F"/>
                </a:solidFill>
                <a:latin typeface="Arial" panose="020B0604020202020204"/>
                <a:ea typeface="Arial" panose="020B0604020202020204"/>
                <a:cs typeface="Arial" panose="020B0604020202020204"/>
              </a:defRPr>
            </a:pPr>
            <a:r>
              <a:rPr sz="1725" b="1">
                <a:solidFill>
                  <a:srgbClr val="173F5F"/>
                </a:solidFill>
                <a:latin typeface="Arial" panose="020B0604020202020204"/>
                <a:ea typeface="Arial" panose="020B0604020202020204"/>
                <a:cs typeface="Arial" panose="020B0604020202020204"/>
              </a:rPr>
              <a:t>:3000</a:t>
            </a:r>
            <a:endParaRPr sz="1725" b="1">
              <a:solidFill>
                <a:srgbClr val="173F5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714375"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 + Jinja</a:t>
            </a:r>
            <a:endParaRPr sz="1125"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3333750" y="2095500"/>
            <a:ext cx="2286000" cy="2000250"/>
          </a:xfrm>
          <a:prstGeom prst="roundRect">
            <a:avLst>
              <a:gd name="adj" fmla="val 3333"/>
            </a:avLst>
          </a:prstGeom>
          <a:solidFill>
            <a:srgbClr val="FFFFFF"/>
          </a:solidFill>
          <a:ln w="9525">
            <a:solidFill>
              <a:srgbClr val="167D8D"/>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3333750" y="2095500"/>
            <a:ext cx="2286000" cy="95250"/>
          </a:xfrm>
          <a:prstGeom prst="rect">
            <a:avLst/>
          </a:prstGeom>
          <a:solidFill>
            <a:srgbClr val="167D8D"/>
          </a:solidFill>
          <a:ln w="0">
            <a:noFill/>
            <a:prstDash val="solid"/>
          </a:ln>
        </p:spPr>
      </p:sp>
      <p:sp>
        <p:nvSpPr>
          <p:cNvPr id="12" name="Rectangle 11"/>
          <p:cNvSpPr>
            <a:spLocks noGrp="1"/>
          </p:cNvSpPr>
          <p:nvPr/>
        </p:nvSpPr>
        <p:spPr>
          <a:xfrm>
            <a:off x="3505200"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Backend</a:t>
            </a:r>
            <a:endParaRPr sz="1800" b="1">
              <a:solidFill>
                <a:srgbClr val="102A43"/>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3857625" y="2952750"/>
            <a:ext cx="1238250" cy="400050"/>
          </a:xfrm>
          <a:prstGeom prst="roundRect">
            <a:avLst>
              <a:gd name="adj" fmla="val 50000"/>
            </a:avLst>
          </a:prstGeom>
          <a:solidFill>
            <a:srgbClr val="EAF6F5"/>
          </a:solidFill>
          <a:ln w="9525">
            <a:solidFill>
              <a:srgbClr val="EAF6F5"/>
            </a:solidFill>
            <a:prstDash val="solid"/>
          </a:ln>
        </p:spPr>
        <p:txBody>
          <a:bodyPr wrap="square" lIns="0" tIns="0" rIns="0" bIns="0" anchor="ctr">
            <a:normAutofit/>
          </a:bodyPr>
          <a:lstStyle/>
          <a:p>
            <a:pPr algn="ctr">
              <a:lnSpc>
                <a:spcPct val="100000"/>
              </a:lnSpc>
              <a:buNone/>
              <a:defRPr sz="1725" b="1">
                <a:solidFill>
                  <a:srgbClr val="167D8D"/>
                </a:solidFill>
                <a:latin typeface="Arial" panose="020B0604020202020204"/>
                <a:ea typeface="Arial" panose="020B0604020202020204"/>
                <a:cs typeface="Arial" panose="020B0604020202020204"/>
              </a:defRPr>
            </a:pPr>
            <a:r>
              <a:rPr sz="1725" b="1">
                <a:solidFill>
                  <a:srgbClr val="167D8D"/>
                </a:solidFill>
                <a:latin typeface="Arial" panose="020B0604020202020204"/>
                <a:ea typeface="Arial" panose="020B0604020202020204"/>
                <a:cs typeface="Arial" panose="020B0604020202020204"/>
              </a:rPr>
              <a:t>:8000</a:t>
            </a:r>
            <a:endParaRPr sz="1725" b="1">
              <a:solidFill>
                <a:srgbClr val="167D8D"/>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3524250"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a:t>
            </a:r>
            <a:endParaRPr sz="1125"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6143625" y="2095500"/>
            <a:ext cx="2286000" cy="2000250"/>
          </a:xfrm>
          <a:prstGeom prst="roundRect">
            <a:avLst>
              <a:gd name="adj" fmla="val 3333"/>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6143625" y="2095500"/>
            <a:ext cx="2286000" cy="95250"/>
          </a:xfrm>
          <a:prstGeom prst="rect">
            <a:avLst/>
          </a:prstGeom>
          <a:solidFill>
            <a:srgbClr val="E9C46A"/>
          </a:solidFill>
          <a:ln w="0">
            <a:noFill/>
            <a:prstDash val="solid"/>
          </a:ln>
        </p:spPr>
      </p:sp>
      <p:sp>
        <p:nvSpPr>
          <p:cNvPr id="17" name="Rectangle 16"/>
          <p:cNvSpPr>
            <a:spLocks noGrp="1"/>
          </p:cNvSpPr>
          <p:nvPr/>
        </p:nvSpPr>
        <p:spPr>
          <a:xfrm>
            <a:off x="6315075"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AI Service</a:t>
            </a:r>
            <a:endParaRPr sz="1800" b="1">
              <a:solidFill>
                <a:srgbClr val="102A43"/>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6667500" y="2952750"/>
            <a:ext cx="1238250" cy="400050"/>
          </a:xfrm>
          <a:prstGeom prst="roundRect">
            <a:avLst>
              <a:gd name="adj" fmla="val 50000"/>
            </a:avLst>
          </a:prstGeom>
          <a:solidFill>
            <a:srgbClr val="FFF7DF"/>
          </a:solidFill>
          <a:ln w="9525">
            <a:solidFill>
              <a:srgbClr val="FFF7DF"/>
            </a:solidFill>
            <a:prstDash val="solid"/>
          </a:ln>
        </p:spPr>
        <p:txBody>
          <a:bodyPr wrap="square" lIns="0" tIns="0" rIns="0" bIns="0" anchor="ctr">
            <a:normAutofit/>
          </a:bodyPr>
          <a:lstStyle/>
          <a:p>
            <a:pPr algn="ctr">
              <a:lnSpc>
                <a:spcPct val="100000"/>
              </a:lnSpc>
              <a:buNone/>
              <a:defRPr sz="1725" b="1">
                <a:solidFill>
                  <a:srgbClr val="E9C46A"/>
                </a:solidFill>
                <a:latin typeface="Arial" panose="020B0604020202020204"/>
                <a:ea typeface="Arial" panose="020B0604020202020204"/>
                <a:cs typeface="Arial" panose="020B0604020202020204"/>
              </a:defRPr>
            </a:pPr>
            <a:r>
              <a:rPr sz="1725" b="1">
                <a:solidFill>
                  <a:srgbClr val="E9C46A"/>
                </a:solidFill>
                <a:latin typeface="Arial" panose="020B0604020202020204"/>
                <a:ea typeface="Arial" panose="020B0604020202020204"/>
                <a:cs typeface="Arial" panose="020B0604020202020204"/>
              </a:rPr>
              <a:t>:8001</a:t>
            </a:r>
            <a:endParaRPr sz="1725" b="1">
              <a:solidFill>
                <a:srgbClr val="E9C46A"/>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6334125"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FastAPI + joblib</a:t>
            </a:r>
            <a:endParaRPr sz="1125"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8953500" y="2095500"/>
            <a:ext cx="2286000" cy="2000250"/>
          </a:xfrm>
          <a:prstGeom prst="roundRect">
            <a:avLst>
              <a:gd name="adj" fmla="val 3333"/>
            </a:avLst>
          </a:prstGeom>
          <a:solidFill>
            <a:srgbClr val="FFFFFF"/>
          </a:solidFill>
          <a:ln w="9525">
            <a:solidFill>
              <a:srgbClr val="E76F51"/>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8953500" y="2095500"/>
            <a:ext cx="2286000" cy="95250"/>
          </a:xfrm>
          <a:prstGeom prst="rect">
            <a:avLst/>
          </a:prstGeom>
          <a:solidFill>
            <a:srgbClr val="E76F51"/>
          </a:solidFill>
          <a:ln w="0">
            <a:noFill/>
            <a:prstDash val="solid"/>
          </a:ln>
        </p:spPr>
      </p:sp>
      <p:sp>
        <p:nvSpPr>
          <p:cNvPr id="22" name="Rectangle 21"/>
          <p:cNvSpPr>
            <a:spLocks noGrp="1"/>
          </p:cNvSpPr>
          <p:nvPr/>
        </p:nvSpPr>
        <p:spPr>
          <a:xfrm>
            <a:off x="9124950" y="2400300"/>
            <a:ext cx="1943100" cy="381000"/>
          </a:xfrm>
          <a:prstGeom prst="rect">
            <a:avLst/>
          </a:prstGeom>
          <a:noFill/>
          <a:ln w="0">
            <a:noFill/>
            <a:prstDash val="solid"/>
          </a:ln>
        </p:spPr>
        <p:txBody>
          <a:bodyPr wrap="square" lIns="95250" tIns="57150" rIns="95250" bIns="57150" anchor="ctr">
            <a:normAutofit fontScale="97222"/>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MongoDB</a:t>
            </a:r>
            <a:endParaRPr sz="1800" b="1">
              <a:solidFill>
                <a:srgbClr val="102A43"/>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9477375" y="2952750"/>
            <a:ext cx="1238250" cy="400050"/>
          </a:xfrm>
          <a:prstGeom prst="roundRect">
            <a:avLst>
              <a:gd name="adj" fmla="val 50000"/>
            </a:avLst>
          </a:prstGeom>
          <a:solidFill>
            <a:srgbClr val="FCEDE8"/>
          </a:solidFill>
          <a:ln w="9525">
            <a:solidFill>
              <a:srgbClr val="FCEDE8"/>
            </a:solidFill>
            <a:prstDash val="solid"/>
          </a:ln>
        </p:spPr>
        <p:txBody>
          <a:bodyPr wrap="square" lIns="0" tIns="0" rIns="0" bIns="0" anchor="ctr">
            <a:normAutofit/>
          </a:bodyPr>
          <a:lstStyle/>
          <a:p>
            <a:pPr algn="ctr">
              <a:lnSpc>
                <a:spcPct val="100000"/>
              </a:lnSpc>
              <a:buNone/>
              <a:defRPr sz="1725" b="1">
                <a:solidFill>
                  <a:srgbClr val="E76F51"/>
                </a:solidFill>
                <a:latin typeface="Arial" panose="020B0604020202020204"/>
                <a:ea typeface="Arial" panose="020B0604020202020204"/>
                <a:cs typeface="Arial" panose="020B0604020202020204"/>
              </a:defRPr>
            </a:pPr>
            <a:r>
              <a:rPr sz="1725" b="1">
                <a:solidFill>
                  <a:srgbClr val="E76F51"/>
                </a:solidFill>
                <a:latin typeface="Arial" panose="020B0604020202020204"/>
                <a:ea typeface="Arial" panose="020B0604020202020204"/>
                <a:cs typeface="Arial" panose="020B0604020202020204"/>
              </a:rPr>
              <a:t>:27017</a:t>
            </a:r>
            <a:endParaRPr sz="1725" b="1">
              <a:solidFill>
                <a:srgbClr val="E76F51"/>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9144000" y="3571875"/>
            <a:ext cx="1905000" cy="304800"/>
          </a:xfrm>
          <a:prstGeom prst="rect">
            <a:avLst/>
          </a:prstGeom>
          <a:noFill/>
          <a:ln w="0">
            <a:noFill/>
            <a:prstDash val="solid"/>
          </a:ln>
        </p:spPr>
        <p:txBody>
          <a:bodyPr wrap="square" lIns="95250" tIns="57150" rIns="95250" bIns="57150" anchor="ctr">
            <a:normAutofit/>
          </a:bodyPr>
          <a:lstStyle/>
          <a:p>
            <a:pPr algn="ctr">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Prediction history</a:t>
            </a:r>
            <a:endParaRPr sz="1125" b="0">
              <a:solidFill>
                <a:srgbClr val="5F6C7B"/>
              </a:solidFill>
              <a:latin typeface="Arial" panose="020B0604020202020204"/>
              <a:ea typeface="Arial" panose="020B0604020202020204"/>
              <a:cs typeface="Arial" panose="020B0604020202020204"/>
            </a:endParaRPr>
          </a:p>
        </p:txBody>
      </p:sp>
      <p:sp>
        <p:nvSpPr>
          <p:cNvPr id="25" name="Right Arrow 24"/>
          <p:cNvSpPr>
            <a:spLocks noGrp="1"/>
          </p:cNvSpPr>
          <p:nvPr/>
        </p:nvSpPr>
        <p:spPr>
          <a:xfrm>
            <a:off x="2857500" y="2895600"/>
            <a:ext cx="304800" cy="266700"/>
          </a:xfrm>
          <a:prstGeom prst="rightArrow">
            <a:avLst/>
          </a:prstGeom>
          <a:solidFill>
            <a:srgbClr val="D7E0E8"/>
          </a:solidFill>
          <a:ln w="9525">
            <a:solidFill>
              <a:srgbClr val="D7E0E8"/>
            </a:solidFill>
            <a:prstDash val="solid"/>
          </a:ln>
        </p:spPr>
      </p:sp>
      <p:sp>
        <p:nvSpPr>
          <p:cNvPr id="26" name="Right Arrow 25"/>
          <p:cNvSpPr>
            <a:spLocks noGrp="1"/>
          </p:cNvSpPr>
          <p:nvPr/>
        </p:nvSpPr>
        <p:spPr>
          <a:xfrm>
            <a:off x="5667375" y="2895600"/>
            <a:ext cx="304800" cy="266700"/>
          </a:xfrm>
          <a:prstGeom prst="rightArrow">
            <a:avLst/>
          </a:prstGeom>
          <a:solidFill>
            <a:srgbClr val="D7E0E8"/>
          </a:solidFill>
          <a:ln w="9525">
            <a:solidFill>
              <a:srgbClr val="D7E0E8"/>
            </a:solidFill>
            <a:prstDash val="solid"/>
          </a:ln>
        </p:spPr>
      </p:sp>
      <p:sp>
        <p:nvSpPr>
          <p:cNvPr id="27" name="Right Arrow 26"/>
          <p:cNvSpPr>
            <a:spLocks noGrp="1"/>
          </p:cNvSpPr>
          <p:nvPr/>
        </p:nvSpPr>
        <p:spPr>
          <a:xfrm>
            <a:off x="8477250" y="2895600"/>
            <a:ext cx="304800" cy="266700"/>
          </a:xfrm>
          <a:prstGeom prst="rightArrow">
            <a:avLst/>
          </a:prstGeom>
          <a:solidFill>
            <a:srgbClr val="D7E0E8"/>
          </a:solidFill>
          <a:ln w="9525">
            <a:solidFill>
              <a:srgbClr val="D7E0E8"/>
            </a:solidFill>
            <a:prstDash val="solid"/>
          </a:ln>
        </p:spPr>
      </p:sp>
      <p:sp>
        <p:nvSpPr>
          <p:cNvPr id="28" name="Rectangle 27"/>
          <p:cNvSpPr>
            <a:spLocks noGrp="1"/>
          </p:cNvSpPr>
          <p:nvPr/>
        </p:nvSpPr>
        <p:spPr>
          <a:xfrm>
            <a:off x="2781300" y="2571750"/>
            <a:ext cx="4762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HTTP</a:t>
            </a:r>
            <a:endParaRPr sz="825" b="1">
              <a:solidFill>
                <a:srgbClr val="5F6C7B"/>
              </a:solidFill>
              <a:latin typeface="Arial" panose="020B0604020202020204"/>
              <a:ea typeface="Arial" panose="020B0604020202020204"/>
              <a:cs typeface="Arial" panose="020B0604020202020204"/>
            </a:endParaRPr>
          </a:p>
        </p:txBody>
      </p:sp>
      <p:sp>
        <p:nvSpPr>
          <p:cNvPr id="29" name="Rectangle 28"/>
          <p:cNvSpPr>
            <a:spLocks noGrp="1"/>
          </p:cNvSpPr>
          <p:nvPr/>
        </p:nvSpPr>
        <p:spPr>
          <a:xfrm>
            <a:off x="5591175" y="2571750"/>
            <a:ext cx="4762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HTTP</a:t>
            </a:r>
            <a:endParaRPr sz="825" b="1">
              <a:solidFill>
                <a:srgbClr val="5F6C7B"/>
              </a:solidFill>
              <a:latin typeface="Arial" panose="020B0604020202020204"/>
              <a:ea typeface="Arial" panose="020B0604020202020204"/>
              <a:cs typeface="Arial" panose="020B0604020202020204"/>
            </a:endParaRPr>
          </a:p>
        </p:txBody>
      </p:sp>
      <p:sp>
        <p:nvSpPr>
          <p:cNvPr id="30" name="Rectangle 29"/>
          <p:cNvSpPr>
            <a:spLocks noGrp="1"/>
          </p:cNvSpPr>
          <p:nvPr/>
        </p:nvSpPr>
        <p:spPr>
          <a:xfrm>
            <a:off x="8353425" y="2571750"/>
            <a:ext cx="666750" cy="190500"/>
          </a:xfrm>
          <a:prstGeom prst="rect">
            <a:avLst/>
          </a:prstGeom>
          <a:noFill/>
          <a:ln w="0">
            <a:noFill/>
            <a:prstDash val="solid"/>
          </a:ln>
        </p:spPr>
        <p:txBody>
          <a:bodyPr wrap="square" lIns="95250" tIns="57150" rIns="95250" bIns="57150" anchor="t">
            <a:normAutofit fontScale="60606"/>
          </a:bodyPr>
          <a:lstStyle/>
          <a:p>
            <a:pPr algn="ctr">
              <a:lnSpc>
                <a:spcPct val="100000"/>
              </a:lnSpc>
              <a:buNone/>
              <a:defRPr sz="825" b="1">
                <a:solidFill>
                  <a:srgbClr val="5F6C7B"/>
                </a:solidFill>
                <a:latin typeface="Arial" panose="020B0604020202020204"/>
                <a:ea typeface="Arial" panose="020B0604020202020204"/>
                <a:cs typeface="Arial" panose="020B0604020202020204"/>
              </a:defRPr>
            </a:pPr>
            <a:r>
              <a:rPr sz="825" b="1">
                <a:solidFill>
                  <a:srgbClr val="5F6C7B"/>
                </a:solidFill>
                <a:latin typeface="Arial" panose="020B0604020202020204"/>
                <a:ea typeface="Arial" panose="020B0604020202020204"/>
                <a:cs typeface="Arial" panose="020B0604020202020204"/>
              </a:rPr>
              <a:t>persist</a:t>
            </a:r>
            <a:endParaRPr sz="825" b="1">
              <a:solidFill>
                <a:srgbClr val="5F6C7B"/>
              </a:solidFill>
              <a:latin typeface="Arial" panose="020B0604020202020204"/>
              <a:ea typeface="Arial" panose="020B0604020202020204"/>
              <a:cs typeface="Arial" panose="020B0604020202020204"/>
            </a:endParaRPr>
          </a:p>
        </p:txBody>
      </p:sp>
      <p:sp>
        <p:nvSpPr>
          <p:cNvPr id="31" name="Rounded Rectangle 30"/>
          <p:cNvSpPr>
            <a:spLocks noGrp="1"/>
          </p:cNvSpPr>
          <p:nvPr/>
        </p:nvSpPr>
        <p:spPr>
          <a:xfrm>
            <a:off x="1524000" y="4762500"/>
            <a:ext cx="9144000" cy="904875"/>
          </a:xfrm>
          <a:prstGeom prst="roundRect">
            <a:avLst>
              <a:gd name="adj" fmla="val 7368"/>
            </a:avLst>
          </a:prstGeom>
          <a:solidFill>
            <a:srgbClr val="102A43"/>
          </a:solidFill>
          <a:ln w="9525">
            <a:solidFill>
              <a:srgbClr val="102A43"/>
            </a:solidFill>
            <a:prstDash val="solid"/>
          </a:ln>
        </p:spPr>
        <p:style>
          <a:lnRef idx="0">
            <a:srgbClr val="FFFFFF"/>
          </a:lnRef>
          <a:fillRef idx="0">
            <a:srgbClr val="FFFFFF"/>
          </a:fillRef>
          <a:effectRef idx="4">
            <a:srgbClr val="FFFFFF"/>
          </a:effectRef>
          <a:fontRef idx="major"/>
        </p:style>
      </p:sp>
      <p:sp>
        <p:nvSpPr>
          <p:cNvPr id="32" name="Rectangle 31"/>
          <p:cNvSpPr>
            <a:spLocks noGrp="1"/>
          </p:cNvSpPr>
          <p:nvPr/>
        </p:nvSpPr>
        <p:spPr>
          <a:xfrm>
            <a:off x="1857375" y="4953000"/>
            <a:ext cx="8477250" cy="457200"/>
          </a:xfrm>
          <a:prstGeom prst="rect">
            <a:avLst/>
          </a:prstGeom>
          <a:noFill/>
          <a:ln w="0">
            <a:noFill/>
            <a:prstDash val="solid"/>
          </a:ln>
        </p:spPr>
        <p:txBody>
          <a:bodyPr wrap="square" lIns="95250" tIns="57150" rIns="95250" bIns="57150" anchor="ctr">
            <a:normAutofit/>
          </a:bodyPr>
          <a:lstStyle/>
          <a:p>
            <a:pPr algn="ctr">
              <a:lnSpc>
                <a:spcPct val="100000"/>
              </a:lnSpc>
              <a:buNone/>
              <a:defRPr sz="1575" b="1">
                <a:solidFill>
                  <a:srgbClr val="FFFFFF"/>
                </a:solidFill>
                <a:latin typeface="Arial" panose="020B0604020202020204"/>
                <a:ea typeface="Arial" panose="020B0604020202020204"/>
                <a:cs typeface="Arial" panose="020B0604020202020204"/>
              </a:defRPr>
            </a:pPr>
            <a:r>
              <a:rPr sz="1575" b="1">
                <a:solidFill>
                  <a:srgbClr val="FFFFFF"/>
                </a:solidFill>
                <a:latin typeface="Arial" panose="020B0604020202020204"/>
                <a:ea typeface="Arial" panose="020B0604020202020204"/>
                <a:cs typeface="Arial" panose="020B0604020202020204"/>
              </a:rPr>
              <a:t>docker-compose.yml tạo mạng nội bộ cho 4 service và map cổng ra máy host.</a:t>
            </a:r>
            <a:endParaRPr sz="1575" b="1">
              <a:solidFill>
                <a:srgbClr val="FFFFFF"/>
              </a:solidFill>
              <a:latin typeface="Arial" panose="020B0604020202020204"/>
              <a:ea typeface="Arial" panose="020B0604020202020204"/>
              <a:cs typeface="Arial" panose="020B0604020202020204"/>
            </a:endParaRPr>
          </a:p>
        </p:txBody>
      </p:sp>
      <p:sp>
        <p:nvSpPr>
          <p:cNvPr id="33" name="Straight Connector 32"/>
          <p:cNvSpPr>
            <a:spLocks noGrp="1"/>
          </p:cNvSpPr>
          <p:nvPr/>
        </p:nvSpPr>
        <p:spPr>
          <a:xfrm>
            <a:off x="666750" y="6477000"/>
            <a:ext cx="10858500" cy="0"/>
          </a:xfrm>
          <a:prstGeom prst="line">
            <a:avLst/>
          </a:prstGeom>
          <a:noFill/>
          <a:ln w="9525">
            <a:solidFill>
              <a:srgbClr val="D7E0E8"/>
            </a:solidFill>
            <a:prstDash val="solid"/>
          </a:ln>
        </p:spPr>
      </p:sp>
      <p:sp>
        <p:nvSpPr>
          <p:cNvPr id="34" name="Rectangle 33"/>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docker-compose.yml; frontend/app/main.py; backend/app/main.py; ai-service/app/main.py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8" name="Rectangle 37"/>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10 · RUNTIME FLOW</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Luồng một request dự đoán</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12</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8572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ounded Rectangle 5"/>
          <p:cNvSpPr>
            <a:spLocks noGrp="1"/>
          </p:cNvSpPr>
          <p:nvPr/>
        </p:nvSpPr>
        <p:spPr>
          <a:xfrm>
            <a:off x="1028700" y="1838325"/>
            <a:ext cx="419100" cy="4191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1</a:t>
            </a:r>
            <a:endParaRPr sz="1350"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16192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Nhập dữ liệu</a:t>
            </a:r>
            <a:endParaRPr sz="16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10953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9 trường gốc trên giao diện</a:t>
            </a:r>
            <a:endParaRPr sz="1200" b="0">
              <a:solidFill>
                <a:srgbClr val="5F6C7B"/>
              </a:solidFill>
              <a:latin typeface="Arial" panose="020B0604020202020204"/>
              <a:ea typeface="Arial" panose="020B0604020202020204"/>
              <a:cs typeface="Arial" panose="020B0604020202020204"/>
            </a:endParaRPr>
          </a:p>
        </p:txBody>
      </p:sp>
      <p:sp>
        <p:nvSpPr>
          <p:cNvPr id="9" name="Rounded Rectangle 8"/>
          <p:cNvSpPr>
            <a:spLocks noGrp="1"/>
          </p:cNvSpPr>
          <p:nvPr/>
        </p:nvSpPr>
        <p:spPr>
          <a:xfrm>
            <a:off x="44767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0" name="Rounded Rectangle 9"/>
          <p:cNvSpPr>
            <a:spLocks noGrp="1"/>
          </p:cNvSpPr>
          <p:nvPr/>
        </p:nvSpPr>
        <p:spPr>
          <a:xfrm>
            <a:off x="4648200" y="1838325"/>
            <a:ext cx="419100" cy="419100"/>
          </a:xfrm>
          <a:prstGeom prst="roundRect">
            <a:avLst>
              <a:gd name="adj" fmla="val 50000"/>
            </a:avLst>
          </a:prstGeom>
          <a:solidFill>
            <a:srgbClr val="167D8D"/>
          </a:solidFill>
          <a:ln w="9525">
            <a:solidFill>
              <a:srgbClr val="167D8D"/>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2</a:t>
            </a:r>
            <a:endParaRPr sz="1350" b="1">
              <a:solidFill>
                <a:srgbClr val="FFFFFF"/>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52387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Frontend</a:t>
            </a:r>
            <a:endParaRPr sz="1650" b="1">
              <a:solidFill>
                <a:srgbClr val="102A43"/>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47148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POST /api/predict đến backend</a:t>
            </a:r>
            <a:endParaRPr sz="1200" b="0">
              <a:solidFill>
                <a:srgbClr val="5F6C7B"/>
              </a:solidFill>
              <a:latin typeface="Arial" panose="020B0604020202020204"/>
              <a:ea typeface="Arial" panose="020B0604020202020204"/>
              <a:cs typeface="Arial" panose="020B0604020202020204"/>
            </a:endParaRPr>
          </a:p>
        </p:txBody>
      </p:sp>
      <p:sp>
        <p:nvSpPr>
          <p:cNvPr id="13" name="Rounded Rectangle 12"/>
          <p:cNvSpPr>
            <a:spLocks noGrp="1"/>
          </p:cNvSpPr>
          <p:nvPr/>
        </p:nvSpPr>
        <p:spPr>
          <a:xfrm>
            <a:off x="8096250" y="1666875"/>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4" name="Rounded Rectangle 13"/>
          <p:cNvSpPr>
            <a:spLocks noGrp="1"/>
          </p:cNvSpPr>
          <p:nvPr/>
        </p:nvSpPr>
        <p:spPr>
          <a:xfrm>
            <a:off x="8267700" y="1838325"/>
            <a:ext cx="419100" cy="419100"/>
          </a:xfrm>
          <a:prstGeom prst="roundRect">
            <a:avLst>
              <a:gd name="adj" fmla="val 50000"/>
            </a:avLst>
          </a:prstGeom>
          <a:solidFill>
            <a:srgbClr val="E76F51"/>
          </a:solidFill>
          <a:ln w="9525">
            <a:solidFill>
              <a:srgbClr val="E76F51"/>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3</a:t>
            </a:r>
            <a:endParaRPr sz="1350" b="1">
              <a:solidFill>
                <a:srgbClr val="FFFFFF"/>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8858250" y="1857375"/>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Backend</a:t>
            </a:r>
            <a:endParaRPr sz="1650" b="1">
              <a:solidFill>
                <a:srgbClr val="102A43"/>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8334375" y="2447925"/>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Validate và tạo 3 tỷ lệ</a:t>
            </a:r>
            <a:endParaRPr sz="1200" b="0">
              <a:solidFill>
                <a:srgbClr val="5F6C7B"/>
              </a:solidFill>
              <a:latin typeface="Arial" panose="020B0604020202020204"/>
              <a:ea typeface="Arial" panose="020B0604020202020204"/>
              <a:cs typeface="Arial" panose="020B0604020202020204"/>
            </a:endParaRPr>
          </a:p>
        </p:txBody>
      </p:sp>
      <p:sp>
        <p:nvSpPr>
          <p:cNvPr id="17" name="Rounded Rectangle 16"/>
          <p:cNvSpPr>
            <a:spLocks noGrp="1"/>
          </p:cNvSpPr>
          <p:nvPr/>
        </p:nvSpPr>
        <p:spPr>
          <a:xfrm>
            <a:off x="80962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8" name="Rounded Rectangle 17"/>
          <p:cNvSpPr>
            <a:spLocks noGrp="1"/>
          </p:cNvSpPr>
          <p:nvPr/>
        </p:nvSpPr>
        <p:spPr>
          <a:xfrm>
            <a:off x="8267700" y="4076700"/>
            <a:ext cx="419100" cy="419100"/>
          </a:xfrm>
          <a:prstGeom prst="roundRect">
            <a:avLst>
              <a:gd name="adj" fmla="val 50000"/>
            </a:avLst>
          </a:prstGeom>
          <a:solidFill>
            <a:srgbClr val="E9C46A"/>
          </a:solidFill>
          <a:ln w="9525">
            <a:solidFill>
              <a:srgbClr val="E9C46A"/>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4</a:t>
            </a:r>
            <a:endParaRPr sz="1350" b="1">
              <a:solidFill>
                <a:srgbClr val="FFFFFF"/>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88582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AI Service</a:t>
            </a:r>
            <a:endParaRPr sz="1650"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83343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Pipeline transform + predict</a:t>
            </a:r>
            <a:endParaRPr sz="1200" b="0">
              <a:solidFill>
                <a:srgbClr val="5F6C7B"/>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44767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2" name="Rounded Rectangle 21"/>
          <p:cNvSpPr>
            <a:spLocks noGrp="1"/>
          </p:cNvSpPr>
          <p:nvPr/>
        </p:nvSpPr>
        <p:spPr>
          <a:xfrm>
            <a:off x="4648200" y="4076700"/>
            <a:ext cx="419100" cy="419100"/>
          </a:xfrm>
          <a:prstGeom prst="roundRect">
            <a:avLst>
              <a:gd name="adj" fmla="val 50000"/>
            </a:avLst>
          </a:prstGeom>
          <a:solidFill>
            <a:srgbClr val="2A9D8F"/>
          </a:solidFill>
          <a:ln w="9525">
            <a:solidFill>
              <a:srgbClr val="2A9D8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5</a:t>
            </a:r>
            <a:endParaRPr sz="1350" b="1">
              <a:solidFill>
                <a:srgbClr val="FFFFFF"/>
              </a:solidFill>
              <a:latin typeface="Arial" panose="020B0604020202020204"/>
              <a:ea typeface="Arial" panose="020B0604020202020204"/>
              <a:cs typeface="Arial" panose="020B0604020202020204"/>
            </a:endParaRPr>
          </a:p>
        </p:txBody>
      </p:sp>
      <p:sp>
        <p:nvSpPr>
          <p:cNvPr id="23" name="Rectangle 22"/>
          <p:cNvSpPr>
            <a:spLocks noGrp="1"/>
          </p:cNvSpPr>
          <p:nvPr/>
        </p:nvSpPr>
        <p:spPr>
          <a:xfrm>
            <a:off x="52387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Lưu lịch sử</a:t>
            </a:r>
            <a:endParaRPr sz="1650" b="1">
              <a:solidFill>
                <a:srgbClr val="102A43"/>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47148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MongoDB nếu khả dụng</a:t>
            </a:r>
            <a:endParaRPr sz="1200" b="0">
              <a:solidFill>
                <a:srgbClr val="5F6C7B"/>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857250" y="3905250"/>
            <a:ext cx="3143250" cy="1524000"/>
          </a:xfrm>
          <a:prstGeom prst="roundRect">
            <a:avLst>
              <a:gd name="adj" fmla="val 437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6" name="Rounded Rectangle 25"/>
          <p:cNvSpPr>
            <a:spLocks noGrp="1"/>
          </p:cNvSpPr>
          <p:nvPr/>
        </p:nvSpPr>
        <p:spPr>
          <a:xfrm>
            <a:off x="1028700" y="4076700"/>
            <a:ext cx="419100" cy="419100"/>
          </a:xfrm>
          <a:prstGeom prst="roundRect">
            <a:avLst>
              <a:gd name="adj" fmla="val 50000"/>
            </a:avLst>
          </a:prstGeom>
          <a:solidFill>
            <a:srgbClr val="173F5F"/>
          </a:solidFill>
          <a:ln w="9525">
            <a:solidFill>
              <a:srgbClr val="173F5F"/>
            </a:solidFill>
            <a:prstDash val="solid"/>
          </a:ln>
        </p:spPr>
        <p:txBody>
          <a:bodyPr wrap="square" lIns="0" tIns="0" rIns="0" bIns="0" anchor="ctr">
            <a:normAutofit/>
          </a:bodyPr>
          <a:lstStyle/>
          <a:p>
            <a:pPr algn="ctr">
              <a:lnSpc>
                <a:spcPct val="100000"/>
              </a:lnSpc>
              <a:buNone/>
              <a:defRPr sz="1350" b="1">
                <a:solidFill>
                  <a:srgbClr val="FFFFFF"/>
                </a:solidFill>
                <a:latin typeface="Arial" panose="020B0604020202020204"/>
                <a:ea typeface="Arial" panose="020B0604020202020204"/>
                <a:cs typeface="Arial" panose="020B0604020202020204"/>
              </a:defRPr>
            </a:pPr>
            <a:r>
              <a:rPr sz="1350" b="1">
                <a:solidFill>
                  <a:srgbClr val="FFFFFF"/>
                </a:solidFill>
                <a:latin typeface="Arial" panose="020B0604020202020204"/>
                <a:ea typeface="Arial" panose="020B0604020202020204"/>
                <a:cs typeface="Arial" panose="020B0604020202020204"/>
              </a:rPr>
              <a:t>6</a:t>
            </a:r>
            <a:endParaRPr sz="1350" b="1">
              <a:solidFill>
                <a:srgbClr val="FFFFFF"/>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1619250" y="4095750"/>
            <a:ext cx="2143125" cy="333375"/>
          </a:xfrm>
          <a:prstGeom prst="rect">
            <a:avLst/>
          </a:prstGeom>
          <a:noFill/>
          <a:ln w="0">
            <a:noFill/>
            <a:prstDash val="solid"/>
          </a:ln>
        </p:spPr>
        <p:txBody>
          <a:bodyPr wrap="square" lIns="0" tIns="0" rIns="0" bIns="0" anchor="ctr">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Trả kết quả</a:t>
            </a:r>
            <a:endParaRPr sz="1650" b="1">
              <a:solidFill>
                <a:srgbClr val="102A43"/>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1095375" y="4686300"/>
            <a:ext cx="2667000" cy="476250"/>
          </a:xfrm>
          <a:prstGeom prst="rect">
            <a:avLst/>
          </a:prstGeom>
          <a:noFill/>
          <a:ln w="0">
            <a:noFill/>
            <a:prstDash val="solid"/>
          </a:ln>
        </p:spPr>
        <p:txBody>
          <a:bodyPr wrap="square" lIns="95250" tIns="57150" rIns="95250" bIns="57150" anchor="ctr">
            <a:normAutofit/>
          </a:bodyPr>
          <a:lstStyle/>
          <a:p>
            <a:pPr algn="ctr">
              <a:lnSpc>
                <a:spcPct val="100000"/>
              </a:lnSpc>
              <a:buNone/>
              <a:defRPr sz="1200" b="0">
                <a:solidFill>
                  <a:srgbClr val="5F6C7B"/>
                </a:solidFill>
                <a:latin typeface="Arial" panose="020B0604020202020204"/>
                <a:ea typeface="Arial" panose="020B0604020202020204"/>
                <a:cs typeface="Arial" panose="020B0604020202020204"/>
              </a:defRPr>
            </a:pPr>
            <a:r>
              <a:rPr sz="1200" b="0">
                <a:solidFill>
                  <a:srgbClr val="5F6C7B"/>
                </a:solidFill>
                <a:latin typeface="Arial" panose="020B0604020202020204"/>
                <a:ea typeface="Arial" panose="020B0604020202020204"/>
                <a:cs typeface="Arial" panose="020B0604020202020204"/>
              </a:rPr>
              <a:t>prediction + model_version</a:t>
            </a:r>
            <a:endParaRPr sz="1200" b="0">
              <a:solidFill>
                <a:srgbClr val="5F6C7B"/>
              </a:solidFill>
              <a:latin typeface="Arial" panose="020B0604020202020204"/>
              <a:ea typeface="Arial" panose="020B0604020202020204"/>
              <a:cs typeface="Arial" panose="020B0604020202020204"/>
            </a:endParaRPr>
          </a:p>
        </p:txBody>
      </p:sp>
      <p:sp>
        <p:nvSpPr>
          <p:cNvPr id="29" name="Right Arrow 28"/>
          <p:cNvSpPr>
            <a:spLocks noGrp="1"/>
          </p:cNvSpPr>
          <p:nvPr/>
        </p:nvSpPr>
        <p:spPr>
          <a:xfrm>
            <a:off x="4048125" y="2266950"/>
            <a:ext cx="323850" cy="266700"/>
          </a:xfrm>
          <a:prstGeom prst="rightArrow">
            <a:avLst/>
          </a:prstGeom>
          <a:solidFill>
            <a:srgbClr val="D7E0E8"/>
          </a:solidFill>
          <a:ln w="9525">
            <a:solidFill>
              <a:srgbClr val="D7E0E8"/>
            </a:solidFill>
            <a:prstDash val="solid"/>
          </a:ln>
        </p:spPr>
      </p:sp>
      <p:sp>
        <p:nvSpPr>
          <p:cNvPr id="30" name="Right Arrow 29"/>
          <p:cNvSpPr>
            <a:spLocks noGrp="1"/>
          </p:cNvSpPr>
          <p:nvPr/>
        </p:nvSpPr>
        <p:spPr>
          <a:xfrm>
            <a:off x="7667625" y="2266950"/>
            <a:ext cx="323850" cy="266700"/>
          </a:xfrm>
          <a:prstGeom prst="rightArrow">
            <a:avLst/>
          </a:prstGeom>
          <a:solidFill>
            <a:srgbClr val="D7E0E8"/>
          </a:solidFill>
          <a:ln w="9525">
            <a:solidFill>
              <a:srgbClr val="D7E0E8"/>
            </a:solidFill>
            <a:prstDash val="solid"/>
          </a:ln>
        </p:spPr>
      </p:sp>
      <p:sp>
        <p:nvSpPr>
          <p:cNvPr id="31" name="Down Arrow 30"/>
          <p:cNvSpPr>
            <a:spLocks noGrp="1"/>
          </p:cNvSpPr>
          <p:nvPr/>
        </p:nvSpPr>
        <p:spPr>
          <a:xfrm>
            <a:off x="10715625" y="3286125"/>
            <a:ext cx="247650" cy="476250"/>
          </a:xfrm>
          <a:prstGeom prst="downArrow">
            <a:avLst/>
          </a:prstGeom>
          <a:solidFill>
            <a:srgbClr val="D7E0E8"/>
          </a:solidFill>
          <a:ln w="9525">
            <a:solidFill>
              <a:srgbClr val="D7E0E8"/>
            </a:solidFill>
            <a:prstDash val="solid"/>
          </a:ln>
        </p:spPr>
      </p:sp>
      <p:sp>
        <p:nvSpPr>
          <p:cNvPr id="32" name="Right Arrow 31"/>
          <p:cNvSpPr>
            <a:spLocks noGrp="1"/>
          </p:cNvSpPr>
          <p:nvPr/>
        </p:nvSpPr>
        <p:spPr>
          <a:xfrm>
            <a:off x="7667625" y="4505325"/>
            <a:ext cx="323850" cy="266700"/>
          </a:xfrm>
          <a:prstGeom prst="rightArrow">
            <a:avLst/>
          </a:prstGeom>
          <a:solidFill>
            <a:srgbClr val="D7E0E8"/>
          </a:solidFill>
          <a:ln w="9525">
            <a:solidFill>
              <a:srgbClr val="D7E0E8"/>
            </a:solidFill>
            <a:prstDash val="solid"/>
          </a:ln>
        </p:spPr>
      </p:sp>
      <p:sp>
        <p:nvSpPr>
          <p:cNvPr id="33" name="Right Arrow 32"/>
          <p:cNvSpPr>
            <a:spLocks noGrp="1"/>
          </p:cNvSpPr>
          <p:nvPr/>
        </p:nvSpPr>
        <p:spPr>
          <a:xfrm>
            <a:off x="4048125" y="4505325"/>
            <a:ext cx="323850" cy="266700"/>
          </a:xfrm>
          <a:prstGeom prst="rightArrow">
            <a:avLst/>
          </a:prstGeom>
          <a:solidFill>
            <a:srgbClr val="D7E0E8"/>
          </a:solidFill>
          <a:ln w="9525">
            <a:solidFill>
              <a:srgbClr val="D7E0E8"/>
            </a:solidFill>
            <a:prstDash val="solid"/>
          </a:ln>
        </p:spPr>
      </p:sp>
      <p:sp>
        <p:nvSpPr>
          <p:cNvPr id="34" name="Rounded Rectangle 33"/>
          <p:cNvSpPr>
            <a:spLocks noGrp="1"/>
          </p:cNvSpPr>
          <p:nvPr/>
        </p:nvSpPr>
        <p:spPr>
          <a:xfrm>
            <a:off x="3143250" y="5762625"/>
            <a:ext cx="5905500" cy="428625"/>
          </a:xfrm>
          <a:prstGeom prst="roundRect">
            <a:avLst>
              <a:gd name="adj" fmla="val 15556"/>
            </a:avLst>
          </a:prstGeom>
          <a:solidFill>
            <a:srgbClr val="EAF1F8"/>
          </a:solidFill>
          <a:ln w="9525">
            <a:solidFill>
              <a:srgbClr val="D7E0E8"/>
            </a:solidFill>
            <a:prstDash val="solid"/>
          </a:ln>
        </p:spPr>
        <p:style>
          <a:lnRef idx="0">
            <a:srgbClr val="FFFFFF"/>
          </a:lnRef>
          <a:fillRef idx="0">
            <a:srgbClr val="FFFFFF"/>
          </a:fillRef>
          <a:effectRef idx="4">
            <a:srgbClr val="FFFFFF"/>
          </a:effectRef>
          <a:fontRef idx="major"/>
        </p:style>
      </p:sp>
      <p:sp>
        <p:nvSpPr>
          <p:cNvPr id="35" name="Rectangle 34"/>
          <p:cNvSpPr>
            <a:spLocks noGrp="1"/>
          </p:cNvSpPr>
          <p:nvPr/>
        </p:nvSpPr>
        <p:spPr>
          <a:xfrm>
            <a:off x="3286125" y="5819775"/>
            <a:ext cx="5619750" cy="285750"/>
          </a:xfrm>
          <a:prstGeom prst="rect">
            <a:avLst/>
          </a:prstGeom>
          <a:noFill/>
          <a:ln w="0">
            <a:noFill/>
            <a:prstDash val="solid"/>
          </a:ln>
        </p:spPr>
        <p:txBody>
          <a:bodyPr wrap="square" lIns="95250" tIns="57150" rIns="95250" bIns="57150" anchor="ctr">
            <a:normAutofit/>
          </a:bodyPr>
          <a:lstStyle/>
          <a:p>
            <a:pPr algn="ctr">
              <a:lnSpc>
                <a:spcPct val="100000"/>
              </a:lnSpc>
              <a:buNone/>
              <a:defRPr sz="1125" b="1">
                <a:solidFill>
                  <a:srgbClr val="173F5F"/>
                </a:solidFill>
                <a:latin typeface="Arial" panose="020B0604020202020204"/>
                <a:ea typeface="Arial" panose="020B0604020202020204"/>
                <a:cs typeface="Arial" panose="020B0604020202020204"/>
              </a:defRPr>
            </a:pPr>
            <a:r>
              <a:rPr sz="1125" b="1">
                <a:solidFill>
                  <a:srgbClr val="173F5F"/>
                </a:solidFill>
                <a:latin typeface="Arial" panose="020B0604020202020204"/>
                <a:ea typeface="Arial" panose="020B0604020202020204"/>
                <a:cs typeface="Arial" panose="020B0604020202020204"/>
              </a:rPr>
              <a:t>X-Request-ID được truyền xuyên suốt để đối chiếu log giữa các service.</a:t>
            </a:r>
            <a:endParaRPr sz="1125" b="1">
              <a:solidFill>
                <a:srgbClr val="173F5F"/>
              </a:solidFill>
              <a:latin typeface="Arial" panose="020B0604020202020204"/>
              <a:ea typeface="Arial" panose="020B0604020202020204"/>
              <a:cs typeface="Arial" panose="020B0604020202020204"/>
            </a:endParaRPr>
          </a:p>
        </p:txBody>
      </p:sp>
      <p:sp>
        <p:nvSpPr>
          <p:cNvPr id="36" name="Straight Connector 35"/>
          <p:cNvSpPr>
            <a:spLocks noGrp="1"/>
          </p:cNvSpPr>
          <p:nvPr/>
        </p:nvSpPr>
        <p:spPr>
          <a:xfrm>
            <a:off x="666750" y="6477000"/>
            <a:ext cx="10858500" cy="0"/>
          </a:xfrm>
          <a:prstGeom prst="line">
            <a:avLst/>
          </a:prstGeom>
          <a:noFill/>
          <a:ln w="9525">
            <a:solidFill>
              <a:srgbClr val="D7E0E8"/>
            </a:solidFill>
            <a:prstDash val="solid"/>
          </a:ln>
        </p:spPr>
      </p:sp>
      <p:sp>
        <p:nvSpPr>
          <p:cNvPr id="37" name="Rectangle 36"/>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frontend/app/main.py; backend/app/main.py; backend/app/services/ai_client.py</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34" name="Rectangle 33"/>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11 · PACKAGING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Docker và deployment</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13</a:t>
            </a:r>
            <a:endParaRPr sz="1050" b="1">
              <a:solidFill>
                <a:srgbClr val="5F6C7B"/>
              </a:solidFill>
              <a:latin typeface="Arial" panose="020B0604020202020204"/>
              <a:ea typeface="Arial" panose="020B0604020202020204"/>
              <a:cs typeface="Arial" panose="020B0604020202020204"/>
            </a:endParaRPr>
          </a:p>
        </p:txBody>
      </p:sp>
      <p:sp>
        <p:nvSpPr>
          <p:cNvPr id="5" name="Rectangle 4"/>
          <p:cNvSpPr>
            <a:spLocks noGrp="1"/>
          </p:cNvSpPr>
          <p:nvPr/>
        </p:nvSpPr>
        <p:spPr>
          <a:xfrm>
            <a:off x="666750" y="1428750"/>
            <a:ext cx="4095750" cy="342900"/>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Docker Compose</a:t>
            </a:r>
            <a:endParaRPr sz="1875" b="1">
              <a:solidFill>
                <a:srgbClr val="102A43"/>
              </a:solidFill>
              <a:latin typeface="Arial" panose="020B0604020202020204"/>
              <a:ea typeface="Arial" panose="020B0604020202020204"/>
              <a:cs typeface="Arial" panose="020B0604020202020204"/>
            </a:endParaRPr>
          </a:p>
        </p:txBody>
      </p:sp>
      <p:sp>
        <p:nvSpPr>
          <p:cNvPr id="6" name="Rectangle 5"/>
          <p:cNvSpPr>
            <a:spLocks noGrp="1"/>
          </p:cNvSpPr>
          <p:nvPr/>
        </p:nvSpPr>
        <p:spPr>
          <a:xfrm>
            <a:off x="666750" y="1952625"/>
            <a:ext cx="18097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Service</a:t>
            </a:r>
            <a:endParaRPr sz="975" b="1">
              <a:solidFill>
                <a:srgbClr val="FFFFFF"/>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2476500" y="1952625"/>
            <a:ext cx="10477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Port</a:t>
            </a:r>
            <a:endParaRPr sz="975" b="1">
              <a:solidFill>
                <a:srgbClr val="FFFFF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3524250" y="1952625"/>
            <a:ext cx="2762250" cy="5238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Build / image</a:t>
            </a:r>
            <a:endParaRPr sz="975" b="1">
              <a:solidFill>
                <a:srgbClr val="FFFFF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666750" y="2476500"/>
            <a:ext cx="1809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frontend</a:t>
            </a:r>
            <a:endParaRPr sz="1125" b="1">
              <a:solidFill>
                <a:srgbClr val="1D2939"/>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2476500" y="2476500"/>
            <a:ext cx="1047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3000</a:t>
            </a:r>
            <a:endParaRPr sz="1125" b="0">
              <a:solidFill>
                <a:srgbClr val="1D2939"/>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3524250" y="2476500"/>
            <a:ext cx="27622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./frontend</a:t>
            </a:r>
            <a:endParaRPr sz="1125" b="0">
              <a:solidFill>
                <a:srgbClr val="1D2939"/>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666750" y="3000375"/>
            <a:ext cx="1809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backend</a:t>
            </a:r>
            <a:endParaRPr sz="1125" b="1">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2476500" y="3000375"/>
            <a:ext cx="1047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8000</a:t>
            </a:r>
            <a:endParaRPr sz="1125" b="0">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3524250" y="3000375"/>
            <a:ext cx="27622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./backend</a:t>
            </a:r>
            <a:endParaRPr sz="1125"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666750" y="3524250"/>
            <a:ext cx="1809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ai-service</a:t>
            </a:r>
            <a:endParaRPr sz="1125"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476500" y="3524250"/>
            <a:ext cx="10477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8001</a:t>
            </a:r>
            <a:endParaRPr sz="1125"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3524250" y="3524250"/>
            <a:ext cx="2762250" cy="5238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./ai-service</a:t>
            </a:r>
            <a:endParaRPr sz="1125" b="0">
              <a:solidFill>
                <a:srgbClr val="1D2939"/>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666750" y="4048125"/>
            <a:ext cx="1809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mongodb</a:t>
            </a:r>
            <a:endParaRPr sz="1125" b="1">
              <a:solidFill>
                <a:srgbClr val="1D2939"/>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2476500" y="4048125"/>
            <a:ext cx="10477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27017</a:t>
            </a:r>
            <a:endParaRPr sz="1125" b="0">
              <a:solidFill>
                <a:srgbClr val="1D2939"/>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3524250" y="4048125"/>
            <a:ext cx="2762250" cy="5238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mongo</a:t>
            </a:r>
            <a:endParaRPr sz="1125" b="0">
              <a:solidFill>
                <a:srgbClr val="1D2939"/>
              </a:solidFill>
              <a:latin typeface="Arial" panose="020B0604020202020204"/>
              <a:ea typeface="Arial" panose="020B0604020202020204"/>
              <a:cs typeface="Arial" panose="020B0604020202020204"/>
            </a:endParaRPr>
          </a:p>
        </p:txBody>
      </p:sp>
      <p:sp>
        <p:nvSpPr>
          <p:cNvPr id="21" name="Rounded Rectangle 20"/>
          <p:cNvSpPr>
            <a:spLocks noGrp="1"/>
          </p:cNvSpPr>
          <p:nvPr/>
        </p:nvSpPr>
        <p:spPr>
          <a:xfrm>
            <a:off x="6667500" y="1428750"/>
            <a:ext cx="4857750" cy="1762125"/>
          </a:xfrm>
          <a:prstGeom prst="roundRect">
            <a:avLst>
              <a:gd name="adj" fmla="val 3784"/>
            </a:avLst>
          </a:prstGeom>
          <a:solidFill>
            <a:srgbClr val="EAF6F5"/>
          </a:solidFill>
          <a:ln w="9525">
            <a:solidFill>
              <a:srgbClr val="167D8D"/>
            </a:solidFill>
            <a:prstDash val="solid"/>
          </a:ln>
        </p:spPr>
        <p:style>
          <a:lnRef idx="0">
            <a:srgbClr val="FFFFFF"/>
          </a:lnRef>
          <a:fillRef idx="0">
            <a:srgbClr val="FFFFFF"/>
          </a:fillRef>
          <a:effectRef idx="4">
            <a:srgbClr val="FFFFFF"/>
          </a:effectRef>
          <a:fontRef idx="major"/>
        </p:style>
      </p:sp>
      <p:sp>
        <p:nvSpPr>
          <p:cNvPr id="22" name="Rectangle 21"/>
          <p:cNvSpPr>
            <a:spLocks noGrp="1"/>
          </p:cNvSpPr>
          <p:nvPr/>
        </p:nvSpPr>
        <p:spPr>
          <a:xfrm>
            <a:off x="6934200" y="1666875"/>
            <a:ext cx="41910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Kiểm tra cấu hình</a:t>
            </a:r>
            <a:endParaRPr sz="1650" b="1">
              <a:solidFill>
                <a:srgbClr val="102A43"/>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6934200" y="2143125"/>
            <a:ext cx="1047750" cy="438150"/>
          </a:xfrm>
          <a:prstGeom prst="roundRect">
            <a:avLst>
              <a:gd name="adj" fmla="val 50000"/>
            </a:avLst>
          </a:prstGeom>
          <a:solidFill>
            <a:srgbClr val="2E7D5B"/>
          </a:solidFill>
          <a:ln w="9525">
            <a:solidFill>
              <a:srgbClr val="2E7D5B"/>
            </a:solidFill>
            <a:prstDash val="solid"/>
          </a:ln>
        </p:spPr>
        <p:txBody>
          <a:bodyPr wrap="square" lIns="0" tIns="0" rIns="0" bIns="0" anchor="ctr">
            <a:normAutofit/>
          </a:bodyPr>
          <a:lstStyle/>
          <a:p>
            <a:pPr algn="ctr">
              <a:lnSpc>
                <a:spcPct val="100000"/>
              </a:lnSpc>
              <a:buNone/>
              <a:defRPr sz="1725" b="1">
                <a:solidFill>
                  <a:srgbClr val="FFFFFF"/>
                </a:solidFill>
                <a:latin typeface="Arial" panose="020B0604020202020204"/>
                <a:ea typeface="Arial" panose="020B0604020202020204"/>
                <a:cs typeface="Arial" panose="020B0604020202020204"/>
              </a:defRPr>
            </a:pPr>
            <a:r>
              <a:rPr sz="1725" b="1">
                <a:solidFill>
                  <a:srgbClr val="FFFFFF"/>
                </a:solidFill>
                <a:latin typeface="Arial" panose="020B0604020202020204"/>
                <a:ea typeface="Arial" panose="020B0604020202020204"/>
                <a:cs typeface="Arial" panose="020B0604020202020204"/>
              </a:rPr>
              <a:t>PASS</a:t>
            </a:r>
            <a:endParaRPr sz="1725" b="1">
              <a:solidFill>
                <a:srgbClr val="FFFFFF"/>
              </a:solidFill>
              <a:latin typeface="Arial" panose="020B0604020202020204"/>
              <a:ea typeface="Arial" panose="020B0604020202020204"/>
              <a:cs typeface="Arial" panose="020B0604020202020204"/>
            </a:endParaRPr>
          </a:p>
        </p:txBody>
      </p:sp>
      <p:sp>
        <p:nvSpPr>
          <p:cNvPr id="24" name="Rectangle 23"/>
          <p:cNvSpPr>
            <a:spLocks noGrp="1"/>
          </p:cNvSpPr>
          <p:nvPr/>
        </p:nvSpPr>
        <p:spPr>
          <a:xfrm>
            <a:off x="8172450" y="2076450"/>
            <a:ext cx="3048000" cy="561975"/>
          </a:xfrm>
          <a:prstGeom prst="rect">
            <a:avLst/>
          </a:prstGeom>
          <a:noFill/>
          <a:ln w="0">
            <a:noFill/>
            <a:prstDash val="solid"/>
          </a:ln>
        </p:spPr>
        <p:txBody>
          <a:bodyPr wrap="square" lIns="95250" tIns="57150" rIns="95250" bIns="5715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docker compose --env-file .env.example config</a:t>
            </a:r>
            <a:endParaRPr sz="1125" b="0">
              <a:solidFill>
                <a:srgbClr val="1D2939"/>
              </a:solidFill>
              <a:latin typeface="Arial" panose="020B0604020202020204"/>
              <a:ea typeface="Arial" panose="020B0604020202020204"/>
              <a:cs typeface="Arial" panose="020B0604020202020204"/>
            </a:endParaRPr>
          </a:p>
        </p:txBody>
      </p:sp>
      <p:sp>
        <p:nvSpPr>
          <p:cNvPr id="25" name="Rounded Rectangle 24"/>
          <p:cNvSpPr>
            <a:spLocks noGrp="1"/>
          </p:cNvSpPr>
          <p:nvPr/>
        </p:nvSpPr>
        <p:spPr>
          <a:xfrm>
            <a:off x="6667500" y="3429000"/>
            <a:ext cx="4857750" cy="1619250"/>
          </a:xfrm>
          <a:prstGeom prst="roundRect">
            <a:avLst>
              <a:gd name="adj" fmla="val 4118"/>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26" name="Rectangle 25"/>
          <p:cNvSpPr>
            <a:spLocks noGrp="1"/>
          </p:cNvSpPr>
          <p:nvPr/>
        </p:nvSpPr>
        <p:spPr>
          <a:xfrm>
            <a:off x="6934200" y="3638550"/>
            <a:ext cx="2000250" cy="266700"/>
          </a:xfrm>
          <a:prstGeom prst="rect">
            <a:avLst/>
          </a:prstGeom>
          <a:noFill/>
          <a:ln w="0">
            <a:noFill/>
            <a:prstDash val="solid"/>
          </a:ln>
        </p:spPr>
        <p:txBody>
          <a:bodyPr wrap="square" lIns="0" tIns="0" rIns="0" bIns="0" anchor="t">
            <a:normAutofit/>
          </a:bodyPr>
          <a:lstStyle/>
          <a:p>
            <a:pPr algn="l">
              <a:lnSpc>
                <a:spcPct val="100000"/>
              </a:lnSpc>
              <a:buNone/>
              <a:defRPr sz="1500" b="1">
                <a:solidFill>
                  <a:srgbClr val="102A43"/>
                </a:solidFill>
                <a:latin typeface="Arial" panose="020B0604020202020204"/>
                <a:ea typeface="Arial" panose="020B0604020202020204"/>
                <a:cs typeface="Arial" panose="020B0604020202020204"/>
              </a:defRPr>
            </a:pPr>
            <a:r>
              <a:rPr sz="1500" b="1">
                <a:solidFill>
                  <a:srgbClr val="102A43"/>
                </a:solidFill>
                <a:latin typeface="Arial" panose="020B0604020202020204"/>
                <a:ea typeface="Arial" panose="020B0604020202020204"/>
                <a:cs typeface="Arial" panose="020B0604020202020204"/>
              </a:rPr>
              <a:t>Runtime Docker</a:t>
            </a:r>
            <a:endParaRPr sz="1500" b="1">
              <a:solidFill>
                <a:srgbClr val="102A43"/>
              </a:solidFill>
              <a:latin typeface="Arial" panose="020B0604020202020204"/>
              <a:ea typeface="Arial" panose="020B0604020202020204"/>
              <a:cs typeface="Arial" panose="020B0604020202020204"/>
            </a:endParaRPr>
          </a:p>
        </p:txBody>
      </p:sp>
      <p:sp>
        <p:nvSpPr>
          <p:cNvPr id="27" name="Rectangle 26"/>
          <p:cNvSpPr>
            <a:spLocks noGrp="1"/>
          </p:cNvSpPr>
          <p:nvPr/>
        </p:nvSpPr>
        <p:spPr>
          <a:xfrm>
            <a:off x="6934200" y="4048125"/>
            <a:ext cx="4095750" cy="352425"/>
          </a:xfrm>
          <a:prstGeom prst="rect">
            <a:avLst/>
          </a:prstGeom>
          <a:noFill/>
          <a:ln w="0">
            <a:noFill/>
            <a:prstDash val="solid"/>
          </a:ln>
        </p:spPr>
        <p:txBody>
          <a:bodyPr wrap="square" lIns="0" tIns="0" rIns="0" bIns="0" anchor="t">
            <a:normAutofit/>
          </a:bodyPr>
          <a:lstStyle/>
          <a:p>
            <a:pPr algn="l">
              <a:lnSpc>
                <a:spcPct val="100000"/>
              </a:lnSpc>
              <a:buNone/>
              <a:defRPr sz="1725" b="1">
                <a:solidFill>
                  <a:srgbClr val="B54736"/>
                </a:solidFill>
                <a:latin typeface="Arial" panose="020B0604020202020204"/>
                <a:ea typeface="Arial" panose="020B0604020202020204"/>
                <a:cs typeface="Arial" panose="020B0604020202020204"/>
              </a:defRPr>
            </a:pPr>
            <a:r>
              <a:rPr sz="1725" b="1">
                <a:solidFill>
                  <a:srgbClr val="B54736"/>
                </a:solidFill>
                <a:latin typeface="Arial" panose="020B0604020202020204"/>
                <a:ea typeface="Arial" panose="020B0604020202020204"/>
                <a:cs typeface="Arial" panose="020B0604020202020204"/>
              </a:rPr>
              <a:t>Chưa xác minh end-to-end</a:t>
            </a:r>
            <a:endParaRPr sz="1725" b="1">
              <a:solidFill>
                <a:srgbClr val="B54736"/>
              </a:solidFill>
              <a:latin typeface="Arial" panose="020B0604020202020204"/>
              <a:ea typeface="Arial" panose="020B0604020202020204"/>
              <a:cs typeface="Arial" panose="020B0604020202020204"/>
            </a:endParaRPr>
          </a:p>
        </p:txBody>
      </p:sp>
      <p:sp>
        <p:nvSpPr>
          <p:cNvPr id="28" name="Rectangle 27"/>
          <p:cNvSpPr>
            <a:spLocks noGrp="1"/>
          </p:cNvSpPr>
          <p:nvPr/>
        </p:nvSpPr>
        <p:spPr>
          <a:xfrm>
            <a:off x="6934200" y="4505325"/>
            <a:ext cx="4095750" cy="333375"/>
          </a:xfrm>
          <a:prstGeom prst="rect">
            <a:avLst/>
          </a:prstGeom>
          <a:noFill/>
          <a:ln w="0">
            <a:noFill/>
            <a:prstDash val="solid"/>
          </a:ln>
        </p:spPr>
        <p:txBody>
          <a:bodyPr wrap="square" lIns="0" tIns="0" rIns="0" bIns="0" anchor="t">
            <a:normAutofit fontScale="98863"/>
          </a:bodyPr>
          <a:lstStyle/>
          <a:p>
            <a:pPr algn="l">
              <a:lnSpc>
                <a:spcPct val="100000"/>
              </a:lnSpc>
              <a:buNone/>
              <a:defRPr sz="1125" b="0">
                <a:solidFill>
                  <a:srgbClr val="5F6C7B"/>
                </a:solidFill>
                <a:latin typeface="Arial" panose="020B0604020202020204"/>
                <a:ea typeface="Arial" panose="020B0604020202020204"/>
                <a:cs typeface="Arial" panose="020B0604020202020204"/>
              </a:defRPr>
            </a:pPr>
            <a:r>
              <a:rPr sz="1125" b="0">
                <a:solidFill>
                  <a:srgbClr val="5F6C7B"/>
                </a:solidFill>
                <a:latin typeface="Arial" panose="020B0604020202020204"/>
                <a:ea typeface="Arial" panose="020B0604020202020204"/>
                <a:cs typeface="Arial" panose="020B0604020202020204"/>
              </a:rPr>
              <a:t>Docker CLI có sẵn nhưng daemon không chạy trong lúc kiểm tra.</a:t>
            </a:r>
            <a:endParaRPr sz="1125" b="0">
              <a:solidFill>
                <a:srgbClr val="5F6C7B"/>
              </a:solidFill>
              <a:latin typeface="Arial" panose="020B0604020202020204"/>
              <a:ea typeface="Arial" panose="020B0604020202020204"/>
              <a:cs typeface="Arial" panose="020B0604020202020204"/>
            </a:endParaRPr>
          </a:p>
        </p:txBody>
      </p:sp>
      <p:sp>
        <p:nvSpPr>
          <p:cNvPr id="29" name="Rounded Rectangle 28"/>
          <p:cNvSpPr>
            <a:spLocks noGrp="1"/>
          </p:cNvSpPr>
          <p:nvPr/>
        </p:nvSpPr>
        <p:spPr>
          <a:xfrm>
            <a:off x="666750" y="5095875"/>
            <a:ext cx="10858500" cy="876300"/>
          </a:xfrm>
          <a:prstGeom prst="roundRect">
            <a:avLst>
              <a:gd name="adj" fmla="val 7609"/>
            </a:avLst>
          </a:prstGeom>
          <a:solidFill>
            <a:srgbClr val="102A43"/>
          </a:solidFill>
          <a:ln w="9525">
            <a:solidFill>
              <a:srgbClr val="102A43"/>
            </a:solidFill>
            <a:prstDash val="solid"/>
          </a:ln>
        </p:spPr>
        <p:style>
          <a:lnRef idx="0">
            <a:srgbClr val="FFFFFF"/>
          </a:lnRef>
          <a:fillRef idx="0">
            <a:srgbClr val="FFFFFF"/>
          </a:fillRef>
          <a:effectRef idx="4">
            <a:srgbClr val="FFFFFF"/>
          </a:effectRef>
          <a:fontRef idx="major"/>
        </p:style>
      </p:sp>
      <p:sp>
        <p:nvSpPr>
          <p:cNvPr id="30" name="Rectangle 29"/>
          <p:cNvSpPr>
            <a:spLocks noGrp="1"/>
          </p:cNvSpPr>
          <p:nvPr/>
        </p:nvSpPr>
        <p:spPr>
          <a:xfrm>
            <a:off x="904875" y="5286375"/>
            <a:ext cx="2095500" cy="285750"/>
          </a:xfrm>
          <a:prstGeom prst="rect">
            <a:avLst/>
          </a:prstGeom>
          <a:noFill/>
          <a:ln w="0">
            <a:noFill/>
            <a:prstDash val="solid"/>
          </a:ln>
        </p:spPr>
        <p:txBody>
          <a:bodyPr wrap="square" lIns="0" tIns="0" rIns="0" bIns="0" anchor="t">
            <a:normAutofit/>
          </a:bodyPr>
          <a:lstStyle/>
          <a:p>
            <a:pPr algn="l">
              <a:lnSpc>
                <a:spcPct val="100000"/>
              </a:lnSpc>
              <a:buNone/>
              <a:defRPr sz="1275" b="1">
                <a:solidFill>
                  <a:srgbClr val="E9C46A"/>
                </a:solidFill>
                <a:latin typeface="Arial" panose="020B0604020202020204"/>
                <a:ea typeface="Arial" panose="020B0604020202020204"/>
                <a:cs typeface="Arial" panose="020B0604020202020204"/>
              </a:defRPr>
            </a:pPr>
            <a:r>
              <a:rPr sz="1275" b="1">
                <a:solidFill>
                  <a:srgbClr val="E9C46A"/>
                </a:solidFill>
                <a:latin typeface="Arial" panose="020B0604020202020204"/>
                <a:ea typeface="Arial" panose="020B0604020202020204"/>
                <a:cs typeface="Arial" panose="020B0604020202020204"/>
              </a:rPr>
              <a:t>Deployment public</a:t>
            </a:r>
            <a:endParaRPr sz="1275" b="1">
              <a:solidFill>
                <a:srgbClr val="E9C46A"/>
              </a:solidFill>
              <a:latin typeface="Arial" panose="020B0604020202020204"/>
              <a:ea typeface="Arial" panose="020B0604020202020204"/>
              <a:cs typeface="Arial" panose="020B0604020202020204"/>
            </a:endParaRPr>
          </a:p>
        </p:txBody>
      </p:sp>
      <p:sp>
        <p:nvSpPr>
          <p:cNvPr id="31" name="Rectangle 30"/>
          <p:cNvSpPr>
            <a:spLocks noGrp="1"/>
          </p:cNvSpPr>
          <p:nvPr/>
        </p:nvSpPr>
        <p:spPr>
          <a:xfrm>
            <a:off x="3048000" y="5219700"/>
            <a:ext cx="8001000" cy="419100"/>
          </a:xfrm>
          <a:prstGeom prst="rect">
            <a:avLst/>
          </a:prstGeom>
          <a:noFill/>
          <a:ln w="0">
            <a:noFill/>
            <a:prstDash val="solid"/>
          </a:ln>
        </p:spPr>
        <p:txBody>
          <a:bodyPr wrap="square" lIns="95250" tIns="57150" rIns="95250" bIns="57150" anchor="ctr">
            <a:normAutofit/>
          </a:bodyPr>
          <a:lstStyle/>
          <a:p>
            <a:pPr algn="l">
              <a:lnSpc>
                <a:spcPct val="100000"/>
              </a:lnSpc>
              <a:buNone/>
              <a:defRPr sz="1725" b="1">
                <a:solidFill>
                  <a:srgbClr val="FFFFFF"/>
                </a:solidFill>
                <a:latin typeface="Arial" panose="020B0604020202020204"/>
                <a:ea typeface="Arial" panose="020B0604020202020204"/>
                <a:cs typeface="Arial" panose="020B0604020202020204"/>
              </a:defRPr>
            </a:pPr>
            <a:r>
              <a:rPr sz="1725" b="1">
                <a:solidFill>
                  <a:srgbClr val="FFFFFF"/>
                </a:solidFill>
                <a:latin typeface="Arial" panose="020B0604020202020204"/>
                <a:ea typeface="Arial" panose="020B0604020202020204"/>
                <a:cs typeface="Arial" panose="020B0604020202020204"/>
              </a:rPr>
              <a:t>Đang chuẩn bị · URL public: CHƯA CÓ</a:t>
            </a:r>
            <a:endParaRPr sz="1725" b="1">
              <a:solidFill>
                <a:srgbClr val="FFFFFF"/>
              </a:solidFill>
              <a:latin typeface="Arial" panose="020B0604020202020204"/>
              <a:ea typeface="Arial" panose="020B0604020202020204"/>
              <a:cs typeface="Arial" panose="020B0604020202020204"/>
            </a:endParaRPr>
          </a:p>
        </p:txBody>
      </p:sp>
      <p:sp>
        <p:nvSpPr>
          <p:cNvPr id="32" name="Straight Connector 31"/>
          <p:cNvSpPr>
            <a:spLocks noGrp="1"/>
          </p:cNvSpPr>
          <p:nvPr/>
        </p:nvSpPr>
        <p:spPr>
          <a:xfrm>
            <a:off x="666750" y="6477000"/>
            <a:ext cx="10858500" cy="0"/>
          </a:xfrm>
          <a:prstGeom prst="line">
            <a:avLst/>
          </a:prstGeom>
          <a:noFill/>
          <a:ln w="9525">
            <a:solidFill>
              <a:srgbClr val="D7E0E8"/>
            </a:solidFill>
            <a:prstDash val="solid"/>
          </a:ln>
        </p:spPr>
      </p:sp>
      <p:sp>
        <p:nvSpPr>
          <p:cNvPr id="33" name="Rectangle 32"/>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docker-compose.yml; .env.example; README.md</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8" name="Rectangle 27"/>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12 · VERIFICATION</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Kiểm thử</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14</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76375"/>
            <a:ext cx="333375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666750" y="1476375"/>
            <a:ext cx="57150" cy="1238250"/>
          </a:xfrm>
          <a:prstGeom prst="rect">
            <a:avLst/>
          </a:prstGeom>
          <a:solidFill>
            <a:srgbClr val="2E7D5B"/>
          </a:solidFill>
          <a:ln w="0">
            <a:noFill/>
            <a:prstDash val="solid"/>
          </a:ln>
        </p:spPr>
      </p:sp>
      <p:sp>
        <p:nvSpPr>
          <p:cNvPr id="7" name="Rectangle 6"/>
          <p:cNvSpPr>
            <a:spLocks noGrp="1"/>
          </p:cNvSpPr>
          <p:nvPr/>
        </p:nvSpPr>
        <p:spPr>
          <a:xfrm>
            <a:off x="838200" y="1590675"/>
            <a:ext cx="304800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12 / 12</a:t>
            </a:r>
            <a:endParaRPr sz="2250" b="1">
              <a:solidFill>
                <a:srgbClr val="102A43"/>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838200" y="2019300"/>
            <a:ext cx="304800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Pytest đã pass</a:t>
            </a:r>
            <a:endParaRPr sz="1125" b="1">
              <a:solidFill>
                <a:srgbClr val="5F6C7B"/>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838200" y="2305050"/>
            <a:ext cx="304800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AI service: 7 · Backend: 5</a:t>
            </a:r>
            <a:endParaRPr sz="900" b="0">
              <a:solidFill>
                <a:srgbClr val="5F6C7B"/>
              </a:solidFill>
              <a:latin typeface="Arial" panose="020B0604020202020204"/>
              <a:ea typeface="Arial" panose="020B0604020202020204"/>
              <a:cs typeface="Arial" panose="020B0604020202020204"/>
            </a:endParaRPr>
          </a:p>
        </p:txBody>
      </p:sp>
      <p:sp>
        <p:nvSpPr>
          <p:cNvPr id="10" name="Rounded Rectangle 9"/>
          <p:cNvSpPr>
            <a:spLocks noGrp="1"/>
          </p:cNvSpPr>
          <p:nvPr/>
        </p:nvSpPr>
        <p:spPr>
          <a:xfrm>
            <a:off x="4286250" y="1476375"/>
            <a:ext cx="333375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1" name="Rectangle 10"/>
          <p:cNvSpPr>
            <a:spLocks noGrp="1"/>
          </p:cNvSpPr>
          <p:nvPr/>
        </p:nvSpPr>
        <p:spPr>
          <a:xfrm>
            <a:off x="4286250" y="1476375"/>
            <a:ext cx="57150" cy="1238250"/>
          </a:xfrm>
          <a:prstGeom prst="rect">
            <a:avLst/>
          </a:prstGeom>
          <a:solidFill>
            <a:srgbClr val="167D8D"/>
          </a:solidFill>
          <a:ln w="0">
            <a:noFill/>
            <a:prstDash val="solid"/>
          </a:ln>
        </p:spPr>
      </p:sp>
      <p:sp>
        <p:nvSpPr>
          <p:cNvPr id="12" name="Rectangle 11"/>
          <p:cNvSpPr>
            <a:spLocks noGrp="1"/>
          </p:cNvSpPr>
          <p:nvPr/>
        </p:nvSpPr>
        <p:spPr>
          <a:xfrm>
            <a:off x="4457700" y="1590675"/>
            <a:ext cx="304800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PASS</a:t>
            </a:r>
            <a:endParaRPr sz="2250" b="1">
              <a:solidFill>
                <a:srgbClr val="102A43"/>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4457700" y="2019300"/>
            <a:ext cx="304800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Smoke test</a:t>
            </a:r>
            <a:endParaRPr sz="1125" b="1">
              <a:solidFill>
                <a:srgbClr val="5F6C7B"/>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4457700" y="2305050"/>
            <a:ext cx="304800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health + predict qua HTTP cục bộ</a:t>
            </a:r>
            <a:endParaRPr sz="900" b="0">
              <a:solidFill>
                <a:srgbClr val="5F6C7B"/>
              </a:solidFill>
              <a:latin typeface="Arial" panose="020B0604020202020204"/>
              <a:ea typeface="Arial" panose="020B0604020202020204"/>
              <a:cs typeface="Arial" panose="020B0604020202020204"/>
            </a:endParaRPr>
          </a:p>
        </p:txBody>
      </p:sp>
      <p:sp>
        <p:nvSpPr>
          <p:cNvPr id="15" name="Rounded Rectangle 14"/>
          <p:cNvSpPr>
            <a:spLocks noGrp="1"/>
          </p:cNvSpPr>
          <p:nvPr/>
        </p:nvSpPr>
        <p:spPr>
          <a:xfrm>
            <a:off x="7905750" y="1476375"/>
            <a:ext cx="3619500" cy="1238250"/>
          </a:xfrm>
          <a:prstGeom prst="roundRect">
            <a:avLst>
              <a:gd name="adj" fmla="val 5385"/>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16" name="Rectangle 15"/>
          <p:cNvSpPr>
            <a:spLocks noGrp="1"/>
          </p:cNvSpPr>
          <p:nvPr/>
        </p:nvSpPr>
        <p:spPr>
          <a:xfrm>
            <a:off x="7905750" y="1476375"/>
            <a:ext cx="57150" cy="1238250"/>
          </a:xfrm>
          <a:prstGeom prst="rect">
            <a:avLst/>
          </a:prstGeom>
          <a:solidFill>
            <a:srgbClr val="E9C46A"/>
          </a:solidFill>
          <a:ln w="0">
            <a:noFill/>
            <a:prstDash val="solid"/>
          </a:ln>
        </p:spPr>
      </p:sp>
      <p:sp>
        <p:nvSpPr>
          <p:cNvPr id="17" name="Rectangle 16"/>
          <p:cNvSpPr>
            <a:spLocks noGrp="1"/>
          </p:cNvSpPr>
          <p:nvPr/>
        </p:nvSpPr>
        <p:spPr>
          <a:xfrm>
            <a:off x="8077200" y="1590675"/>
            <a:ext cx="3333750" cy="419100"/>
          </a:xfrm>
          <a:prstGeom prst="rect">
            <a:avLst/>
          </a:prstGeom>
          <a:noFill/>
          <a:ln w="0">
            <a:noFill/>
            <a:prstDash val="solid"/>
          </a:ln>
        </p:spPr>
        <p:txBody>
          <a:bodyPr wrap="square" lIns="0" tIns="0" rIns="0" bIns="0" anchor="t">
            <a:normAutofit/>
          </a:bodyPr>
          <a:lstStyle/>
          <a:p>
            <a:pPr algn="l">
              <a:lnSpc>
                <a:spcPct val="100000"/>
              </a:lnSpc>
              <a:buNone/>
              <a:defRPr sz="2250" b="1">
                <a:solidFill>
                  <a:srgbClr val="102A43"/>
                </a:solidFill>
                <a:latin typeface="Arial" panose="020B0604020202020204"/>
                <a:ea typeface="Arial" panose="020B0604020202020204"/>
                <a:cs typeface="Arial" panose="020B0604020202020204"/>
              </a:defRPr>
            </a:pPr>
            <a:r>
              <a:rPr sz="2250" b="1">
                <a:solidFill>
                  <a:srgbClr val="102A43"/>
                </a:solidFill>
                <a:latin typeface="Arial" panose="020B0604020202020204"/>
                <a:ea typeface="Arial" panose="020B0604020202020204"/>
                <a:cs typeface="Arial" panose="020B0604020202020204"/>
              </a:rPr>
              <a:t>262.225,38</a:t>
            </a:r>
            <a:endParaRPr sz="2250" b="1">
              <a:solidFill>
                <a:srgbClr val="102A43"/>
              </a:solidFill>
              <a:latin typeface="Arial" panose="020B0604020202020204"/>
              <a:ea typeface="Arial" panose="020B0604020202020204"/>
              <a:cs typeface="Arial" panose="020B0604020202020204"/>
            </a:endParaRPr>
          </a:p>
        </p:txBody>
      </p:sp>
      <p:sp>
        <p:nvSpPr>
          <p:cNvPr id="18" name="Rectangle 17"/>
          <p:cNvSpPr>
            <a:spLocks noGrp="1"/>
          </p:cNvSpPr>
          <p:nvPr/>
        </p:nvSpPr>
        <p:spPr>
          <a:xfrm>
            <a:off x="8077200" y="2019300"/>
            <a:ext cx="3333750" cy="276225"/>
          </a:xfrm>
          <a:prstGeom prst="rect">
            <a:avLst/>
          </a:prstGeom>
          <a:noFill/>
          <a:ln w="0">
            <a:noFill/>
            <a:prstDash val="solid"/>
          </a:ln>
        </p:spPr>
        <p:txBody>
          <a:bodyPr wrap="square" lIns="0" tIns="0" rIns="0" bIns="0" anchor="t">
            <a:normAutofit/>
          </a:bodyPr>
          <a:lstStyle/>
          <a:p>
            <a:pPr algn="l">
              <a:lnSpc>
                <a:spcPct val="100000"/>
              </a:lnSpc>
              <a:buNone/>
              <a:defRPr sz="1125" b="1">
                <a:solidFill>
                  <a:srgbClr val="5F6C7B"/>
                </a:solidFill>
                <a:latin typeface="Arial" panose="020B0604020202020204"/>
                <a:ea typeface="Arial" panose="020B0604020202020204"/>
                <a:cs typeface="Arial" panose="020B0604020202020204"/>
              </a:defRPr>
            </a:pPr>
            <a:r>
              <a:rPr sz="1125" b="1">
                <a:solidFill>
                  <a:srgbClr val="5F6C7B"/>
                </a:solidFill>
                <a:latin typeface="Arial" panose="020B0604020202020204"/>
                <a:ea typeface="Arial" panose="020B0604020202020204"/>
                <a:cs typeface="Arial" panose="020B0604020202020204"/>
              </a:rPr>
              <a:t>Prediction mẫu (USD)</a:t>
            </a:r>
            <a:endParaRPr sz="1125" b="1">
              <a:solidFill>
                <a:srgbClr val="5F6C7B"/>
              </a:solidFill>
              <a:latin typeface="Arial" panose="020B0604020202020204"/>
              <a:ea typeface="Arial" panose="020B0604020202020204"/>
              <a:cs typeface="Arial" panose="020B0604020202020204"/>
            </a:endParaRPr>
          </a:p>
        </p:txBody>
      </p:sp>
      <p:sp>
        <p:nvSpPr>
          <p:cNvPr id="19" name="Rectangle 18"/>
          <p:cNvSpPr>
            <a:spLocks noGrp="1"/>
          </p:cNvSpPr>
          <p:nvPr/>
        </p:nvSpPr>
        <p:spPr>
          <a:xfrm>
            <a:off x="8077200" y="2305050"/>
            <a:ext cx="3333750" cy="323850"/>
          </a:xfrm>
          <a:prstGeom prst="rect">
            <a:avLst/>
          </a:prstGeom>
          <a:noFill/>
          <a:ln w="0">
            <a:noFill/>
            <a:prstDash val="solid"/>
          </a:ln>
        </p:spPr>
        <p:txBody>
          <a:bodyPr wrap="square" lIns="0" tIns="0" rIns="0" bIns="0" anchor="t">
            <a:normAutofit/>
          </a:bodyPr>
          <a:lstStyle/>
          <a:p>
            <a:pPr algn="l">
              <a:lnSpc>
                <a:spcPct val="100000"/>
              </a:lnSpc>
              <a:buNone/>
              <a:defRPr sz="900" b="0">
                <a:solidFill>
                  <a:srgbClr val="5F6C7B"/>
                </a:solidFill>
                <a:latin typeface="Arial" panose="020B0604020202020204"/>
                <a:ea typeface="Arial" panose="020B0604020202020204"/>
                <a:cs typeface="Arial" panose="020B0604020202020204"/>
              </a:defRPr>
            </a:pPr>
            <a:r>
              <a:rPr sz="900" b="0">
                <a:solidFill>
                  <a:srgbClr val="5F6C7B"/>
                </a:solidFill>
                <a:latin typeface="Arial" panose="020B0604020202020204"/>
                <a:ea typeface="Arial" panose="020B0604020202020204"/>
                <a:cs typeface="Arial" panose="020B0604020202020204"/>
              </a:rPr>
              <a:t>model_version 1.0.0</a:t>
            </a:r>
            <a:endParaRPr sz="900" b="0">
              <a:solidFill>
                <a:srgbClr val="5F6C7B"/>
              </a:solidFill>
              <a:latin typeface="Arial" panose="020B0604020202020204"/>
              <a:ea typeface="Arial" panose="020B0604020202020204"/>
              <a:cs typeface="Arial" panose="020B0604020202020204"/>
            </a:endParaRPr>
          </a:p>
        </p:txBody>
      </p:sp>
      <p:sp>
        <p:nvSpPr>
          <p:cNvPr id="20" name="Rounded Rectangle 19"/>
          <p:cNvSpPr>
            <a:spLocks noGrp="1"/>
          </p:cNvSpPr>
          <p:nvPr/>
        </p:nvSpPr>
        <p:spPr>
          <a:xfrm>
            <a:off x="666750" y="3190875"/>
            <a:ext cx="5191125" cy="2524125"/>
          </a:xfrm>
          <a:prstGeom prst="roundRect">
            <a:avLst>
              <a:gd name="adj" fmla="val 2642"/>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21" name="Rectangle 20"/>
          <p:cNvSpPr>
            <a:spLocks noGrp="1"/>
          </p:cNvSpPr>
          <p:nvPr/>
        </p:nvSpPr>
        <p:spPr>
          <a:xfrm>
            <a:off x="904875" y="3429000"/>
            <a:ext cx="45720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Phạm vi đã kiểm tra</a:t>
            </a:r>
            <a:endParaRPr sz="1650" b="1">
              <a:solidFill>
                <a:srgbClr val="102A43"/>
              </a:solidFill>
              <a:latin typeface="Arial" panose="020B0604020202020204"/>
              <a:ea typeface="Arial" panose="020B0604020202020204"/>
              <a:cs typeface="Arial" panose="020B0604020202020204"/>
            </a:endParaRPr>
          </a:p>
        </p:txBody>
      </p:sp>
      <p:sp>
        <p:nvSpPr>
          <p:cNvPr id="22" name="Rectangle 21"/>
          <p:cNvSpPr>
            <a:spLocks noGrp="1"/>
          </p:cNvSpPr>
          <p:nvPr/>
        </p:nvSpPr>
        <p:spPr>
          <a:xfrm>
            <a:off x="904875" y="3905250"/>
            <a:ext cx="4619625" cy="152400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AI service: health, model info, predict, schema validation.</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Backend: health, API behavior và xử lý client mock.</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Smoke: backend :18000 gọi AI service :18001 thành công.</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Response chứa prediction, model_version và request_id.</a:t>
            </a:r>
            <a:endParaRPr sz="1200">
              <a:solidFill>
                <a:srgbClr val="1D2939"/>
              </a:solidFill>
              <a:latin typeface="Arial" panose="020B0604020202020204"/>
              <a:ea typeface="Arial" panose="020B0604020202020204"/>
              <a:cs typeface="Arial" panose="020B0604020202020204"/>
            </a:endParaRPr>
          </a:p>
        </p:txBody>
      </p:sp>
      <p:sp>
        <p:nvSpPr>
          <p:cNvPr id="23" name="Rounded Rectangle 22"/>
          <p:cNvSpPr>
            <a:spLocks noGrp="1"/>
          </p:cNvSpPr>
          <p:nvPr/>
        </p:nvSpPr>
        <p:spPr>
          <a:xfrm>
            <a:off x="6191250" y="3190875"/>
            <a:ext cx="5334000" cy="2524125"/>
          </a:xfrm>
          <a:prstGeom prst="roundRect">
            <a:avLst>
              <a:gd name="adj" fmla="val 2642"/>
            </a:avLst>
          </a:prstGeom>
          <a:solidFill>
            <a:srgbClr val="FCEDE8"/>
          </a:solidFill>
          <a:ln w="9525">
            <a:solidFill>
              <a:srgbClr val="E76F51"/>
            </a:solidFill>
            <a:prstDash val="solid"/>
          </a:ln>
        </p:spPr>
        <p:style>
          <a:lnRef idx="0">
            <a:srgbClr val="FFFFFF"/>
          </a:lnRef>
          <a:fillRef idx="0">
            <a:srgbClr val="FFFFFF"/>
          </a:fillRef>
          <a:effectRef idx="4">
            <a:srgbClr val="FFFFFF"/>
          </a:effectRef>
          <a:fontRef idx="major"/>
        </p:style>
      </p:sp>
      <p:sp>
        <p:nvSpPr>
          <p:cNvPr id="24" name="Rectangle 23"/>
          <p:cNvSpPr>
            <a:spLocks noGrp="1"/>
          </p:cNvSpPr>
          <p:nvPr/>
        </p:nvSpPr>
        <p:spPr>
          <a:xfrm>
            <a:off x="6429375" y="3429000"/>
            <a:ext cx="4762500" cy="295275"/>
          </a:xfrm>
          <a:prstGeom prst="rect">
            <a:avLst/>
          </a:prstGeom>
          <a:noFill/>
          <a:ln w="0">
            <a:noFill/>
            <a:prstDash val="solid"/>
          </a:ln>
        </p:spPr>
        <p:txBody>
          <a:bodyPr wrap="square" lIns="0" tIns="0" rIns="0" bIns="0" anchor="t">
            <a:normAutofit/>
          </a:bodyPr>
          <a:lstStyle/>
          <a:p>
            <a:pPr algn="l">
              <a:lnSpc>
                <a:spcPct val="100000"/>
              </a:lnSpc>
              <a:buNone/>
              <a:defRPr sz="1650" b="1">
                <a:solidFill>
                  <a:srgbClr val="102A43"/>
                </a:solidFill>
                <a:latin typeface="Arial" panose="020B0604020202020204"/>
                <a:ea typeface="Arial" panose="020B0604020202020204"/>
                <a:cs typeface="Arial" panose="020B0604020202020204"/>
              </a:defRPr>
            </a:pPr>
            <a:r>
              <a:rPr sz="1650" b="1">
                <a:solidFill>
                  <a:srgbClr val="102A43"/>
                </a:solidFill>
                <a:latin typeface="Arial" panose="020B0604020202020204"/>
                <a:ea typeface="Arial" panose="020B0604020202020204"/>
                <a:cs typeface="Arial" panose="020B0604020202020204"/>
              </a:rPr>
              <a:t>Giới hạn kiểm thử</a:t>
            </a:r>
            <a:endParaRPr sz="1650" b="1">
              <a:solidFill>
                <a:srgbClr val="102A43"/>
              </a:solidFill>
              <a:latin typeface="Arial" panose="020B0604020202020204"/>
              <a:ea typeface="Arial" panose="020B0604020202020204"/>
              <a:cs typeface="Arial" panose="020B0604020202020204"/>
            </a:endParaRPr>
          </a:p>
        </p:txBody>
      </p:sp>
      <p:sp>
        <p:nvSpPr>
          <p:cNvPr id="25" name="Rectangle 24"/>
          <p:cNvSpPr>
            <a:spLocks noGrp="1"/>
          </p:cNvSpPr>
          <p:nvPr/>
        </p:nvSpPr>
        <p:spPr>
          <a:xfrm>
            <a:off x="6429375" y="3905250"/>
            <a:ext cx="4762500" cy="152400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MongoDB không chạy trong smoke test.</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API vẫn trả 200; lưu lịch sử báo lỗi kết nối.</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Chưa xác minh endpoint history với dữ liệu thật.</a:t>
            </a:r>
            <a:endParaRPr sz="120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800"/>
              </a:spcAft>
              <a:buNone/>
              <a:defRPr sz="1200">
                <a:solidFill>
                  <a:srgbClr val="1D2939"/>
                </a:solidFill>
                <a:latin typeface="Arial" panose="020B0604020202020204"/>
                <a:ea typeface="Arial" panose="020B0604020202020204"/>
                <a:cs typeface="Arial" panose="020B0604020202020204"/>
              </a:defRPr>
            </a:pPr>
            <a:r>
              <a:rPr sz="1200">
                <a:solidFill>
                  <a:srgbClr val="1D2939"/>
                </a:solidFill>
                <a:latin typeface="Arial" panose="020B0604020202020204"/>
                <a:ea typeface="Arial" panose="020B0604020202020204"/>
                <a:cs typeface="Arial" panose="020B0604020202020204"/>
              </a:rPr>
              <a:t>Mỗi nhóm test có 1 warning deprecation từ thư viện.</a:t>
            </a:r>
            <a:endParaRPr sz="1200">
              <a:solidFill>
                <a:srgbClr val="1D2939"/>
              </a:solidFill>
              <a:latin typeface="Arial" panose="020B0604020202020204"/>
              <a:ea typeface="Arial" panose="020B0604020202020204"/>
              <a:cs typeface="Arial" panose="020B0604020202020204"/>
            </a:endParaRPr>
          </a:p>
        </p:txBody>
      </p:sp>
      <p:sp>
        <p:nvSpPr>
          <p:cNvPr id="26" name="Straight Connector 25"/>
          <p:cNvSpPr>
            <a:spLocks noGrp="1"/>
          </p:cNvSpPr>
          <p:nvPr/>
        </p:nvSpPr>
        <p:spPr>
          <a:xfrm>
            <a:off x="666750" y="6477000"/>
            <a:ext cx="10858500" cy="0"/>
          </a:xfrm>
          <a:prstGeom prst="line">
            <a:avLst/>
          </a:prstGeom>
          <a:noFill/>
          <a:ln w="9525">
            <a:solidFill>
              <a:srgbClr val="D7E0E8"/>
            </a:solidFill>
            <a:prstDash val="solid"/>
          </a:ln>
        </p:spPr>
      </p:sp>
      <p:sp>
        <p:nvSpPr>
          <p:cNvPr id="27" name="Rectangle 26"/>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ai-service/tests; backend/tests; tests/smoke/smoke_test.py; log chạy 27/09/2026</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A"/>
        </a:solidFill>
        <a:effectLst/>
      </p:bgPr>
    </p:bg>
    <p:spTree>
      <p:nvGrpSpPr>
        <p:cNvPr id="1" name=""/>
        <p:cNvGrpSpPr/>
        <p:nvPr/>
      </p:nvGrpSpPr>
      <p:grpSpPr/>
      <p:sp>
        <p:nvSpPr>
          <p:cNvPr id="26" name="Rectangle 25"/>
          <p:cNvSpPr>
            <a:spLocks noGrp="1"/>
          </p:cNvSpPr>
          <p:nvPr/>
        </p:nvSpPr>
        <p:spPr>
          <a:xfrm>
            <a:off x="666750" y="323850"/>
            <a:ext cx="9525000" cy="228600"/>
          </a:xfrm>
          <a:prstGeom prst="rect">
            <a:avLst/>
          </a:prstGeom>
          <a:noFill/>
          <a:ln w="0">
            <a:noFill/>
            <a:prstDash val="solid"/>
          </a:ln>
        </p:spPr>
        <p:txBody>
          <a:bodyPr wrap="square" lIns="0" tIns="0" rIns="0" bIns="0" anchor="t">
            <a:normAutofit/>
          </a:bodyPr>
          <a:lstStyle/>
          <a:p>
            <a:pPr algn="l">
              <a:lnSpc>
                <a:spcPct val="100000"/>
              </a:lnSpc>
              <a:buNone/>
              <a:defRPr sz="975" b="1">
                <a:solidFill>
                  <a:srgbClr val="167D8D"/>
                </a:solidFill>
                <a:latin typeface="Arial" panose="020B0604020202020204"/>
                <a:ea typeface="Arial" panose="020B0604020202020204"/>
                <a:cs typeface="Arial" panose="020B0604020202020204"/>
              </a:defRPr>
            </a:pPr>
            <a:r>
              <a:rPr sz="975" b="1">
                <a:solidFill>
                  <a:srgbClr val="167D8D"/>
                </a:solidFill>
                <a:latin typeface="Arial" panose="020B0604020202020204"/>
                <a:ea typeface="Arial" panose="020B0604020202020204"/>
                <a:cs typeface="Arial" panose="020B0604020202020204"/>
              </a:rPr>
              <a:t>13 · NON-FUNCTIONAL TESTING</a:t>
            </a:r>
            <a:endParaRPr sz="975" b="1">
              <a:solidFill>
                <a:srgbClr val="167D8D"/>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571500"/>
            <a:ext cx="10287000" cy="523875"/>
          </a:xfrm>
          <a:prstGeom prst="rect">
            <a:avLst/>
          </a:prstGeom>
          <a:noFill/>
          <a:ln w="0">
            <a:noFill/>
            <a:prstDash val="solid"/>
          </a:ln>
        </p:spPr>
        <p:txBody>
          <a:bodyPr wrap="square" lIns="0" tIns="0" rIns="0" bIns="0" anchor="t">
            <a:normAutofit/>
          </a:bodyPr>
          <a:lstStyle/>
          <a:p>
            <a:pPr algn="l">
              <a:lnSpc>
                <a:spcPct val="100000"/>
              </a:lnSpc>
              <a:buNone/>
              <a:defRPr sz="2700" b="1">
                <a:solidFill>
                  <a:srgbClr val="102A43"/>
                </a:solidFill>
                <a:latin typeface="Arial" panose="020B0604020202020204"/>
                <a:ea typeface="Arial" panose="020B0604020202020204"/>
                <a:cs typeface="Arial" panose="020B0604020202020204"/>
              </a:defRPr>
            </a:pPr>
            <a:r>
              <a:rPr sz="2700" b="1">
                <a:solidFill>
                  <a:srgbClr val="102A43"/>
                </a:solidFill>
                <a:latin typeface="Arial" panose="020B0604020202020204"/>
                <a:ea typeface="Arial" panose="020B0604020202020204"/>
                <a:cs typeface="Arial" panose="020B0604020202020204"/>
              </a:rPr>
              <a:t>Load test và performance</a:t>
            </a:r>
            <a:endParaRPr sz="2700" b="1">
              <a:solidFill>
                <a:srgbClr val="102A43"/>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666750" y="1152525"/>
            <a:ext cx="714375" cy="47625"/>
          </a:xfrm>
          <a:prstGeom prst="rect">
            <a:avLst/>
          </a:prstGeom>
          <a:solidFill>
            <a:srgbClr val="E76F51"/>
          </a:solidFill>
          <a:ln w="0">
            <a:noFill/>
            <a:prstDash val="solid"/>
          </a:ln>
        </p:spPr>
      </p:sp>
      <p:sp>
        <p:nvSpPr>
          <p:cNvPr id="4" name="Rectangle 3"/>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5F6C7B"/>
                </a:solidFill>
                <a:latin typeface="Arial" panose="020B0604020202020204"/>
                <a:ea typeface="Arial" panose="020B0604020202020204"/>
                <a:cs typeface="Arial" panose="020B0604020202020204"/>
              </a:defRPr>
            </a:pPr>
            <a:r>
              <a:rPr sz="1050" b="1">
                <a:solidFill>
                  <a:srgbClr val="5F6C7B"/>
                </a:solidFill>
                <a:latin typeface="Arial" panose="020B0604020202020204"/>
                <a:ea typeface="Arial" panose="020B0604020202020204"/>
                <a:cs typeface="Arial" panose="020B0604020202020204"/>
              </a:rPr>
              <a:t>15</a:t>
            </a:r>
            <a:endParaRPr sz="1050" b="1">
              <a:solidFill>
                <a:srgbClr val="5F6C7B"/>
              </a:solidFill>
              <a:latin typeface="Arial" panose="020B0604020202020204"/>
              <a:ea typeface="Arial" panose="020B0604020202020204"/>
              <a:cs typeface="Arial" panose="020B0604020202020204"/>
            </a:endParaRPr>
          </a:p>
        </p:txBody>
      </p:sp>
      <p:sp>
        <p:nvSpPr>
          <p:cNvPr id="5" name="Rounded Rectangle 4"/>
          <p:cNvSpPr>
            <a:spLocks noGrp="1"/>
          </p:cNvSpPr>
          <p:nvPr/>
        </p:nvSpPr>
        <p:spPr>
          <a:xfrm>
            <a:off x="666750" y="1476375"/>
            <a:ext cx="4857750" cy="4095750"/>
          </a:xfrm>
          <a:prstGeom prst="roundRect">
            <a:avLst>
              <a:gd name="adj" fmla="val 1628"/>
            </a:avLst>
          </a:prstGeom>
          <a:solidFill>
            <a:srgbClr val="FFFFFF"/>
          </a:solidFill>
          <a:ln w="9525">
            <a:solidFill>
              <a:srgbClr val="D7E0E8"/>
            </a:solidFill>
            <a:prstDash val="solid"/>
          </a:ln>
        </p:spPr>
        <p:style>
          <a:lnRef idx="0">
            <a:srgbClr val="FFFFFF"/>
          </a:lnRef>
          <a:fillRef idx="0">
            <a:srgbClr val="FFFFFF"/>
          </a:fillRef>
          <a:effectRef idx="4">
            <a:srgbClr val="FFFFFF"/>
          </a:effectRef>
          <a:fontRef idx="major"/>
        </p:style>
      </p:sp>
      <p:sp>
        <p:nvSpPr>
          <p:cNvPr id="6" name="Rectangle 5"/>
          <p:cNvSpPr>
            <a:spLocks noGrp="1"/>
          </p:cNvSpPr>
          <p:nvPr/>
        </p:nvSpPr>
        <p:spPr>
          <a:xfrm>
            <a:off x="904875" y="1714500"/>
            <a:ext cx="4286250" cy="333375"/>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Kịch bản k6 đã có</a:t>
            </a:r>
            <a:endParaRPr sz="1875" b="1">
              <a:solidFill>
                <a:srgbClr val="102A43"/>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904875" y="2238375"/>
            <a:ext cx="1809750"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Tham số</a:t>
            </a:r>
            <a:endParaRPr sz="975" b="1">
              <a:solidFill>
                <a:srgbClr val="FFFFFF"/>
              </a:solidFill>
              <a:latin typeface="Arial" panose="020B0604020202020204"/>
              <a:ea typeface="Arial" panose="020B0604020202020204"/>
              <a:cs typeface="Arial" panose="020B0604020202020204"/>
            </a:endParaRPr>
          </a:p>
        </p:txBody>
      </p:sp>
      <p:sp>
        <p:nvSpPr>
          <p:cNvPr id="8" name="Rectangle 7"/>
          <p:cNvSpPr>
            <a:spLocks noGrp="1"/>
          </p:cNvSpPr>
          <p:nvPr/>
        </p:nvSpPr>
        <p:spPr>
          <a:xfrm>
            <a:off x="2714625" y="2238375"/>
            <a:ext cx="2333625" cy="485775"/>
          </a:xfrm>
          <a:prstGeom prst="rect">
            <a:avLst/>
          </a:prstGeom>
          <a:solidFill>
            <a:srgbClr val="102A43"/>
          </a:solidFill>
          <a:ln w="9525">
            <a:solidFill>
              <a:srgbClr val="D7E0E8"/>
            </a:solidFill>
            <a:prstDash val="solid"/>
          </a:ln>
        </p:spPr>
        <p:txBody>
          <a:bodyPr wrap="square" lIns="85725" tIns="38100" rIns="85725" bIns="38100" anchor="ctr">
            <a:normAutofit/>
          </a:bodyPr>
          <a:lstStyle/>
          <a:p>
            <a:pPr algn="l">
              <a:lnSpc>
                <a:spcPct val="100000"/>
              </a:lnSpc>
              <a:buNone/>
              <a:defRPr sz="975" b="1">
                <a:solidFill>
                  <a:srgbClr val="FFFFFF"/>
                </a:solidFill>
                <a:latin typeface="Arial" panose="020B0604020202020204"/>
                <a:ea typeface="Arial" panose="020B0604020202020204"/>
                <a:cs typeface="Arial" panose="020B0604020202020204"/>
              </a:defRPr>
            </a:pPr>
            <a:r>
              <a:rPr sz="975" b="1">
                <a:solidFill>
                  <a:srgbClr val="FFFFFF"/>
                </a:solidFill>
                <a:latin typeface="Arial" panose="020B0604020202020204"/>
                <a:ea typeface="Arial" panose="020B0604020202020204"/>
                <a:cs typeface="Arial" panose="020B0604020202020204"/>
              </a:rPr>
              <a:t>Giá trị cấu hình</a:t>
            </a:r>
            <a:endParaRPr sz="975" b="1">
              <a:solidFill>
                <a:srgbClr val="FFFFFF"/>
              </a:solidFill>
              <a:latin typeface="Arial" panose="020B0604020202020204"/>
              <a:ea typeface="Arial" panose="020B0604020202020204"/>
              <a:cs typeface="Arial" panose="020B0604020202020204"/>
            </a:endParaRPr>
          </a:p>
        </p:txBody>
      </p:sp>
      <p:sp>
        <p:nvSpPr>
          <p:cNvPr id="9" name="Rectangle 8"/>
          <p:cNvSpPr>
            <a:spLocks noGrp="1"/>
          </p:cNvSpPr>
          <p:nvPr/>
        </p:nvSpPr>
        <p:spPr>
          <a:xfrm>
            <a:off x="904875" y="2724150"/>
            <a:ext cx="1809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Virtual users</a:t>
            </a:r>
            <a:endParaRPr sz="1125" b="1">
              <a:solidFill>
                <a:srgbClr val="1D2939"/>
              </a:solidFill>
              <a:latin typeface="Arial" panose="020B0604020202020204"/>
              <a:ea typeface="Arial" panose="020B0604020202020204"/>
              <a:cs typeface="Arial" panose="020B0604020202020204"/>
            </a:endParaRPr>
          </a:p>
        </p:txBody>
      </p:sp>
      <p:sp>
        <p:nvSpPr>
          <p:cNvPr id="10" name="Rectangle 9"/>
          <p:cNvSpPr>
            <a:spLocks noGrp="1"/>
          </p:cNvSpPr>
          <p:nvPr/>
        </p:nvSpPr>
        <p:spPr>
          <a:xfrm>
            <a:off x="2714625" y="2724150"/>
            <a:ext cx="23336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10 VUs</a:t>
            </a:r>
            <a:endParaRPr sz="1125" b="0">
              <a:solidFill>
                <a:srgbClr val="1D2939"/>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904875" y="3209925"/>
            <a:ext cx="1809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Thời lượng</a:t>
            </a:r>
            <a:endParaRPr sz="1125" b="1">
              <a:solidFill>
                <a:srgbClr val="1D2939"/>
              </a:solidFill>
              <a:latin typeface="Arial" panose="020B0604020202020204"/>
              <a:ea typeface="Arial" panose="020B0604020202020204"/>
              <a:cs typeface="Arial" panose="020B0604020202020204"/>
            </a:endParaRPr>
          </a:p>
        </p:txBody>
      </p:sp>
      <p:sp>
        <p:nvSpPr>
          <p:cNvPr id="12" name="Rectangle 11"/>
          <p:cNvSpPr>
            <a:spLocks noGrp="1"/>
          </p:cNvSpPr>
          <p:nvPr/>
        </p:nvSpPr>
        <p:spPr>
          <a:xfrm>
            <a:off x="2714625" y="3209925"/>
            <a:ext cx="23336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60 giây</a:t>
            </a:r>
            <a:endParaRPr sz="1125" b="0">
              <a:solidFill>
                <a:srgbClr val="1D2939"/>
              </a:solidFill>
              <a:latin typeface="Arial" panose="020B0604020202020204"/>
              <a:ea typeface="Arial" panose="020B0604020202020204"/>
              <a:cs typeface="Arial" panose="020B0604020202020204"/>
            </a:endParaRPr>
          </a:p>
        </p:txBody>
      </p:sp>
      <p:sp>
        <p:nvSpPr>
          <p:cNvPr id="13" name="Rectangle 12"/>
          <p:cNvSpPr>
            <a:spLocks noGrp="1"/>
          </p:cNvSpPr>
          <p:nvPr/>
        </p:nvSpPr>
        <p:spPr>
          <a:xfrm>
            <a:off x="904875" y="3695700"/>
            <a:ext cx="1809750"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p95 latency</a:t>
            </a:r>
            <a:endParaRPr sz="1125" b="1">
              <a:solidFill>
                <a:srgbClr val="1D2939"/>
              </a:solidFill>
              <a:latin typeface="Arial" panose="020B0604020202020204"/>
              <a:ea typeface="Arial" panose="020B0604020202020204"/>
              <a:cs typeface="Arial" panose="020B0604020202020204"/>
            </a:endParaRPr>
          </a:p>
        </p:txBody>
      </p:sp>
      <p:sp>
        <p:nvSpPr>
          <p:cNvPr id="14" name="Rectangle 13"/>
          <p:cNvSpPr>
            <a:spLocks noGrp="1"/>
          </p:cNvSpPr>
          <p:nvPr/>
        </p:nvSpPr>
        <p:spPr>
          <a:xfrm>
            <a:off x="2714625" y="3695700"/>
            <a:ext cx="2333625" cy="485775"/>
          </a:xfrm>
          <a:prstGeom prst="rect">
            <a:avLst/>
          </a:prstGeom>
          <a:solidFill>
            <a:srgbClr val="FFFFFF"/>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&lt; 2.000 ms</a:t>
            </a:r>
            <a:endParaRPr sz="1125" b="0">
              <a:solidFill>
                <a:srgbClr val="1D2939"/>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904875" y="4181475"/>
            <a:ext cx="1809750"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1">
                <a:solidFill>
                  <a:srgbClr val="1D2939"/>
                </a:solidFill>
                <a:latin typeface="Arial" panose="020B0604020202020204"/>
                <a:ea typeface="Arial" panose="020B0604020202020204"/>
                <a:cs typeface="Arial" panose="020B0604020202020204"/>
              </a:defRPr>
            </a:pPr>
            <a:r>
              <a:rPr sz="1125" b="1">
                <a:solidFill>
                  <a:srgbClr val="1D2939"/>
                </a:solidFill>
                <a:latin typeface="Arial" panose="020B0604020202020204"/>
                <a:ea typeface="Arial" panose="020B0604020202020204"/>
                <a:cs typeface="Arial" panose="020B0604020202020204"/>
              </a:rPr>
              <a:t>Error rate</a:t>
            </a:r>
            <a:endParaRPr sz="1125" b="1">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2714625" y="4181475"/>
            <a:ext cx="2333625" cy="485775"/>
          </a:xfrm>
          <a:prstGeom prst="rect">
            <a:avLst/>
          </a:prstGeom>
          <a:solidFill>
            <a:srgbClr val="EAF1F8"/>
          </a:solidFill>
          <a:ln w="9525">
            <a:solidFill>
              <a:srgbClr val="D7E0E8"/>
            </a:solidFill>
            <a:prstDash val="solid"/>
          </a:ln>
        </p:spPr>
        <p:txBody>
          <a:bodyPr wrap="square" lIns="85725" tIns="38100" rIns="85725" bIns="38100" anchor="ctr">
            <a:normAutofit/>
          </a:bodyPr>
          <a:lstStyle/>
          <a:p>
            <a:pPr algn="l">
              <a:lnSpc>
                <a:spcPct val="100000"/>
              </a:lnSpc>
              <a:buNone/>
              <a:defRPr sz="1125" b="0">
                <a:solidFill>
                  <a:srgbClr val="1D2939"/>
                </a:solidFill>
                <a:latin typeface="Arial" panose="020B0604020202020204"/>
                <a:ea typeface="Arial" panose="020B0604020202020204"/>
                <a:cs typeface="Arial" panose="020B0604020202020204"/>
              </a:defRPr>
            </a:pPr>
            <a:r>
              <a:rPr sz="1125" b="0">
                <a:solidFill>
                  <a:srgbClr val="1D2939"/>
                </a:solidFill>
                <a:latin typeface="Arial" panose="020B0604020202020204"/>
                <a:ea typeface="Arial" panose="020B0604020202020204"/>
                <a:cs typeface="Arial" panose="020B0604020202020204"/>
              </a:rPr>
              <a:t>&lt; 1%</a:t>
            </a:r>
            <a:endParaRPr sz="1125" b="0">
              <a:solidFill>
                <a:srgbClr val="1D2939"/>
              </a:solidFill>
              <a:latin typeface="Arial" panose="020B0604020202020204"/>
              <a:ea typeface="Arial" panose="020B0604020202020204"/>
              <a:cs typeface="Arial" panose="020B0604020202020204"/>
            </a:endParaRPr>
          </a:p>
        </p:txBody>
      </p:sp>
      <p:sp>
        <p:nvSpPr>
          <p:cNvPr id="17" name="Rectangle 16"/>
          <p:cNvSpPr>
            <a:spLocks noGrp="1"/>
          </p:cNvSpPr>
          <p:nvPr/>
        </p:nvSpPr>
        <p:spPr>
          <a:xfrm>
            <a:off x="1000125" y="4953000"/>
            <a:ext cx="3905250" cy="247650"/>
          </a:xfrm>
          <a:prstGeom prst="rect">
            <a:avLst/>
          </a:prstGeom>
          <a:noFill/>
          <a:ln w="0">
            <a:noFill/>
            <a:prstDash val="solid"/>
          </a:ln>
        </p:spPr>
        <p:txBody>
          <a:bodyPr wrap="square" lIns="0" tIns="0" rIns="0" bIns="0" anchor="t">
            <a:normAutofit/>
          </a:bodyPr>
          <a:lstStyle/>
          <a:p>
            <a:pPr algn="l">
              <a:lnSpc>
                <a:spcPct val="100000"/>
              </a:lnSpc>
              <a:buNone/>
              <a:defRPr sz="975" b="0">
                <a:solidFill>
                  <a:srgbClr val="5F6C7B"/>
                </a:solidFill>
                <a:latin typeface="Arial" panose="020B0604020202020204"/>
                <a:ea typeface="Arial" panose="020B0604020202020204"/>
                <a:cs typeface="Arial" panose="020B0604020202020204"/>
              </a:defRPr>
            </a:pPr>
            <a:r>
              <a:rPr sz="975" b="0">
                <a:solidFill>
                  <a:srgbClr val="5F6C7B"/>
                </a:solidFill>
                <a:latin typeface="Arial" panose="020B0604020202020204"/>
                <a:ea typeface="Arial" panose="020B0604020202020204"/>
                <a:cs typeface="Arial" panose="020B0604020202020204"/>
              </a:rPr>
              <a:t>File: tests/load/predict.js</a:t>
            </a:r>
            <a:endParaRPr sz="975" b="0">
              <a:solidFill>
                <a:srgbClr val="5F6C7B"/>
              </a:solidFill>
              <a:latin typeface="Arial" panose="020B0604020202020204"/>
              <a:ea typeface="Arial" panose="020B0604020202020204"/>
              <a:cs typeface="Arial" panose="020B0604020202020204"/>
            </a:endParaRPr>
          </a:p>
        </p:txBody>
      </p:sp>
      <p:sp>
        <p:nvSpPr>
          <p:cNvPr id="18" name="Rounded Rectangle 17"/>
          <p:cNvSpPr>
            <a:spLocks noGrp="1"/>
          </p:cNvSpPr>
          <p:nvPr/>
        </p:nvSpPr>
        <p:spPr>
          <a:xfrm>
            <a:off x="5905500" y="1476375"/>
            <a:ext cx="5619750" cy="4095750"/>
          </a:xfrm>
          <a:prstGeom prst="roundRect">
            <a:avLst>
              <a:gd name="adj" fmla="val 1628"/>
            </a:avLst>
          </a:prstGeom>
          <a:solidFill>
            <a:srgbClr val="FFF7DF"/>
          </a:solidFill>
          <a:ln w="9525">
            <a:solidFill>
              <a:srgbClr val="E9C46A"/>
            </a:solidFill>
            <a:prstDash val="solid"/>
          </a:ln>
        </p:spPr>
        <p:style>
          <a:lnRef idx="0">
            <a:srgbClr val="FFFFFF"/>
          </a:lnRef>
          <a:fillRef idx="0">
            <a:srgbClr val="FFFFFF"/>
          </a:fillRef>
          <a:effectRef idx="4">
            <a:srgbClr val="FFFFFF"/>
          </a:effectRef>
          <a:fontRef idx="major"/>
        </p:style>
      </p:sp>
      <p:sp>
        <p:nvSpPr>
          <p:cNvPr id="19" name="Rectangle 18"/>
          <p:cNvSpPr>
            <a:spLocks noGrp="1"/>
          </p:cNvSpPr>
          <p:nvPr/>
        </p:nvSpPr>
        <p:spPr>
          <a:xfrm>
            <a:off x="6191250" y="1714500"/>
            <a:ext cx="5048250" cy="333375"/>
          </a:xfrm>
          <a:prstGeom prst="rect">
            <a:avLst/>
          </a:prstGeom>
          <a:noFill/>
          <a:ln w="0">
            <a:noFill/>
            <a:prstDash val="solid"/>
          </a:ln>
        </p:spPr>
        <p:txBody>
          <a:bodyPr wrap="square" lIns="0" tIns="0" rIns="0" bIns="0" anchor="t">
            <a:normAutofit/>
          </a:bodyPr>
          <a:lstStyle/>
          <a:p>
            <a:pPr algn="l">
              <a:lnSpc>
                <a:spcPct val="100000"/>
              </a:lnSpc>
              <a:buNone/>
              <a:defRPr sz="1875" b="1">
                <a:solidFill>
                  <a:srgbClr val="102A43"/>
                </a:solidFill>
                <a:latin typeface="Arial" panose="020B0604020202020204"/>
                <a:ea typeface="Arial" panose="020B0604020202020204"/>
                <a:cs typeface="Arial" panose="020B0604020202020204"/>
              </a:defRPr>
            </a:pPr>
            <a:r>
              <a:rPr sz="1875" b="1">
                <a:solidFill>
                  <a:srgbClr val="102A43"/>
                </a:solidFill>
                <a:latin typeface="Arial" panose="020B0604020202020204"/>
                <a:ea typeface="Arial" panose="020B0604020202020204"/>
                <a:cs typeface="Arial" panose="020B0604020202020204"/>
              </a:rPr>
              <a:t>Kết quả thực tế</a:t>
            </a:r>
            <a:endParaRPr sz="1875" b="1">
              <a:solidFill>
                <a:srgbClr val="102A43"/>
              </a:solidFill>
              <a:latin typeface="Arial" panose="020B0604020202020204"/>
              <a:ea typeface="Arial" panose="020B0604020202020204"/>
              <a:cs typeface="Arial" panose="020B0604020202020204"/>
            </a:endParaRPr>
          </a:p>
        </p:txBody>
      </p:sp>
      <p:sp>
        <p:nvSpPr>
          <p:cNvPr id="20" name="Rectangle 19"/>
          <p:cNvSpPr>
            <a:spLocks noGrp="1"/>
          </p:cNvSpPr>
          <p:nvPr/>
        </p:nvSpPr>
        <p:spPr>
          <a:xfrm>
            <a:off x="6191250" y="2286000"/>
            <a:ext cx="2476500" cy="628650"/>
          </a:xfrm>
          <a:prstGeom prst="rect">
            <a:avLst/>
          </a:prstGeom>
          <a:noFill/>
          <a:ln w="0">
            <a:noFill/>
            <a:prstDash val="solid"/>
          </a:ln>
        </p:spPr>
        <p:txBody>
          <a:bodyPr wrap="square" lIns="0" tIns="0" rIns="0" bIns="0" anchor="t">
            <a:normAutofit/>
          </a:bodyPr>
          <a:lstStyle/>
          <a:p>
            <a:pPr algn="l">
              <a:lnSpc>
                <a:spcPct val="100000"/>
              </a:lnSpc>
              <a:buNone/>
              <a:defRPr sz="2850" b="1">
                <a:solidFill>
                  <a:srgbClr val="B54736"/>
                </a:solidFill>
                <a:latin typeface="Arial" panose="020B0604020202020204"/>
                <a:ea typeface="Arial" panose="020B0604020202020204"/>
                <a:cs typeface="Arial" panose="020B0604020202020204"/>
              </a:defRPr>
            </a:pPr>
            <a:r>
              <a:rPr sz="2850" b="1">
                <a:solidFill>
                  <a:srgbClr val="B54736"/>
                </a:solidFill>
                <a:latin typeface="Arial" panose="020B0604020202020204"/>
                <a:ea typeface="Arial" panose="020B0604020202020204"/>
                <a:cs typeface="Arial" panose="020B0604020202020204"/>
              </a:rPr>
              <a:t>CHƯA CÓ</a:t>
            </a:r>
            <a:endParaRPr sz="2850" b="1">
              <a:solidFill>
                <a:srgbClr val="B54736"/>
              </a:solidFill>
              <a:latin typeface="Arial" panose="020B0604020202020204"/>
              <a:ea typeface="Arial" panose="020B0604020202020204"/>
              <a:cs typeface="Arial" panose="020B0604020202020204"/>
            </a:endParaRPr>
          </a:p>
        </p:txBody>
      </p:sp>
      <p:sp>
        <p:nvSpPr>
          <p:cNvPr id="21" name="Rectangle 20"/>
          <p:cNvSpPr>
            <a:spLocks noGrp="1"/>
          </p:cNvSpPr>
          <p:nvPr/>
        </p:nvSpPr>
        <p:spPr>
          <a:xfrm>
            <a:off x="6191250" y="3095625"/>
            <a:ext cx="4762500" cy="16192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k6 chưa được cài trên môi trường kiểm tra.</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p50 / p95 / throughput: chưa đo.</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Lighthouse frontend: chưa đo.</a:t>
            </a:r>
            <a:endParaRPr sz="1350">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000"/>
              </a:spcAft>
              <a:buNone/>
              <a:defRPr sz="1350">
                <a:solidFill>
                  <a:srgbClr val="1D2939"/>
                </a:solidFill>
                <a:latin typeface="Arial" panose="020B0604020202020204"/>
                <a:ea typeface="Arial" panose="020B0604020202020204"/>
                <a:cs typeface="Arial" panose="020B0604020202020204"/>
              </a:defRPr>
            </a:pPr>
            <a:r>
              <a:rPr sz="1350">
                <a:solidFill>
                  <a:srgbClr val="1D2939"/>
                </a:solidFill>
                <a:latin typeface="Arial" panose="020B0604020202020204"/>
                <a:ea typeface="Arial" panose="020B0604020202020204"/>
                <a:cs typeface="Arial" panose="020B0604020202020204"/>
              </a:rPr>
              <a:t>docs/performance-test.md hiện vẫn là TBD.</a:t>
            </a:r>
            <a:endParaRPr sz="1350">
              <a:solidFill>
                <a:srgbClr val="1D2939"/>
              </a:solidFill>
              <a:latin typeface="Arial" panose="020B0604020202020204"/>
              <a:ea typeface="Arial" panose="020B0604020202020204"/>
              <a:cs typeface="Arial" panose="020B0604020202020204"/>
            </a:endParaRPr>
          </a:p>
        </p:txBody>
      </p:sp>
      <p:sp>
        <p:nvSpPr>
          <p:cNvPr id="22" name="Rounded Rectangle 21"/>
          <p:cNvSpPr>
            <a:spLocks noGrp="1"/>
          </p:cNvSpPr>
          <p:nvPr/>
        </p:nvSpPr>
        <p:spPr>
          <a:xfrm>
            <a:off x="6191250" y="4857750"/>
            <a:ext cx="4762500" cy="428625"/>
          </a:xfrm>
          <a:prstGeom prst="roundRect">
            <a:avLst>
              <a:gd name="adj" fmla="val 15556"/>
            </a:avLst>
          </a:prstGeom>
          <a:solidFill>
            <a:srgbClr val="FFFFFF"/>
          </a:solidFill>
          <a:ln w="9525">
            <a:solidFill>
              <a:srgbClr val="E9C46A"/>
            </a:solidFill>
            <a:prstDash val="solid"/>
          </a:ln>
        </p:spPr>
        <p:style>
          <a:lnRef idx="0">
            <a:srgbClr val="FFFFFF"/>
          </a:lnRef>
          <a:fillRef idx="0">
            <a:srgbClr val="FFFFFF"/>
          </a:fillRef>
          <a:effectRef idx="4">
            <a:srgbClr val="FFFFFF"/>
          </a:effectRef>
          <a:fontRef idx="major"/>
        </p:style>
      </p:sp>
      <p:sp>
        <p:nvSpPr>
          <p:cNvPr id="23" name="Rectangle 22"/>
          <p:cNvSpPr>
            <a:spLocks noGrp="1"/>
          </p:cNvSpPr>
          <p:nvPr/>
        </p:nvSpPr>
        <p:spPr>
          <a:xfrm>
            <a:off x="6334125" y="4914900"/>
            <a:ext cx="4476750" cy="295275"/>
          </a:xfrm>
          <a:prstGeom prst="rect">
            <a:avLst/>
          </a:prstGeom>
          <a:noFill/>
          <a:ln w="0">
            <a:noFill/>
            <a:prstDash val="solid"/>
          </a:ln>
        </p:spPr>
        <p:txBody>
          <a:bodyPr wrap="square" lIns="95250" tIns="57150" rIns="95250" bIns="57150" anchor="ctr">
            <a:normAutofit/>
          </a:bodyPr>
          <a:lstStyle/>
          <a:p>
            <a:pPr algn="ctr">
              <a:lnSpc>
                <a:spcPct val="100000"/>
              </a:lnSpc>
              <a:buNone/>
              <a:defRPr sz="1125" b="1">
                <a:solidFill>
                  <a:srgbClr val="102A43"/>
                </a:solidFill>
                <a:latin typeface="Arial" panose="020B0604020202020204"/>
                <a:ea typeface="Arial" panose="020B0604020202020204"/>
                <a:cs typeface="Arial" panose="020B0604020202020204"/>
              </a:defRPr>
            </a:pPr>
            <a:r>
              <a:rPr sz="1125" b="1">
                <a:solidFill>
                  <a:srgbClr val="102A43"/>
                </a:solidFill>
                <a:latin typeface="Arial" panose="020B0604020202020204"/>
                <a:ea typeface="Arial" panose="020B0604020202020204"/>
                <a:cs typeface="Arial" panose="020B0604020202020204"/>
              </a:rPr>
              <a:t>Không suy diễn số liệu khi chưa chạy benchmark.</a:t>
            </a:r>
            <a:endParaRPr sz="1125" b="1">
              <a:solidFill>
                <a:srgbClr val="102A43"/>
              </a:solidFill>
              <a:latin typeface="Arial" panose="020B0604020202020204"/>
              <a:ea typeface="Arial" panose="020B0604020202020204"/>
              <a:cs typeface="Arial" panose="020B0604020202020204"/>
            </a:endParaRPr>
          </a:p>
        </p:txBody>
      </p:sp>
      <p:sp>
        <p:nvSpPr>
          <p:cNvPr id="24" name="Straight Connector 23"/>
          <p:cNvSpPr>
            <a:spLocks noGrp="1"/>
          </p:cNvSpPr>
          <p:nvPr/>
        </p:nvSpPr>
        <p:spPr>
          <a:xfrm>
            <a:off x="666750" y="6477000"/>
            <a:ext cx="10858500" cy="0"/>
          </a:xfrm>
          <a:prstGeom prst="line">
            <a:avLst/>
          </a:prstGeom>
          <a:noFill/>
          <a:ln w="9525">
            <a:solidFill>
              <a:srgbClr val="D7E0E8"/>
            </a:solidFill>
            <a:prstDash val="solid"/>
          </a:ln>
        </p:spPr>
      </p:sp>
      <p:sp>
        <p:nvSpPr>
          <p:cNvPr id="25" name="Rectangle 24"/>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5F6C7B"/>
                </a:solidFill>
                <a:latin typeface="Arial" panose="020B0604020202020204"/>
                <a:ea typeface="Arial" panose="020B0604020202020204"/>
                <a:cs typeface="Arial" panose="020B0604020202020204"/>
              </a:defRPr>
            </a:pPr>
            <a:r>
              <a:rPr sz="825" b="0">
                <a:solidFill>
                  <a:srgbClr val="5F6C7B"/>
                </a:solidFill>
                <a:latin typeface="Arial" panose="020B0604020202020204"/>
                <a:ea typeface="Arial" panose="020B0604020202020204"/>
                <a:cs typeface="Arial" panose="020B0604020202020204"/>
              </a:rPr>
              <a:t>Nguồn: tests/load/predict.js; docs/performance-test.md</a:t>
            </a:r>
            <a:endParaRPr sz="825" b="0">
              <a:solidFill>
                <a:srgbClr val="5F6C7B"/>
              </a:solidFill>
              <a:latin typeface="Arial" panose="020B0604020202020204"/>
              <a:ea typeface="Arial" panose="020B0604020202020204"/>
              <a:cs typeface="Arial" panose="020B060402020202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02A43"/>
        </a:solidFill>
        <a:effectLst/>
      </p:bgPr>
    </p:bg>
    <p:spTree>
      <p:nvGrpSpPr>
        <p:cNvPr id="1" name=""/>
        <p:cNvGrpSpPr/>
        <p:nvPr/>
      </p:nvGrpSpPr>
      <p:grpSpPr/>
      <p:sp>
        <p:nvSpPr>
          <p:cNvPr id="19" name="Rectangle 18"/>
          <p:cNvSpPr>
            <a:spLocks noGrp="1"/>
          </p:cNvSpPr>
          <p:nvPr/>
        </p:nvSpPr>
        <p:spPr>
          <a:xfrm>
            <a:off x="666750" y="400050"/>
            <a:ext cx="9334500" cy="247650"/>
          </a:xfrm>
          <a:prstGeom prst="rect">
            <a:avLst/>
          </a:prstGeom>
          <a:noFill/>
          <a:ln w="0">
            <a:noFill/>
            <a:prstDash val="solid"/>
          </a:ln>
        </p:spPr>
        <p:txBody>
          <a:bodyPr wrap="square" lIns="0" tIns="0" rIns="0" bIns="0" anchor="t">
            <a:normAutofit/>
          </a:bodyPr>
          <a:lstStyle/>
          <a:p>
            <a:pPr algn="l">
              <a:lnSpc>
                <a:spcPct val="100000"/>
              </a:lnSpc>
              <a:buNone/>
              <a:defRPr sz="1050" b="1">
                <a:solidFill>
                  <a:srgbClr val="E9C46A"/>
                </a:solidFill>
                <a:latin typeface="Arial" panose="020B0604020202020204"/>
                <a:ea typeface="Arial" panose="020B0604020202020204"/>
                <a:cs typeface="Arial" panose="020B0604020202020204"/>
              </a:defRPr>
            </a:pPr>
            <a:r>
              <a:rPr sz="1050" b="1">
                <a:solidFill>
                  <a:srgbClr val="E9C46A"/>
                </a:solidFill>
                <a:latin typeface="Arial" panose="020B0604020202020204"/>
                <a:ea typeface="Arial" panose="020B0604020202020204"/>
                <a:cs typeface="Arial" panose="020B0604020202020204"/>
              </a:rPr>
              <a:t>14 · WRAP-UP</a:t>
            </a:r>
            <a:endParaRPr sz="1050" b="1">
              <a:solidFill>
                <a:srgbClr val="E9C46A"/>
              </a:solidFill>
              <a:latin typeface="Arial" panose="020B0604020202020204"/>
              <a:ea typeface="Arial" panose="020B0604020202020204"/>
              <a:cs typeface="Arial" panose="020B0604020202020204"/>
            </a:endParaRPr>
          </a:p>
        </p:txBody>
      </p:sp>
      <p:sp>
        <p:nvSpPr>
          <p:cNvPr id="2" name="Rectangle 1"/>
          <p:cNvSpPr>
            <a:spLocks noGrp="1"/>
          </p:cNvSpPr>
          <p:nvPr/>
        </p:nvSpPr>
        <p:spPr>
          <a:xfrm>
            <a:off x="666750" y="685800"/>
            <a:ext cx="10287000" cy="552450"/>
          </a:xfrm>
          <a:prstGeom prst="rect">
            <a:avLst/>
          </a:prstGeom>
          <a:noFill/>
          <a:ln w="0">
            <a:noFill/>
            <a:prstDash val="solid"/>
          </a:ln>
        </p:spPr>
        <p:txBody>
          <a:bodyPr wrap="square" lIns="0" tIns="0" rIns="0" bIns="0" anchor="t">
            <a:normAutofit/>
          </a:bodyPr>
          <a:lstStyle/>
          <a:p>
            <a:pPr algn="l">
              <a:lnSpc>
                <a:spcPct val="100000"/>
              </a:lnSpc>
              <a:buNone/>
              <a:defRPr sz="2850" b="1">
                <a:solidFill>
                  <a:srgbClr val="FFFFFF"/>
                </a:solidFill>
                <a:latin typeface="Arial" panose="020B0604020202020204"/>
                <a:ea typeface="Arial" panose="020B0604020202020204"/>
                <a:cs typeface="Arial" panose="020B0604020202020204"/>
              </a:defRPr>
            </a:pPr>
            <a:r>
              <a:rPr sz="2850" b="1">
                <a:solidFill>
                  <a:srgbClr val="FFFFFF"/>
                </a:solidFill>
                <a:latin typeface="Arial" panose="020B0604020202020204"/>
                <a:ea typeface="Arial" panose="020B0604020202020204"/>
                <a:cs typeface="Arial" panose="020B0604020202020204"/>
              </a:rPr>
              <a:t>Kết luận và hướng phát triển</a:t>
            </a:r>
            <a:endParaRPr sz="2850" b="1">
              <a:solidFill>
                <a:srgbClr val="FFFFFF"/>
              </a:solidFill>
              <a:latin typeface="Arial" panose="020B0604020202020204"/>
              <a:ea typeface="Arial" panose="020B0604020202020204"/>
              <a:cs typeface="Arial" panose="020B0604020202020204"/>
            </a:endParaRPr>
          </a:p>
        </p:txBody>
      </p:sp>
      <p:sp>
        <p:nvSpPr>
          <p:cNvPr id="3" name="Rectangle 2"/>
          <p:cNvSpPr>
            <a:spLocks noGrp="1"/>
          </p:cNvSpPr>
          <p:nvPr/>
        </p:nvSpPr>
        <p:spPr>
          <a:xfrm>
            <a:off x="11191875" y="409575"/>
            <a:ext cx="381000" cy="247650"/>
          </a:xfrm>
          <a:prstGeom prst="rect">
            <a:avLst/>
          </a:prstGeom>
          <a:noFill/>
          <a:ln w="0">
            <a:noFill/>
            <a:prstDash val="solid"/>
          </a:ln>
        </p:spPr>
        <p:txBody>
          <a:bodyPr wrap="square" lIns="0" tIns="0" rIns="0" bIns="0" anchor="t">
            <a:normAutofit/>
          </a:bodyPr>
          <a:lstStyle/>
          <a:p>
            <a:pPr algn="r">
              <a:lnSpc>
                <a:spcPct val="100000"/>
              </a:lnSpc>
              <a:buNone/>
              <a:defRPr sz="1050" b="1">
                <a:solidFill>
                  <a:srgbClr val="FFFFFF"/>
                </a:solidFill>
                <a:latin typeface="Arial" panose="020B0604020202020204"/>
                <a:ea typeface="Arial" panose="020B0604020202020204"/>
                <a:cs typeface="Arial" panose="020B0604020202020204"/>
              </a:defRPr>
            </a:pPr>
            <a:r>
              <a:rPr sz="1050" b="1">
                <a:solidFill>
                  <a:srgbClr val="FFFFFF"/>
                </a:solidFill>
                <a:latin typeface="Arial" panose="020B0604020202020204"/>
                <a:ea typeface="Arial" panose="020B0604020202020204"/>
                <a:cs typeface="Arial" panose="020B0604020202020204"/>
              </a:rPr>
              <a:t>16</a:t>
            </a:r>
            <a:endParaRPr sz="1050" b="1">
              <a:solidFill>
                <a:srgbClr val="FFFFFF"/>
              </a:solidFill>
              <a:latin typeface="Arial" panose="020B0604020202020204"/>
              <a:ea typeface="Arial" panose="020B0604020202020204"/>
              <a:cs typeface="Arial" panose="020B0604020202020204"/>
            </a:endParaRPr>
          </a:p>
        </p:txBody>
      </p:sp>
      <p:sp>
        <p:nvSpPr>
          <p:cNvPr id="4" name="Rounded Rectangle 3"/>
          <p:cNvSpPr>
            <a:spLocks noGrp="1"/>
          </p:cNvSpPr>
          <p:nvPr/>
        </p:nvSpPr>
        <p:spPr>
          <a:xfrm>
            <a:off x="666750" y="1571625"/>
            <a:ext cx="3238500" cy="3714750"/>
          </a:xfrm>
          <a:prstGeom prst="roundRect">
            <a:avLst>
              <a:gd name="adj" fmla="val 2059"/>
            </a:avLst>
          </a:prstGeom>
          <a:solidFill>
            <a:srgbClr val="FFFFFF"/>
          </a:solidFill>
          <a:ln w="9525">
            <a:solidFill>
              <a:srgbClr val="167D8D"/>
            </a:solidFill>
            <a:prstDash val="solid"/>
          </a:ln>
        </p:spPr>
        <p:style>
          <a:lnRef idx="0">
            <a:srgbClr val="FFFFFF"/>
          </a:lnRef>
          <a:fillRef idx="0">
            <a:srgbClr val="FFFFFF"/>
          </a:fillRef>
          <a:effectRef idx="6">
            <a:srgbClr val="FFFFFF"/>
          </a:effectRef>
          <a:fontRef idx="major"/>
        </p:style>
      </p:sp>
      <p:sp>
        <p:nvSpPr>
          <p:cNvPr id="5" name="Rectangle 4"/>
          <p:cNvSpPr>
            <a:spLocks noGrp="1"/>
          </p:cNvSpPr>
          <p:nvPr/>
        </p:nvSpPr>
        <p:spPr>
          <a:xfrm>
            <a:off x="666750" y="1571625"/>
            <a:ext cx="3238500" cy="85725"/>
          </a:xfrm>
          <a:prstGeom prst="rect">
            <a:avLst/>
          </a:prstGeom>
          <a:solidFill>
            <a:srgbClr val="167D8D"/>
          </a:solidFill>
          <a:ln w="0">
            <a:noFill/>
            <a:prstDash val="solid"/>
          </a:ln>
        </p:spPr>
      </p:sp>
      <p:sp>
        <p:nvSpPr>
          <p:cNvPr id="6" name="Rectangle 5"/>
          <p:cNvSpPr>
            <a:spLocks noGrp="1"/>
          </p:cNvSpPr>
          <p:nvPr/>
        </p:nvSpPr>
        <p:spPr>
          <a:xfrm>
            <a:off x="904875"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Đã hoàn thành</a:t>
            </a:r>
            <a:endParaRPr sz="1800" b="1">
              <a:solidFill>
                <a:srgbClr val="102A43"/>
              </a:solidFill>
              <a:latin typeface="Arial" panose="020B0604020202020204"/>
              <a:ea typeface="Arial" panose="020B0604020202020204"/>
              <a:cs typeface="Arial" panose="020B0604020202020204"/>
            </a:endParaRPr>
          </a:p>
        </p:txBody>
      </p:sp>
      <p:sp>
        <p:nvSpPr>
          <p:cNvPr id="7" name="Rectangle 6"/>
          <p:cNvSpPr>
            <a:spLocks noGrp="1"/>
          </p:cNvSpPr>
          <p:nvPr/>
        </p:nvSpPr>
        <p:spPr>
          <a:xfrm>
            <a:off x="933450"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EDA với hình thực tế</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4 model + tuning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Artifact Gradient Boosting</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API đa service</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12/12 pytest + smoke PASS</a:t>
            </a:r>
            <a:endParaRPr sz="1275">
              <a:solidFill>
                <a:srgbClr val="1D2939"/>
              </a:solidFill>
              <a:latin typeface="Arial" panose="020B0604020202020204"/>
              <a:ea typeface="Arial" panose="020B0604020202020204"/>
              <a:cs typeface="Arial" panose="020B0604020202020204"/>
            </a:endParaRPr>
          </a:p>
        </p:txBody>
      </p:sp>
      <p:sp>
        <p:nvSpPr>
          <p:cNvPr id="8" name="Rounded Rectangle 7"/>
          <p:cNvSpPr>
            <a:spLocks noGrp="1"/>
          </p:cNvSpPr>
          <p:nvPr/>
        </p:nvSpPr>
        <p:spPr>
          <a:xfrm>
            <a:off x="4238625" y="1571625"/>
            <a:ext cx="3238500" cy="3714750"/>
          </a:xfrm>
          <a:prstGeom prst="roundRect">
            <a:avLst>
              <a:gd name="adj" fmla="val 2059"/>
            </a:avLst>
          </a:prstGeom>
          <a:solidFill>
            <a:srgbClr val="FFFFFF"/>
          </a:solidFill>
          <a:ln w="9525">
            <a:solidFill>
              <a:srgbClr val="E76F51"/>
            </a:solidFill>
            <a:prstDash val="solid"/>
          </a:ln>
        </p:spPr>
        <p:style>
          <a:lnRef idx="0">
            <a:srgbClr val="FFFFFF"/>
          </a:lnRef>
          <a:fillRef idx="0">
            <a:srgbClr val="FFFFFF"/>
          </a:fillRef>
          <a:effectRef idx="6">
            <a:srgbClr val="FFFFFF"/>
          </a:effectRef>
          <a:fontRef idx="major"/>
        </p:style>
      </p:sp>
      <p:sp>
        <p:nvSpPr>
          <p:cNvPr id="9" name="Rectangle 8"/>
          <p:cNvSpPr>
            <a:spLocks noGrp="1"/>
          </p:cNvSpPr>
          <p:nvPr/>
        </p:nvSpPr>
        <p:spPr>
          <a:xfrm>
            <a:off x="4238625" y="1571625"/>
            <a:ext cx="3238500" cy="85725"/>
          </a:xfrm>
          <a:prstGeom prst="rect">
            <a:avLst/>
          </a:prstGeom>
          <a:solidFill>
            <a:srgbClr val="E76F51"/>
          </a:solidFill>
          <a:ln w="0">
            <a:noFill/>
            <a:prstDash val="solid"/>
          </a:ln>
        </p:spPr>
      </p:sp>
      <p:sp>
        <p:nvSpPr>
          <p:cNvPr id="10" name="Rectangle 9"/>
          <p:cNvSpPr>
            <a:spLocks noGrp="1"/>
          </p:cNvSpPr>
          <p:nvPr/>
        </p:nvSpPr>
        <p:spPr>
          <a:xfrm>
            <a:off x="4476750"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Giới hạn hiện tại</a:t>
            </a:r>
            <a:endParaRPr sz="1800" b="1">
              <a:solidFill>
                <a:srgbClr val="102A43"/>
              </a:solidFill>
              <a:latin typeface="Arial" panose="020B0604020202020204"/>
              <a:ea typeface="Arial" panose="020B0604020202020204"/>
              <a:cs typeface="Arial" panose="020B0604020202020204"/>
            </a:endParaRPr>
          </a:p>
        </p:txBody>
      </p:sp>
      <p:sp>
        <p:nvSpPr>
          <p:cNvPr id="11" name="Rectangle 10"/>
          <p:cNvSpPr>
            <a:spLocks noGrp="1"/>
          </p:cNvSpPr>
          <p:nvPr/>
        </p:nvSpPr>
        <p:spPr>
          <a:xfrm>
            <a:off x="4505325"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Chưa có URL public</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Docker runtime chưa xác minh</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Mongo history chưa test thật</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Chưa có k6 / Lighthouse</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Target có mức trần</a:t>
            </a:r>
            <a:endParaRPr sz="1275">
              <a:solidFill>
                <a:srgbClr val="1D2939"/>
              </a:solidFill>
              <a:latin typeface="Arial" panose="020B0604020202020204"/>
              <a:ea typeface="Arial" panose="020B0604020202020204"/>
              <a:cs typeface="Arial" panose="020B0604020202020204"/>
            </a:endParaRPr>
          </a:p>
        </p:txBody>
      </p:sp>
      <p:sp>
        <p:nvSpPr>
          <p:cNvPr id="12" name="Rounded Rectangle 11"/>
          <p:cNvSpPr>
            <a:spLocks noGrp="1"/>
          </p:cNvSpPr>
          <p:nvPr/>
        </p:nvSpPr>
        <p:spPr>
          <a:xfrm>
            <a:off x="7810500" y="1571625"/>
            <a:ext cx="3238500" cy="3714750"/>
          </a:xfrm>
          <a:prstGeom prst="roundRect">
            <a:avLst>
              <a:gd name="adj" fmla="val 2059"/>
            </a:avLst>
          </a:prstGeom>
          <a:solidFill>
            <a:srgbClr val="FFFFFF"/>
          </a:solidFill>
          <a:ln w="9525">
            <a:solidFill>
              <a:srgbClr val="E9C46A"/>
            </a:solidFill>
            <a:prstDash val="solid"/>
          </a:ln>
        </p:spPr>
        <p:style>
          <a:lnRef idx="0">
            <a:srgbClr val="FFFFFF"/>
          </a:lnRef>
          <a:fillRef idx="0">
            <a:srgbClr val="FFFFFF"/>
          </a:fillRef>
          <a:effectRef idx="6">
            <a:srgbClr val="FFFFFF"/>
          </a:effectRef>
          <a:fontRef idx="major"/>
        </p:style>
      </p:sp>
      <p:sp>
        <p:nvSpPr>
          <p:cNvPr id="13" name="Rectangle 12"/>
          <p:cNvSpPr>
            <a:spLocks noGrp="1"/>
          </p:cNvSpPr>
          <p:nvPr/>
        </p:nvSpPr>
        <p:spPr>
          <a:xfrm>
            <a:off x="7810500" y="1571625"/>
            <a:ext cx="3238500" cy="85725"/>
          </a:xfrm>
          <a:prstGeom prst="rect">
            <a:avLst/>
          </a:prstGeom>
          <a:solidFill>
            <a:srgbClr val="E9C46A"/>
          </a:solidFill>
          <a:ln w="0">
            <a:noFill/>
            <a:prstDash val="solid"/>
          </a:ln>
        </p:spPr>
      </p:sp>
      <p:sp>
        <p:nvSpPr>
          <p:cNvPr id="14" name="Rectangle 13"/>
          <p:cNvSpPr>
            <a:spLocks noGrp="1"/>
          </p:cNvSpPr>
          <p:nvPr/>
        </p:nvSpPr>
        <p:spPr>
          <a:xfrm>
            <a:off x="8048625" y="1885950"/>
            <a:ext cx="2762250" cy="400050"/>
          </a:xfrm>
          <a:prstGeom prst="rect">
            <a:avLst/>
          </a:prstGeom>
          <a:noFill/>
          <a:ln w="0">
            <a:noFill/>
            <a:prstDash val="solid"/>
          </a:ln>
        </p:spPr>
        <p:txBody>
          <a:bodyPr wrap="square" lIns="95250" tIns="57150" rIns="95250" bIns="57150" anchor="ctr">
            <a:normAutofit/>
          </a:bodyPr>
          <a:lstStyle/>
          <a:p>
            <a:pPr algn="ctr">
              <a:lnSpc>
                <a:spcPct val="100000"/>
              </a:lnSpc>
              <a:buNone/>
              <a:defRPr sz="1800" b="1">
                <a:solidFill>
                  <a:srgbClr val="102A43"/>
                </a:solidFill>
                <a:latin typeface="Arial" panose="020B0604020202020204"/>
                <a:ea typeface="Arial" panose="020B0604020202020204"/>
                <a:cs typeface="Arial" panose="020B0604020202020204"/>
              </a:defRPr>
            </a:pPr>
            <a:r>
              <a:rPr sz="1800" b="1">
                <a:solidFill>
                  <a:srgbClr val="102A43"/>
                </a:solidFill>
                <a:latin typeface="Arial" panose="020B0604020202020204"/>
                <a:ea typeface="Arial" panose="020B0604020202020204"/>
                <a:cs typeface="Arial" panose="020B0604020202020204"/>
              </a:rPr>
              <a:t>Bước tiếp theo</a:t>
            </a:r>
            <a:endParaRPr sz="1800" b="1">
              <a:solidFill>
                <a:srgbClr val="102A43"/>
              </a:solidFill>
              <a:latin typeface="Arial" panose="020B0604020202020204"/>
              <a:ea typeface="Arial" panose="020B0604020202020204"/>
              <a:cs typeface="Arial" panose="020B0604020202020204"/>
            </a:endParaRPr>
          </a:p>
        </p:txBody>
      </p:sp>
      <p:sp>
        <p:nvSpPr>
          <p:cNvPr id="15" name="Rectangle 14"/>
          <p:cNvSpPr>
            <a:spLocks noGrp="1"/>
          </p:cNvSpPr>
          <p:nvPr/>
        </p:nvSpPr>
        <p:spPr>
          <a:xfrm>
            <a:off x="8077200" y="2571750"/>
            <a:ext cx="2667000" cy="2190750"/>
          </a:xfrm>
          <a:prstGeom prst="rect">
            <a:avLst/>
          </a:prstGeom>
          <a:noFill/>
          <a:ln w="0">
            <a:noFill/>
            <a:prstDash val="solid"/>
          </a:ln>
        </p:spPr>
        <p:txBody>
          <a:bodyPr wrap="square" lIns="114300" tIns="76200" rIns="114300" bIns="76200" anchor="t">
            <a:normAutofit/>
          </a:bodyPr>
          <a:lstStyle/>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Chạy Compose end-to-end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Đo load và frontend</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Pin version dependencies</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Giám sát drift / latency</a:t>
            </a:r>
            <a:endParaRPr sz="1275">
              <a:solidFill>
                <a:srgbClr val="1D2939"/>
              </a:solidFill>
              <a:latin typeface="Arial" panose="020B0604020202020204"/>
              <a:ea typeface="Arial" panose="020B0604020202020204"/>
              <a:cs typeface="Arial" panose="020B0604020202020204"/>
            </a:endParaRPr>
          </a:p>
          <a:p>
            <a:pPr marL="254000" indent="-127000" algn="l">
              <a:lnSpc>
                <a:spcPct val="100000"/>
              </a:lnSpc>
              <a:spcAft>
                <a:spcPts val="1200"/>
              </a:spcAft>
              <a:buNone/>
              <a:defRPr sz="1275">
                <a:solidFill>
                  <a:srgbClr val="1D2939"/>
                </a:solidFill>
                <a:latin typeface="Arial" panose="020B0604020202020204"/>
                <a:ea typeface="Arial" panose="020B0604020202020204"/>
                <a:cs typeface="Arial" panose="020B0604020202020204"/>
              </a:defRPr>
            </a:pPr>
            <a:r>
              <a:rPr sz="1275">
                <a:solidFill>
                  <a:srgbClr val="1D2939"/>
                </a:solidFill>
                <a:latin typeface="Arial" panose="020B0604020202020204"/>
                <a:ea typeface="Arial" panose="020B0604020202020204"/>
                <a:cs typeface="Arial" panose="020B0604020202020204"/>
              </a:rPr>
              <a:t>Bổ sung CI/CD</a:t>
            </a:r>
            <a:endParaRPr sz="1275">
              <a:solidFill>
                <a:srgbClr val="1D2939"/>
              </a:solidFill>
              <a:latin typeface="Arial" panose="020B0604020202020204"/>
              <a:ea typeface="Arial" panose="020B0604020202020204"/>
              <a:cs typeface="Arial" panose="020B0604020202020204"/>
            </a:endParaRPr>
          </a:p>
        </p:txBody>
      </p:sp>
      <p:sp>
        <p:nvSpPr>
          <p:cNvPr id="16" name="Rectangle 15"/>
          <p:cNvSpPr>
            <a:spLocks noGrp="1"/>
          </p:cNvSpPr>
          <p:nvPr/>
        </p:nvSpPr>
        <p:spPr>
          <a:xfrm>
            <a:off x="666750" y="5619750"/>
            <a:ext cx="10858500" cy="552450"/>
          </a:xfrm>
          <a:prstGeom prst="rect">
            <a:avLst/>
          </a:prstGeom>
          <a:noFill/>
          <a:ln w="0">
            <a:noFill/>
            <a:prstDash val="solid"/>
          </a:ln>
        </p:spPr>
        <p:txBody>
          <a:bodyPr wrap="square" lIns="95250" tIns="57150" rIns="95250" bIns="57150" anchor="ctr">
            <a:normAutofit fontScale="91270"/>
          </a:bodyPr>
          <a:lstStyle/>
          <a:p>
            <a:pPr algn="ctr">
              <a:lnSpc>
                <a:spcPct val="100000"/>
              </a:lnSpc>
              <a:buNone/>
              <a:defRPr sz="3150" b="1">
                <a:solidFill>
                  <a:srgbClr val="FFFFFF"/>
                </a:solidFill>
                <a:latin typeface="Arial" panose="020B0604020202020204"/>
                <a:ea typeface="Arial" panose="020B0604020202020204"/>
                <a:cs typeface="Arial" panose="020B0604020202020204"/>
              </a:defRPr>
            </a:pPr>
            <a:r>
              <a:rPr sz="3150" b="1">
                <a:solidFill>
                  <a:srgbClr val="FFFFFF"/>
                </a:solidFill>
                <a:latin typeface="Arial" panose="020B0604020202020204"/>
                <a:ea typeface="Arial" panose="020B0604020202020204"/>
                <a:cs typeface="Arial" panose="020B0604020202020204"/>
              </a:rPr>
              <a:t>Q&amp;A</a:t>
            </a:r>
            <a:endParaRPr sz="3150" b="1">
              <a:solidFill>
                <a:srgbClr val="FFFFFF"/>
              </a:solidFill>
              <a:latin typeface="Arial" panose="020B0604020202020204"/>
              <a:ea typeface="Arial" panose="020B0604020202020204"/>
              <a:cs typeface="Arial" panose="020B0604020202020204"/>
            </a:endParaRPr>
          </a:p>
        </p:txBody>
      </p:sp>
      <p:sp>
        <p:nvSpPr>
          <p:cNvPr id="17" name="Straight Connector 16"/>
          <p:cNvSpPr>
            <a:spLocks noGrp="1"/>
          </p:cNvSpPr>
          <p:nvPr/>
        </p:nvSpPr>
        <p:spPr>
          <a:xfrm>
            <a:off x="666750" y="6477000"/>
            <a:ext cx="10858500" cy="0"/>
          </a:xfrm>
          <a:prstGeom prst="line">
            <a:avLst/>
          </a:prstGeom>
          <a:noFill/>
          <a:ln w="9525">
            <a:solidFill>
              <a:srgbClr val="FFFFFF">
                <a:alpha val="33333"/>
              </a:srgbClr>
            </a:solidFill>
            <a:prstDash val="solid"/>
          </a:ln>
        </p:spPr>
      </p:sp>
      <p:sp>
        <p:nvSpPr>
          <p:cNvPr id="18" name="Rectangle 17"/>
          <p:cNvSpPr>
            <a:spLocks noGrp="1"/>
          </p:cNvSpPr>
          <p:nvPr/>
        </p:nvSpPr>
        <p:spPr>
          <a:xfrm>
            <a:off x="666750" y="6524625"/>
            <a:ext cx="10572750" cy="209550"/>
          </a:xfrm>
          <a:prstGeom prst="rect">
            <a:avLst/>
          </a:prstGeom>
          <a:noFill/>
          <a:ln w="0">
            <a:noFill/>
            <a:prstDash val="solid"/>
          </a:ln>
        </p:spPr>
        <p:txBody>
          <a:bodyPr wrap="square" lIns="0" tIns="0" rIns="0" bIns="0" anchor="t">
            <a:normAutofit/>
          </a:bodyPr>
          <a:lstStyle/>
          <a:p>
            <a:pPr algn="l">
              <a:lnSpc>
                <a:spcPct val="100000"/>
              </a:lnSpc>
              <a:buNone/>
              <a:defRPr sz="825" b="0">
                <a:solidFill>
                  <a:srgbClr val="D9E3EC"/>
                </a:solidFill>
                <a:latin typeface="Arial" panose="020B0604020202020204"/>
                <a:ea typeface="Arial" panose="020B0604020202020204"/>
                <a:cs typeface="Arial" panose="020B0604020202020204"/>
              </a:defRPr>
            </a:pPr>
            <a:r>
              <a:rPr sz="825" b="0">
                <a:solidFill>
                  <a:srgbClr val="D9E3EC"/>
                </a:solidFill>
                <a:latin typeface="Arial" panose="020B0604020202020204"/>
                <a:ea typeface="Arial" panose="020B0604020202020204"/>
                <a:cs typeface="Arial" panose="020B0604020202020204"/>
              </a:rPr>
              <a:t>Tổng hợp từ repository cali-house-price-prediction-git</a:t>
            </a:r>
            <a:endParaRPr sz="825" b="0">
              <a:solidFill>
                <a:srgbClr val="D9E3EC"/>
              </a:solidFill>
              <a:latin typeface="Arial" panose="020B0604020202020204"/>
              <a:ea typeface="Arial" panose="020B0604020202020204"/>
              <a:cs typeface="Arial" panose="020B0604020202020204"/>
            </a:endParaRP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6871</Words>
  <Application>WPS Presentation</Application>
  <PresentationFormat>Converted Presentation</PresentationFormat>
  <Paragraphs>638</Paragraphs>
  <Slides>16</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16</vt:i4>
      </vt:variant>
    </vt:vector>
  </HeadingPairs>
  <TitlesOfParts>
    <vt:vector size="24" baseType="lpstr">
      <vt:lpstr>Arial</vt:lpstr>
      <vt:lpstr>SimSun</vt:lpstr>
      <vt:lpstr>Wingdings</vt:lpstr>
      <vt:lpstr>Arial</vt:lpstr>
      <vt:lpstr>Microsoft YaHei</vt:lpstr>
      <vt:lpstr>Arial Unicode MS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Đào Chính Quang</cp:lastModifiedBy>
  <cp:revision>1</cp:revision>
  <dcterms:created xsi:type="dcterms:W3CDTF">2026-09-27T12:29:53Z</dcterms:created>
  <dcterms:modified xsi:type="dcterms:W3CDTF">2026-09-27T12:29:53Z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CD0675A086CB42FCA49D615082F5B964_12</vt:lpwstr>
  </property>
</Properties>
</file>