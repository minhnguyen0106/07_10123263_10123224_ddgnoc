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en-US" sz="1800" b="1" i="0" u="none" strike="noStrike" kern="1200" baseline="0">
                <a:solidFill>
                  <a:schemeClr val="tx1"/>
                </a:solidFill>
                <a:latin typeface="+mn-lt"/>
                <a:ea typeface="+mn-ea"/>
                <a:cs typeface="+mn-cs"/>
              </a:defRPr>
            </a:pPr>
            <a:r>
              <a:rPr sz="1275" b="1">
                <a:solidFill>
                  <a:srgbClr val="102A43"/>
                </a:solidFill>
                <a:latin typeface="Arial" panose="020B0604020202020204"/>
                <a:ea typeface="Arial" panose="020B0604020202020204"/>
                <a:cs typeface="Arial" panose="020B0604020202020204"/>
              </a:rPr>
              <a:t>RMSE trên tập test (USD, thấp hơn tốt hơn)</a:t>
            </a:r>
            <a:endParaRPr sz="1275" b="1">
              <a:solidFill>
                <a:srgbClr val="102A43"/>
              </a:solidFill>
              <a:latin typeface="Arial" panose="020B0604020202020204"/>
              <a:ea typeface="Arial" panose="020B0604020202020204"/>
              <a:cs typeface="Arial" panose="020B0604020202020204"/>
            </a:endParaRPr>
          </a:p>
        </c:rich>
      </c:tx>
      <c:layout/>
      <c:overlay val="0"/>
    </c:title>
    <c:autoTitleDeleted val="0"/>
    <c:plotArea>
      <c:layout/>
      <c:barChart>
        <c:barDir val="bar"/>
        <c:grouping val="clustered"/>
        <c:varyColors val="1"/>
        <c:ser>
          <c:idx val="0"/>
          <c:order val="0"/>
          <c:tx>
            <c:strRef>
              <c:f>RMSE</c:f>
              <c:strCache>
                <c:ptCount val="1"/>
                <c:pt idx="0">
                  <c:v>RMSE</c:v>
                </c:pt>
              </c:strCache>
            </c:strRef>
          </c:tx>
          <c:spPr>
            <a:solidFill>
              <a:srgbClr val="167D8D"/>
            </a:solidFill>
          </c:spPr>
          <c:invertIfNegative val="0"/>
          <c:dPt>
            <c:idx val="0"/>
            <c:invertIfNegative val="0"/>
            <c:bubble3D val="0"/>
            <c:spPr>
              <a:solidFill>
                <a:srgbClr val="167D8D"/>
              </a:solidFill>
            </c:spPr>
          </c:dPt>
          <c:dPt>
            <c:idx val="1"/>
            <c:invertIfNegative val="0"/>
            <c:bubble3D val="0"/>
            <c:spPr>
              <a:solidFill>
                <a:srgbClr val="173F5F"/>
              </a:solidFill>
            </c:spPr>
          </c:dPt>
          <c:dPt>
            <c:idx val="2"/>
            <c:invertIfNegative val="0"/>
            <c:bubble3D val="0"/>
            <c:spPr>
              <a:solidFill>
                <a:srgbClr val="E9C46A"/>
              </a:solidFill>
            </c:spPr>
          </c:dPt>
          <c:dPt>
            <c:idx val="3"/>
            <c:invertIfNegative val="0"/>
            <c:bubble3D val="0"/>
            <c:spPr>
              <a:solidFill>
                <a:srgbClr val="E76F51"/>
              </a:solidFill>
            </c:spPr>
          </c:dPt>
          <c:dLbls>
            <c:numFmt formatCode="General" sourceLinked="1"/>
            <c:spPr>
              <a:noFill/>
              <a:ln>
                <a:noFill/>
              </a:ln>
              <a:effectLst/>
            </c:spPr>
            <c:txPr>
              <a:bodyPr rot="0" spcFirstLastPara="0" vertOverflow="ellipsis" vert="horz" wrap="square" lIns="38100" tIns="19050" rIns="38100" bIns="19050" anchor="ctr" anchorCtr="1"/>
              <a:lstStyle/>
              <a:p>
                <a:pPr>
                  <a:defRPr lang="en-US" sz="10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Data'!$A$2:$A$5</c:f>
              <c:strCache>
                <c:ptCount val="4"/>
                <c:pt idx="0">
                  <c:v>Gradient Boosting</c:v>
                </c:pt>
                <c:pt idx="1">
                  <c:v>Random Forest</c:v>
                </c:pt>
                <c:pt idx="2">
                  <c:v>Decision Tree</c:v>
                </c:pt>
                <c:pt idx="3">
                  <c:v>Linear Regression</c:v>
                </c:pt>
              </c:strCache>
            </c:strRef>
          </c:cat>
          <c:val>
            <c:numRef>
              <c:f>'Chart Data'!$B$2:$B$5</c:f>
              <c:numCache>
                <c:formatCode>General</c:formatCode>
                <c:ptCount val="4"/>
                <c:pt idx="0">
                  <c:v>46387.57</c:v>
                </c:pt>
                <c:pt idx="1">
                  <c:v>49697.39</c:v>
                </c:pt>
                <c:pt idx="2">
                  <c:v>60797.85</c:v>
                </c:pt>
                <c:pt idx="3">
                  <c:v>69127.04</c:v>
                </c:pt>
              </c:numCache>
            </c:numRef>
          </c:val>
        </c:ser>
        <c:dLbls>
          <c:showLegendKey val="0"/>
          <c:showVal val="1"/>
          <c:showCatName val="0"/>
          <c:showSerName val="0"/>
          <c:showPercent val="0"/>
          <c:showBubbleSize val="0"/>
        </c:dLbls>
        <c:gapWidth val="35"/>
        <c:axId val="48650112"/>
        <c:axId val="48672768"/>
      </c:barChart>
      <c:catAx>
        <c:axId val="48650112"/>
        <c:scaling>
          <c:orientation val="minMax"/>
        </c:scaling>
        <c:delete val="0"/>
        <c:axPos val="l"/>
        <c:majorGridlines>
          <c:spPr>
            <a:ln w="9525">
              <a:solidFill>
                <a:srgbClr val="D7E0E8"/>
              </a:solidFill>
              <a:prstDash val="solid"/>
              <a:round/>
            </a:ln>
          </c:spPr>
        </c:majorGridlines>
        <c:numFmt formatCode="#,##0"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en-US" sz="900" b="0" i="0" u="none" strike="noStrike" kern="1200" baseline="0">
                <a:solidFill>
                  <a:srgbClr val="5F6C7B"/>
                </a:solidFill>
                <a:latin typeface="Arial" panose="020B0604020202020204"/>
                <a:ea typeface="Arial" panose="020B0604020202020204"/>
                <a:cs typeface="Arial" panose="020B0604020202020204"/>
              </a:defRPr>
            </a:pPr>
          </a:p>
        </c:txPr>
        <c:crossAx val="48672768"/>
        <c:crosses val="autoZero"/>
        <c:auto val="1"/>
        <c:lblAlgn val="ctr"/>
        <c:lblOffset val="100"/>
        <c:noMultiLvlLbl val="0"/>
      </c:catAx>
      <c:valAx>
        <c:axId val="48672768"/>
        <c:scaling>
          <c:orientation val="minMax"/>
        </c:scaling>
        <c:delete val="0"/>
        <c:axPos val="b"/>
        <c:numFmt formatCode="General" sourceLinked="1"/>
        <c:majorTickMark val="none"/>
        <c:minorTickMark val="none"/>
        <c:tickLblPos val="nextTo"/>
        <c:spPr>
          <a:ln w="9525">
            <a:solidFill>
              <a:srgbClr val="D7E0E8"/>
            </a:solidFill>
            <a:prstDash val="solid"/>
            <a:round/>
          </a:ln>
        </c:spPr>
        <c:txPr>
          <a:bodyPr rot="-60000000" spcFirstLastPara="0" vertOverflow="ellipsis" vert="horz" wrap="square" anchor="ctr" anchorCtr="1"/>
          <a:lstStyle/>
          <a:p>
            <a:pPr>
              <a:defRPr lang="en-US" sz="975" b="0" i="0" u="none" strike="noStrike" kern="1200" baseline="0">
                <a:solidFill>
                  <a:srgbClr val="1D2939"/>
                </a:solidFill>
                <a:latin typeface="Arial" panose="020B0604020202020204"/>
                <a:ea typeface="Arial" panose="020B0604020202020204"/>
                <a:cs typeface="Arial" panose="020B0604020202020204"/>
              </a:defRPr>
            </a:pPr>
          </a:p>
        </c:txPr>
        <c:crossAx val="48650112"/>
        <c:crosses val="autoZero"/>
        <c:crossBetween val="between"/>
      </c:valAx>
      <c:spPr>
        <a:solidFill>
          <a:srgbClr val="FFFFFF"/>
        </a:solidFill>
        <a:ln w="0">
          <a:solidFill>
            <a:srgbClr val="FFFFFF"/>
          </a:solidFill>
          <a:prstDash val="solid"/>
        </a:ln>
      </c:spPr>
    </c:plotArea>
    <c:plotVisOnly val="1"/>
    <c:dispBlanksAs val="gap"/>
    <c:showDLblsOverMax val="0"/>
    <c:extLst>
      <c:ext uri="{0b15fc19-7d7d-44ad-8c2d-2c3a37ce22c3}">
        <chartProps xmlns="https://web.wps.cn/et/2018/main" chartId="{3cb23841-030e-40f8-bea9-6d2f839c9e7a}"/>
      </c:ext>
    </c:extLst>
  </c:chart>
  <c:spPr>
    <a:solidFill>
      <a:srgbClr val="FFFFFF"/>
    </a:solidFill>
    <a:ln w="0">
      <a:solidFill>
        <a:srgbClr val="FFFFFF"/>
      </a:solidFill>
      <a:prstDash val="solid"/>
    </a:ln>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30–40 giây.</a:t>
            </a:r>
          </a:p>
          <a:p>
            <a:r>
              <a:t>Mở đầu bằng mục tiêu: xây dựng quy trình dự đoán giá nhà California từ dữ liệu đến API.</a:t>
            </a:r>
          </a:p>
          <a:p>
            <a:r>
              <a:t>Nhấn mạnh toàn bộ số liệu trong slide lấy từ repository và kết quả chạy thực tế.</a:t>
            </a:r>
          </a:p>
          <a:p>
            <a:r>
              <a:t>Chuyển ý: bắt đầu từ bài toán và tiêu chí đánh giá.</a:t>
            </a:r>
          </a:p>
          <a:p>
            <a:r>
              <a:t>Nguồn: README.md; ai-models/notebooks/ML_Project.ipynb.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45 giây.</a:t>
            </a:r>
          </a:p>
          <a:p>
            <a:r>
              <a:t>Giải thích đây là bài toán supervised regression. Input API gồm 9 trường gốc; backend tạo thêm 3 tỷ lệ trước khi gọi AI service.</a:t>
            </a:r>
          </a:p>
          <a:p>
            <a:r>
              <a:t>Ba chỉ số chính là RMSE, MAE và R².</a:t>
            </a:r>
          </a:p>
          <a:p>
            <a:r>
              <a:t>Chuyển ý: dữ liệu nền cho bài toán có quy mô và chất lượng như thế nào?</a:t>
            </a:r>
          </a:p>
          <a:p>
            <a:r>
              <a:t>Nguồn: ai-models/src/train.py; ai-service/app/schemas.py; backend/app/schemas.py.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50 giây.</a:t>
            </a:r>
          </a:p>
          <a:p>
            <a:r>
              <a:t>Nêu quy mô 20.640 dòng và 10 cột, trong đó 9 feature và 1 target.</a:t>
            </a:r>
          </a:p>
          <a:p>
            <a:r>
              <a:t>Chỉ total_bedrooms có dữ liệu thiếu: 207 dòng.</a:t>
            </a:r>
          </a:p>
          <a:p>
            <a:r>
              <a:t>Lưu ý giá trị mục tiêu bị chặn ở 500.001 USD, có thể ảnh hưởng các dự đoán ở phân khúc cao.</a:t>
            </a:r>
          </a:p>
          <a:p>
            <a:r>
              <a:t>Chuyển ý: xem phân phối và chất lượng dữ liệu bằng các hình EDA thực tế.</a:t>
            </a:r>
          </a:p>
          <a:p>
            <a:r>
              <a:t>Nguồn: ai-models/data/housing.csv.zip; ai-models/notebooks/01_eda.ipynb.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Hình trái: target có phân phối lệch phải và hiệu ứng trần.</a:t>
            </a:r>
          </a:p>
          <a:p>
            <a:r>
              <a:t>Hình giữa: phân phối median_income và housing_median_age.</a:t>
            </a:r>
          </a:p>
          <a:p>
            <a:r>
              <a:t>Hình phải: heatmap cho thấy missing chỉ nằm ở total_bedrooms.</a:t>
            </a:r>
          </a:p>
          <a:p>
            <a:r>
              <a:t>Quyết định kỹ thuật: dùng median imputation và đánh giá bằng metric ít nhạy hơn với outlier bên cạnh RMSE.</a:t>
            </a:r>
          </a:p>
          <a:p>
            <a:r>
              <a:t>Chuyển ý: tiếp theo xem các quan hệ giữa feature và target.</a:t>
            </a:r>
          </a:p>
          <a:p>
            <a:r>
              <a:t>Nguồn hình: ai-models/notebooks/ML_Project.ipynb.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median_income có tương quan 0,688 với giá nhà, mạnh nhất trong các biến số. latitude có tương quan âm khoảng -0,144.</a:t>
            </a:r>
          </a:p>
          <a:p>
            <a:r>
              <a:t>Scatter cho thấy quan hệ không hoàn toàn tuyến tính và target có mức trần. Pairplot củng cố lựa chọn thử các mô hình cây và boosting.</a:t>
            </a:r>
          </a:p>
          <a:p>
            <a:r>
              <a:t>Chuyển ý: từ quan sát EDA, pipeline tiền xử lý được thiết kế như sau.</a:t>
            </a:r>
          </a:p>
          <a:p>
            <a:r>
              <a:t>Nguồn: ai-models/notebooks/ML_Project.ipynb; ai-models/data/housing.csv.zip.</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Đi qua 5 bước: split, median imputation, feature engineering, scale/encode và ghép pipeline.</a:t>
            </a:r>
          </a:p>
          <a:p>
            <a:r>
              <a:t>Ba đặc trưng tạo thêm là rooms_per_household, bedrooms_per_room, population_per_household.</a:t>
            </a:r>
          </a:p>
          <a:p>
            <a:r>
              <a:t>Nêu rõ giới hạn hiện tại: imputer không nằm trong artifact cuối; API validation hiện yêu cầu trường đầu vào đầy đủ.</a:t>
            </a:r>
          </a:p>
          <a:p>
            <a:r>
              <a:t>Chuyển ý: pipeline này được dùng để huấn luyện bốn nhóm model.</a:t>
            </a:r>
          </a:p>
          <a:p>
            <a:r>
              <a:t>Nguồn: ai-models/src/preprocess.py; ai-models/src/train.py; ai-service/app/model.py.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45 giây.</a:t>
            </a:r>
          </a:p>
          <a:p>
            <a:r>
              <a:t>Giải thích vai trò của bốn model: linear làm baseline; ba model cây xử lý phi tuyến.</a:t>
            </a:r>
          </a:p>
          <a:p>
            <a:r>
              <a:t>Decision Tree dùng GridSearchCV. Random Forest và Gradient Boosting dùng RandomizedSearchCV để giới hạn chi phí tìm kiếm.</a:t>
            </a:r>
          </a:p>
          <a:p>
            <a:r>
              <a:t>Chuyển ý: toàn bộ model đi qua cùng một quy trình huấn luyện và test.</a:t>
            </a:r>
          </a:p>
          <a:p>
            <a:r>
              <a:t>Nguồn: ai-models/src/train.py.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55 giây.</a:t>
            </a:r>
          </a:p>
          <a:p>
            <a:r>
              <a:t>Mô tả cách tránh leakage: giữ tập test riêng; các bước fit thực hiện trên train.</a:t>
            </a:r>
          </a:p>
          <a:p>
            <a:r>
              <a:t>Tìm kiếm tham số dùng 5-fold cross-validation và neg_mean_squared_error.</a:t>
            </a:r>
          </a:p>
          <a:p>
            <a:r>
              <a:t>Kết quả chạy lại cho thấy Gradient Boosting có CV RMSE và test RMSE tốt nhất.</a:t>
            </a:r>
          </a:p>
          <a:p>
            <a:r>
              <a:t>Chuyển ý: xem bảng so sánh định lượng giữa bốn model.</a:t>
            </a:r>
          </a:p>
          <a:p>
            <a:r>
              <a:t>Nguồn: ai-models/src/train.py; log chạy thực tế ngày 27/09/2026.</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70 giây.</a:t>
            </a:r>
          </a:p>
          <a:p>
            <a:r>
              <a:t>Đọc biểu đồ từ tốt đến kém theo RMSE. Gradient Boosting tốt nhất với test RMSE 46.839,74; tiếp theo là Random Forest 50.180,69.</a:t>
            </a:r>
          </a:p>
          <a:p>
            <a:r>
              <a:t>Bảng bên phải bổ sung MAE và R². Gradient Boosting cũng dẫn đầu với MAE 30.660,42 và R² 0,8326.</a:t>
            </a:r>
          </a:p>
          <a:p>
            <a:r>
              <a:t>Các số này là kết quả chạy lại; metadata artifact hiện lưu một lần train khác, sẽ trình bày ở slide tiếp theo.</a:t>
            </a:r>
          </a:p>
          <a:p>
            <a:r>
              <a:t>Nguồn: log chạy ai-models/src/train.py --search ngày 27/09/2026.</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Artifact cuối là Pipeline chứa preprocessor và GradientBoostingRegressor.</a:t>
            </a:r>
          </a:p>
          <a:p>
            <a:r>
              <a:t>Metadata lưu RMSE 46.794,54, MAE 30.649,37 và R² 0,8329. Số này chênh nhẹ so với lần chạy lại vì là hai lần huấn luyện khác nhau.</a:t>
            </a:r>
          </a:p>
          <a:p>
            <a:r>
              <a:t>Model artifact có kích thước khoảng 1,03 MiB và version 1.0.0.</a:t>
            </a:r>
          </a:p>
          <a:p>
            <a:r>
              <a:t>Chuyển ý: model được đưa vào kiến trúc bốn service.</a:t>
            </a:r>
          </a:p>
          <a:p>
            <a:r>
              <a:t>Nguồn: ai-models/models/model.joblib; ai-models/models/metadata.json; ai-models/notebooks/ML_Project.ipynb.</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Frontend nhận dữ liệu người dùng và gọi backend. Backend validate, tạo feature và điều phối. AI service tải model để dự đoán. MongoDB lưu lịch sử nếu kết nối khả dụng.</a:t>
            </a:r>
          </a:p>
          <a:p>
            <a:r>
              <a:t>Bốn service chạy trong Docker Compose với các cổng 3000, 8000, 8001 và 27017.</a:t>
            </a:r>
          </a:p>
          <a:p>
            <a:r>
              <a:t>Chuyển ý: xem chi tiết một request đi qua hệ thống.</a:t>
            </a:r>
          </a:p>
          <a:p>
            <a:r>
              <a:t>Nguồn: docker-compose.yml; frontend/app/main.py; backend/app/main.py; ai-service/app/main.py.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Đi theo số thứ tự 1 đến 6. Điểm kỹ thuật quan trọng là backend tạo ba tỷ lệ trước khi gọi AI service.</a:t>
            </a:r>
          </a:p>
          <a:p>
            <a:r>
              <a:t>X-Request-ID giúp truy vết một yêu cầu qua nhiều service.</a:t>
            </a:r>
          </a:p>
          <a:p>
            <a:r>
              <a:t>Việc lưu MongoDB được thiết kế không làm thất bại response dự đoán nếu database tạm thời không sẵn sàng.</a:t>
            </a:r>
          </a:p>
          <a:p>
            <a:r>
              <a:t>Chuyển ý: đóng gói và trạng thái triển khai hiện tại.</a:t>
            </a:r>
          </a:p>
          <a:p>
            <a:r>
              <a:t>Nguồn: frontend/app/main.py; backend/app/main.py; backend/app/services/ai_client.py.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Compose định nghĩa đủ bốn service và cấu hình được parse thành công bằng lệnh config.</a:t>
            </a:r>
          </a:p>
          <a:p>
            <a:r>
              <a:t>Không khẳng định Docker chạy end-to-end vì daemon không hoạt động trong lúc đánh giá.</a:t>
            </a:r>
          </a:p>
          <a:p>
            <a:r>
              <a:t>Repository chưa có URL public; trạng thái được ghi rõ là đang chuẩn bị.</a:t>
            </a:r>
          </a:p>
          <a:p>
            <a:r>
              <a:t>Chuyển ý: dù chưa chạy Docker đầy đủ, unit test và smoke test cục bộ đã được thực hiện.</a:t>
            </a:r>
          </a:p>
          <a:p>
            <a:r>
              <a:t>Nguồn: docker-compose.yml; .env.example; README.md; kết quả lệnh docker compose config.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65 giây.</a:t>
            </a:r>
          </a:p>
          <a:p>
            <a:r>
              <a:t>Tổng cộng 12 test pytest pass: 7 cho AI service và 5 cho backend.</a:t>
            </a:r>
          </a:p>
          <a:p>
            <a:r>
              <a:t>Smoke test khởi động backend và AI service cục bộ, gọi predict thành công với giá dự đoán 262.225,38 USD và model version 1.0.0.</a:t>
            </a:r>
          </a:p>
          <a:p>
            <a:r>
              <a:t>Trình bày trung thực giới hạn: MongoDB không chạy, nên persistence và history chưa được xác nhận.</a:t>
            </a:r>
          </a:p>
          <a:p>
            <a:r>
              <a:t>Chuyển ý: load test đã có kịch bản nhưng chưa có kết quả đo.</a:t>
            </a:r>
          </a:p>
          <a:p>
            <a:r>
              <a:t>Nguồn: ai-service/tests; backend/tests; tests/smoke/smoke_test.py; log chạy ngày 27/09/2026.</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55 giây.</a:t>
            </a:r>
          </a:p>
          <a:p>
            <a:r>
              <a:t>Repository đã chuẩn bị script k6 với 10 VUs, 60 giây, ngưỡng p95 dưới 2 giây và error rate dưới 1%.</a:t>
            </a:r>
          </a:p>
          <a:p>
            <a:r>
              <a:t>Tuy nhiên k6 chưa có trong môi trường, nên không báo cáo p95, throughput hay error rate thực tế. Lighthouse cũng chưa đo.</a:t>
            </a:r>
          </a:p>
          <a:p>
            <a:r>
              <a:t>Chuyển ý: tổng kết kết quả đạt được và các bước cần hoàn thiện.</a:t>
            </a:r>
          </a:p>
          <a:p>
            <a:r>
              <a:t>Nguồn: tests/load/predict.js; docs/performance-test.md.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Thời lượng: 60 giây.</a:t>
            </a:r>
          </a:p>
          <a:p>
            <a:r>
              <a:t>Kết luận: dự án đã đi đủ chuỗi dữ liệu, mô hình, API và kiểm thử cơ bản. Gradient Boosting là model tốt nhất trong bốn model đã chạy.</a:t>
            </a:r>
          </a:p>
          <a:p>
            <a:r>
              <a:t>Nêu thẳng các phần chưa hoàn tất: deploy public, Docker end-to-end, Mongo history và benchmark hiệu năng.</a:t>
            </a:r>
          </a:p>
          <a:p>
            <a:r>
              <a:t>Đề xuất ưu tiên: chạy Compose đầy đủ, bổ sung benchmark, pin dependency và thiết lập CI/CD.</a:t>
            </a:r>
          </a:p>
          <a:p>
            <a:r>
              <a:t>Mời câu hỏi.</a:t>
            </a:r>
          </a:p>
          <a:p>
            <a:r>
              <a:t>Nguồn: tổng hợp toàn repository và kết quả kiểm tra ngày 27/09/2026.</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p:sp>
        <p:nvSpPr>
          <p:cNvPr id="13" name="Rectangle 12"/>
          <p:cNvSpPr>
            <a:spLocks noGrp="1"/>
          </p:cNvSpPr>
          <p:nvPr/>
        </p:nvSpPr>
        <p:spPr>
          <a:xfrm>
            <a:off x="0" y="0"/>
            <a:ext cx="12192000" cy="6858000"/>
          </a:xfrm>
          <a:prstGeom prst="rect">
            <a:avLst/>
          </a:prstGeom>
          <a:solidFill>
            <a:srgbClr val="102A43"/>
          </a:solidFill>
          <a:ln w="0">
            <a:noFill/>
            <a:prstDash val="solid"/>
          </a:ln>
        </p:spPr>
      </p:sp>
      <p:sp>
        <p:nvSpPr>
          <p:cNvPr id="2" name="Rectangle 1"/>
          <p:cNvSpPr>
            <a:spLocks noGrp="1"/>
          </p:cNvSpPr>
          <p:nvPr/>
        </p:nvSpPr>
        <p:spPr>
          <a:xfrm>
            <a:off x="7096125" y="0"/>
            <a:ext cx="5095875" cy="6858000"/>
          </a:xfrm>
          <a:prstGeom prst="rect">
            <a:avLst/>
          </a:prstGeom>
          <a:solidFill>
            <a:srgbClr val="FFFFFF"/>
          </a:solidFill>
          <a:ln w="0">
            <a:noFill/>
            <a:prstDash val="solid"/>
          </a:ln>
        </p:spPr>
      </p:sp>
      <p:pic>
        <p:nvPicPr>
          <p:cNvPr id="15" name="Picture 14"/>
          <p:cNvPicPr>
            <a:picLocks noChangeAspect="1"/>
          </p:cNvPicPr>
          <p:nvPr/>
        </p:nvPicPr>
        <p:blipFill>
          <a:blip r:embed="rId1"/>
          <a:stretch>
            <a:fillRect/>
          </a:stretch>
        </p:blipFill>
        <p:spPr>
          <a:xfrm>
            <a:off x="7286625" y="1783796"/>
            <a:ext cx="4619625" cy="3147534"/>
          </a:xfrm>
          <a:prstGeom prst="roundRect">
            <a:avLst>
              <a:gd name="adj" fmla="val 1237"/>
            </a:avLst>
          </a:prstGeom>
        </p:spPr>
      </p:pic>
      <p:sp>
        <p:nvSpPr>
          <p:cNvPr id="4" name="Rectangle 3"/>
          <p:cNvSpPr>
            <a:spLocks noGrp="1"/>
          </p:cNvSpPr>
          <p:nvPr/>
        </p:nvSpPr>
        <p:spPr>
          <a:xfrm>
            <a:off x="7096125" y="0"/>
            <a:ext cx="95250" cy="6858000"/>
          </a:xfrm>
          <a:prstGeom prst="rect">
            <a:avLst/>
          </a:prstGeom>
          <a:solidFill>
            <a:srgbClr val="E76F51"/>
          </a:solidFill>
          <a:ln w="0">
            <a:noFill/>
            <a:prstDash val="solid"/>
          </a:ln>
        </p:spPr>
      </p:sp>
      <p:sp>
        <p:nvSpPr>
          <p:cNvPr id="5" name="Rectangle 4"/>
          <p:cNvSpPr>
            <a:spLocks noGrp="1"/>
          </p:cNvSpPr>
          <p:nvPr/>
        </p:nvSpPr>
        <p:spPr>
          <a:xfrm>
            <a:off x="685800" y="590550"/>
            <a:ext cx="5572125" cy="266700"/>
          </a:xfrm>
          <a:prstGeom prst="rect">
            <a:avLst/>
          </a:prstGeom>
          <a:noFill/>
          <a:ln w="0">
            <a:noFill/>
            <a:prstDash val="solid"/>
          </a:ln>
        </p:spPr>
        <p:txBody>
          <a:bodyPr wrap="square" lIns="0" tIns="0" rIns="0" bIns="0" anchor="t">
            <a:normAutofit/>
          </a:bodyPr>
          <a:lstStyle/>
          <a:p>
            <a:pPr algn="l">
              <a:lnSpc>
                <a:spcPct val="100000"/>
              </a:lnSpc>
              <a:buNone/>
              <a:defRPr sz="1050" b="1">
                <a:solidFill>
                  <a:srgbClr val="E9C46A"/>
                </a:solidFill>
                <a:latin typeface="Arial" panose="020B0604020202020204"/>
                <a:ea typeface="Arial" panose="020B0604020202020204"/>
                <a:cs typeface="Arial" panose="020B0604020202020204"/>
              </a:defRPr>
            </a:pPr>
            <a:r>
              <a:rPr sz="1050" b="1">
                <a:solidFill>
                  <a:srgbClr val="E9C46A"/>
                </a:solidFill>
                <a:latin typeface="Arial" panose="020B0604020202020204"/>
                <a:ea typeface="Arial" panose="020B0604020202020204"/>
                <a:cs typeface="Arial" panose="020B0604020202020204"/>
              </a:rPr>
              <a:t>BÁO CÁO BÀI TẬP LỚN</a:t>
            </a:r>
            <a:endParaRPr sz="1050" b="1">
              <a:solidFill>
                <a:srgbClr val="E9C46A"/>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685800" y="1143000"/>
            <a:ext cx="5715000" cy="1619250"/>
          </a:xfrm>
          <a:prstGeom prst="rect">
            <a:avLst/>
          </a:prstGeom>
          <a:noFill/>
          <a:ln w="0">
            <a:noFill/>
            <a:prstDash val="solid"/>
          </a:ln>
        </p:spPr>
        <p:txBody>
          <a:bodyPr wrap="square" lIns="0" tIns="0" rIns="0" bIns="0" anchor="t">
            <a:normAutofit/>
          </a:bodyPr>
          <a:lstStyle/>
          <a:p>
            <a:pPr algn="l">
              <a:lnSpc>
                <a:spcPct val="92000"/>
              </a:lnSpc>
              <a:buNone/>
              <a:defRPr sz="3750" b="1">
                <a:solidFill>
                  <a:srgbClr val="FFFFFF"/>
                </a:solidFill>
                <a:latin typeface="Arial" panose="020B0604020202020204"/>
                <a:ea typeface="Arial" panose="020B0604020202020204"/>
                <a:cs typeface="Arial" panose="020B0604020202020204"/>
              </a:defRPr>
            </a:pPr>
            <a:r>
              <a:rPr sz="3750" b="1">
                <a:solidFill>
                  <a:srgbClr val="FFFFFF"/>
                </a:solidFill>
                <a:latin typeface="Arial" panose="020B0604020202020204"/>
                <a:ea typeface="Arial" panose="020B0604020202020204"/>
                <a:cs typeface="Arial" panose="020B0604020202020204"/>
              </a:rPr>
              <a:t>DỰ ĐOÁN GIÁ NHÀ</a:t>
            </a:r>
            <a:endParaRPr sz="3750" b="1">
              <a:solidFill>
                <a:srgbClr val="FFFFFF"/>
              </a:solidFill>
              <a:latin typeface="Arial" panose="020B0604020202020204"/>
              <a:ea typeface="Arial" panose="020B0604020202020204"/>
              <a:cs typeface="Arial" panose="020B0604020202020204"/>
            </a:endParaRPr>
          </a:p>
          <a:p>
            <a:pPr algn="l">
              <a:lnSpc>
                <a:spcPct val="92000"/>
              </a:lnSpc>
              <a:buNone/>
              <a:defRPr sz="3750" b="1">
                <a:solidFill>
                  <a:srgbClr val="FFFFFF"/>
                </a:solidFill>
                <a:latin typeface="Arial" panose="020B0604020202020204"/>
                <a:ea typeface="Arial" panose="020B0604020202020204"/>
                <a:cs typeface="Arial" panose="020B0604020202020204"/>
              </a:defRPr>
            </a:pPr>
            <a:r>
              <a:rPr sz="3750" b="1">
                <a:solidFill>
                  <a:srgbClr val="FFFFFF"/>
                </a:solidFill>
                <a:latin typeface="Arial" panose="020B0604020202020204"/>
                <a:ea typeface="Arial" panose="020B0604020202020204"/>
                <a:cs typeface="Arial" panose="020B0604020202020204"/>
              </a:rPr>
              <a:t>CALIFORNIA</a:t>
            </a:r>
            <a:endParaRPr sz="3750" b="1">
              <a:solidFill>
                <a:srgbClr val="FFFFFF"/>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685800" y="2952750"/>
            <a:ext cx="5572125" cy="361950"/>
          </a:xfrm>
          <a:prstGeom prst="rect">
            <a:avLst/>
          </a:prstGeom>
          <a:noFill/>
          <a:ln w="0">
            <a:noFill/>
            <a:prstDash val="solid"/>
          </a:ln>
        </p:spPr>
        <p:txBody>
          <a:bodyPr wrap="square" lIns="0" tIns="0" rIns="0" bIns="0" anchor="t">
            <a:normAutofit/>
          </a:bodyPr>
          <a:lstStyle/>
          <a:p>
            <a:pPr algn="l">
              <a:lnSpc>
                <a:spcPct val="100000"/>
              </a:lnSpc>
              <a:buNone/>
              <a:defRPr sz="1800" b="0">
                <a:solidFill>
                  <a:srgbClr val="D9E3EC"/>
                </a:solidFill>
                <a:latin typeface="Arial" panose="020B0604020202020204"/>
                <a:ea typeface="Arial" panose="020B0604020202020204"/>
                <a:cs typeface="Arial" panose="020B0604020202020204"/>
              </a:defRPr>
            </a:pPr>
            <a:r>
              <a:rPr sz="1800" b="0">
                <a:solidFill>
                  <a:srgbClr val="D9E3EC"/>
                </a:solidFill>
                <a:latin typeface="Arial" panose="020B0604020202020204"/>
                <a:ea typeface="Arial" panose="020B0604020202020204"/>
                <a:cs typeface="Arial" panose="020B0604020202020204"/>
              </a:rPr>
              <a:t>California Housing Price Prediction</a:t>
            </a:r>
            <a:endParaRPr sz="1800" b="0">
              <a:solidFill>
                <a:srgbClr val="D9E3EC"/>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685800" y="3571875"/>
            <a:ext cx="4572000" cy="304800"/>
          </a:xfrm>
          <a:prstGeom prst="rect">
            <a:avLst/>
          </a:prstGeom>
          <a:noFill/>
          <a:ln w="0">
            <a:noFill/>
            <a:prstDash val="solid"/>
          </a:ln>
        </p:spPr>
        <p:txBody>
          <a:bodyPr wrap="square" lIns="0" tIns="0" rIns="0" bIns="0" anchor="t">
            <a:normAutofit/>
          </a:bodyPr>
          <a:lstStyle/>
          <a:p>
            <a:pPr algn="l">
              <a:lnSpc>
                <a:spcPct val="100000"/>
              </a:lnSpc>
              <a:buNone/>
              <a:defRPr sz="1350" b="1">
                <a:solidFill>
                  <a:srgbClr val="2A9D8F"/>
                </a:solidFill>
                <a:latin typeface="Arial" panose="020B0604020202020204"/>
                <a:ea typeface="Arial" panose="020B0604020202020204"/>
                <a:cs typeface="Arial" panose="020B0604020202020204"/>
              </a:defRPr>
            </a:pPr>
            <a:r>
              <a:rPr sz="1350" b="1">
                <a:solidFill>
                  <a:srgbClr val="2A9D8F"/>
                </a:solidFill>
                <a:latin typeface="Arial" panose="020B0604020202020204"/>
                <a:ea typeface="Arial" panose="020B0604020202020204"/>
                <a:cs typeface="Arial" panose="020B0604020202020204"/>
              </a:rPr>
              <a:t>Machine Learning · FastAPI · Docker</a:t>
            </a:r>
            <a:endParaRPr sz="1350" b="1">
              <a:solidFill>
                <a:srgbClr val="2A9D8F"/>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685800" y="4580890"/>
            <a:ext cx="4953000" cy="876935"/>
          </a:xfrm>
          <a:prstGeom prst="rect">
            <a:avLst/>
          </a:prstGeom>
          <a:noFill/>
          <a:ln w="0">
            <a:noFill/>
            <a:prstDash val="solid"/>
          </a:ln>
        </p:spPr>
        <p:txBody>
          <a:bodyPr wrap="square" lIns="0" tIns="0" rIns="0" bIns="0" anchor="t">
            <a:normAutofit lnSpcReduction="10000"/>
          </a:bodyPr>
          <a:lstStyle/>
          <a:p>
            <a:pPr algn="l">
              <a:lnSpc>
                <a:spcPct val="100000"/>
              </a:lnSpc>
              <a:buNone/>
              <a:defRPr sz="1500" b="1">
                <a:solidFill>
                  <a:srgbClr val="FFFFFF"/>
                </a:solidFill>
                <a:latin typeface="Arial" panose="020B0604020202020204"/>
                <a:ea typeface="Arial" panose="020B0604020202020204"/>
                <a:cs typeface="Arial" panose="020B0604020202020204"/>
              </a:defRPr>
            </a:pPr>
            <a:endParaRPr lang="vi-VN" sz="1500" b="1">
              <a:solidFill>
                <a:srgbClr val="FFFFFF"/>
              </a:solidFill>
              <a:latin typeface="Arial" panose="020B0604020202020204"/>
              <a:ea typeface="Arial" panose="020B0604020202020204"/>
              <a:cs typeface="Arial" panose="020B0604020202020204"/>
            </a:endParaRPr>
          </a:p>
          <a:p>
            <a:pPr algn="l">
              <a:lnSpc>
                <a:spcPct val="100000"/>
              </a:lnSpc>
              <a:buNone/>
              <a:defRPr sz="1500" b="1">
                <a:solidFill>
                  <a:srgbClr val="FFFFFF"/>
                </a:solidFill>
                <a:latin typeface="Arial" panose="020B0604020202020204"/>
                <a:ea typeface="Arial" panose="020B0604020202020204"/>
                <a:cs typeface="Arial" panose="020B0604020202020204"/>
              </a:defRPr>
            </a:pPr>
            <a:r>
              <a:rPr lang="vi-VN" sz="1500" b="1">
                <a:solidFill>
                  <a:srgbClr val="FFFFFF"/>
                </a:solidFill>
                <a:latin typeface="Arial" panose="020B0604020202020204"/>
                <a:ea typeface="Arial" panose="020B0604020202020204"/>
                <a:cs typeface="Arial" panose="020B0604020202020204"/>
              </a:rPr>
              <a:t>Thành Viên: </a:t>
            </a:r>
            <a:endParaRPr lang="vi-VN" sz="1500" b="1">
              <a:solidFill>
                <a:srgbClr val="FFFFFF"/>
              </a:solidFill>
              <a:latin typeface="Arial" panose="020B0604020202020204"/>
              <a:ea typeface="Arial" panose="020B0604020202020204"/>
              <a:cs typeface="Arial" panose="020B0604020202020204"/>
            </a:endParaRPr>
          </a:p>
          <a:p>
            <a:pPr indent="457200" algn="l">
              <a:lnSpc>
                <a:spcPct val="100000"/>
              </a:lnSpc>
              <a:buNone/>
              <a:defRPr sz="1500" b="1">
                <a:solidFill>
                  <a:srgbClr val="FFFFFF"/>
                </a:solidFill>
                <a:latin typeface="Arial" panose="020B0604020202020204"/>
                <a:ea typeface="Arial" panose="020B0604020202020204"/>
                <a:cs typeface="Arial" panose="020B0604020202020204"/>
              </a:defRPr>
            </a:pPr>
            <a:r>
              <a:rPr lang="vi-VN" sz="1500" b="1">
                <a:solidFill>
                  <a:srgbClr val="FFFFFF"/>
                </a:solidFill>
                <a:latin typeface="Arial" panose="020B0604020202020204"/>
                <a:ea typeface="Arial" panose="020B0604020202020204"/>
                <a:cs typeface="Arial" panose="020B0604020202020204"/>
              </a:rPr>
              <a:t>Nguyễn Đức Minh - </a:t>
            </a:r>
            <a:r>
              <a:rPr lang="vi-VN" sz="1500" b="1">
                <a:solidFill>
                  <a:srgbClr val="FFFFFF"/>
                </a:solidFill>
                <a:latin typeface="Arial" panose="020B0604020202020204"/>
                <a:ea typeface="Arial" panose="020B0604020202020204"/>
                <a:cs typeface="Arial" panose="020B0604020202020204"/>
              </a:rPr>
              <a:t>10123224</a:t>
            </a:r>
            <a:endParaRPr lang="vi-VN" sz="1500" b="1">
              <a:solidFill>
                <a:srgbClr val="FFFFFF"/>
              </a:solidFill>
              <a:latin typeface="Arial" panose="020B0604020202020204"/>
              <a:ea typeface="Arial" panose="020B0604020202020204"/>
              <a:cs typeface="Arial" panose="020B0604020202020204"/>
            </a:endParaRPr>
          </a:p>
          <a:p>
            <a:pPr indent="457200" algn="l">
              <a:lnSpc>
                <a:spcPct val="100000"/>
              </a:lnSpc>
              <a:buNone/>
              <a:defRPr sz="1500" b="1">
                <a:solidFill>
                  <a:srgbClr val="FFFFFF"/>
                </a:solidFill>
                <a:latin typeface="Arial" panose="020B0604020202020204"/>
                <a:ea typeface="Arial" panose="020B0604020202020204"/>
                <a:cs typeface="Arial" panose="020B0604020202020204"/>
              </a:defRPr>
            </a:pPr>
            <a:r>
              <a:rPr lang="vi-VN" sz="1500" b="1">
                <a:solidFill>
                  <a:srgbClr val="FFFFFF"/>
                </a:solidFill>
                <a:latin typeface="Arial" panose="020B0604020202020204"/>
                <a:ea typeface="Arial" panose="020B0604020202020204"/>
                <a:cs typeface="Arial" panose="020B0604020202020204"/>
              </a:rPr>
              <a:t>Đào Chính Quang - </a:t>
            </a:r>
            <a:r>
              <a:rPr lang="vi-VN" sz="1500" b="1">
                <a:solidFill>
                  <a:srgbClr val="FFFFFF"/>
                </a:solidFill>
                <a:latin typeface="Arial" panose="020B0604020202020204"/>
                <a:ea typeface="Arial" panose="020B0604020202020204"/>
                <a:cs typeface="Arial" panose="020B0604020202020204"/>
              </a:rPr>
              <a:t>10123263</a:t>
            </a:r>
            <a:endParaRPr lang="vi-VN" sz="1500" b="1">
              <a:solidFill>
                <a:srgbClr val="FFFFFF"/>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685800" y="5810250"/>
            <a:ext cx="5715000" cy="228600"/>
          </a:xfrm>
          <a:prstGeom prst="rect">
            <a:avLst/>
          </a:prstGeom>
          <a:noFill/>
          <a:ln w="0">
            <a:noFill/>
            <a:prstDash val="solid"/>
          </a:ln>
        </p:spPr>
        <p:txBody>
          <a:bodyPr wrap="square" lIns="0" tIns="0" rIns="0" bIns="0" anchor="t">
            <a:normAutofit/>
          </a:bodyPr>
          <a:lstStyle/>
          <a:p>
            <a:pPr algn="l">
              <a:lnSpc>
                <a:spcPct val="100000"/>
              </a:lnSpc>
              <a:buNone/>
              <a:defRPr sz="975" b="0">
                <a:solidFill>
                  <a:srgbClr val="B9C8D6"/>
                </a:solidFill>
                <a:latin typeface="Arial" panose="020B0604020202020204"/>
                <a:ea typeface="Arial" panose="020B0604020202020204"/>
                <a:cs typeface="Arial" panose="020B0604020202020204"/>
              </a:defRPr>
            </a:pPr>
            <a:r>
              <a:rPr sz="975" b="0">
                <a:solidFill>
                  <a:srgbClr val="B9C8D6"/>
                </a:solidFill>
                <a:latin typeface="Arial" panose="020B0604020202020204"/>
                <a:ea typeface="Arial" panose="020B0604020202020204"/>
                <a:cs typeface="Arial" panose="020B0604020202020204"/>
              </a:rPr>
              <a:t>Repository: cali-house-price-prediction-git</a:t>
            </a:r>
            <a:endParaRPr sz="975" b="0">
              <a:solidFill>
                <a:srgbClr val="B9C8D6"/>
              </a:solidFill>
              <a:latin typeface="Arial" panose="020B0604020202020204"/>
              <a:ea typeface="Arial" panose="020B0604020202020204"/>
              <a:cs typeface="Arial" panose="020B0604020202020204"/>
            </a:endParaRPr>
          </a:p>
        </p:txBody>
      </p:sp>
      <p:sp>
        <p:nvSpPr>
          <p:cNvPr id="11" name="Straight Connector 10"/>
          <p:cNvSpPr>
            <a:spLocks noGrp="1"/>
          </p:cNvSpPr>
          <p:nvPr/>
        </p:nvSpPr>
        <p:spPr>
          <a:xfrm>
            <a:off x="666750" y="6477000"/>
            <a:ext cx="10858500" cy="0"/>
          </a:xfrm>
          <a:prstGeom prst="line">
            <a:avLst/>
          </a:prstGeom>
          <a:noFill/>
          <a:ln w="9525">
            <a:solidFill>
              <a:srgbClr val="FFFFFF">
                <a:alpha val="33333"/>
              </a:srgbClr>
            </a:solidFill>
            <a:prstDash val="solid"/>
          </a:ln>
        </p:spPr>
      </p:sp>
      <p:sp>
        <p:nvSpPr>
          <p:cNvPr id="12" name="Rectangle 11"/>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D9E3EC"/>
                </a:solidFill>
                <a:latin typeface="Arial" panose="020B0604020202020204"/>
                <a:ea typeface="Arial" panose="020B0604020202020204"/>
                <a:cs typeface="Arial" panose="020B0604020202020204"/>
              </a:defRPr>
            </a:pPr>
            <a:r>
              <a:rPr lang="vi-VN" sz="825" b="0">
                <a:solidFill>
                  <a:srgbClr val="D9E3EC"/>
                </a:solidFill>
                <a:latin typeface="Arial" panose="020B0604020202020204"/>
                <a:ea typeface="Arial" panose="020B0604020202020204"/>
                <a:cs typeface="Arial" panose="020B0604020202020204"/>
              </a:rPr>
              <a:t>Tham chiếu: README.md · báo cáo bài tập lớn</a:t>
            </a:r>
            <a:endParaRPr lang="vi-VN" sz="825" b="0">
              <a:solidFill>
                <a:srgbClr val="D9E3EC"/>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25" name="Rectangle 24"/>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01 · PROBLEM FRAMING</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Bài toán dự đoán giá nhà</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02</a:t>
            </a:r>
            <a:endParaRPr sz="1050" b="1">
              <a:solidFill>
                <a:srgbClr val="5F6C7B"/>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666750" y="1381125"/>
            <a:ext cx="8096250" cy="361950"/>
          </a:xfrm>
          <a:prstGeom prst="rect">
            <a:avLst/>
          </a:prstGeom>
          <a:noFill/>
          <a:ln w="0">
            <a:noFill/>
            <a:prstDash val="solid"/>
          </a:ln>
        </p:spPr>
        <p:txBody>
          <a:bodyPr wrap="square" lIns="0" tIns="0" rIns="0" bIns="0" anchor="t">
            <a:normAutofit/>
          </a:bodyPr>
          <a:lstStyle/>
          <a:p>
            <a:pPr algn="l">
              <a:lnSpc>
                <a:spcPct val="100000"/>
              </a:lnSpc>
              <a:buNone/>
              <a:defRPr sz="1650" b="0">
                <a:solidFill>
                  <a:srgbClr val="5F6C7B"/>
                </a:solidFill>
                <a:latin typeface="Arial" panose="020B0604020202020204"/>
                <a:ea typeface="Arial" panose="020B0604020202020204"/>
                <a:cs typeface="Arial" panose="020B0604020202020204"/>
              </a:defRPr>
            </a:pPr>
            <a:r>
              <a:rPr sz="1650" b="0">
                <a:solidFill>
                  <a:srgbClr val="5F6C7B"/>
                </a:solidFill>
                <a:latin typeface="Arial" panose="020B0604020202020204"/>
                <a:ea typeface="Arial" panose="020B0604020202020204"/>
                <a:cs typeface="Arial" panose="020B0604020202020204"/>
              </a:rPr>
              <a:t>Ước lượng median_house_value từ 9 đặc trưng khu vực và vị trí.</a:t>
            </a:r>
            <a:endParaRPr sz="1650" b="0">
              <a:solidFill>
                <a:srgbClr val="5F6C7B"/>
              </a:solidFill>
              <a:latin typeface="Arial" panose="020B0604020202020204"/>
              <a:ea typeface="Arial" panose="020B0604020202020204"/>
              <a:cs typeface="Arial" panose="020B0604020202020204"/>
            </a:endParaRPr>
          </a:p>
        </p:txBody>
      </p:sp>
      <p:sp>
        <p:nvSpPr>
          <p:cNvPr id="6" name="Rounded Rectangle 5"/>
          <p:cNvSpPr>
            <a:spLocks noGrp="1"/>
          </p:cNvSpPr>
          <p:nvPr/>
        </p:nvSpPr>
        <p:spPr>
          <a:xfrm>
            <a:off x="762000" y="2238375"/>
            <a:ext cx="2857500" cy="1809750"/>
          </a:xfrm>
          <a:prstGeom prst="roundRect">
            <a:avLst>
              <a:gd name="adj" fmla="val 3684"/>
            </a:avLst>
          </a:prstGeom>
          <a:solidFill>
            <a:srgbClr val="EAF6F5"/>
          </a:solidFill>
          <a:ln w="9525">
            <a:solidFill>
              <a:srgbClr val="167D8D"/>
            </a:solidFill>
            <a:prstDash val="solid"/>
          </a:ln>
        </p:spPr>
        <p:style>
          <a:lnRef idx="0">
            <a:srgbClr val="FFFFFF"/>
          </a:lnRef>
          <a:fillRef idx="0">
            <a:srgbClr val="FFFFFF"/>
          </a:fillRef>
          <a:effectRef idx="4">
            <a:srgbClr val="FFFFFF"/>
          </a:effectRef>
          <a:fontRef idx="major"/>
        </p:style>
      </p:sp>
      <p:sp>
        <p:nvSpPr>
          <p:cNvPr id="7" name="Rectangle 6"/>
          <p:cNvSpPr>
            <a:spLocks noGrp="1"/>
          </p:cNvSpPr>
          <p:nvPr/>
        </p:nvSpPr>
        <p:spPr>
          <a:xfrm>
            <a:off x="971550" y="2447925"/>
            <a:ext cx="2438400" cy="266700"/>
          </a:xfrm>
          <a:prstGeom prst="rect">
            <a:avLst/>
          </a:prstGeom>
          <a:noFill/>
          <a:ln w="0">
            <a:noFill/>
            <a:prstDash val="solid"/>
          </a:ln>
        </p:spPr>
        <p:txBody>
          <a:bodyPr wrap="square" lIns="0" tIns="0" rIns="0" bIns="0" anchor="t">
            <a:normAutofit/>
          </a:bodyPr>
          <a:lstStyle/>
          <a:p>
            <a:pPr algn="l">
              <a:lnSpc>
                <a:spcPct val="100000"/>
              </a:lnSpc>
              <a:buNone/>
              <a:defRPr sz="1050" b="1">
                <a:solidFill>
                  <a:srgbClr val="167D8D"/>
                </a:solidFill>
                <a:latin typeface="Arial" panose="020B0604020202020204"/>
                <a:ea typeface="Arial" panose="020B0604020202020204"/>
                <a:cs typeface="Arial" panose="020B0604020202020204"/>
              </a:defRPr>
            </a:pPr>
            <a:r>
              <a:rPr sz="1050" b="1">
                <a:solidFill>
                  <a:srgbClr val="167D8D"/>
                </a:solidFill>
                <a:latin typeface="Arial" panose="020B0604020202020204"/>
                <a:ea typeface="Arial" panose="020B0604020202020204"/>
                <a:cs typeface="Arial" panose="020B0604020202020204"/>
              </a:rPr>
              <a:t>INPUT</a:t>
            </a:r>
            <a:endParaRPr sz="1050" b="1">
              <a:solidFill>
                <a:srgbClr val="167D8D"/>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971550" y="2905125"/>
            <a:ext cx="2438400" cy="781050"/>
          </a:xfrm>
          <a:prstGeom prst="rect">
            <a:avLst/>
          </a:prstGeom>
          <a:noFill/>
          <a:ln w="0">
            <a:noFill/>
            <a:prstDash val="solid"/>
          </a:ln>
        </p:spPr>
        <p:txBody>
          <a:bodyPr wrap="square" lIns="0" tIns="0" rIns="0" bIns="0" anchor="ctr">
            <a:normAutofit/>
          </a:bodyPr>
          <a:lstStyle/>
          <a:p>
            <a:pPr algn="ctr">
              <a:lnSpc>
                <a:spcPct val="100000"/>
              </a:lnSpc>
              <a:buNone/>
              <a:defRPr sz="1875" b="1">
                <a:solidFill>
                  <a:srgbClr val="102A43"/>
                </a:solidFill>
                <a:latin typeface="Arial" panose="020B0604020202020204"/>
                <a:ea typeface="Arial" panose="020B0604020202020204"/>
                <a:cs typeface="Arial" panose="020B0604020202020204"/>
              </a:defRPr>
            </a:pPr>
            <a:r>
              <a:rPr sz="1875" b="1">
                <a:solidFill>
                  <a:srgbClr val="102A43"/>
                </a:solidFill>
                <a:latin typeface="Arial" panose="020B0604020202020204"/>
                <a:ea typeface="Arial" panose="020B0604020202020204"/>
                <a:cs typeface="Arial" panose="020B0604020202020204"/>
              </a:rPr>
              <a:t>8 biến số</a:t>
            </a:r>
            <a:endParaRPr sz="1875" b="1">
              <a:solidFill>
                <a:srgbClr val="102A43"/>
              </a:solidFill>
              <a:latin typeface="Arial" panose="020B0604020202020204"/>
              <a:ea typeface="Arial" panose="020B0604020202020204"/>
              <a:cs typeface="Arial" panose="020B0604020202020204"/>
            </a:endParaRPr>
          </a:p>
          <a:p>
            <a:pPr algn="ctr">
              <a:lnSpc>
                <a:spcPct val="100000"/>
              </a:lnSpc>
              <a:buNone/>
              <a:defRPr sz="1875" b="1">
                <a:solidFill>
                  <a:srgbClr val="102A43"/>
                </a:solidFill>
                <a:latin typeface="Arial" panose="020B0604020202020204"/>
                <a:ea typeface="Arial" panose="020B0604020202020204"/>
                <a:cs typeface="Arial" panose="020B0604020202020204"/>
              </a:defRPr>
            </a:pPr>
            <a:r>
              <a:rPr sz="1875" b="1">
                <a:solidFill>
                  <a:srgbClr val="102A43"/>
                </a:solidFill>
                <a:latin typeface="Arial" panose="020B0604020202020204"/>
                <a:ea typeface="Arial" panose="020B0604020202020204"/>
                <a:cs typeface="Arial" panose="020B0604020202020204"/>
              </a:rPr>
              <a:t>+ ocean_proximity</a:t>
            </a:r>
            <a:endParaRPr sz="1875" b="1">
              <a:solidFill>
                <a:srgbClr val="102A43"/>
              </a:solidFill>
              <a:latin typeface="Arial" panose="020B0604020202020204"/>
              <a:ea typeface="Arial" panose="020B0604020202020204"/>
              <a:cs typeface="Arial" panose="020B0604020202020204"/>
            </a:endParaRPr>
          </a:p>
        </p:txBody>
      </p:sp>
      <p:sp>
        <p:nvSpPr>
          <p:cNvPr id="9" name="Rounded Rectangle 8"/>
          <p:cNvSpPr>
            <a:spLocks noGrp="1"/>
          </p:cNvSpPr>
          <p:nvPr/>
        </p:nvSpPr>
        <p:spPr>
          <a:xfrm>
            <a:off x="4286250" y="2238375"/>
            <a:ext cx="2857500" cy="1809750"/>
          </a:xfrm>
          <a:prstGeom prst="roundRect">
            <a:avLst>
              <a:gd name="adj" fmla="val 3684"/>
            </a:avLst>
          </a:prstGeom>
          <a:solidFill>
            <a:srgbClr val="EAF1F8"/>
          </a:solidFill>
          <a:ln w="9525">
            <a:solidFill>
              <a:srgbClr val="173F5F"/>
            </a:solidFill>
            <a:prstDash val="solid"/>
          </a:ln>
        </p:spPr>
        <p:style>
          <a:lnRef idx="0">
            <a:srgbClr val="FFFFFF"/>
          </a:lnRef>
          <a:fillRef idx="0">
            <a:srgbClr val="FFFFFF"/>
          </a:fillRef>
          <a:effectRef idx="4">
            <a:srgbClr val="FFFFFF"/>
          </a:effectRef>
          <a:fontRef idx="major"/>
        </p:style>
      </p:sp>
      <p:sp>
        <p:nvSpPr>
          <p:cNvPr id="10" name="Rectangle 9"/>
          <p:cNvSpPr>
            <a:spLocks noGrp="1"/>
          </p:cNvSpPr>
          <p:nvPr/>
        </p:nvSpPr>
        <p:spPr>
          <a:xfrm>
            <a:off x="4495800" y="2447925"/>
            <a:ext cx="2438400" cy="266700"/>
          </a:xfrm>
          <a:prstGeom prst="rect">
            <a:avLst/>
          </a:prstGeom>
          <a:noFill/>
          <a:ln w="0">
            <a:noFill/>
            <a:prstDash val="solid"/>
          </a:ln>
        </p:spPr>
        <p:txBody>
          <a:bodyPr wrap="square" lIns="0" tIns="0" rIns="0" bIns="0" anchor="t">
            <a:normAutofit/>
          </a:bodyPr>
          <a:lstStyle/>
          <a:p>
            <a:pPr algn="l">
              <a:lnSpc>
                <a:spcPct val="100000"/>
              </a:lnSpc>
              <a:buNone/>
              <a:defRPr sz="1050" b="1">
                <a:solidFill>
                  <a:srgbClr val="173F5F"/>
                </a:solidFill>
                <a:latin typeface="Arial" panose="020B0604020202020204"/>
                <a:ea typeface="Arial" panose="020B0604020202020204"/>
                <a:cs typeface="Arial" panose="020B0604020202020204"/>
              </a:defRPr>
            </a:pPr>
            <a:r>
              <a:rPr sz="1050" b="1">
                <a:solidFill>
                  <a:srgbClr val="173F5F"/>
                </a:solidFill>
                <a:latin typeface="Arial" panose="020B0604020202020204"/>
                <a:ea typeface="Arial" panose="020B0604020202020204"/>
                <a:cs typeface="Arial" panose="020B0604020202020204"/>
              </a:rPr>
              <a:t>MÔ HÌNH</a:t>
            </a:r>
            <a:endParaRPr sz="1050" b="1">
              <a:solidFill>
                <a:srgbClr val="173F5F"/>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4495800" y="2905125"/>
            <a:ext cx="2438400" cy="781050"/>
          </a:xfrm>
          <a:prstGeom prst="rect">
            <a:avLst/>
          </a:prstGeom>
          <a:noFill/>
          <a:ln w="0">
            <a:noFill/>
            <a:prstDash val="solid"/>
          </a:ln>
        </p:spPr>
        <p:txBody>
          <a:bodyPr wrap="square" lIns="0" tIns="0" rIns="0" bIns="0" anchor="ctr">
            <a:normAutofit/>
          </a:bodyPr>
          <a:lstStyle/>
          <a:p>
            <a:pPr algn="ctr">
              <a:lnSpc>
                <a:spcPct val="100000"/>
              </a:lnSpc>
              <a:buNone/>
              <a:defRPr sz="1875" b="1">
                <a:solidFill>
                  <a:srgbClr val="102A43"/>
                </a:solidFill>
                <a:latin typeface="Arial" panose="020B0604020202020204"/>
                <a:ea typeface="Arial" panose="020B0604020202020204"/>
                <a:cs typeface="Arial" panose="020B0604020202020204"/>
              </a:defRPr>
            </a:pPr>
            <a:r>
              <a:rPr sz="1875" b="1">
                <a:solidFill>
                  <a:srgbClr val="102A43"/>
                </a:solidFill>
                <a:latin typeface="Arial" panose="020B0604020202020204"/>
                <a:ea typeface="Arial" panose="020B0604020202020204"/>
                <a:cs typeface="Arial" panose="020B0604020202020204"/>
              </a:rPr>
              <a:t>Pipeline tiền xử lý</a:t>
            </a:r>
            <a:endParaRPr sz="1875" b="1">
              <a:solidFill>
                <a:srgbClr val="102A43"/>
              </a:solidFill>
              <a:latin typeface="Arial" panose="020B0604020202020204"/>
              <a:ea typeface="Arial" panose="020B0604020202020204"/>
              <a:cs typeface="Arial" panose="020B0604020202020204"/>
            </a:endParaRPr>
          </a:p>
          <a:p>
            <a:pPr algn="ctr">
              <a:lnSpc>
                <a:spcPct val="100000"/>
              </a:lnSpc>
              <a:buNone/>
              <a:defRPr sz="1875" b="1">
                <a:solidFill>
                  <a:srgbClr val="102A43"/>
                </a:solidFill>
                <a:latin typeface="Arial" panose="020B0604020202020204"/>
                <a:ea typeface="Arial" panose="020B0604020202020204"/>
                <a:cs typeface="Arial" panose="020B0604020202020204"/>
              </a:defRPr>
            </a:pPr>
            <a:r>
              <a:rPr sz="1875" b="1">
                <a:solidFill>
                  <a:srgbClr val="102A43"/>
                </a:solidFill>
                <a:latin typeface="Arial" panose="020B0604020202020204"/>
                <a:ea typeface="Arial" panose="020B0604020202020204"/>
                <a:cs typeface="Arial" panose="020B0604020202020204"/>
              </a:rPr>
              <a:t>+ hồi quy</a:t>
            </a:r>
            <a:endParaRPr sz="1875" b="1">
              <a:solidFill>
                <a:srgbClr val="102A43"/>
              </a:solidFill>
              <a:latin typeface="Arial" panose="020B0604020202020204"/>
              <a:ea typeface="Arial" panose="020B0604020202020204"/>
              <a:cs typeface="Arial" panose="020B0604020202020204"/>
            </a:endParaRPr>
          </a:p>
        </p:txBody>
      </p:sp>
      <p:sp>
        <p:nvSpPr>
          <p:cNvPr id="12" name="Rounded Rectangle 11"/>
          <p:cNvSpPr>
            <a:spLocks noGrp="1"/>
          </p:cNvSpPr>
          <p:nvPr/>
        </p:nvSpPr>
        <p:spPr>
          <a:xfrm>
            <a:off x="7810500" y="2238375"/>
            <a:ext cx="2857500" cy="1809750"/>
          </a:xfrm>
          <a:prstGeom prst="roundRect">
            <a:avLst>
              <a:gd name="adj" fmla="val 3684"/>
            </a:avLst>
          </a:prstGeom>
          <a:solidFill>
            <a:srgbClr val="FCEDE8"/>
          </a:solidFill>
          <a:ln w="9525">
            <a:solidFill>
              <a:srgbClr val="E76F51"/>
            </a:solidFill>
            <a:prstDash val="solid"/>
          </a:ln>
        </p:spPr>
        <p:style>
          <a:lnRef idx="0">
            <a:srgbClr val="FFFFFF"/>
          </a:lnRef>
          <a:fillRef idx="0">
            <a:srgbClr val="FFFFFF"/>
          </a:fillRef>
          <a:effectRef idx="4">
            <a:srgbClr val="FFFFFF"/>
          </a:effectRef>
          <a:fontRef idx="major"/>
        </p:style>
      </p:sp>
      <p:sp>
        <p:nvSpPr>
          <p:cNvPr id="13" name="Rectangle 12"/>
          <p:cNvSpPr>
            <a:spLocks noGrp="1"/>
          </p:cNvSpPr>
          <p:nvPr/>
        </p:nvSpPr>
        <p:spPr>
          <a:xfrm>
            <a:off x="8020050" y="2447925"/>
            <a:ext cx="2438400" cy="266700"/>
          </a:xfrm>
          <a:prstGeom prst="rect">
            <a:avLst/>
          </a:prstGeom>
          <a:noFill/>
          <a:ln w="0">
            <a:noFill/>
            <a:prstDash val="solid"/>
          </a:ln>
        </p:spPr>
        <p:txBody>
          <a:bodyPr wrap="square" lIns="0" tIns="0" rIns="0" bIns="0" anchor="t">
            <a:normAutofit/>
          </a:bodyPr>
          <a:lstStyle/>
          <a:p>
            <a:pPr algn="l">
              <a:lnSpc>
                <a:spcPct val="100000"/>
              </a:lnSpc>
              <a:buNone/>
              <a:defRPr sz="1050" b="1">
                <a:solidFill>
                  <a:srgbClr val="E76F51"/>
                </a:solidFill>
                <a:latin typeface="Arial" panose="020B0604020202020204"/>
                <a:ea typeface="Arial" panose="020B0604020202020204"/>
                <a:cs typeface="Arial" panose="020B0604020202020204"/>
              </a:defRPr>
            </a:pPr>
            <a:r>
              <a:rPr sz="1050" b="1">
                <a:solidFill>
                  <a:srgbClr val="E76F51"/>
                </a:solidFill>
                <a:latin typeface="Arial" panose="020B0604020202020204"/>
                <a:ea typeface="Arial" panose="020B0604020202020204"/>
                <a:cs typeface="Arial" panose="020B0604020202020204"/>
              </a:rPr>
              <a:t>OUTPUT</a:t>
            </a:r>
            <a:endParaRPr sz="1050" b="1">
              <a:solidFill>
                <a:srgbClr val="E76F51"/>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8020050" y="2905125"/>
            <a:ext cx="2438400" cy="781050"/>
          </a:xfrm>
          <a:prstGeom prst="rect">
            <a:avLst/>
          </a:prstGeom>
          <a:noFill/>
          <a:ln w="0">
            <a:noFill/>
            <a:prstDash val="solid"/>
          </a:ln>
        </p:spPr>
        <p:txBody>
          <a:bodyPr wrap="square" lIns="0" tIns="0" rIns="0" bIns="0" anchor="ctr">
            <a:normAutofit/>
          </a:bodyPr>
          <a:lstStyle/>
          <a:p>
            <a:pPr algn="ctr">
              <a:lnSpc>
                <a:spcPct val="100000"/>
              </a:lnSpc>
              <a:buNone/>
              <a:defRPr sz="1875" b="1">
                <a:solidFill>
                  <a:srgbClr val="102A43"/>
                </a:solidFill>
                <a:latin typeface="Arial" panose="020B0604020202020204"/>
                <a:ea typeface="Arial" panose="020B0604020202020204"/>
                <a:cs typeface="Arial" panose="020B0604020202020204"/>
              </a:defRPr>
            </a:pPr>
            <a:r>
              <a:rPr sz="1875" b="1">
                <a:solidFill>
                  <a:srgbClr val="102A43"/>
                </a:solidFill>
                <a:latin typeface="Arial" panose="020B0604020202020204"/>
                <a:ea typeface="Arial" panose="020B0604020202020204"/>
                <a:cs typeface="Arial" panose="020B0604020202020204"/>
              </a:rPr>
              <a:t>Giá nhà dự đoán</a:t>
            </a:r>
            <a:endParaRPr sz="1875" b="1">
              <a:solidFill>
                <a:srgbClr val="102A43"/>
              </a:solidFill>
              <a:latin typeface="Arial" panose="020B0604020202020204"/>
              <a:ea typeface="Arial" panose="020B0604020202020204"/>
              <a:cs typeface="Arial" panose="020B0604020202020204"/>
            </a:endParaRPr>
          </a:p>
          <a:p>
            <a:pPr algn="ctr">
              <a:lnSpc>
                <a:spcPct val="100000"/>
              </a:lnSpc>
              <a:buNone/>
              <a:defRPr sz="1875" b="1">
                <a:solidFill>
                  <a:srgbClr val="102A43"/>
                </a:solidFill>
                <a:latin typeface="Arial" panose="020B0604020202020204"/>
                <a:ea typeface="Arial" panose="020B0604020202020204"/>
                <a:cs typeface="Arial" panose="020B0604020202020204"/>
              </a:defRPr>
            </a:pPr>
            <a:r>
              <a:rPr sz="1875" b="1">
                <a:solidFill>
                  <a:srgbClr val="102A43"/>
                </a:solidFill>
                <a:latin typeface="Arial" panose="020B0604020202020204"/>
                <a:ea typeface="Arial" panose="020B0604020202020204"/>
                <a:cs typeface="Arial" panose="020B0604020202020204"/>
              </a:rPr>
              <a:t>(USD)</a:t>
            </a:r>
            <a:endParaRPr sz="1875" b="1">
              <a:solidFill>
                <a:srgbClr val="102A43"/>
              </a:solidFill>
              <a:latin typeface="Arial" panose="020B0604020202020204"/>
              <a:ea typeface="Arial" panose="020B0604020202020204"/>
              <a:cs typeface="Arial" panose="020B0604020202020204"/>
            </a:endParaRPr>
          </a:p>
        </p:txBody>
      </p:sp>
      <p:sp>
        <p:nvSpPr>
          <p:cNvPr id="15" name="Right Arrow 14"/>
          <p:cNvSpPr>
            <a:spLocks noGrp="1"/>
          </p:cNvSpPr>
          <p:nvPr/>
        </p:nvSpPr>
        <p:spPr>
          <a:xfrm>
            <a:off x="3762375" y="2952750"/>
            <a:ext cx="361950" cy="304800"/>
          </a:xfrm>
          <a:prstGeom prst="rightArrow">
            <a:avLst/>
          </a:prstGeom>
          <a:solidFill>
            <a:srgbClr val="E9C46A"/>
          </a:solidFill>
          <a:ln w="9525">
            <a:solidFill>
              <a:srgbClr val="E9C46A"/>
            </a:solidFill>
            <a:prstDash val="solid"/>
          </a:ln>
        </p:spPr>
      </p:sp>
      <p:sp>
        <p:nvSpPr>
          <p:cNvPr id="16" name="Right Arrow 15"/>
          <p:cNvSpPr>
            <a:spLocks noGrp="1"/>
          </p:cNvSpPr>
          <p:nvPr/>
        </p:nvSpPr>
        <p:spPr>
          <a:xfrm>
            <a:off x="7286625" y="2952750"/>
            <a:ext cx="361950" cy="304800"/>
          </a:xfrm>
          <a:prstGeom prst="rightArrow">
            <a:avLst/>
          </a:prstGeom>
          <a:solidFill>
            <a:srgbClr val="E9C46A"/>
          </a:solidFill>
          <a:ln w="9525">
            <a:solidFill>
              <a:srgbClr val="E9C46A"/>
            </a:solidFill>
            <a:prstDash val="solid"/>
          </a:ln>
        </p:spPr>
      </p:sp>
      <p:sp>
        <p:nvSpPr>
          <p:cNvPr id="17" name="Rounded Rectangle 16"/>
          <p:cNvSpPr>
            <a:spLocks noGrp="1"/>
          </p:cNvSpPr>
          <p:nvPr/>
        </p:nvSpPr>
        <p:spPr>
          <a:xfrm>
            <a:off x="762000" y="4524375"/>
            <a:ext cx="9906000" cy="1238250"/>
          </a:xfrm>
          <a:prstGeom prst="roundRect">
            <a:avLst>
              <a:gd name="adj" fmla="val 538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8" name="Rectangle 17"/>
          <p:cNvSpPr>
            <a:spLocks noGrp="1"/>
          </p:cNvSpPr>
          <p:nvPr/>
        </p:nvSpPr>
        <p:spPr>
          <a:xfrm>
            <a:off x="1000125" y="4695825"/>
            <a:ext cx="2333625" cy="238125"/>
          </a:xfrm>
          <a:prstGeom prst="rect">
            <a:avLst/>
          </a:prstGeom>
          <a:noFill/>
          <a:ln w="0">
            <a:noFill/>
            <a:prstDash val="solid"/>
          </a:ln>
        </p:spPr>
        <p:txBody>
          <a:bodyPr wrap="square" lIns="0" tIns="0" rIns="0" bIns="0" anchor="t">
            <a:normAutofit/>
          </a:bodyPr>
          <a:lstStyle/>
          <a:p>
            <a:pPr algn="l">
              <a:lnSpc>
                <a:spcPct val="100000"/>
              </a:lnSpc>
              <a:buNone/>
              <a:defRPr sz="1050" b="1">
                <a:solidFill>
                  <a:srgbClr val="167D8D"/>
                </a:solidFill>
                <a:latin typeface="Arial" panose="020B0604020202020204"/>
                <a:ea typeface="Arial" panose="020B0604020202020204"/>
                <a:cs typeface="Arial" panose="020B0604020202020204"/>
              </a:defRPr>
            </a:pPr>
            <a:r>
              <a:rPr sz="1050" b="1">
                <a:solidFill>
                  <a:srgbClr val="167D8D"/>
                </a:solidFill>
                <a:latin typeface="Arial" panose="020B0604020202020204"/>
                <a:ea typeface="Arial" panose="020B0604020202020204"/>
                <a:cs typeface="Arial" panose="020B0604020202020204"/>
              </a:rPr>
              <a:t>TIÊU CHÍ ĐÁNH GIÁ</a:t>
            </a:r>
            <a:endParaRPr sz="1050" b="1">
              <a:solidFill>
                <a:srgbClr val="167D8D"/>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1000125" y="5105400"/>
            <a:ext cx="1333500" cy="381000"/>
          </a:xfrm>
          <a:prstGeom prst="rect">
            <a:avLst/>
          </a:prstGeom>
          <a:noFill/>
          <a:ln w="0">
            <a:noFill/>
            <a:prstDash val="solid"/>
          </a:ln>
        </p:spPr>
        <p:txBody>
          <a:bodyPr wrap="square" lIns="95250" tIns="57150" rIns="95250" bIns="57150" anchor="ctr">
            <a:normAutofit fontScale="83333"/>
          </a:bodyPr>
          <a:lstStyle/>
          <a:p>
            <a:pPr algn="ctr">
              <a:lnSpc>
                <a:spcPct val="100000"/>
              </a:lnSpc>
              <a:buNone/>
              <a:defRPr sz="2100" b="1">
                <a:solidFill>
                  <a:srgbClr val="102A43"/>
                </a:solidFill>
                <a:latin typeface="Arial" panose="020B0604020202020204"/>
                <a:ea typeface="Arial" panose="020B0604020202020204"/>
                <a:cs typeface="Arial" panose="020B0604020202020204"/>
              </a:defRPr>
            </a:pPr>
            <a:r>
              <a:rPr sz="2100" b="1">
                <a:solidFill>
                  <a:srgbClr val="102A43"/>
                </a:solidFill>
                <a:latin typeface="Arial" panose="020B0604020202020204"/>
                <a:ea typeface="Arial" panose="020B0604020202020204"/>
                <a:cs typeface="Arial" panose="020B0604020202020204"/>
              </a:rPr>
              <a:t>RMSE</a:t>
            </a:r>
            <a:endParaRPr sz="2100" b="1">
              <a:solidFill>
                <a:srgbClr val="102A43"/>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3143250" y="5105400"/>
            <a:ext cx="1333500" cy="381000"/>
          </a:xfrm>
          <a:prstGeom prst="rect">
            <a:avLst/>
          </a:prstGeom>
          <a:noFill/>
          <a:ln w="0">
            <a:noFill/>
            <a:prstDash val="solid"/>
          </a:ln>
        </p:spPr>
        <p:txBody>
          <a:bodyPr wrap="square" lIns="95250" tIns="57150" rIns="95250" bIns="57150" anchor="ctr">
            <a:normAutofit fontScale="83333"/>
          </a:bodyPr>
          <a:lstStyle/>
          <a:p>
            <a:pPr algn="ctr">
              <a:lnSpc>
                <a:spcPct val="100000"/>
              </a:lnSpc>
              <a:buNone/>
              <a:defRPr sz="2100" b="1">
                <a:solidFill>
                  <a:srgbClr val="102A43"/>
                </a:solidFill>
                <a:latin typeface="Arial" panose="020B0604020202020204"/>
                <a:ea typeface="Arial" panose="020B0604020202020204"/>
                <a:cs typeface="Arial" panose="020B0604020202020204"/>
              </a:defRPr>
            </a:pPr>
            <a:r>
              <a:rPr sz="2100" b="1">
                <a:solidFill>
                  <a:srgbClr val="102A43"/>
                </a:solidFill>
                <a:latin typeface="Arial" panose="020B0604020202020204"/>
                <a:ea typeface="Arial" panose="020B0604020202020204"/>
                <a:cs typeface="Arial" panose="020B0604020202020204"/>
              </a:rPr>
              <a:t>MAE</a:t>
            </a:r>
            <a:endParaRPr sz="2100" b="1">
              <a:solidFill>
                <a:srgbClr val="102A43"/>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5286375" y="5105400"/>
            <a:ext cx="1333500" cy="381000"/>
          </a:xfrm>
          <a:prstGeom prst="rect">
            <a:avLst/>
          </a:prstGeom>
          <a:noFill/>
          <a:ln w="0">
            <a:noFill/>
            <a:prstDash val="solid"/>
          </a:ln>
        </p:spPr>
        <p:txBody>
          <a:bodyPr wrap="square" lIns="95250" tIns="57150" rIns="95250" bIns="57150" anchor="ctr">
            <a:normAutofit fontScale="83333"/>
          </a:bodyPr>
          <a:lstStyle/>
          <a:p>
            <a:pPr algn="ctr">
              <a:lnSpc>
                <a:spcPct val="100000"/>
              </a:lnSpc>
              <a:buNone/>
              <a:defRPr sz="2100" b="1">
                <a:solidFill>
                  <a:srgbClr val="102A43"/>
                </a:solidFill>
                <a:latin typeface="Arial" panose="020B0604020202020204"/>
                <a:ea typeface="Arial" panose="020B0604020202020204"/>
                <a:cs typeface="Arial" panose="020B0604020202020204"/>
              </a:defRPr>
            </a:pPr>
            <a:r>
              <a:rPr sz="2100" b="1">
                <a:solidFill>
                  <a:srgbClr val="102A43"/>
                </a:solidFill>
                <a:latin typeface="Arial" panose="020B0604020202020204"/>
                <a:ea typeface="Arial" panose="020B0604020202020204"/>
                <a:cs typeface="Arial" panose="020B0604020202020204"/>
              </a:rPr>
              <a:t>R²</a:t>
            </a:r>
            <a:endParaRPr sz="2100" b="1">
              <a:solidFill>
                <a:srgbClr val="102A43"/>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7191375" y="5010150"/>
            <a:ext cx="3143250" cy="523875"/>
          </a:xfrm>
          <a:prstGeom prst="rect">
            <a:avLst/>
          </a:prstGeom>
          <a:noFill/>
          <a:ln w="0">
            <a:noFill/>
            <a:prstDash val="solid"/>
          </a:ln>
        </p:spPr>
        <p:txBody>
          <a:bodyPr wrap="square" lIns="95250" tIns="57150" rIns="95250" bIns="57150" anchor="ctr">
            <a:normAutofit/>
          </a:bodyPr>
          <a:lstStyle/>
          <a:p>
            <a:pPr algn="l">
              <a:lnSpc>
                <a:spcPct val="100000"/>
              </a:lnSpc>
              <a:buNone/>
              <a:defRPr sz="1275" b="0">
                <a:solidFill>
                  <a:srgbClr val="5F6C7B"/>
                </a:solidFill>
                <a:latin typeface="Arial" panose="020B0604020202020204"/>
                <a:ea typeface="Arial" panose="020B0604020202020204"/>
                <a:cs typeface="Arial" panose="020B0604020202020204"/>
              </a:defRPr>
            </a:pPr>
            <a:r>
              <a:rPr sz="1275" b="0">
                <a:solidFill>
                  <a:srgbClr val="5F6C7B"/>
                </a:solidFill>
                <a:latin typeface="Arial" panose="020B0604020202020204"/>
                <a:ea typeface="Arial" panose="020B0604020202020204"/>
                <a:cs typeface="Arial" panose="020B0604020202020204"/>
              </a:rPr>
              <a:t>Mục tiêu: sai số thấp và khả năng giải thích phương sai cao trên tập test.</a:t>
            </a:r>
            <a:endParaRPr sz="1275" b="0">
              <a:solidFill>
                <a:srgbClr val="5F6C7B"/>
              </a:solidFill>
              <a:latin typeface="Arial" panose="020B0604020202020204"/>
              <a:ea typeface="Arial" panose="020B0604020202020204"/>
              <a:cs typeface="Arial" panose="020B0604020202020204"/>
            </a:endParaRPr>
          </a:p>
        </p:txBody>
      </p:sp>
      <p:sp>
        <p:nvSpPr>
          <p:cNvPr id="23" name="Straight Connector 22"/>
          <p:cNvSpPr>
            <a:spLocks noGrp="1"/>
          </p:cNvSpPr>
          <p:nvPr/>
        </p:nvSpPr>
        <p:spPr>
          <a:xfrm>
            <a:off x="666750" y="6477000"/>
            <a:ext cx="10858500" cy="0"/>
          </a:xfrm>
          <a:prstGeom prst="line">
            <a:avLst/>
          </a:prstGeom>
          <a:noFill/>
          <a:ln w="9525">
            <a:solidFill>
              <a:srgbClr val="D7E0E8"/>
            </a:solidFill>
            <a:prstDash val="solid"/>
          </a:ln>
        </p:spPr>
      </p:sp>
      <p:sp>
        <p:nvSpPr>
          <p:cNvPr id="24" name="Rectangle 23"/>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ai-models/src/train.py; ai-models/service/main.py; ai-models/models/schema.json</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53" name="Rectangle 52"/>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02 · DATA</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Dataset California Housing</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03</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666750" y="1466850"/>
            <a:ext cx="2095500" cy="1123950"/>
          </a:xfrm>
          <a:prstGeom prst="roundRect">
            <a:avLst>
              <a:gd name="adj" fmla="val 593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666750" y="1466850"/>
            <a:ext cx="57150" cy="1123950"/>
          </a:xfrm>
          <a:prstGeom prst="rect">
            <a:avLst/>
          </a:prstGeom>
          <a:solidFill>
            <a:srgbClr val="167D8D"/>
          </a:solidFill>
          <a:ln w="0">
            <a:noFill/>
            <a:prstDash val="solid"/>
          </a:ln>
        </p:spPr>
      </p:sp>
      <p:sp>
        <p:nvSpPr>
          <p:cNvPr id="7" name="Rectangle 6"/>
          <p:cNvSpPr>
            <a:spLocks noGrp="1"/>
          </p:cNvSpPr>
          <p:nvPr/>
        </p:nvSpPr>
        <p:spPr>
          <a:xfrm>
            <a:off x="838200" y="1581150"/>
            <a:ext cx="1809750"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20.640</a:t>
            </a:r>
            <a:endParaRPr sz="2250" b="1">
              <a:solidFill>
                <a:srgbClr val="102A43"/>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838200" y="2009775"/>
            <a:ext cx="1809750"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Dòng dữ liệu</a:t>
            </a:r>
            <a:endParaRPr sz="1125" b="1">
              <a:solidFill>
                <a:srgbClr val="5F6C7B"/>
              </a:solidFill>
              <a:latin typeface="Arial" panose="020B0604020202020204"/>
              <a:ea typeface="Arial" panose="020B0604020202020204"/>
              <a:cs typeface="Arial" panose="020B0604020202020204"/>
            </a:endParaRPr>
          </a:p>
        </p:txBody>
      </p:sp>
      <p:sp>
        <p:nvSpPr>
          <p:cNvPr id="9" name="Rounded Rectangle 8"/>
          <p:cNvSpPr>
            <a:spLocks noGrp="1"/>
          </p:cNvSpPr>
          <p:nvPr/>
        </p:nvSpPr>
        <p:spPr>
          <a:xfrm>
            <a:off x="2952750" y="1466850"/>
            <a:ext cx="2095500" cy="1123950"/>
          </a:xfrm>
          <a:prstGeom prst="roundRect">
            <a:avLst>
              <a:gd name="adj" fmla="val 593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0" name="Rectangle 9"/>
          <p:cNvSpPr>
            <a:spLocks noGrp="1"/>
          </p:cNvSpPr>
          <p:nvPr/>
        </p:nvSpPr>
        <p:spPr>
          <a:xfrm>
            <a:off x="2952750" y="1466850"/>
            <a:ext cx="57150" cy="1123950"/>
          </a:xfrm>
          <a:prstGeom prst="rect">
            <a:avLst/>
          </a:prstGeom>
          <a:solidFill>
            <a:srgbClr val="173F5F"/>
          </a:solidFill>
          <a:ln w="0">
            <a:noFill/>
            <a:prstDash val="solid"/>
          </a:ln>
        </p:spPr>
      </p:sp>
      <p:sp>
        <p:nvSpPr>
          <p:cNvPr id="11" name="Rectangle 10"/>
          <p:cNvSpPr>
            <a:spLocks noGrp="1"/>
          </p:cNvSpPr>
          <p:nvPr/>
        </p:nvSpPr>
        <p:spPr>
          <a:xfrm>
            <a:off x="3124200" y="1581150"/>
            <a:ext cx="1809750"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10</a:t>
            </a:r>
            <a:endParaRPr sz="2250" b="1">
              <a:solidFill>
                <a:srgbClr val="102A43"/>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3124200" y="2009775"/>
            <a:ext cx="1809750"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Cột</a:t>
            </a:r>
            <a:endParaRPr sz="1125" b="1">
              <a:solidFill>
                <a:srgbClr val="5F6C7B"/>
              </a:solidFill>
              <a:latin typeface="Arial" panose="020B0604020202020204"/>
              <a:ea typeface="Arial" panose="020B0604020202020204"/>
              <a:cs typeface="Arial" panose="020B0604020202020204"/>
            </a:endParaRPr>
          </a:p>
        </p:txBody>
      </p:sp>
      <p:sp>
        <p:nvSpPr>
          <p:cNvPr id="13" name="Rounded Rectangle 12"/>
          <p:cNvSpPr>
            <a:spLocks noGrp="1"/>
          </p:cNvSpPr>
          <p:nvPr/>
        </p:nvSpPr>
        <p:spPr>
          <a:xfrm>
            <a:off x="5238750" y="1466850"/>
            <a:ext cx="2095500" cy="1123950"/>
          </a:xfrm>
          <a:prstGeom prst="roundRect">
            <a:avLst>
              <a:gd name="adj" fmla="val 593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4" name="Rectangle 13"/>
          <p:cNvSpPr>
            <a:spLocks noGrp="1"/>
          </p:cNvSpPr>
          <p:nvPr/>
        </p:nvSpPr>
        <p:spPr>
          <a:xfrm>
            <a:off x="5238750" y="1466850"/>
            <a:ext cx="57150" cy="1123950"/>
          </a:xfrm>
          <a:prstGeom prst="rect">
            <a:avLst/>
          </a:prstGeom>
          <a:solidFill>
            <a:srgbClr val="E76F51"/>
          </a:solidFill>
          <a:ln w="0">
            <a:noFill/>
            <a:prstDash val="solid"/>
          </a:ln>
        </p:spPr>
      </p:sp>
      <p:sp>
        <p:nvSpPr>
          <p:cNvPr id="15" name="Rectangle 14"/>
          <p:cNvSpPr>
            <a:spLocks noGrp="1"/>
          </p:cNvSpPr>
          <p:nvPr/>
        </p:nvSpPr>
        <p:spPr>
          <a:xfrm>
            <a:off x="5410200" y="1581150"/>
            <a:ext cx="1809750"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207</a:t>
            </a:r>
            <a:endParaRPr sz="2250" b="1">
              <a:solidFill>
                <a:srgbClr val="102A43"/>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5410200" y="2009775"/>
            <a:ext cx="1809750"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Giá trị thiếu</a:t>
            </a:r>
            <a:endParaRPr sz="1125" b="1">
              <a:solidFill>
                <a:srgbClr val="5F6C7B"/>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5410200" y="2295525"/>
            <a:ext cx="1809750" cy="209550"/>
          </a:xfrm>
          <a:prstGeom prst="rect">
            <a:avLst/>
          </a:prstGeom>
          <a:noFill/>
          <a:ln w="0">
            <a:noFill/>
            <a:prstDash val="solid"/>
          </a:ln>
        </p:spPr>
        <p:txBody>
          <a:bodyPr wrap="square" lIns="0" tIns="0" rIns="0" bIns="0" anchor="t">
            <a:normAutofit/>
          </a:bodyPr>
          <a:lstStyle/>
          <a:p>
            <a:pPr algn="l">
              <a:lnSpc>
                <a:spcPct val="100000"/>
              </a:lnSpc>
              <a:buNone/>
              <a:defRPr sz="900" b="0">
                <a:solidFill>
                  <a:srgbClr val="5F6C7B"/>
                </a:solidFill>
                <a:latin typeface="Arial" panose="020B0604020202020204"/>
                <a:ea typeface="Arial" panose="020B0604020202020204"/>
                <a:cs typeface="Arial" panose="020B0604020202020204"/>
              </a:defRPr>
            </a:pPr>
            <a:r>
              <a:rPr sz="900" b="0">
                <a:solidFill>
                  <a:srgbClr val="5F6C7B"/>
                </a:solidFill>
                <a:latin typeface="Arial" panose="020B0604020202020204"/>
                <a:ea typeface="Arial" panose="020B0604020202020204"/>
                <a:cs typeface="Arial" panose="020B0604020202020204"/>
              </a:rPr>
              <a:t>Chỉ ở total_bedrooms</a:t>
            </a:r>
            <a:endParaRPr sz="900" b="0">
              <a:solidFill>
                <a:srgbClr val="5F6C7B"/>
              </a:solidFill>
              <a:latin typeface="Arial" panose="020B0604020202020204"/>
              <a:ea typeface="Arial" panose="020B0604020202020204"/>
              <a:cs typeface="Arial" panose="020B0604020202020204"/>
            </a:endParaRPr>
          </a:p>
        </p:txBody>
      </p:sp>
      <p:sp>
        <p:nvSpPr>
          <p:cNvPr id="18" name="Rounded Rectangle 17"/>
          <p:cNvSpPr>
            <a:spLocks noGrp="1"/>
          </p:cNvSpPr>
          <p:nvPr/>
        </p:nvSpPr>
        <p:spPr>
          <a:xfrm>
            <a:off x="7524750" y="1466850"/>
            <a:ext cx="4000500" cy="1123950"/>
          </a:xfrm>
          <a:prstGeom prst="roundRect">
            <a:avLst>
              <a:gd name="adj" fmla="val 593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9" name="Rectangle 18"/>
          <p:cNvSpPr>
            <a:spLocks noGrp="1"/>
          </p:cNvSpPr>
          <p:nvPr/>
        </p:nvSpPr>
        <p:spPr>
          <a:xfrm>
            <a:off x="7524750" y="1466850"/>
            <a:ext cx="57150" cy="1123950"/>
          </a:xfrm>
          <a:prstGeom prst="rect">
            <a:avLst/>
          </a:prstGeom>
          <a:solidFill>
            <a:srgbClr val="E9C46A"/>
          </a:solidFill>
          <a:ln w="0">
            <a:noFill/>
            <a:prstDash val="solid"/>
          </a:ln>
        </p:spPr>
      </p:sp>
      <p:sp>
        <p:nvSpPr>
          <p:cNvPr id="20" name="Rectangle 19"/>
          <p:cNvSpPr>
            <a:spLocks noGrp="1"/>
          </p:cNvSpPr>
          <p:nvPr/>
        </p:nvSpPr>
        <p:spPr>
          <a:xfrm>
            <a:off x="7696200" y="1581150"/>
            <a:ext cx="3714750"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median_house_value</a:t>
            </a:r>
            <a:endParaRPr sz="2250" b="1">
              <a:solidFill>
                <a:srgbClr val="102A43"/>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7696200" y="2009775"/>
            <a:ext cx="3714750"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Biến mục tiêu</a:t>
            </a:r>
            <a:endParaRPr sz="1125" b="1">
              <a:solidFill>
                <a:srgbClr val="5F6C7B"/>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7696200" y="2295525"/>
            <a:ext cx="3714750" cy="209550"/>
          </a:xfrm>
          <a:prstGeom prst="rect">
            <a:avLst/>
          </a:prstGeom>
          <a:noFill/>
          <a:ln w="0">
            <a:noFill/>
            <a:prstDash val="solid"/>
          </a:ln>
        </p:spPr>
        <p:txBody>
          <a:bodyPr wrap="square" lIns="0" tIns="0" rIns="0" bIns="0" anchor="t">
            <a:normAutofit/>
          </a:bodyPr>
          <a:lstStyle/>
          <a:p>
            <a:pPr algn="l">
              <a:lnSpc>
                <a:spcPct val="100000"/>
              </a:lnSpc>
              <a:buNone/>
              <a:defRPr sz="900" b="0">
                <a:solidFill>
                  <a:srgbClr val="5F6C7B"/>
                </a:solidFill>
                <a:latin typeface="Arial" panose="020B0604020202020204"/>
                <a:ea typeface="Arial" panose="020B0604020202020204"/>
                <a:cs typeface="Arial" panose="020B0604020202020204"/>
              </a:defRPr>
            </a:pPr>
            <a:r>
              <a:rPr lang="vi-VN" sz="900" b="0">
                <a:solidFill>
                  <a:srgbClr val="5F6C7B"/>
                </a:solidFill>
                <a:latin typeface="Arial" panose="020B0604020202020204"/>
                <a:ea typeface="Arial" panose="020B0604020202020204"/>
                <a:cs typeface="Arial" panose="020B0604020202020204"/>
              </a:rPr>
              <a:t>Min 14.999 · Median 179.700 · Trần ~500.000 USD</a:t>
            </a:r>
            <a:endParaRPr lang="vi-VN" sz="900" b="0">
              <a:solidFill>
                <a:srgbClr val="5F6C7B"/>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666750" y="3028950"/>
            <a:ext cx="4000500" cy="333375"/>
          </a:xfrm>
          <a:prstGeom prst="rect">
            <a:avLst/>
          </a:prstGeom>
          <a:noFill/>
          <a:ln w="0">
            <a:noFill/>
            <a:prstDash val="solid"/>
          </a:ln>
        </p:spPr>
        <p:txBody>
          <a:bodyPr wrap="square" lIns="0" tIns="0" rIns="0" bIns="0" anchor="t">
            <a:normAutofit/>
          </a:bodyPr>
          <a:lstStyle/>
          <a:p>
            <a:pPr algn="l">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9 đặc trưng đầu vào</a:t>
            </a:r>
            <a:endParaRPr sz="1800" b="1">
              <a:solidFill>
                <a:srgbClr val="102A43"/>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666750" y="3476625"/>
            <a:ext cx="1428750" cy="381000"/>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Nhóm</a:t>
            </a:r>
            <a:endParaRPr sz="975" b="1">
              <a:solidFill>
                <a:srgbClr val="FFFFFF"/>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2095500" y="3476625"/>
            <a:ext cx="3714750" cy="381000"/>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Đặc trưng</a:t>
            </a:r>
            <a:endParaRPr sz="975" b="1">
              <a:solidFill>
                <a:srgbClr val="FFFFFF"/>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5810250" y="3476625"/>
            <a:ext cx="1238250" cy="381000"/>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Kiểu</a:t>
            </a:r>
            <a:endParaRPr sz="975" b="1">
              <a:solidFill>
                <a:srgbClr val="FFFFFF"/>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666750" y="3857625"/>
            <a:ext cx="14287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1D2939"/>
                </a:solidFill>
                <a:latin typeface="Arial" panose="020B0604020202020204"/>
                <a:ea typeface="Arial" panose="020B0604020202020204"/>
                <a:cs typeface="Arial" panose="020B0604020202020204"/>
              </a:defRPr>
            </a:pPr>
            <a:r>
              <a:rPr sz="975" b="1">
                <a:solidFill>
                  <a:srgbClr val="1D2939"/>
                </a:solidFill>
                <a:latin typeface="Arial" panose="020B0604020202020204"/>
                <a:ea typeface="Arial" panose="020B0604020202020204"/>
                <a:cs typeface="Arial" panose="020B0604020202020204"/>
              </a:rPr>
              <a:t>Vị trí</a:t>
            </a:r>
            <a:endParaRPr sz="975" b="1">
              <a:solidFill>
                <a:srgbClr val="1D2939"/>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2095500" y="3857625"/>
            <a:ext cx="37147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longitude, latitude</a:t>
            </a:r>
            <a:endParaRPr sz="975" b="0">
              <a:solidFill>
                <a:srgbClr val="1D2939"/>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5810250" y="3857625"/>
            <a:ext cx="12382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Số</a:t>
            </a:r>
            <a:endParaRPr sz="975" b="0">
              <a:solidFill>
                <a:srgbClr val="1D2939"/>
              </a:solidFill>
              <a:latin typeface="Arial" panose="020B0604020202020204"/>
              <a:ea typeface="Arial" panose="020B0604020202020204"/>
              <a:cs typeface="Arial" panose="020B0604020202020204"/>
            </a:endParaRPr>
          </a:p>
        </p:txBody>
      </p:sp>
      <p:sp>
        <p:nvSpPr>
          <p:cNvPr id="30" name="Rectangle 29"/>
          <p:cNvSpPr>
            <a:spLocks noGrp="1"/>
          </p:cNvSpPr>
          <p:nvPr/>
        </p:nvSpPr>
        <p:spPr>
          <a:xfrm>
            <a:off x="666750" y="4238625"/>
            <a:ext cx="14287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1D2939"/>
                </a:solidFill>
                <a:latin typeface="Arial" panose="020B0604020202020204"/>
                <a:ea typeface="Arial" panose="020B0604020202020204"/>
                <a:cs typeface="Arial" panose="020B0604020202020204"/>
              </a:defRPr>
            </a:pPr>
            <a:r>
              <a:rPr sz="975" b="1">
                <a:solidFill>
                  <a:srgbClr val="1D2939"/>
                </a:solidFill>
                <a:latin typeface="Arial" panose="020B0604020202020204"/>
                <a:ea typeface="Arial" panose="020B0604020202020204"/>
                <a:cs typeface="Arial" panose="020B0604020202020204"/>
              </a:rPr>
              <a:t>Nhà ở</a:t>
            </a:r>
            <a:endParaRPr sz="975" b="1">
              <a:solidFill>
                <a:srgbClr val="1D2939"/>
              </a:solidFill>
              <a:latin typeface="Arial" panose="020B0604020202020204"/>
              <a:ea typeface="Arial" panose="020B0604020202020204"/>
              <a:cs typeface="Arial" panose="020B0604020202020204"/>
            </a:endParaRPr>
          </a:p>
        </p:txBody>
      </p:sp>
      <p:sp>
        <p:nvSpPr>
          <p:cNvPr id="31" name="Rectangle 30"/>
          <p:cNvSpPr>
            <a:spLocks noGrp="1"/>
          </p:cNvSpPr>
          <p:nvPr/>
        </p:nvSpPr>
        <p:spPr>
          <a:xfrm>
            <a:off x="2095500" y="4238625"/>
            <a:ext cx="37147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housing_median_age</a:t>
            </a:r>
            <a:endParaRPr sz="975" b="0">
              <a:solidFill>
                <a:srgbClr val="1D2939"/>
              </a:solidFill>
              <a:latin typeface="Arial" panose="020B0604020202020204"/>
              <a:ea typeface="Arial" panose="020B0604020202020204"/>
              <a:cs typeface="Arial" panose="020B0604020202020204"/>
            </a:endParaRPr>
          </a:p>
        </p:txBody>
      </p:sp>
      <p:sp>
        <p:nvSpPr>
          <p:cNvPr id="32" name="Rectangle 31"/>
          <p:cNvSpPr>
            <a:spLocks noGrp="1"/>
          </p:cNvSpPr>
          <p:nvPr/>
        </p:nvSpPr>
        <p:spPr>
          <a:xfrm>
            <a:off x="5810250" y="4238625"/>
            <a:ext cx="12382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Số</a:t>
            </a:r>
            <a:endParaRPr sz="975" b="0">
              <a:solidFill>
                <a:srgbClr val="1D2939"/>
              </a:solidFill>
              <a:latin typeface="Arial" panose="020B0604020202020204"/>
              <a:ea typeface="Arial" panose="020B0604020202020204"/>
              <a:cs typeface="Arial" panose="020B0604020202020204"/>
            </a:endParaRPr>
          </a:p>
        </p:txBody>
      </p:sp>
      <p:sp>
        <p:nvSpPr>
          <p:cNvPr id="33" name="Rectangle 32"/>
          <p:cNvSpPr>
            <a:spLocks noGrp="1"/>
          </p:cNvSpPr>
          <p:nvPr/>
        </p:nvSpPr>
        <p:spPr>
          <a:xfrm>
            <a:off x="666750" y="4619625"/>
            <a:ext cx="14287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1D2939"/>
                </a:solidFill>
                <a:latin typeface="Arial" panose="020B0604020202020204"/>
                <a:ea typeface="Arial" panose="020B0604020202020204"/>
                <a:cs typeface="Arial" panose="020B0604020202020204"/>
              </a:defRPr>
            </a:pPr>
            <a:r>
              <a:rPr sz="975" b="1">
                <a:solidFill>
                  <a:srgbClr val="1D2939"/>
                </a:solidFill>
                <a:latin typeface="Arial" panose="020B0604020202020204"/>
                <a:ea typeface="Arial" panose="020B0604020202020204"/>
                <a:cs typeface="Arial" panose="020B0604020202020204"/>
              </a:rPr>
              <a:t>Quy mô</a:t>
            </a:r>
            <a:endParaRPr sz="975" b="1">
              <a:solidFill>
                <a:srgbClr val="1D2939"/>
              </a:solidFill>
              <a:latin typeface="Arial" panose="020B0604020202020204"/>
              <a:ea typeface="Arial" panose="020B0604020202020204"/>
              <a:cs typeface="Arial" panose="020B0604020202020204"/>
            </a:endParaRPr>
          </a:p>
        </p:txBody>
      </p:sp>
      <p:sp>
        <p:nvSpPr>
          <p:cNvPr id="34" name="Rectangle 33"/>
          <p:cNvSpPr>
            <a:spLocks noGrp="1"/>
          </p:cNvSpPr>
          <p:nvPr/>
        </p:nvSpPr>
        <p:spPr>
          <a:xfrm>
            <a:off x="2095500" y="4619625"/>
            <a:ext cx="37147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total_rooms, total_bedrooms</a:t>
            </a:r>
            <a:endParaRPr sz="975" b="0">
              <a:solidFill>
                <a:srgbClr val="1D2939"/>
              </a:solidFill>
              <a:latin typeface="Arial" panose="020B0604020202020204"/>
              <a:ea typeface="Arial" panose="020B0604020202020204"/>
              <a:cs typeface="Arial" panose="020B0604020202020204"/>
            </a:endParaRPr>
          </a:p>
        </p:txBody>
      </p:sp>
      <p:sp>
        <p:nvSpPr>
          <p:cNvPr id="35" name="Rectangle 34"/>
          <p:cNvSpPr>
            <a:spLocks noGrp="1"/>
          </p:cNvSpPr>
          <p:nvPr/>
        </p:nvSpPr>
        <p:spPr>
          <a:xfrm>
            <a:off x="5810250" y="4619625"/>
            <a:ext cx="12382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Số</a:t>
            </a:r>
            <a:endParaRPr sz="975" b="0">
              <a:solidFill>
                <a:srgbClr val="1D2939"/>
              </a:solidFill>
              <a:latin typeface="Arial" panose="020B0604020202020204"/>
              <a:ea typeface="Arial" panose="020B0604020202020204"/>
              <a:cs typeface="Arial" panose="020B0604020202020204"/>
            </a:endParaRPr>
          </a:p>
        </p:txBody>
      </p:sp>
      <p:sp>
        <p:nvSpPr>
          <p:cNvPr id="36" name="Rectangle 35"/>
          <p:cNvSpPr>
            <a:spLocks noGrp="1"/>
          </p:cNvSpPr>
          <p:nvPr/>
        </p:nvSpPr>
        <p:spPr>
          <a:xfrm>
            <a:off x="666750" y="5000625"/>
            <a:ext cx="14287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1D2939"/>
                </a:solidFill>
                <a:latin typeface="Arial" panose="020B0604020202020204"/>
                <a:ea typeface="Arial" panose="020B0604020202020204"/>
                <a:cs typeface="Arial" panose="020B0604020202020204"/>
              </a:defRPr>
            </a:pPr>
            <a:r>
              <a:rPr sz="975" b="1">
                <a:solidFill>
                  <a:srgbClr val="1D2939"/>
                </a:solidFill>
                <a:latin typeface="Arial" panose="020B0604020202020204"/>
                <a:ea typeface="Arial" panose="020B0604020202020204"/>
                <a:cs typeface="Arial" panose="020B0604020202020204"/>
              </a:rPr>
              <a:t>Dân cư</a:t>
            </a:r>
            <a:endParaRPr sz="975" b="1">
              <a:solidFill>
                <a:srgbClr val="1D2939"/>
              </a:solidFill>
              <a:latin typeface="Arial" panose="020B0604020202020204"/>
              <a:ea typeface="Arial" panose="020B0604020202020204"/>
              <a:cs typeface="Arial" panose="020B0604020202020204"/>
            </a:endParaRPr>
          </a:p>
        </p:txBody>
      </p:sp>
      <p:sp>
        <p:nvSpPr>
          <p:cNvPr id="37" name="Rectangle 36"/>
          <p:cNvSpPr>
            <a:spLocks noGrp="1"/>
          </p:cNvSpPr>
          <p:nvPr/>
        </p:nvSpPr>
        <p:spPr>
          <a:xfrm>
            <a:off x="2095500" y="5000625"/>
            <a:ext cx="37147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population, households</a:t>
            </a:r>
            <a:endParaRPr sz="975" b="0">
              <a:solidFill>
                <a:srgbClr val="1D2939"/>
              </a:solidFill>
              <a:latin typeface="Arial" panose="020B0604020202020204"/>
              <a:ea typeface="Arial" panose="020B0604020202020204"/>
              <a:cs typeface="Arial" panose="020B0604020202020204"/>
            </a:endParaRPr>
          </a:p>
        </p:txBody>
      </p:sp>
      <p:sp>
        <p:nvSpPr>
          <p:cNvPr id="38" name="Rectangle 37"/>
          <p:cNvSpPr>
            <a:spLocks noGrp="1"/>
          </p:cNvSpPr>
          <p:nvPr/>
        </p:nvSpPr>
        <p:spPr>
          <a:xfrm>
            <a:off x="5810250" y="5000625"/>
            <a:ext cx="12382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Số</a:t>
            </a:r>
            <a:endParaRPr sz="975" b="0">
              <a:solidFill>
                <a:srgbClr val="1D2939"/>
              </a:solidFill>
              <a:latin typeface="Arial" panose="020B0604020202020204"/>
              <a:ea typeface="Arial" panose="020B0604020202020204"/>
              <a:cs typeface="Arial" panose="020B0604020202020204"/>
            </a:endParaRPr>
          </a:p>
        </p:txBody>
      </p:sp>
      <p:sp>
        <p:nvSpPr>
          <p:cNvPr id="39" name="Rectangle 38"/>
          <p:cNvSpPr>
            <a:spLocks noGrp="1"/>
          </p:cNvSpPr>
          <p:nvPr/>
        </p:nvSpPr>
        <p:spPr>
          <a:xfrm>
            <a:off x="666750" y="5381625"/>
            <a:ext cx="14287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1D2939"/>
                </a:solidFill>
                <a:latin typeface="Arial" panose="020B0604020202020204"/>
                <a:ea typeface="Arial" panose="020B0604020202020204"/>
                <a:cs typeface="Arial" panose="020B0604020202020204"/>
              </a:defRPr>
            </a:pPr>
            <a:r>
              <a:rPr sz="975" b="1">
                <a:solidFill>
                  <a:srgbClr val="1D2939"/>
                </a:solidFill>
                <a:latin typeface="Arial" panose="020B0604020202020204"/>
                <a:ea typeface="Arial" panose="020B0604020202020204"/>
                <a:cs typeface="Arial" panose="020B0604020202020204"/>
              </a:rPr>
              <a:t>Kinh tế</a:t>
            </a:r>
            <a:endParaRPr sz="975" b="1">
              <a:solidFill>
                <a:srgbClr val="1D2939"/>
              </a:solidFill>
              <a:latin typeface="Arial" panose="020B0604020202020204"/>
              <a:ea typeface="Arial" panose="020B0604020202020204"/>
              <a:cs typeface="Arial" panose="020B0604020202020204"/>
            </a:endParaRPr>
          </a:p>
        </p:txBody>
      </p:sp>
      <p:sp>
        <p:nvSpPr>
          <p:cNvPr id="40" name="Rectangle 39"/>
          <p:cNvSpPr>
            <a:spLocks noGrp="1"/>
          </p:cNvSpPr>
          <p:nvPr/>
        </p:nvSpPr>
        <p:spPr>
          <a:xfrm>
            <a:off x="2095500" y="5381625"/>
            <a:ext cx="37147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median_income</a:t>
            </a:r>
            <a:endParaRPr sz="975" b="0">
              <a:solidFill>
                <a:srgbClr val="1D2939"/>
              </a:solidFill>
              <a:latin typeface="Arial" panose="020B0604020202020204"/>
              <a:ea typeface="Arial" panose="020B0604020202020204"/>
              <a:cs typeface="Arial" panose="020B0604020202020204"/>
            </a:endParaRPr>
          </a:p>
        </p:txBody>
      </p:sp>
      <p:sp>
        <p:nvSpPr>
          <p:cNvPr id="41" name="Rectangle 40"/>
          <p:cNvSpPr>
            <a:spLocks noGrp="1"/>
          </p:cNvSpPr>
          <p:nvPr/>
        </p:nvSpPr>
        <p:spPr>
          <a:xfrm>
            <a:off x="5810250" y="5381625"/>
            <a:ext cx="1238250" cy="381000"/>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Số</a:t>
            </a:r>
            <a:endParaRPr sz="975" b="0">
              <a:solidFill>
                <a:srgbClr val="1D2939"/>
              </a:solidFill>
              <a:latin typeface="Arial" panose="020B0604020202020204"/>
              <a:ea typeface="Arial" panose="020B0604020202020204"/>
              <a:cs typeface="Arial" panose="020B0604020202020204"/>
            </a:endParaRPr>
          </a:p>
        </p:txBody>
      </p:sp>
      <p:sp>
        <p:nvSpPr>
          <p:cNvPr id="42" name="Rectangle 41"/>
          <p:cNvSpPr>
            <a:spLocks noGrp="1"/>
          </p:cNvSpPr>
          <p:nvPr/>
        </p:nvSpPr>
        <p:spPr>
          <a:xfrm>
            <a:off x="666750" y="5762625"/>
            <a:ext cx="14287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1D2939"/>
                </a:solidFill>
                <a:latin typeface="Arial" panose="020B0604020202020204"/>
                <a:ea typeface="Arial" panose="020B0604020202020204"/>
                <a:cs typeface="Arial" panose="020B0604020202020204"/>
              </a:defRPr>
            </a:pPr>
            <a:r>
              <a:rPr sz="975" b="1">
                <a:solidFill>
                  <a:srgbClr val="1D2939"/>
                </a:solidFill>
                <a:latin typeface="Arial" panose="020B0604020202020204"/>
                <a:ea typeface="Arial" panose="020B0604020202020204"/>
                <a:cs typeface="Arial" panose="020B0604020202020204"/>
              </a:rPr>
              <a:t>Địa lý</a:t>
            </a:r>
            <a:endParaRPr sz="975" b="1">
              <a:solidFill>
                <a:srgbClr val="1D2939"/>
              </a:solidFill>
              <a:latin typeface="Arial" panose="020B0604020202020204"/>
              <a:ea typeface="Arial" panose="020B0604020202020204"/>
              <a:cs typeface="Arial" panose="020B0604020202020204"/>
            </a:endParaRPr>
          </a:p>
        </p:txBody>
      </p:sp>
      <p:sp>
        <p:nvSpPr>
          <p:cNvPr id="43" name="Rectangle 42"/>
          <p:cNvSpPr>
            <a:spLocks noGrp="1"/>
          </p:cNvSpPr>
          <p:nvPr/>
        </p:nvSpPr>
        <p:spPr>
          <a:xfrm>
            <a:off x="2095500" y="5762625"/>
            <a:ext cx="37147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ocean_proximity</a:t>
            </a:r>
            <a:endParaRPr sz="975" b="0">
              <a:solidFill>
                <a:srgbClr val="1D2939"/>
              </a:solidFill>
              <a:latin typeface="Arial" panose="020B0604020202020204"/>
              <a:ea typeface="Arial" panose="020B0604020202020204"/>
              <a:cs typeface="Arial" panose="020B0604020202020204"/>
            </a:endParaRPr>
          </a:p>
        </p:txBody>
      </p:sp>
      <p:sp>
        <p:nvSpPr>
          <p:cNvPr id="44" name="Rectangle 43"/>
          <p:cNvSpPr>
            <a:spLocks noGrp="1"/>
          </p:cNvSpPr>
          <p:nvPr/>
        </p:nvSpPr>
        <p:spPr>
          <a:xfrm>
            <a:off x="5810250" y="5762625"/>
            <a:ext cx="1238250" cy="381000"/>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975" b="0">
                <a:solidFill>
                  <a:srgbClr val="1D2939"/>
                </a:solidFill>
                <a:latin typeface="Arial" panose="020B0604020202020204"/>
                <a:ea typeface="Arial" panose="020B0604020202020204"/>
                <a:cs typeface="Arial" panose="020B0604020202020204"/>
              </a:defRPr>
            </a:pPr>
            <a:r>
              <a:rPr sz="975" b="0">
                <a:solidFill>
                  <a:srgbClr val="1D2939"/>
                </a:solidFill>
                <a:latin typeface="Arial" panose="020B0604020202020204"/>
                <a:ea typeface="Arial" panose="020B0604020202020204"/>
                <a:cs typeface="Arial" panose="020B0604020202020204"/>
              </a:rPr>
              <a:t>Phân loại</a:t>
            </a:r>
            <a:endParaRPr sz="975" b="0">
              <a:solidFill>
                <a:srgbClr val="1D2939"/>
              </a:solidFill>
              <a:latin typeface="Arial" panose="020B0604020202020204"/>
              <a:ea typeface="Arial" panose="020B0604020202020204"/>
              <a:cs typeface="Arial" panose="020B0604020202020204"/>
            </a:endParaRPr>
          </a:p>
        </p:txBody>
      </p:sp>
      <p:sp>
        <p:nvSpPr>
          <p:cNvPr id="45" name="Rounded Rectangle 44"/>
          <p:cNvSpPr>
            <a:spLocks noGrp="1"/>
          </p:cNvSpPr>
          <p:nvPr/>
        </p:nvSpPr>
        <p:spPr>
          <a:xfrm>
            <a:off x="7381875" y="3143250"/>
            <a:ext cx="4143375" cy="2809875"/>
          </a:xfrm>
          <a:prstGeom prst="roundRect">
            <a:avLst>
              <a:gd name="adj" fmla="val 2373"/>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46" name="Rectangle 45"/>
          <p:cNvSpPr>
            <a:spLocks noGrp="1"/>
          </p:cNvSpPr>
          <p:nvPr/>
        </p:nvSpPr>
        <p:spPr>
          <a:xfrm>
            <a:off x="7620000" y="3381375"/>
            <a:ext cx="3619500" cy="304800"/>
          </a:xfrm>
          <a:prstGeom prst="rect">
            <a:avLst/>
          </a:prstGeom>
          <a:noFill/>
          <a:ln w="0">
            <a:noFill/>
            <a:prstDash val="solid"/>
          </a:ln>
        </p:spPr>
        <p:txBody>
          <a:bodyPr wrap="square" lIns="0" tIns="0" rIns="0" bIns="0" anchor="t">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Điểm cần lưu ý</a:t>
            </a:r>
            <a:endParaRPr sz="1650" b="1">
              <a:solidFill>
                <a:srgbClr val="102A43"/>
              </a:solidFill>
              <a:latin typeface="Arial" panose="020B0604020202020204"/>
              <a:ea typeface="Arial" panose="020B0604020202020204"/>
              <a:cs typeface="Arial" panose="020B0604020202020204"/>
            </a:endParaRPr>
          </a:p>
        </p:txBody>
      </p:sp>
      <p:sp>
        <p:nvSpPr>
          <p:cNvPr id="47" name="Rectangle 46"/>
          <p:cNvSpPr>
            <a:spLocks noGrp="1"/>
          </p:cNvSpPr>
          <p:nvPr/>
        </p:nvSpPr>
        <p:spPr>
          <a:xfrm>
            <a:off x="7572375" y="3857625"/>
            <a:ext cx="3714750" cy="1714500"/>
          </a:xfrm>
          <a:prstGeom prst="rect">
            <a:avLst/>
          </a:prstGeom>
          <a:noFill/>
          <a:ln w="0">
            <a:noFill/>
            <a:prstDash val="solid"/>
          </a:ln>
        </p:spPr>
        <p:txBody>
          <a:bodyPr wrap="square" lIns="114300" tIns="76200" rIns="114300" bIns="76200" anchor="t">
            <a:normAutofit fontScale="89636"/>
          </a:bodyPr>
          <a:lstStyle/>
          <a:p>
            <a:pPr marL="254000" indent="-127000" algn="l">
              <a:lnSpc>
                <a:spcPct val="100000"/>
              </a:lnSpc>
              <a:spcAft>
                <a:spcPts val="9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Nguồn dữ liệu được mô tả là Kaggle California Housing.</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9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ocean_proximity là biến phân loại duy nhất.</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9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median_house_value có trần quan sát quanh 500.000 USD.</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9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Thiếu 207 giá trị total_bedrooms cần xử lý trước huấn luyện.</a:t>
            </a:r>
            <a:endParaRPr sz="1275">
              <a:solidFill>
                <a:srgbClr val="1D2939"/>
              </a:solidFill>
              <a:latin typeface="Arial" panose="020B0604020202020204"/>
              <a:ea typeface="Arial" panose="020B0604020202020204"/>
              <a:cs typeface="Arial" panose="020B0604020202020204"/>
            </a:endParaRPr>
          </a:p>
        </p:txBody>
      </p:sp>
      <p:sp>
        <p:nvSpPr>
          <p:cNvPr id="48" name="Rounded Rectangle 47"/>
          <p:cNvSpPr>
            <a:spLocks noGrp="1"/>
          </p:cNvSpPr>
          <p:nvPr/>
        </p:nvSpPr>
        <p:spPr>
          <a:xfrm>
            <a:off x="7620000" y="5572125"/>
            <a:ext cx="1047750" cy="266700"/>
          </a:xfrm>
          <a:prstGeom prst="roundRect">
            <a:avLst>
              <a:gd name="adj" fmla="val 50000"/>
            </a:avLst>
          </a:prstGeom>
          <a:solidFill>
            <a:srgbClr val="EAF6F5"/>
          </a:solidFill>
          <a:ln w="9525">
            <a:solidFill>
              <a:srgbClr val="EAF6F5"/>
            </a:solidFill>
            <a:prstDash val="solid"/>
          </a:ln>
        </p:spPr>
        <p:txBody>
          <a:bodyPr wrap="square" lIns="76200" tIns="19050" rIns="76200" bIns="19050" anchor="ctr">
            <a:normAutofit/>
          </a:bodyPr>
          <a:lstStyle/>
          <a:p>
            <a:pPr algn="ctr">
              <a:lnSpc>
                <a:spcPct val="100000"/>
              </a:lnSpc>
              <a:buNone/>
              <a:defRPr sz="900" b="1">
                <a:solidFill>
                  <a:srgbClr val="167D8D"/>
                </a:solidFill>
                <a:latin typeface="Arial" panose="020B0604020202020204"/>
                <a:ea typeface="Arial" panose="020B0604020202020204"/>
                <a:cs typeface="Arial" panose="020B0604020202020204"/>
              </a:defRPr>
            </a:pPr>
            <a:r>
              <a:rPr sz="900" b="1">
                <a:solidFill>
                  <a:srgbClr val="167D8D"/>
                </a:solidFill>
                <a:latin typeface="Arial" panose="020B0604020202020204"/>
                <a:ea typeface="Arial" panose="020B0604020202020204"/>
                <a:cs typeface="Arial" panose="020B0604020202020204"/>
              </a:rPr>
              <a:t>Regression</a:t>
            </a:r>
            <a:endParaRPr sz="900" b="1">
              <a:solidFill>
                <a:srgbClr val="167D8D"/>
              </a:solidFill>
              <a:latin typeface="Arial" panose="020B0604020202020204"/>
              <a:ea typeface="Arial" panose="020B0604020202020204"/>
              <a:cs typeface="Arial" panose="020B0604020202020204"/>
            </a:endParaRPr>
          </a:p>
        </p:txBody>
      </p:sp>
      <p:sp>
        <p:nvSpPr>
          <p:cNvPr id="49" name="Rounded Rectangle 48"/>
          <p:cNvSpPr>
            <a:spLocks noGrp="1"/>
          </p:cNvSpPr>
          <p:nvPr/>
        </p:nvSpPr>
        <p:spPr>
          <a:xfrm>
            <a:off x="8810625" y="5572125"/>
            <a:ext cx="857250" cy="266700"/>
          </a:xfrm>
          <a:prstGeom prst="roundRect">
            <a:avLst>
              <a:gd name="adj" fmla="val 50000"/>
            </a:avLst>
          </a:prstGeom>
          <a:solidFill>
            <a:srgbClr val="EAF1F8"/>
          </a:solidFill>
          <a:ln w="9525">
            <a:solidFill>
              <a:srgbClr val="EAF1F8"/>
            </a:solidFill>
            <a:prstDash val="solid"/>
          </a:ln>
        </p:spPr>
        <p:txBody>
          <a:bodyPr wrap="square" lIns="76200" tIns="19050" rIns="76200" bIns="19050" anchor="ctr">
            <a:normAutofit/>
          </a:bodyPr>
          <a:lstStyle/>
          <a:p>
            <a:pPr algn="ctr">
              <a:lnSpc>
                <a:spcPct val="100000"/>
              </a:lnSpc>
              <a:buNone/>
              <a:defRPr sz="900" b="1">
                <a:solidFill>
                  <a:srgbClr val="173F5F"/>
                </a:solidFill>
                <a:latin typeface="Arial" panose="020B0604020202020204"/>
                <a:ea typeface="Arial" panose="020B0604020202020204"/>
                <a:cs typeface="Arial" panose="020B0604020202020204"/>
              </a:defRPr>
            </a:pPr>
            <a:r>
              <a:rPr sz="900" b="1">
                <a:solidFill>
                  <a:srgbClr val="173F5F"/>
                </a:solidFill>
                <a:latin typeface="Arial" panose="020B0604020202020204"/>
                <a:ea typeface="Arial" panose="020B0604020202020204"/>
                <a:cs typeface="Arial" panose="020B0604020202020204"/>
              </a:rPr>
              <a:t>Kaggle</a:t>
            </a:r>
            <a:endParaRPr sz="900" b="1">
              <a:solidFill>
                <a:srgbClr val="173F5F"/>
              </a:solidFill>
              <a:latin typeface="Arial" panose="020B0604020202020204"/>
              <a:ea typeface="Arial" panose="020B0604020202020204"/>
              <a:cs typeface="Arial" panose="020B0604020202020204"/>
            </a:endParaRPr>
          </a:p>
        </p:txBody>
      </p:sp>
      <p:sp>
        <p:nvSpPr>
          <p:cNvPr id="50" name="Rounded Rectangle 49"/>
          <p:cNvSpPr>
            <a:spLocks noGrp="1"/>
          </p:cNvSpPr>
          <p:nvPr/>
        </p:nvSpPr>
        <p:spPr>
          <a:xfrm>
            <a:off x="9810750" y="5572125"/>
            <a:ext cx="952500" cy="266700"/>
          </a:xfrm>
          <a:prstGeom prst="roundRect">
            <a:avLst>
              <a:gd name="adj" fmla="val 50000"/>
            </a:avLst>
          </a:prstGeom>
          <a:solidFill>
            <a:srgbClr val="FCEDE8"/>
          </a:solidFill>
          <a:ln w="9525">
            <a:solidFill>
              <a:srgbClr val="FCEDE8"/>
            </a:solidFill>
            <a:prstDash val="solid"/>
          </a:ln>
        </p:spPr>
        <p:txBody>
          <a:bodyPr wrap="square" lIns="76200" tIns="19050" rIns="76200" bIns="19050" anchor="ctr">
            <a:normAutofit/>
          </a:bodyPr>
          <a:lstStyle/>
          <a:p>
            <a:pPr algn="ctr">
              <a:lnSpc>
                <a:spcPct val="100000"/>
              </a:lnSpc>
              <a:buNone/>
              <a:defRPr sz="900" b="1">
                <a:solidFill>
                  <a:srgbClr val="E76F51"/>
                </a:solidFill>
                <a:latin typeface="Arial" panose="020B0604020202020204"/>
                <a:ea typeface="Arial" panose="020B0604020202020204"/>
                <a:cs typeface="Arial" panose="020B0604020202020204"/>
              </a:defRPr>
            </a:pPr>
            <a:r>
              <a:rPr sz="900" b="1">
                <a:solidFill>
                  <a:srgbClr val="E76F51"/>
                </a:solidFill>
                <a:latin typeface="Arial" panose="020B0604020202020204"/>
                <a:ea typeface="Arial" panose="020B0604020202020204"/>
                <a:cs typeface="Arial" panose="020B0604020202020204"/>
              </a:rPr>
              <a:t>CSV ZIP</a:t>
            </a:r>
            <a:endParaRPr sz="900" b="1">
              <a:solidFill>
                <a:srgbClr val="E76F51"/>
              </a:solidFill>
              <a:latin typeface="Arial" panose="020B0604020202020204"/>
              <a:ea typeface="Arial" panose="020B0604020202020204"/>
              <a:cs typeface="Arial" panose="020B0604020202020204"/>
            </a:endParaRPr>
          </a:p>
        </p:txBody>
      </p:sp>
      <p:sp>
        <p:nvSpPr>
          <p:cNvPr id="51" name="Straight Connector 50"/>
          <p:cNvSpPr>
            <a:spLocks noGrp="1"/>
          </p:cNvSpPr>
          <p:nvPr/>
        </p:nvSpPr>
        <p:spPr>
          <a:xfrm>
            <a:off x="666750" y="6477000"/>
            <a:ext cx="10858500" cy="0"/>
          </a:xfrm>
          <a:prstGeom prst="line">
            <a:avLst/>
          </a:prstGeom>
          <a:noFill/>
          <a:ln w="9525">
            <a:solidFill>
              <a:srgbClr val="D7E0E8"/>
            </a:solidFill>
            <a:prstDash val="solid"/>
          </a:ln>
        </p:spPr>
      </p:sp>
      <p:sp>
        <p:nvSpPr>
          <p:cNvPr id="52" name="Rectangle 51"/>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ai-models/data/housing.csv.zip; ai-models/colab/01_eda.ipynb</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19" name="Rectangle 18"/>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03 · EXPLORATORY DATA ANALYSIS</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EDA: phân phối và chất lượng dữ liệu</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04</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523875" y="1476375"/>
            <a:ext cx="3333750" cy="4333875"/>
          </a:xfrm>
          <a:prstGeom prst="roundRect">
            <a:avLst>
              <a:gd name="adj" fmla="val 2000"/>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695325" y="1619250"/>
            <a:ext cx="2990850" cy="323850"/>
          </a:xfrm>
          <a:prstGeom prst="rect">
            <a:avLst/>
          </a:prstGeom>
          <a:noFill/>
          <a:ln w="0">
            <a:noFill/>
            <a:prstDash val="solid"/>
          </a:ln>
        </p:spPr>
        <p:txBody>
          <a:bodyPr wrap="square" lIns="0" tIns="0" rIns="0" bIns="0" anchor="t">
            <a:normAutofit/>
          </a:bodyPr>
          <a:lstStyle/>
          <a:p>
            <a:pPr algn="l">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Phân phối biến mục tiêu</a:t>
            </a:r>
            <a:endParaRPr sz="1425" b="1">
              <a:solidFill>
                <a:srgbClr val="102A43"/>
              </a:solidFill>
              <a:latin typeface="Arial" panose="020B0604020202020204"/>
              <a:ea typeface="Arial" panose="020B0604020202020204"/>
              <a:cs typeface="Arial" panose="020B0604020202020204"/>
            </a:endParaRPr>
          </a:p>
        </p:txBody>
      </p:sp>
      <p:pic>
        <p:nvPicPr>
          <p:cNvPr id="25" name="Picture 24"/>
          <p:cNvPicPr>
            <a:picLocks noChangeAspect="1"/>
          </p:cNvPicPr>
          <p:nvPr/>
        </p:nvPicPr>
        <p:blipFill>
          <a:blip r:embed="rId1"/>
          <a:stretch>
            <a:fillRect/>
          </a:stretch>
        </p:blipFill>
        <p:spPr>
          <a:xfrm>
            <a:off x="676275" y="2406375"/>
            <a:ext cx="3028950" cy="1940475"/>
          </a:xfrm>
          <a:prstGeom prst="roundRect">
            <a:avLst>
              <a:gd name="adj" fmla="val 2105"/>
            </a:avLst>
          </a:prstGeom>
        </p:spPr>
      </p:pic>
      <p:sp>
        <p:nvSpPr>
          <p:cNvPr id="8" name="Rectangle 7"/>
          <p:cNvSpPr>
            <a:spLocks noGrp="1"/>
          </p:cNvSpPr>
          <p:nvPr/>
        </p:nvSpPr>
        <p:spPr>
          <a:xfrm>
            <a:off x="695325" y="4905375"/>
            <a:ext cx="2990850" cy="685800"/>
          </a:xfrm>
          <a:prstGeom prst="rect">
            <a:avLst/>
          </a:prstGeom>
          <a:noFill/>
          <a:ln w="0">
            <a:noFill/>
            <a:prstDash val="solid"/>
          </a:ln>
        </p:spPr>
        <p:txBody>
          <a:bodyPr wrap="square" lIns="38100" tIns="19050" rIns="38100" bIns="19050" anchor="ctr">
            <a:normAutofit/>
          </a:bodyPr>
          <a:lstStyle/>
          <a:p>
            <a:pPr algn="l">
              <a:lnSpc>
                <a:spcPct val="100000"/>
              </a:lnSpc>
              <a:buNone/>
              <a:defRPr sz="1050" b="0">
                <a:solidFill>
                  <a:srgbClr val="5F6C7B"/>
                </a:solidFill>
                <a:latin typeface="Arial" panose="020B0604020202020204"/>
                <a:ea typeface="Arial" panose="020B0604020202020204"/>
                <a:cs typeface="Arial" panose="020B0604020202020204"/>
              </a:defRPr>
            </a:pPr>
            <a:r>
              <a:rPr lang="vi-VN" sz="1050" b="0">
                <a:solidFill>
                  <a:srgbClr val="5F6C7B"/>
                </a:solidFill>
                <a:latin typeface="Arial" panose="020B0604020202020204"/>
                <a:ea typeface="Arial" panose="020B0604020202020204"/>
                <a:cs typeface="Arial" panose="020B0604020202020204"/>
              </a:rPr>
              <a:t>Giá nhà lệch phải; có cụm lớn tại mức trần quanh 500.000 USD.</a:t>
            </a:r>
            <a:endParaRPr lang="vi-VN" sz="1050" b="0">
              <a:solidFill>
                <a:srgbClr val="5F6C7B"/>
              </a:solidFill>
              <a:latin typeface="Arial" panose="020B0604020202020204"/>
              <a:ea typeface="Arial" panose="020B0604020202020204"/>
              <a:cs typeface="Arial" panose="020B0604020202020204"/>
            </a:endParaRPr>
          </a:p>
        </p:txBody>
      </p:sp>
      <p:sp>
        <p:nvSpPr>
          <p:cNvPr id="9" name="Rounded Rectangle 8"/>
          <p:cNvSpPr>
            <a:spLocks noGrp="1"/>
          </p:cNvSpPr>
          <p:nvPr/>
        </p:nvSpPr>
        <p:spPr>
          <a:xfrm>
            <a:off x="4429125" y="1476375"/>
            <a:ext cx="3333750" cy="4333875"/>
          </a:xfrm>
          <a:prstGeom prst="roundRect">
            <a:avLst>
              <a:gd name="adj" fmla="val 2000"/>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0" name="Rectangle 9"/>
          <p:cNvSpPr>
            <a:spLocks noGrp="1"/>
          </p:cNvSpPr>
          <p:nvPr/>
        </p:nvSpPr>
        <p:spPr>
          <a:xfrm>
            <a:off x="4600575" y="1619250"/>
            <a:ext cx="2990850" cy="323850"/>
          </a:xfrm>
          <a:prstGeom prst="rect">
            <a:avLst/>
          </a:prstGeom>
          <a:noFill/>
          <a:ln w="0">
            <a:noFill/>
            <a:prstDash val="solid"/>
          </a:ln>
        </p:spPr>
        <p:txBody>
          <a:bodyPr wrap="square" lIns="0" tIns="0" rIns="0" bIns="0" anchor="t">
            <a:normAutofit/>
          </a:bodyPr>
          <a:lstStyle/>
          <a:p>
            <a:pPr algn="l">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Hai biến số quan trọng</a:t>
            </a:r>
            <a:endParaRPr sz="1425" b="1">
              <a:solidFill>
                <a:srgbClr val="102A43"/>
              </a:solidFill>
              <a:latin typeface="Arial" panose="020B0604020202020204"/>
              <a:ea typeface="Arial" panose="020B0604020202020204"/>
              <a:cs typeface="Arial" panose="020B0604020202020204"/>
            </a:endParaRPr>
          </a:p>
        </p:txBody>
      </p:sp>
      <p:pic>
        <p:nvPicPr>
          <p:cNvPr id="29" name="Picture 28"/>
          <p:cNvPicPr>
            <a:picLocks noChangeAspect="1"/>
          </p:cNvPicPr>
          <p:nvPr/>
        </p:nvPicPr>
        <p:blipFill>
          <a:blip r:embed="rId2"/>
          <a:stretch>
            <a:fillRect/>
          </a:stretch>
        </p:blipFill>
        <p:spPr>
          <a:xfrm>
            <a:off x="4581525" y="2880843"/>
            <a:ext cx="3028950" cy="991540"/>
          </a:xfrm>
          <a:prstGeom prst="roundRect">
            <a:avLst>
              <a:gd name="adj" fmla="val 2105"/>
            </a:avLst>
          </a:prstGeom>
        </p:spPr>
      </p:pic>
      <p:sp>
        <p:nvSpPr>
          <p:cNvPr id="12" name="Rectangle 11"/>
          <p:cNvSpPr>
            <a:spLocks noGrp="1"/>
          </p:cNvSpPr>
          <p:nvPr/>
        </p:nvSpPr>
        <p:spPr>
          <a:xfrm>
            <a:off x="4600575" y="4905375"/>
            <a:ext cx="2990850" cy="685800"/>
          </a:xfrm>
          <a:prstGeom prst="rect">
            <a:avLst/>
          </a:prstGeom>
          <a:noFill/>
          <a:ln w="0">
            <a:noFill/>
            <a:prstDash val="solid"/>
          </a:ln>
        </p:spPr>
        <p:txBody>
          <a:bodyPr wrap="square" lIns="38100" tIns="19050" rIns="38100" bIns="19050" anchor="ctr">
            <a:normAutofit/>
          </a:bodyPr>
          <a:lstStyle/>
          <a:p>
            <a:pPr algn="l">
              <a:lnSpc>
                <a:spcPct val="100000"/>
              </a:lnSpc>
              <a:buNone/>
              <a:defRPr sz="1050" b="0">
                <a:solidFill>
                  <a:srgbClr val="5F6C7B"/>
                </a:solidFill>
                <a:latin typeface="Arial" panose="020B0604020202020204"/>
                <a:ea typeface="Arial" panose="020B0604020202020204"/>
                <a:cs typeface="Arial" panose="020B0604020202020204"/>
              </a:defRPr>
            </a:pPr>
            <a:r>
              <a:rPr sz="1050" b="0">
                <a:solidFill>
                  <a:srgbClr val="5F6C7B"/>
                </a:solidFill>
                <a:latin typeface="Arial" panose="020B0604020202020204"/>
                <a:ea typeface="Arial" panose="020B0604020202020204"/>
                <a:cs typeface="Arial" panose="020B0604020202020204"/>
              </a:rPr>
              <a:t>median_income và housing_median_age có phân phối không đồng đều.</a:t>
            </a:r>
            <a:endParaRPr sz="1050" b="0">
              <a:solidFill>
                <a:srgbClr val="5F6C7B"/>
              </a:solidFill>
              <a:latin typeface="Arial" panose="020B0604020202020204"/>
              <a:ea typeface="Arial" panose="020B0604020202020204"/>
              <a:cs typeface="Arial" panose="020B0604020202020204"/>
            </a:endParaRPr>
          </a:p>
        </p:txBody>
      </p:sp>
      <p:sp>
        <p:nvSpPr>
          <p:cNvPr id="13" name="Rounded Rectangle 12"/>
          <p:cNvSpPr>
            <a:spLocks noGrp="1"/>
          </p:cNvSpPr>
          <p:nvPr/>
        </p:nvSpPr>
        <p:spPr>
          <a:xfrm>
            <a:off x="8334375" y="1476375"/>
            <a:ext cx="3333750" cy="4333875"/>
          </a:xfrm>
          <a:prstGeom prst="roundRect">
            <a:avLst>
              <a:gd name="adj" fmla="val 2000"/>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4" name="Rectangle 13"/>
          <p:cNvSpPr>
            <a:spLocks noGrp="1"/>
          </p:cNvSpPr>
          <p:nvPr/>
        </p:nvSpPr>
        <p:spPr>
          <a:xfrm>
            <a:off x="8505825" y="1619250"/>
            <a:ext cx="2990850" cy="323850"/>
          </a:xfrm>
          <a:prstGeom prst="rect">
            <a:avLst/>
          </a:prstGeom>
          <a:noFill/>
          <a:ln w="0">
            <a:noFill/>
            <a:prstDash val="solid"/>
          </a:ln>
        </p:spPr>
        <p:txBody>
          <a:bodyPr wrap="square" lIns="0" tIns="0" rIns="0" bIns="0" anchor="t">
            <a:normAutofit/>
          </a:bodyPr>
          <a:lstStyle/>
          <a:p>
            <a:pPr algn="l">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Bản đồ giá trị thiếu</a:t>
            </a:r>
            <a:endParaRPr sz="1425" b="1">
              <a:solidFill>
                <a:srgbClr val="102A43"/>
              </a:solidFill>
              <a:latin typeface="Arial" panose="020B0604020202020204"/>
              <a:ea typeface="Arial" panose="020B0604020202020204"/>
              <a:cs typeface="Arial" panose="020B0604020202020204"/>
            </a:endParaRPr>
          </a:p>
        </p:txBody>
      </p:sp>
      <p:pic>
        <p:nvPicPr>
          <p:cNvPr id="33" name="Picture 32"/>
          <p:cNvPicPr>
            <a:picLocks noChangeAspect="1"/>
          </p:cNvPicPr>
          <p:nvPr/>
        </p:nvPicPr>
        <p:blipFill>
          <a:blip r:embed="rId3"/>
          <a:stretch>
            <a:fillRect/>
          </a:stretch>
        </p:blipFill>
        <p:spPr>
          <a:xfrm>
            <a:off x="8486775" y="2121135"/>
            <a:ext cx="3028950" cy="2510956"/>
          </a:xfrm>
          <a:prstGeom prst="roundRect">
            <a:avLst>
              <a:gd name="adj" fmla="val 2105"/>
            </a:avLst>
          </a:prstGeom>
        </p:spPr>
      </p:pic>
      <p:sp>
        <p:nvSpPr>
          <p:cNvPr id="16" name="Rectangle 15"/>
          <p:cNvSpPr>
            <a:spLocks noGrp="1"/>
          </p:cNvSpPr>
          <p:nvPr/>
        </p:nvSpPr>
        <p:spPr>
          <a:xfrm>
            <a:off x="8505825" y="4905375"/>
            <a:ext cx="2990850" cy="685800"/>
          </a:xfrm>
          <a:prstGeom prst="rect">
            <a:avLst/>
          </a:prstGeom>
          <a:noFill/>
          <a:ln w="0">
            <a:noFill/>
            <a:prstDash val="solid"/>
          </a:ln>
        </p:spPr>
        <p:txBody>
          <a:bodyPr wrap="square" lIns="38100" tIns="19050" rIns="38100" bIns="19050" anchor="ctr">
            <a:normAutofit/>
          </a:bodyPr>
          <a:lstStyle/>
          <a:p>
            <a:pPr algn="l">
              <a:lnSpc>
                <a:spcPct val="100000"/>
              </a:lnSpc>
              <a:buNone/>
              <a:defRPr sz="1050" b="0">
                <a:solidFill>
                  <a:srgbClr val="5F6C7B"/>
                </a:solidFill>
                <a:latin typeface="Arial" panose="020B0604020202020204"/>
                <a:ea typeface="Arial" panose="020B0604020202020204"/>
                <a:cs typeface="Arial" panose="020B0604020202020204"/>
              </a:defRPr>
            </a:pPr>
            <a:r>
              <a:rPr sz="1050" b="0">
                <a:solidFill>
                  <a:srgbClr val="5F6C7B"/>
                </a:solidFill>
                <a:latin typeface="Arial" panose="020B0604020202020204"/>
                <a:ea typeface="Arial" panose="020B0604020202020204"/>
                <a:cs typeface="Arial" panose="020B0604020202020204"/>
              </a:rPr>
              <a:t>Thiếu dữ liệu tập trung ở total_bedrooms: 207 giá trị.</a:t>
            </a:r>
            <a:endParaRPr sz="1050" b="0">
              <a:solidFill>
                <a:srgbClr val="5F6C7B"/>
              </a:solidFill>
              <a:latin typeface="Arial" panose="020B0604020202020204"/>
              <a:ea typeface="Arial" panose="020B0604020202020204"/>
              <a:cs typeface="Arial" panose="020B0604020202020204"/>
            </a:endParaRPr>
          </a:p>
        </p:txBody>
      </p:sp>
      <p:sp>
        <p:nvSpPr>
          <p:cNvPr id="17" name="Straight Connector 16"/>
          <p:cNvSpPr>
            <a:spLocks noGrp="1"/>
          </p:cNvSpPr>
          <p:nvPr/>
        </p:nvSpPr>
        <p:spPr>
          <a:xfrm>
            <a:off x="666750" y="6477000"/>
            <a:ext cx="10858500" cy="0"/>
          </a:xfrm>
          <a:prstGeom prst="line">
            <a:avLst/>
          </a:prstGeom>
          <a:noFill/>
          <a:ln w="9525">
            <a:solidFill>
              <a:srgbClr val="D7E0E8"/>
            </a:solidFill>
            <a:prstDash val="solid"/>
          </a:ln>
        </p:spPr>
      </p:sp>
      <p:sp>
        <p:nvSpPr>
          <p:cNvPr id="18" name="Rectangle 17"/>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hình: docs/figures/plot_1, plot_2, plot_3</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19" name="Rectangle 18"/>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03 · EXPLORATORY DATA ANALYSIS</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EDA: mối quan hệ đặc trưng</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05</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523875" y="1428750"/>
            <a:ext cx="3524250" cy="4333875"/>
          </a:xfrm>
          <a:prstGeom prst="roundRect">
            <a:avLst>
              <a:gd name="adj" fmla="val 189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ounded Rectangle 5"/>
          <p:cNvSpPr>
            <a:spLocks noGrp="1"/>
          </p:cNvSpPr>
          <p:nvPr/>
        </p:nvSpPr>
        <p:spPr>
          <a:xfrm>
            <a:off x="4333875" y="1428750"/>
            <a:ext cx="3524250" cy="4333875"/>
          </a:xfrm>
          <a:prstGeom prst="roundRect">
            <a:avLst>
              <a:gd name="adj" fmla="val 189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7" name="Rounded Rectangle 6"/>
          <p:cNvSpPr>
            <a:spLocks noGrp="1"/>
          </p:cNvSpPr>
          <p:nvPr/>
        </p:nvSpPr>
        <p:spPr>
          <a:xfrm>
            <a:off x="8143875" y="1428750"/>
            <a:ext cx="3524250" cy="4333875"/>
          </a:xfrm>
          <a:prstGeom prst="roundRect">
            <a:avLst>
              <a:gd name="adj" fmla="val 189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8" name="Rectangle 7"/>
          <p:cNvSpPr>
            <a:spLocks noGrp="1"/>
          </p:cNvSpPr>
          <p:nvPr/>
        </p:nvSpPr>
        <p:spPr>
          <a:xfrm>
            <a:off x="714375" y="1600200"/>
            <a:ext cx="3143250" cy="285750"/>
          </a:xfrm>
          <a:prstGeom prst="rect">
            <a:avLst/>
          </a:prstGeom>
          <a:noFill/>
          <a:ln w="0">
            <a:noFill/>
            <a:prstDash val="solid"/>
          </a:ln>
        </p:spPr>
        <p:txBody>
          <a:bodyPr wrap="square" lIns="0" tIns="0" rIns="0" bIns="0" anchor="t">
            <a:normAutofit/>
          </a:bodyPr>
          <a:lstStyle/>
          <a:p>
            <a:pPr algn="l">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Ma trận tương quan</a:t>
            </a:r>
            <a:endParaRPr sz="1425" b="1">
              <a:solidFill>
                <a:srgbClr val="102A43"/>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4524375" y="1600200"/>
            <a:ext cx="3143250" cy="285750"/>
          </a:xfrm>
          <a:prstGeom prst="rect">
            <a:avLst/>
          </a:prstGeom>
          <a:noFill/>
          <a:ln w="0">
            <a:noFill/>
            <a:prstDash val="solid"/>
          </a:ln>
        </p:spPr>
        <p:txBody>
          <a:bodyPr wrap="square" lIns="0" tIns="0" rIns="0" bIns="0" anchor="t">
            <a:normAutofit/>
          </a:bodyPr>
          <a:lstStyle/>
          <a:p>
            <a:pPr algn="l">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Income và giá nhà</a:t>
            </a:r>
            <a:endParaRPr sz="1425" b="1">
              <a:solidFill>
                <a:srgbClr val="102A43"/>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8334375" y="1600200"/>
            <a:ext cx="3143250" cy="285750"/>
          </a:xfrm>
          <a:prstGeom prst="rect">
            <a:avLst/>
          </a:prstGeom>
          <a:noFill/>
          <a:ln w="0">
            <a:noFill/>
            <a:prstDash val="solid"/>
          </a:ln>
        </p:spPr>
        <p:txBody>
          <a:bodyPr wrap="square" lIns="0" tIns="0" rIns="0" bIns="0" anchor="t">
            <a:normAutofit/>
          </a:bodyPr>
          <a:lstStyle/>
          <a:p>
            <a:pPr algn="l">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Pairplot các biến chính</a:t>
            </a:r>
            <a:endParaRPr sz="1425" b="1">
              <a:solidFill>
                <a:srgbClr val="102A43"/>
              </a:solidFill>
              <a:latin typeface="Arial" panose="020B0604020202020204"/>
              <a:ea typeface="Arial" panose="020B0604020202020204"/>
              <a:cs typeface="Arial" panose="020B0604020202020204"/>
            </a:endParaRPr>
          </a:p>
        </p:txBody>
      </p:sp>
      <p:pic>
        <p:nvPicPr>
          <p:cNvPr id="29" name="Picture 28"/>
          <p:cNvPicPr>
            <a:picLocks noChangeAspect="1"/>
          </p:cNvPicPr>
          <p:nvPr/>
        </p:nvPicPr>
        <p:blipFill>
          <a:blip r:embed="rId1"/>
          <a:stretch>
            <a:fillRect/>
          </a:stretch>
        </p:blipFill>
        <p:spPr>
          <a:xfrm>
            <a:off x="719870" y="1952625"/>
            <a:ext cx="3132260" cy="2857500"/>
          </a:xfrm>
          <a:prstGeom prst="roundRect">
            <a:avLst>
              <a:gd name="adj" fmla="val 2000"/>
            </a:avLst>
          </a:prstGeom>
        </p:spPr>
      </p:pic>
      <p:pic>
        <p:nvPicPr>
          <p:cNvPr id="30" name="Picture 29"/>
          <p:cNvPicPr>
            <a:picLocks noChangeAspect="1"/>
          </p:cNvPicPr>
          <p:nvPr/>
        </p:nvPicPr>
        <p:blipFill>
          <a:blip r:embed="rId2"/>
          <a:stretch>
            <a:fillRect/>
          </a:stretch>
        </p:blipFill>
        <p:spPr>
          <a:xfrm>
            <a:off x="4495800" y="2291095"/>
            <a:ext cx="3200400" cy="2180560"/>
          </a:xfrm>
          <a:prstGeom prst="roundRect">
            <a:avLst>
              <a:gd name="adj" fmla="val 2000"/>
            </a:avLst>
          </a:prstGeom>
        </p:spPr>
      </p:pic>
      <p:pic>
        <p:nvPicPr>
          <p:cNvPr id="31" name="Picture 30"/>
          <p:cNvPicPr>
            <a:picLocks noChangeAspect="1"/>
          </p:cNvPicPr>
          <p:nvPr/>
        </p:nvPicPr>
        <p:blipFill>
          <a:blip r:embed="rId3"/>
          <a:stretch>
            <a:fillRect/>
          </a:stretch>
        </p:blipFill>
        <p:spPr>
          <a:xfrm>
            <a:off x="8530426" y="1952625"/>
            <a:ext cx="2751148" cy="2857500"/>
          </a:xfrm>
          <a:prstGeom prst="roundRect">
            <a:avLst>
              <a:gd name="adj" fmla="val 2000"/>
            </a:avLst>
          </a:prstGeom>
        </p:spPr>
      </p:pic>
      <p:sp>
        <p:nvSpPr>
          <p:cNvPr id="14" name="Rectangle 13"/>
          <p:cNvSpPr>
            <a:spLocks noGrp="1"/>
          </p:cNvSpPr>
          <p:nvPr/>
        </p:nvSpPr>
        <p:spPr>
          <a:xfrm>
            <a:off x="714375" y="4972050"/>
            <a:ext cx="3143250" cy="571500"/>
          </a:xfrm>
          <a:prstGeom prst="rect">
            <a:avLst/>
          </a:prstGeom>
          <a:noFill/>
          <a:ln w="0">
            <a:noFill/>
            <a:prstDash val="solid"/>
          </a:ln>
        </p:spPr>
        <p:txBody>
          <a:bodyPr wrap="square" lIns="95250" tIns="57150" rIns="95250" bIns="57150" anchor="ctr">
            <a:normAutofit/>
          </a:bodyPr>
          <a:lstStyle/>
          <a:p>
            <a:pPr algn="l">
              <a:lnSpc>
                <a:spcPct val="100000"/>
              </a:lnSpc>
              <a:buNone/>
              <a:defRPr sz="1125" b="0">
                <a:solidFill>
                  <a:srgbClr val="5F6C7B"/>
                </a:solidFill>
                <a:latin typeface="Arial" panose="020B0604020202020204"/>
                <a:ea typeface="Arial" panose="020B0604020202020204"/>
                <a:cs typeface="Arial" panose="020B0604020202020204"/>
              </a:defRPr>
            </a:pPr>
            <a:r>
              <a:rPr sz="1125" b="0">
                <a:solidFill>
                  <a:srgbClr val="5F6C7B"/>
                </a:solidFill>
                <a:latin typeface="Arial" panose="020B0604020202020204"/>
                <a:ea typeface="Arial" panose="020B0604020202020204"/>
                <a:cs typeface="Arial" panose="020B0604020202020204"/>
              </a:rPr>
              <a:t>median_income có tương quan dương mạnh nhất với target: 0,688.</a:t>
            </a:r>
            <a:endParaRPr sz="1125" b="0">
              <a:solidFill>
                <a:srgbClr val="5F6C7B"/>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4524375" y="4972050"/>
            <a:ext cx="3143250" cy="571500"/>
          </a:xfrm>
          <a:prstGeom prst="rect">
            <a:avLst/>
          </a:prstGeom>
          <a:noFill/>
          <a:ln w="0">
            <a:noFill/>
            <a:prstDash val="solid"/>
          </a:ln>
        </p:spPr>
        <p:txBody>
          <a:bodyPr wrap="square" lIns="95250" tIns="57150" rIns="95250" bIns="57150" anchor="ctr">
            <a:normAutofit/>
          </a:bodyPr>
          <a:lstStyle/>
          <a:p>
            <a:pPr algn="l">
              <a:lnSpc>
                <a:spcPct val="100000"/>
              </a:lnSpc>
              <a:buNone/>
              <a:defRPr sz="1125" b="0">
                <a:solidFill>
                  <a:srgbClr val="5F6C7B"/>
                </a:solidFill>
                <a:latin typeface="Arial" panose="020B0604020202020204"/>
                <a:ea typeface="Arial" panose="020B0604020202020204"/>
                <a:cs typeface="Arial" panose="020B0604020202020204"/>
              </a:defRPr>
            </a:pPr>
            <a:r>
              <a:rPr lang="vi-VN" sz="1125" b="0">
                <a:solidFill>
                  <a:srgbClr val="5F6C7B"/>
                </a:solidFill>
                <a:latin typeface="Arial" panose="020B0604020202020204"/>
                <a:ea typeface="Arial" panose="020B0604020202020204"/>
                <a:cs typeface="Arial" panose="020B0604020202020204"/>
              </a:rPr>
              <a:t>Quan hệ tăng rõ, đồng thời xuất hiện dải trần quanh 500.000 USD.</a:t>
            </a:r>
            <a:endParaRPr lang="vi-VN" sz="1125" b="0">
              <a:solidFill>
                <a:srgbClr val="5F6C7B"/>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8334375" y="4972050"/>
            <a:ext cx="3143250" cy="571500"/>
          </a:xfrm>
          <a:prstGeom prst="rect">
            <a:avLst/>
          </a:prstGeom>
          <a:noFill/>
          <a:ln w="0">
            <a:noFill/>
            <a:prstDash val="solid"/>
          </a:ln>
        </p:spPr>
        <p:txBody>
          <a:bodyPr wrap="square" lIns="95250" tIns="57150" rIns="95250" bIns="57150" anchor="ctr">
            <a:normAutofit/>
          </a:bodyPr>
          <a:lstStyle/>
          <a:p>
            <a:pPr algn="l">
              <a:lnSpc>
                <a:spcPct val="100000"/>
              </a:lnSpc>
              <a:buNone/>
              <a:defRPr sz="1125" b="0">
                <a:solidFill>
                  <a:srgbClr val="5F6C7B"/>
                </a:solidFill>
                <a:latin typeface="Arial" panose="020B0604020202020204"/>
                <a:ea typeface="Arial" panose="020B0604020202020204"/>
                <a:cs typeface="Arial" panose="020B0604020202020204"/>
              </a:defRPr>
            </a:pPr>
            <a:r>
              <a:rPr sz="1125" b="0">
                <a:solidFill>
                  <a:srgbClr val="5F6C7B"/>
                </a:solidFill>
                <a:latin typeface="Arial" panose="020B0604020202020204"/>
                <a:ea typeface="Arial" panose="020B0604020202020204"/>
                <a:cs typeface="Arial" panose="020B0604020202020204"/>
              </a:rPr>
              <a:t>Các quan hệ phi tuyến gợi ý model cây có tiềm năng hơn tuyến tính.</a:t>
            </a:r>
            <a:endParaRPr sz="1125" b="0">
              <a:solidFill>
                <a:srgbClr val="5F6C7B"/>
              </a:solidFill>
              <a:latin typeface="Arial" panose="020B0604020202020204"/>
              <a:ea typeface="Arial" panose="020B0604020202020204"/>
              <a:cs typeface="Arial" panose="020B0604020202020204"/>
            </a:endParaRPr>
          </a:p>
        </p:txBody>
      </p:sp>
      <p:sp>
        <p:nvSpPr>
          <p:cNvPr id="17" name="Straight Connector 16"/>
          <p:cNvSpPr>
            <a:spLocks noGrp="1"/>
          </p:cNvSpPr>
          <p:nvPr/>
        </p:nvSpPr>
        <p:spPr>
          <a:xfrm>
            <a:off x="666750" y="6477000"/>
            <a:ext cx="10858500" cy="0"/>
          </a:xfrm>
          <a:prstGeom prst="line">
            <a:avLst/>
          </a:prstGeom>
          <a:noFill/>
          <a:ln w="9525">
            <a:solidFill>
              <a:srgbClr val="D7E0E8"/>
            </a:solidFill>
            <a:prstDash val="solid"/>
          </a:ln>
        </p:spPr>
      </p:sp>
      <p:sp>
        <p:nvSpPr>
          <p:cNvPr id="18" name="Rectangle 17"/>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hình: docs/figures/plot_4, plot_5, plot_6; hệ số từ housing.csv.zip</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34" name="Rectangle 33"/>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04 · FEATURE PIPELINE</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Tiền xử lý dữ liệu</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06</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523875" y="1952625"/>
            <a:ext cx="1952625" cy="2333625"/>
          </a:xfrm>
          <a:prstGeom prst="roundRect">
            <a:avLst>
              <a:gd name="adj" fmla="val 341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ounded Rectangle 5"/>
          <p:cNvSpPr>
            <a:spLocks noGrp="1"/>
          </p:cNvSpPr>
          <p:nvPr/>
        </p:nvSpPr>
        <p:spPr>
          <a:xfrm>
            <a:off x="695325" y="2095500"/>
            <a:ext cx="457200" cy="457200"/>
          </a:xfrm>
          <a:prstGeom prst="roundRect">
            <a:avLst>
              <a:gd name="adj" fmla="val 50000"/>
            </a:avLst>
          </a:prstGeom>
          <a:solidFill>
            <a:srgbClr val="167D8D"/>
          </a:solidFill>
          <a:ln w="9525">
            <a:solidFill>
              <a:srgbClr val="167D8D"/>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01</a:t>
            </a:r>
            <a:endParaRPr sz="1350" b="1">
              <a:solidFill>
                <a:srgbClr val="FFFFFF"/>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695325" y="2781300"/>
            <a:ext cx="1609725" cy="523875"/>
          </a:xfrm>
          <a:prstGeom prst="rect">
            <a:avLst/>
          </a:prstGeom>
          <a:noFill/>
          <a:ln w="0">
            <a:noFill/>
            <a:prstDash val="solid"/>
          </a:ln>
        </p:spPr>
        <p:txBody>
          <a:bodyPr wrap="square" lIns="95250" tIns="57150" rIns="95250" bIns="57150" anchor="ctr">
            <a:normAutofit/>
          </a:bodyPr>
          <a:lstStyle/>
          <a:p>
            <a:pPr algn="ctr">
              <a:lnSpc>
                <a:spcPct val="100000"/>
              </a:lnSpc>
              <a:buNone/>
              <a:defRPr sz="1575" b="1">
                <a:solidFill>
                  <a:srgbClr val="102A43"/>
                </a:solidFill>
                <a:latin typeface="Arial" panose="020B0604020202020204"/>
                <a:ea typeface="Arial" panose="020B0604020202020204"/>
                <a:cs typeface="Arial" panose="020B0604020202020204"/>
              </a:defRPr>
            </a:pPr>
            <a:r>
              <a:rPr sz="1575" b="1">
                <a:solidFill>
                  <a:srgbClr val="102A43"/>
                </a:solidFill>
                <a:latin typeface="Arial" panose="020B0604020202020204"/>
                <a:ea typeface="Arial" panose="020B0604020202020204"/>
                <a:cs typeface="Arial" panose="020B0604020202020204"/>
              </a:rPr>
              <a:t>Chia dữ liệu</a:t>
            </a:r>
            <a:endParaRPr sz="1575" b="1">
              <a:solidFill>
                <a:srgbClr val="102A43"/>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695325" y="3400425"/>
            <a:ext cx="1609725" cy="5905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80% train · 20% test</a:t>
            </a:r>
            <a:endParaRPr sz="1200" b="0">
              <a:solidFill>
                <a:srgbClr val="5F6C7B"/>
              </a:solidFill>
              <a:latin typeface="Arial" panose="020B0604020202020204"/>
              <a:ea typeface="Arial" panose="020B0604020202020204"/>
              <a:cs typeface="Arial" panose="020B0604020202020204"/>
            </a:endParaRPr>
          </a:p>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random_state = 42</a:t>
            </a:r>
            <a:endParaRPr sz="1200" b="0">
              <a:solidFill>
                <a:srgbClr val="5F6C7B"/>
              </a:solidFill>
              <a:latin typeface="Arial" panose="020B0604020202020204"/>
              <a:ea typeface="Arial" panose="020B0604020202020204"/>
              <a:cs typeface="Arial" panose="020B0604020202020204"/>
            </a:endParaRPr>
          </a:p>
        </p:txBody>
      </p:sp>
      <p:sp>
        <p:nvSpPr>
          <p:cNvPr id="9" name="Right Arrow 8"/>
          <p:cNvSpPr>
            <a:spLocks noGrp="1"/>
          </p:cNvSpPr>
          <p:nvPr/>
        </p:nvSpPr>
        <p:spPr>
          <a:xfrm>
            <a:off x="2524125" y="2952750"/>
            <a:ext cx="266700" cy="247650"/>
          </a:xfrm>
          <a:prstGeom prst="rightArrow">
            <a:avLst/>
          </a:prstGeom>
          <a:solidFill>
            <a:srgbClr val="D7E0E8"/>
          </a:solidFill>
          <a:ln w="9525">
            <a:solidFill>
              <a:srgbClr val="D7E0E8"/>
            </a:solidFill>
            <a:prstDash val="solid"/>
          </a:ln>
        </p:spPr>
      </p:sp>
      <p:sp>
        <p:nvSpPr>
          <p:cNvPr id="10" name="Rounded Rectangle 9"/>
          <p:cNvSpPr>
            <a:spLocks noGrp="1"/>
          </p:cNvSpPr>
          <p:nvPr/>
        </p:nvSpPr>
        <p:spPr>
          <a:xfrm>
            <a:off x="2828925" y="1952625"/>
            <a:ext cx="1952625" cy="2333625"/>
          </a:xfrm>
          <a:prstGeom prst="roundRect">
            <a:avLst>
              <a:gd name="adj" fmla="val 341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1" name="Rounded Rectangle 10"/>
          <p:cNvSpPr>
            <a:spLocks noGrp="1"/>
          </p:cNvSpPr>
          <p:nvPr/>
        </p:nvSpPr>
        <p:spPr>
          <a:xfrm>
            <a:off x="3000375" y="2095500"/>
            <a:ext cx="457200" cy="457200"/>
          </a:xfrm>
          <a:prstGeom prst="roundRect">
            <a:avLst>
              <a:gd name="adj" fmla="val 50000"/>
            </a:avLst>
          </a:prstGeom>
          <a:solidFill>
            <a:srgbClr val="E76F51"/>
          </a:solidFill>
          <a:ln w="9525">
            <a:solidFill>
              <a:srgbClr val="E76F51"/>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02</a:t>
            </a:r>
            <a:endParaRPr sz="1350" b="1">
              <a:solidFill>
                <a:srgbClr val="FFFFFF"/>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3000375" y="2781300"/>
            <a:ext cx="1609725" cy="523875"/>
          </a:xfrm>
          <a:prstGeom prst="rect">
            <a:avLst/>
          </a:prstGeom>
          <a:noFill/>
          <a:ln w="0">
            <a:noFill/>
            <a:prstDash val="solid"/>
          </a:ln>
        </p:spPr>
        <p:txBody>
          <a:bodyPr wrap="square" lIns="95250" tIns="57150" rIns="95250" bIns="57150" anchor="ctr">
            <a:normAutofit/>
          </a:bodyPr>
          <a:lstStyle/>
          <a:p>
            <a:pPr algn="ctr">
              <a:lnSpc>
                <a:spcPct val="100000"/>
              </a:lnSpc>
              <a:buNone/>
              <a:defRPr sz="1575" b="1">
                <a:solidFill>
                  <a:srgbClr val="102A43"/>
                </a:solidFill>
                <a:latin typeface="Arial" panose="020B0604020202020204"/>
                <a:ea typeface="Arial" panose="020B0604020202020204"/>
                <a:cs typeface="Arial" panose="020B0604020202020204"/>
              </a:defRPr>
            </a:pPr>
            <a:r>
              <a:rPr sz="1575" b="1">
                <a:solidFill>
                  <a:srgbClr val="102A43"/>
                </a:solidFill>
                <a:latin typeface="Arial" panose="020B0604020202020204"/>
                <a:ea typeface="Arial" panose="020B0604020202020204"/>
                <a:cs typeface="Arial" panose="020B0604020202020204"/>
              </a:rPr>
              <a:t>Điền khuyết</a:t>
            </a:r>
            <a:endParaRPr sz="1575" b="1">
              <a:solidFill>
                <a:srgbClr val="102A43"/>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3000375" y="3400425"/>
            <a:ext cx="1609725" cy="5905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Median cho</a:t>
            </a:r>
            <a:endParaRPr sz="1200" b="0">
              <a:solidFill>
                <a:srgbClr val="5F6C7B"/>
              </a:solidFill>
              <a:latin typeface="Arial" panose="020B0604020202020204"/>
              <a:ea typeface="Arial" panose="020B0604020202020204"/>
              <a:cs typeface="Arial" panose="020B0604020202020204"/>
            </a:endParaRPr>
          </a:p>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total_bedrooms</a:t>
            </a:r>
            <a:endParaRPr sz="1200" b="0">
              <a:solidFill>
                <a:srgbClr val="5F6C7B"/>
              </a:solidFill>
              <a:latin typeface="Arial" panose="020B0604020202020204"/>
              <a:ea typeface="Arial" panose="020B0604020202020204"/>
              <a:cs typeface="Arial" panose="020B0604020202020204"/>
            </a:endParaRPr>
          </a:p>
        </p:txBody>
      </p:sp>
      <p:sp>
        <p:nvSpPr>
          <p:cNvPr id="14" name="Right Arrow 13"/>
          <p:cNvSpPr>
            <a:spLocks noGrp="1"/>
          </p:cNvSpPr>
          <p:nvPr/>
        </p:nvSpPr>
        <p:spPr>
          <a:xfrm>
            <a:off x="4829175" y="2952750"/>
            <a:ext cx="266700" cy="247650"/>
          </a:xfrm>
          <a:prstGeom prst="rightArrow">
            <a:avLst/>
          </a:prstGeom>
          <a:solidFill>
            <a:srgbClr val="D7E0E8"/>
          </a:solidFill>
          <a:ln w="9525">
            <a:solidFill>
              <a:srgbClr val="D7E0E8"/>
            </a:solidFill>
            <a:prstDash val="solid"/>
          </a:ln>
        </p:spPr>
      </p:sp>
      <p:sp>
        <p:nvSpPr>
          <p:cNvPr id="15" name="Rounded Rectangle 14"/>
          <p:cNvSpPr>
            <a:spLocks noGrp="1"/>
          </p:cNvSpPr>
          <p:nvPr/>
        </p:nvSpPr>
        <p:spPr>
          <a:xfrm>
            <a:off x="5133975" y="1952625"/>
            <a:ext cx="1952625" cy="2333625"/>
          </a:xfrm>
          <a:prstGeom prst="roundRect">
            <a:avLst>
              <a:gd name="adj" fmla="val 341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6" name="Rounded Rectangle 15"/>
          <p:cNvSpPr>
            <a:spLocks noGrp="1"/>
          </p:cNvSpPr>
          <p:nvPr/>
        </p:nvSpPr>
        <p:spPr>
          <a:xfrm>
            <a:off x="5305425" y="2095500"/>
            <a:ext cx="457200" cy="457200"/>
          </a:xfrm>
          <a:prstGeom prst="roundRect">
            <a:avLst>
              <a:gd name="adj" fmla="val 50000"/>
            </a:avLst>
          </a:prstGeom>
          <a:solidFill>
            <a:srgbClr val="E9C46A"/>
          </a:solidFill>
          <a:ln w="9525">
            <a:solidFill>
              <a:srgbClr val="E9C46A"/>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03</a:t>
            </a:r>
            <a:endParaRPr sz="1350" b="1">
              <a:solidFill>
                <a:srgbClr val="FFFFFF"/>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5305425" y="2781300"/>
            <a:ext cx="1609725" cy="523875"/>
          </a:xfrm>
          <a:prstGeom prst="rect">
            <a:avLst/>
          </a:prstGeom>
          <a:noFill/>
          <a:ln w="0">
            <a:noFill/>
            <a:prstDash val="solid"/>
          </a:ln>
        </p:spPr>
        <p:txBody>
          <a:bodyPr wrap="square" lIns="95250" tIns="57150" rIns="95250" bIns="57150" anchor="ctr">
            <a:normAutofit/>
          </a:bodyPr>
          <a:lstStyle/>
          <a:p>
            <a:pPr algn="ctr">
              <a:lnSpc>
                <a:spcPct val="100000"/>
              </a:lnSpc>
              <a:buNone/>
              <a:defRPr sz="1575" b="1">
                <a:solidFill>
                  <a:srgbClr val="102A43"/>
                </a:solidFill>
                <a:latin typeface="Arial" panose="020B0604020202020204"/>
                <a:ea typeface="Arial" panose="020B0604020202020204"/>
                <a:cs typeface="Arial" panose="020B0604020202020204"/>
              </a:defRPr>
            </a:pPr>
            <a:r>
              <a:rPr sz="1575" b="1">
                <a:solidFill>
                  <a:srgbClr val="102A43"/>
                </a:solidFill>
                <a:latin typeface="Arial" panose="020B0604020202020204"/>
                <a:ea typeface="Arial" panose="020B0604020202020204"/>
                <a:cs typeface="Arial" panose="020B0604020202020204"/>
              </a:rPr>
              <a:t>Tạo đặc trưng</a:t>
            </a:r>
            <a:endParaRPr sz="1575" b="1">
              <a:solidFill>
                <a:srgbClr val="102A43"/>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5305425" y="3400425"/>
            <a:ext cx="1609725" cy="5905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3 tỷ lệ</a:t>
            </a:r>
            <a:endParaRPr sz="1200" b="0">
              <a:solidFill>
                <a:srgbClr val="5F6C7B"/>
              </a:solidFill>
              <a:latin typeface="Arial" panose="020B0604020202020204"/>
              <a:ea typeface="Arial" panose="020B0604020202020204"/>
              <a:cs typeface="Arial" panose="020B0604020202020204"/>
            </a:endParaRPr>
          </a:p>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nhà ở / hộ dân</a:t>
            </a:r>
            <a:endParaRPr sz="1200" b="0">
              <a:solidFill>
                <a:srgbClr val="5F6C7B"/>
              </a:solidFill>
              <a:latin typeface="Arial" panose="020B0604020202020204"/>
              <a:ea typeface="Arial" panose="020B0604020202020204"/>
              <a:cs typeface="Arial" panose="020B0604020202020204"/>
            </a:endParaRPr>
          </a:p>
        </p:txBody>
      </p:sp>
      <p:sp>
        <p:nvSpPr>
          <p:cNvPr id="19" name="Right Arrow 18"/>
          <p:cNvSpPr>
            <a:spLocks noGrp="1"/>
          </p:cNvSpPr>
          <p:nvPr/>
        </p:nvSpPr>
        <p:spPr>
          <a:xfrm>
            <a:off x="7134225" y="2952750"/>
            <a:ext cx="266700" cy="247650"/>
          </a:xfrm>
          <a:prstGeom prst="rightArrow">
            <a:avLst/>
          </a:prstGeom>
          <a:solidFill>
            <a:srgbClr val="D7E0E8"/>
          </a:solidFill>
          <a:ln w="9525">
            <a:solidFill>
              <a:srgbClr val="D7E0E8"/>
            </a:solidFill>
            <a:prstDash val="solid"/>
          </a:ln>
        </p:spPr>
      </p:sp>
      <p:sp>
        <p:nvSpPr>
          <p:cNvPr id="20" name="Rounded Rectangle 19"/>
          <p:cNvSpPr>
            <a:spLocks noGrp="1"/>
          </p:cNvSpPr>
          <p:nvPr/>
        </p:nvSpPr>
        <p:spPr>
          <a:xfrm>
            <a:off x="7439025" y="1952625"/>
            <a:ext cx="1952625" cy="2333625"/>
          </a:xfrm>
          <a:prstGeom prst="roundRect">
            <a:avLst>
              <a:gd name="adj" fmla="val 341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1" name="Rounded Rectangle 20"/>
          <p:cNvSpPr>
            <a:spLocks noGrp="1"/>
          </p:cNvSpPr>
          <p:nvPr/>
        </p:nvSpPr>
        <p:spPr>
          <a:xfrm>
            <a:off x="7610475" y="2095500"/>
            <a:ext cx="457200" cy="457200"/>
          </a:xfrm>
          <a:prstGeom prst="roundRect">
            <a:avLst>
              <a:gd name="adj" fmla="val 50000"/>
            </a:avLst>
          </a:prstGeom>
          <a:solidFill>
            <a:srgbClr val="173F5F"/>
          </a:solidFill>
          <a:ln w="9525">
            <a:solidFill>
              <a:srgbClr val="173F5F"/>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04</a:t>
            </a:r>
            <a:endParaRPr sz="1350" b="1">
              <a:solidFill>
                <a:srgbClr val="FFFFFF"/>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7610475" y="2781300"/>
            <a:ext cx="1609725" cy="523875"/>
          </a:xfrm>
          <a:prstGeom prst="rect">
            <a:avLst/>
          </a:prstGeom>
          <a:noFill/>
          <a:ln w="0">
            <a:noFill/>
            <a:prstDash val="solid"/>
          </a:ln>
        </p:spPr>
        <p:txBody>
          <a:bodyPr wrap="square" lIns="95250" tIns="57150" rIns="95250" bIns="57150" anchor="ctr">
            <a:normAutofit/>
          </a:bodyPr>
          <a:lstStyle/>
          <a:p>
            <a:pPr algn="ctr">
              <a:lnSpc>
                <a:spcPct val="100000"/>
              </a:lnSpc>
              <a:buNone/>
              <a:defRPr sz="1575" b="1">
                <a:solidFill>
                  <a:srgbClr val="102A43"/>
                </a:solidFill>
                <a:latin typeface="Arial" panose="020B0604020202020204"/>
                <a:ea typeface="Arial" panose="020B0604020202020204"/>
                <a:cs typeface="Arial" panose="020B0604020202020204"/>
              </a:defRPr>
            </a:pPr>
            <a:r>
              <a:rPr sz="1575" b="1">
                <a:solidFill>
                  <a:srgbClr val="102A43"/>
                </a:solidFill>
                <a:latin typeface="Arial" panose="020B0604020202020204"/>
                <a:ea typeface="Arial" panose="020B0604020202020204"/>
                <a:cs typeface="Arial" panose="020B0604020202020204"/>
              </a:rPr>
              <a:t>Biến đổi</a:t>
            </a:r>
            <a:endParaRPr sz="1575" b="1">
              <a:solidFill>
                <a:srgbClr val="102A43"/>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7610475" y="3400425"/>
            <a:ext cx="1609725" cy="5905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StandardScaler</a:t>
            </a:r>
            <a:endParaRPr sz="1200" b="0">
              <a:solidFill>
                <a:srgbClr val="5F6C7B"/>
              </a:solidFill>
              <a:latin typeface="Arial" panose="020B0604020202020204"/>
              <a:ea typeface="Arial" panose="020B0604020202020204"/>
              <a:cs typeface="Arial" panose="020B0604020202020204"/>
            </a:endParaRPr>
          </a:p>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OneHotEncoder</a:t>
            </a:r>
            <a:endParaRPr sz="1200" b="0">
              <a:solidFill>
                <a:srgbClr val="5F6C7B"/>
              </a:solidFill>
              <a:latin typeface="Arial" panose="020B0604020202020204"/>
              <a:ea typeface="Arial" panose="020B0604020202020204"/>
              <a:cs typeface="Arial" panose="020B0604020202020204"/>
            </a:endParaRPr>
          </a:p>
        </p:txBody>
      </p:sp>
      <p:sp>
        <p:nvSpPr>
          <p:cNvPr id="24" name="Right Arrow 23"/>
          <p:cNvSpPr>
            <a:spLocks noGrp="1"/>
          </p:cNvSpPr>
          <p:nvPr/>
        </p:nvSpPr>
        <p:spPr>
          <a:xfrm>
            <a:off x="9439275" y="2952750"/>
            <a:ext cx="266700" cy="247650"/>
          </a:xfrm>
          <a:prstGeom prst="rightArrow">
            <a:avLst/>
          </a:prstGeom>
          <a:solidFill>
            <a:srgbClr val="D7E0E8"/>
          </a:solidFill>
          <a:ln w="9525">
            <a:solidFill>
              <a:srgbClr val="D7E0E8"/>
            </a:solidFill>
            <a:prstDash val="solid"/>
          </a:ln>
        </p:spPr>
      </p:sp>
      <p:sp>
        <p:nvSpPr>
          <p:cNvPr id="25" name="Rounded Rectangle 24"/>
          <p:cNvSpPr>
            <a:spLocks noGrp="1"/>
          </p:cNvSpPr>
          <p:nvPr/>
        </p:nvSpPr>
        <p:spPr>
          <a:xfrm>
            <a:off x="9744075" y="1952625"/>
            <a:ext cx="1952625" cy="2333625"/>
          </a:xfrm>
          <a:prstGeom prst="roundRect">
            <a:avLst>
              <a:gd name="adj" fmla="val 341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6" name="Rounded Rectangle 25"/>
          <p:cNvSpPr>
            <a:spLocks noGrp="1"/>
          </p:cNvSpPr>
          <p:nvPr/>
        </p:nvSpPr>
        <p:spPr>
          <a:xfrm>
            <a:off x="9915525" y="2095500"/>
            <a:ext cx="457200" cy="457200"/>
          </a:xfrm>
          <a:prstGeom prst="roundRect">
            <a:avLst>
              <a:gd name="adj" fmla="val 50000"/>
            </a:avLst>
          </a:prstGeom>
          <a:solidFill>
            <a:srgbClr val="2A9D8F"/>
          </a:solidFill>
          <a:ln w="9525">
            <a:solidFill>
              <a:srgbClr val="2A9D8F"/>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05</a:t>
            </a:r>
            <a:endParaRPr sz="1350" b="1">
              <a:solidFill>
                <a:srgbClr val="FFFFFF"/>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9915525" y="2781300"/>
            <a:ext cx="1609725" cy="523875"/>
          </a:xfrm>
          <a:prstGeom prst="rect">
            <a:avLst/>
          </a:prstGeom>
          <a:noFill/>
          <a:ln w="0">
            <a:noFill/>
            <a:prstDash val="solid"/>
          </a:ln>
        </p:spPr>
        <p:txBody>
          <a:bodyPr wrap="square" lIns="95250" tIns="57150" rIns="95250" bIns="57150" anchor="ctr">
            <a:normAutofit/>
          </a:bodyPr>
          <a:lstStyle/>
          <a:p>
            <a:pPr algn="ctr">
              <a:lnSpc>
                <a:spcPct val="100000"/>
              </a:lnSpc>
              <a:buNone/>
              <a:defRPr sz="1575" b="1">
                <a:solidFill>
                  <a:srgbClr val="102A43"/>
                </a:solidFill>
                <a:latin typeface="Arial" panose="020B0604020202020204"/>
                <a:ea typeface="Arial" panose="020B0604020202020204"/>
                <a:cs typeface="Arial" panose="020B0604020202020204"/>
              </a:defRPr>
            </a:pPr>
            <a:r>
              <a:rPr sz="1575" b="1">
                <a:solidFill>
                  <a:srgbClr val="102A43"/>
                </a:solidFill>
                <a:latin typeface="Arial" panose="020B0604020202020204"/>
                <a:ea typeface="Arial" panose="020B0604020202020204"/>
                <a:cs typeface="Arial" panose="020B0604020202020204"/>
              </a:rPr>
              <a:t>Pipeline</a:t>
            </a:r>
            <a:endParaRPr sz="1575" b="1">
              <a:solidFill>
                <a:srgbClr val="102A43"/>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9915525" y="3400425"/>
            <a:ext cx="1609725" cy="5905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preprocessor</a:t>
            </a:r>
            <a:endParaRPr sz="1200" b="0">
              <a:solidFill>
                <a:srgbClr val="5F6C7B"/>
              </a:solidFill>
              <a:latin typeface="Arial" panose="020B0604020202020204"/>
              <a:ea typeface="Arial" panose="020B0604020202020204"/>
              <a:cs typeface="Arial" panose="020B0604020202020204"/>
            </a:endParaRPr>
          </a:p>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 model</a:t>
            </a:r>
            <a:endParaRPr sz="1200" b="0">
              <a:solidFill>
                <a:srgbClr val="5F6C7B"/>
              </a:solidFill>
              <a:latin typeface="Arial" panose="020B0604020202020204"/>
              <a:ea typeface="Arial" panose="020B0604020202020204"/>
              <a:cs typeface="Arial" panose="020B0604020202020204"/>
            </a:endParaRPr>
          </a:p>
        </p:txBody>
      </p:sp>
      <p:sp>
        <p:nvSpPr>
          <p:cNvPr id="29" name="Rounded Rectangle 28"/>
          <p:cNvSpPr>
            <a:spLocks noGrp="1"/>
          </p:cNvSpPr>
          <p:nvPr/>
        </p:nvSpPr>
        <p:spPr>
          <a:xfrm>
            <a:off x="857250" y="4762500"/>
            <a:ext cx="10477500" cy="1047750"/>
          </a:xfrm>
          <a:prstGeom prst="roundRect">
            <a:avLst>
              <a:gd name="adj" fmla="val 6364"/>
            </a:avLst>
          </a:prstGeom>
          <a:solidFill>
            <a:srgbClr val="FFF7DF"/>
          </a:solidFill>
          <a:ln w="9525">
            <a:solidFill>
              <a:srgbClr val="E9C46A"/>
            </a:solidFill>
            <a:prstDash val="solid"/>
          </a:ln>
        </p:spPr>
        <p:style>
          <a:lnRef idx="0">
            <a:srgbClr val="FFFFFF"/>
          </a:lnRef>
          <a:fillRef idx="0">
            <a:srgbClr val="FFFFFF"/>
          </a:fillRef>
          <a:effectRef idx="4">
            <a:srgbClr val="FFFFFF"/>
          </a:effectRef>
          <a:fontRef idx="major"/>
        </p:style>
      </p:sp>
      <p:sp>
        <p:nvSpPr>
          <p:cNvPr id="30" name="Rectangle 29"/>
          <p:cNvSpPr>
            <a:spLocks noGrp="1"/>
          </p:cNvSpPr>
          <p:nvPr/>
        </p:nvSpPr>
        <p:spPr>
          <a:xfrm>
            <a:off x="1066800" y="4933950"/>
            <a:ext cx="1809750" cy="257175"/>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102A43"/>
                </a:solidFill>
                <a:latin typeface="Arial" panose="020B0604020202020204"/>
                <a:ea typeface="Arial" panose="020B0604020202020204"/>
                <a:cs typeface="Arial" panose="020B0604020202020204"/>
              </a:defRPr>
            </a:pPr>
            <a:r>
              <a:rPr sz="1275" b="1">
                <a:solidFill>
                  <a:srgbClr val="102A43"/>
                </a:solidFill>
                <a:latin typeface="Arial" panose="020B0604020202020204"/>
                <a:ea typeface="Arial" panose="020B0604020202020204"/>
                <a:cs typeface="Arial" panose="020B0604020202020204"/>
              </a:rPr>
              <a:t>Lưu ý triển khai</a:t>
            </a:r>
            <a:endParaRPr sz="1275" b="1">
              <a:solidFill>
                <a:srgbClr val="102A43"/>
              </a:solidFill>
              <a:latin typeface="Arial" panose="020B0604020202020204"/>
              <a:ea typeface="Arial" panose="020B0604020202020204"/>
              <a:cs typeface="Arial" panose="020B0604020202020204"/>
            </a:endParaRPr>
          </a:p>
        </p:txBody>
      </p:sp>
      <p:sp>
        <p:nvSpPr>
          <p:cNvPr id="31" name="Rectangle 30"/>
          <p:cNvSpPr>
            <a:spLocks noGrp="1"/>
          </p:cNvSpPr>
          <p:nvPr/>
        </p:nvSpPr>
        <p:spPr>
          <a:xfrm>
            <a:off x="3000375" y="4857750"/>
            <a:ext cx="8001000" cy="685800"/>
          </a:xfrm>
          <a:prstGeom prst="rect">
            <a:avLst/>
          </a:prstGeom>
          <a:noFill/>
          <a:ln w="0">
            <a:noFill/>
            <a:prstDash val="solid"/>
          </a:ln>
        </p:spPr>
        <p:txBody>
          <a:bodyPr wrap="square" lIns="95250" tIns="57150" rIns="95250" bIns="57150" anchor="ctr">
            <a:normAutofit/>
          </a:bodyPr>
          <a:lstStyle/>
          <a:p>
            <a:pPr algn="l">
              <a:lnSpc>
                <a:spcPct val="100000"/>
              </a:lnSpc>
              <a:buNone/>
              <a:defRPr sz="1275" b="0">
                <a:solidFill>
                  <a:srgbClr val="1D2939"/>
                </a:solidFill>
                <a:latin typeface="Arial" panose="020B0604020202020204"/>
                <a:ea typeface="Arial" panose="020B0604020202020204"/>
                <a:cs typeface="Arial" panose="020B0604020202020204"/>
              </a:defRPr>
            </a:pPr>
            <a:r>
              <a:rPr lang="vi-VN" sz="1275" b="0">
                <a:solidFill>
                  <a:srgbClr val="1D2939"/>
                </a:solidFill>
                <a:latin typeface="Arial" panose="020B0604020202020204"/>
                <a:ea typeface="Arial" panose="020B0604020202020204"/>
                <a:cs typeface="Arial" panose="020B0604020202020204"/>
              </a:rPr>
              <a:t>Artifact lưu preprocessor + model. Pipeline tự impute, tạo 3 tỷ lệ, scale và encode; API nhận 9 đặc trưng gốc để dự đoán.</a:t>
            </a:r>
            <a:endParaRPr lang="vi-VN" sz="1275" b="0">
              <a:solidFill>
                <a:srgbClr val="1D2939"/>
              </a:solidFill>
              <a:latin typeface="Arial" panose="020B0604020202020204"/>
              <a:ea typeface="Arial" panose="020B0604020202020204"/>
              <a:cs typeface="Arial" panose="020B0604020202020204"/>
            </a:endParaRPr>
          </a:p>
        </p:txBody>
      </p:sp>
      <p:sp>
        <p:nvSpPr>
          <p:cNvPr id="32" name="Straight Connector 31"/>
          <p:cNvSpPr>
            <a:spLocks noGrp="1"/>
          </p:cNvSpPr>
          <p:nvPr/>
        </p:nvSpPr>
        <p:spPr>
          <a:xfrm>
            <a:off x="666750" y="6477000"/>
            <a:ext cx="10858500" cy="0"/>
          </a:xfrm>
          <a:prstGeom prst="line">
            <a:avLst/>
          </a:prstGeom>
          <a:noFill/>
          <a:ln w="9525">
            <a:solidFill>
              <a:srgbClr val="D7E0E8"/>
            </a:solidFill>
            <a:prstDash val="solid"/>
          </a:ln>
        </p:spPr>
      </p:sp>
      <p:sp>
        <p:nvSpPr>
          <p:cNvPr id="33" name="Rectangle 32"/>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ai-models/src/preprocess.py; app/backend/main.py; ai-models/service/main.py</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27" name="Rectangle 26"/>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05 · MODELING</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Các model được huấn luyện</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07</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666750" y="1524000"/>
            <a:ext cx="5334000" cy="1762125"/>
          </a:xfrm>
          <a:prstGeom prst="roundRect">
            <a:avLst>
              <a:gd name="adj" fmla="val 3784"/>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666750" y="1524000"/>
            <a:ext cx="85725" cy="1762125"/>
          </a:xfrm>
          <a:prstGeom prst="rect">
            <a:avLst/>
          </a:prstGeom>
          <a:solidFill>
            <a:srgbClr val="173F5F"/>
          </a:solidFill>
          <a:ln w="0">
            <a:noFill/>
            <a:prstDash val="solid"/>
          </a:ln>
        </p:spPr>
      </p:sp>
      <p:sp>
        <p:nvSpPr>
          <p:cNvPr id="7" name="Rounded Rectangle 6"/>
          <p:cNvSpPr>
            <a:spLocks noGrp="1"/>
          </p:cNvSpPr>
          <p:nvPr/>
        </p:nvSpPr>
        <p:spPr>
          <a:xfrm>
            <a:off x="952500" y="1733550"/>
            <a:ext cx="1285875" cy="266700"/>
          </a:xfrm>
          <a:prstGeom prst="roundRect">
            <a:avLst>
              <a:gd name="adj" fmla="val 50000"/>
            </a:avLst>
          </a:prstGeom>
          <a:solidFill>
            <a:srgbClr val="EAF1F8"/>
          </a:solidFill>
          <a:ln w="9525">
            <a:solidFill>
              <a:srgbClr val="EAF1F8"/>
            </a:solidFill>
            <a:prstDash val="solid"/>
          </a:ln>
        </p:spPr>
        <p:txBody>
          <a:bodyPr wrap="square" lIns="76200" tIns="19050" rIns="76200" bIns="19050" anchor="ctr">
            <a:normAutofit/>
          </a:bodyPr>
          <a:lstStyle/>
          <a:p>
            <a:pPr algn="ctr">
              <a:lnSpc>
                <a:spcPct val="100000"/>
              </a:lnSpc>
              <a:buNone/>
              <a:defRPr sz="900" b="1">
                <a:solidFill>
                  <a:srgbClr val="173F5F"/>
                </a:solidFill>
                <a:latin typeface="Arial" panose="020B0604020202020204"/>
                <a:ea typeface="Arial" panose="020B0604020202020204"/>
                <a:cs typeface="Arial" panose="020B0604020202020204"/>
              </a:defRPr>
            </a:pPr>
            <a:r>
              <a:rPr sz="900" b="1">
                <a:solidFill>
                  <a:srgbClr val="173F5F"/>
                </a:solidFill>
                <a:latin typeface="Arial" panose="020B0604020202020204"/>
                <a:ea typeface="Arial" panose="020B0604020202020204"/>
                <a:cs typeface="Arial" panose="020B0604020202020204"/>
              </a:rPr>
              <a:t>Baseline</a:t>
            </a:r>
            <a:endParaRPr sz="900" b="1">
              <a:solidFill>
                <a:srgbClr val="173F5F"/>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952500" y="2133600"/>
            <a:ext cx="4667250" cy="428625"/>
          </a:xfrm>
          <a:prstGeom prst="rect">
            <a:avLst/>
          </a:prstGeom>
          <a:noFill/>
          <a:ln w="0">
            <a:noFill/>
            <a:prstDash val="solid"/>
          </a:ln>
        </p:spPr>
        <p:txBody>
          <a:bodyPr wrap="square" lIns="0" tIns="0" rIns="0" bIns="0" anchor="t">
            <a:normAutofit/>
          </a:bodyPr>
          <a:lstStyle/>
          <a:p>
            <a:pPr algn="l">
              <a:lnSpc>
                <a:spcPct val="100000"/>
              </a:lnSpc>
              <a:buNone/>
              <a:defRPr sz="2025" b="1">
                <a:solidFill>
                  <a:srgbClr val="102A43"/>
                </a:solidFill>
                <a:latin typeface="Arial" panose="020B0604020202020204"/>
                <a:ea typeface="Arial" panose="020B0604020202020204"/>
                <a:cs typeface="Arial" panose="020B0604020202020204"/>
              </a:defRPr>
            </a:pPr>
            <a:r>
              <a:rPr sz="2025" b="1">
                <a:solidFill>
                  <a:srgbClr val="102A43"/>
                </a:solidFill>
                <a:latin typeface="Arial" panose="020B0604020202020204"/>
                <a:ea typeface="Arial" panose="020B0604020202020204"/>
                <a:cs typeface="Arial" panose="020B0604020202020204"/>
              </a:rPr>
              <a:t>Linear Regression</a:t>
            </a:r>
            <a:endParaRPr sz="2025" b="1">
              <a:solidFill>
                <a:srgbClr val="102A43"/>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952500" y="2628900"/>
            <a:ext cx="4667250" cy="485775"/>
          </a:xfrm>
          <a:prstGeom prst="rect">
            <a:avLst/>
          </a:prstGeom>
          <a:noFill/>
          <a:ln w="0">
            <a:noFill/>
            <a:prstDash val="solid"/>
          </a:ln>
        </p:spPr>
        <p:txBody>
          <a:bodyPr wrap="square" lIns="0" tIns="0" rIns="0" bIns="0" anchor="ctr">
            <a:normAutofit/>
          </a:bodyPr>
          <a:lstStyle/>
          <a:p>
            <a:pPr algn="l">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Mốc tham chiếu tuyến tính, nhanh và dễ giải thích.</a:t>
            </a:r>
            <a:endParaRPr sz="1200" b="0">
              <a:solidFill>
                <a:srgbClr val="5F6C7B"/>
              </a:solidFill>
              <a:latin typeface="Arial" panose="020B0604020202020204"/>
              <a:ea typeface="Arial" panose="020B0604020202020204"/>
              <a:cs typeface="Arial" panose="020B0604020202020204"/>
            </a:endParaRPr>
          </a:p>
        </p:txBody>
      </p:sp>
      <p:sp>
        <p:nvSpPr>
          <p:cNvPr id="10" name="Rounded Rectangle 9"/>
          <p:cNvSpPr>
            <a:spLocks noGrp="1"/>
          </p:cNvSpPr>
          <p:nvPr/>
        </p:nvSpPr>
        <p:spPr>
          <a:xfrm>
            <a:off x="6191250" y="1524000"/>
            <a:ext cx="5334000" cy="1762125"/>
          </a:xfrm>
          <a:prstGeom prst="roundRect">
            <a:avLst>
              <a:gd name="adj" fmla="val 3784"/>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1" name="Rectangle 10"/>
          <p:cNvSpPr>
            <a:spLocks noGrp="1"/>
          </p:cNvSpPr>
          <p:nvPr/>
        </p:nvSpPr>
        <p:spPr>
          <a:xfrm>
            <a:off x="6191250" y="1524000"/>
            <a:ext cx="85725" cy="1762125"/>
          </a:xfrm>
          <a:prstGeom prst="rect">
            <a:avLst/>
          </a:prstGeom>
          <a:solidFill>
            <a:srgbClr val="E76F51"/>
          </a:solidFill>
          <a:ln w="0">
            <a:noFill/>
            <a:prstDash val="solid"/>
          </a:ln>
        </p:spPr>
      </p:sp>
      <p:sp>
        <p:nvSpPr>
          <p:cNvPr id="12" name="Rounded Rectangle 11"/>
          <p:cNvSpPr>
            <a:spLocks noGrp="1"/>
          </p:cNvSpPr>
          <p:nvPr/>
        </p:nvSpPr>
        <p:spPr>
          <a:xfrm>
            <a:off x="6477000" y="1733550"/>
            <a:ext cx="1285875" cy="266700"/>
          </a:xfrm>
          <a:prstGeom prst="roundRect">
            <a:avLst>
              <a:gd name="adj" fmla="val 50000"/>
            </a:avLst>
          </a:prstGeom>
          <a:solidFill>
            <a:srgbClr val="FCEDE8"/>
          </a:solidFill>
          <a:ln w="9525">
            <a:solidFill>
              <a:srgbClr val="FCEDE8"/>
            </a:solidFill>
            <a:prstDash val="solid"/>
          </a:ln>
        </p:spPr>
        <p:txBody>
          <a:bodyPr wrap="square" lIns="76200" tIns="19050" rIns="76200" bIns="19050" anchor="ctr">
            <a:normAutofit/>
          </a:bodyPr>
          <a:lstStyle/>
          <a:p>
            <a:pPr algn="ctr">
              <a:lnSpc>
                <a:spcPct val="100000"/>
              </a:lnSpc>
              <a:buNone/>
              <a:defRPr sz="900" b="1">
                <a:solidFill>
                  <a:srgbClr val="E76F51"/>
                </a:solidFill>
                <a:latin typeface="Arial" panose="020B0604020202020204"/>
                <a:ea typeface="Arial" panose="020B0604020202020204"/>
                <a:cs typeface="Arial" panose="020B0604020202020204"/>
              </a:defRPr>
            </a:pPr>
            <a:r>
              <a:rPr sz="900" b="1">
                <a:solidFill>
                  <a:srgbClr val="E76F51"/>
                </a:solidFill>
                <a:latin typeface="Arial" panose="020B0604020202020204"/>
                <a:ea typeface="Arial" panose="020B0604020202020204"/>
                <a:cs typeface="Arial" panose="020B0604020202020204"/>
              </a:rPr>
              <a:t>Tree</a:t>
            </a:r>
            <a:endParaRPr sz="900" b="1">
              <a:solidFill>
                <a:srgbClr val="E76F51"/>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6477000" y="2133600"/>
            <a:ext cx="4667250" cy="428625"/>
          </a:xfrm>
          <a:prstGeom prst="rect">
            <a:avLst/>
          </a:prstGeom>
          <a:noFill/>
          <a:ln w="0">
            <a:noFill/>
            <a:prstDash val="solid"/>
          </a:ln>
        </p:spPr>
        <p:txBody>
          <a:bodyPr wrap="square" lIns="0" tIns="0" rIns="0" bIns="0" anchor="t">
            <a:normAutofit/>
          </a:bodyPr>
          <a:lstStyle/>
          <a:p>
            <a:pPr algn="l">
              <a:lnSpc>
                <a:spcPct val="100000"/>
              </a:lnSpc>
              <a:buNone/>
              <a:defRPr sz="2025" b="1">
                <a:solidFill>
                  <a:srgbClr val="102A43"/>
                </a:solidFill>
                <a:latin typeface="Arial" panose="020B0604020202020204"/>
                <a:ea typeface="Arial" panose="020B0604020202020204"/>
                <a:cs typeface="Arial" panose="020B0604020202020204"/>
              </a:defRPr>
            </a:pPr>
            <a:r>
              <a:rPr sz="2025" b="1">
                <a:solidFill>
                  <a:srgbClr val="102A43"/>
                </a:solidFill>
                <a:latin typeface="Arial" panose="020B0604020202020204"/>
                <a:ea typeface="Arial" panose="020B0604020202020204"/>
                <a:cs typeface="Arial" panose="020B0604020202020204"/>
              </a:rPr>
              <a:t>Decision Tree</a:t>
            </a:r>
            <a:endParaRPr sz="2025" b="1">
              <a:solidFill>
                <a:srgbClr val="102A43"/>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6477000" y="2628900"/>
            <a:ext cx="4667250" cy="485775"/>
          </a:xfrm>
          <a:prstGeom prst="rect">
            <a:avLst/>
          </a:prstGeom>
          <a:noFill/>
          <a:ln w="0">
            <a:noFill/>
            <a:prstDash val="solid"/>
          </a:ln>
        </p:spPr>
        <p:txBody>
          <a:bodyPr wrap="square" lIns="0" tIns="0" rIns="0" bIns="0" anchor="ctr">
            <a:normAutofit/>
          </a:bodyPr>
          <a:lstStyle/>
          <a:p>
            <a:pPr algn="l">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Mô hình hóa quan hệ phi tuyến; GridSearchCV cho max_depth và min_samples_split.</a:t>
            </a:r>
            <a:endParaRPr sz="1200" b="0">
              <a:solidFill>
                <a:srgbClr val="5F6C7B"/>
              </a:solidFill>
              <a:latin typeface="Arial" panose="020B0604020202020204"/>
              <a:ea typeface="Arial" panose="020B0604020202020204"/>
              <a:cs typeface="Arial" panose="020B0604020202020204"/>
            </a:endParaRPr>
          </a:p>
        </p:txBody>
      </p:sp>
      <p:sp>
        <p:nvSpPr>
          <p:cNvPr id="15" name="Rounded Rectangle 14"/>
          <p:cNvSpPr>
            <a:spLocks noGrp="1"/>
          </p:cNvSpPr>
          <p:nvPr/>
        </p:nvSpPr>
        <p:spPr>
          <a:xfrm>
            <a:off x="666750" y="3714750"/>
            <a:ext cx="5334000" cy="1762125"/>
          </a:xfrm>
          <a:prstGeom prst="roundRect">
            <a:avLst>
              <a:gd name="adj" fmla="val 3784"/>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6" name="Rectangle 15"/>
          <p:cNvSpPr>
            <a:spLocks noGrp="1"/>
          </p:cNvSpPr>
          <p:nvPr/>
        </p:nvSpPr>
        <p:spPr>
          <a:xfrm>
            <a:off x="666750" y="3714750"/>
            <a:ext cx="85725" cy="1762125"/>
          </a:xfrm>
          <a:prstGeom prst="rect">
            <a:avLst/>
          </a:prstGeom>
          <a:solidFill>
            <a:srgbClr val="167D8D"/>
          </a:solidFill>
          <a:ln w="0">
            <a:noFill/>
            <a:prstDash val="solid"/>
          </a:ln>
        </p:spPr>
      </p:sp>
      <p:sp>
        <p:nvSpPr>
          <p:cNvPr id="17" name="Rounded Rectangle 16"/>
          <p:cNvSpPr>
            <a:spLocks noGrp="1"/>
          </p:cNvSpPr>
          <p:nvPr/>
        </p:nvSpPr>
        <p:spPr>
          <a:xfrm>
            <a:off x="952500" y="3924300"/>
            <a:ext cx="1285875" cy="266700"/>
          </a:xfrm>
          <a:prstGeom prst="roundRect">
            <a:avLst>
              <a:gd name="adj" fmla="val 50000"/>
            </a:avLst>
          </a:prstGeom>
          <a:solidFill>
            <a:srgbClr val="EAF6F5"/>
          </a:solidFill>
          <a:ln w="9525">
            <a:solidFill>
              <a:srgbClr val="EAF6F5"/>
            </a:solidFill>
            <a:prstDash val="solid"/>
          </a:ln>
        </p:spPr>
        <p:txBody>
          <a:bodyPr wrap="square" lIns="76200" tIns="19050" rIns="76200" bIns="19050" anchor="ctr">
            <a:normAutofit/>
          </a:bodyPr>
          <a:lstStyle/>
          <a:p>
            <a:pPr algn="ctr">
              <a:lnSpc>
                <a:spcPct val="100000"/>
              </a:lnSpc>
              <a:buNone/>
              <a:defRPr sz="900" b="1">
                <a:solidFill>
                  <a:srgbClr val="167D8D"/>
                </a:solidFill>
                <a:latin typeface="Arial" panose="020B0604020202020204"/>
                <a:ea typeface="Arial" panose="020B0604020202020204"/>
                <a:cs typeface="Arial" panose="020B0604020202020204"/>
              </a:defRPr>
            </a:pPr>
            <a:r>
              <a:rPr sz="900" b="1">
                <a:solidFill>
                  <a:srgbClr val="167D8D"/>
                </a:solidFill>
                <a:latin typeface="Arial" panose="020B0604020202020204"/>
                <a:ea typeface="Arial" panose="020B0604020202020204"/>
                <a:cs typeface="Arial" panose="020B0604020202020204"/>
              </a:rPr>
              <a:t>Ensemble</a:t>
            </a:r>
            <a:endParaRPr sz="900" b="1">
              <a:solidFill>
                <a:srgbClr val="167D8D"/>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952500" y="4324350"/>
            <a:ext cx="4667250" cy="428625"/>
          </a:xfrm>
          <a:prstGeom prst="rect">
            <a:avLst/>
          </a:prstGeom>
          <a:noFill/>
          <a:ln w="0">
            <a:noFill/>
            <a:prstDash val="solid"/>
          </a:ln>
        </p:spPr>
        <p:txBody>
          <a:bodyPr wrap="square" lIns="0" tIns="0" rIns="0" bIns="0" anchor="t">
            <a:normAutofit/>
          </a:bodyPr>
          <a:lstStyle/>
          <a:p>
            <a:pPr algn="l">
              <a:lnSpc>
                <a:spcPct val="100000"/>
              </a:lnSpc>
              <a:buNone/>
              <a:defRPr sz="2025" b="1">
                <a:solidFill>
                  <a:srgbClr val="102A43"/>
                </a:solidFill>
                <a:latin typeface="Arial" panose="020B0604020202020204"/>
                <a:ea typeface="Arial" panose="020B0604020202020204"/>
                <a:cs typeface="Arial" panose="020B0604020202020204"/>
              </a:defRPr>
            </a:pPr>
            <a:r>
              <a:rPr sz="2025" b="1">
                <a:solidFill>
                  <a:srgbClr val="102A43"/>
                </a:solidFill>
                <a:latin typeface="Arial" panose="020B0604020202020204"/>
                <a:ea typeface="Arial" panose="020B0604020202020204"/>
                <a:cs typeface="Arial" panose="020B0604020202020204"/>
              </a:rPr>
              <a:t>Random Forest</a:t>
            </a:r>
            <a:endParaRPr sz="2025" b="1">
              <a:solidFill>
                <a:srgbClr val="102A43"/>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952500" y="4819650"/>
            <a:ext cx="4667250" cy="485775"/>
          </a:xfrm>
          <a:prstGeom prst="rect">
            <a:avLst/>
          </a:prstGeom>
          <a:noFill/>
          <a:ln w="0">
            <a:noFill/>
            <a:prstDash val="solid"/>
          </a:ln>
        </p:spPr>
        <p:txBody>
          <a:bodyPr wrap="square" lIns="0" tIns="0" rIns="0" bIns="0" anchor="ctr">
            <a:normAutofit/>
          </a:bodyPr>
          <a:lstStyle/>
          <a:p>
            <a:pPr algn="l">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Bagging nhiều cây; RandomizedSearchCV cho độ sâu, số cây và mức chia.</a:t>
            </a:r>
            <a:endParaRPr sz="1200" b="0">
              <a:solidFill>
                <a:srgbClr val="5F6C7B"/>
              </a:solidFill>
              <a:latin typeface="Arial" panose="020B0604020202020204"/>
              <a:ea typeface="Arial" panose="020B0604020202020204"/>
              <a:cs typeface="Arial" panose="020B0604020202020204"/>
            </a:endParaRPr>
          </a:p>
        </p:txBody>
      </p:sp>
      <p:sp>
        <p:nvSpPr>
          <p:cNvPr id="20" name="Rounded Rectangle 19"/>
          <p:cNvSpPr>
            <a:spLocks noGrp="1"/>
          </p:cNvSpPr>
          <p:nvPr/>
        </p:nvSpPr>
        <p:spPr>
          <a:xfrm>
            <a:off x="6191250" y="3714750"/>
            <a:ext cx="5334000" cy="1762125"/>
          </a:xfrm>
          <a:prstGeom prst="roundRect">
            <a:avLst>
              <a:gd name="adj" fmla="val 3784"/>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1" name="Rectangle 20"/>
          <p:cNvSpPr>
            <a:spLocks noGrp="1"/>
          </p:cNvSpPr>
          <p:nvPr/>
        </p:nvSpPr>
        <p:spPr>
          <a:xfrm>
            <a:off x="6191250" y="3714750"/>
            <a:ext cx="85725" cy="1762125"/>
          </a:xfrm>
          <a:prstGeom prst="rect">
            <a:avLst/>
          </a:prstGeom>
          <a:solidFill>
            <a:srgbClr val="E9C46A"/>
          </a:solidFill>
          <a:ln w="0">
            <a:noFill/>
            <a:prstDash val="solid"/>
          </a:ln>
        </p:spPr>
      </p:sp>
      <p:sp>
        <p:nvSpPr>
          <p:cNvPr id="22" name="Rounded Rectangle 21"/>
          <p:cNvSpPr>
            <a:spLocks noGrp="1"/>
          </p:cNvSpPr>
          <p:nvPr/>
        </p:nvSpPr>
        <p:spPr>
          <a:xfrm>
            <a:off x="6477000" y="3924300"/>
            <a:ext cx="1285875" cy="266700"/>
          </a:xfrm>
          <a:prstGeom prst="roundRect">
            <a:avLst>
              <a:gd name="adj" fmla="val 50000"/>
            </a:avLst>
          </a:prstGeom>
          <a:solidFill>
            <a:srgbClr val="FFF7DF"/>
          </a:solidFill>
          <a:ln w="9525">
            <a:solidFill>
              <a:srgbClr val="FFF7DF"/>
            </a:solidFill>
            <a:prstDash val="solid"/>
          </a:ln>
        </p:spPr>
        <p:txBody>
          <a:bodyPr wrap="square" lIns="76200" tIns="19050" rIns="76200" bIns="19050" anchor="ctr">
            <a:normAutofit/>
          </a:bodyPr>
          <a:lstStyle/>
          <a:p>
            <a:pPr algn="ctr">
              <a:lnSpc>
                <a:spcPct val="100000"/>
              </a:lnSpc>
              <a:buNone/>
              <a:defRPr sz="900" b="1">
                <a:solidFill>
                  <a:srgbClr val="E9C46A"/>
                </a:solidFill>
                <a:latin typeface="Arial" panose="020B0604020202020204"/>
                <a:ea typeface="Arial" panose="020B0604020202020204"/>
                <a:cs typeface="Arial" panose="020B0604020202020204"/>
              </a:defRPr>
            </a:pPr>
            <a:r>
              <a:rPr sz="900" b="1">
                <a:solidFill>
                  <a:srgbClr val="E9C46A"/>
                </a:solidFill>
                <a:latin typeface="Arial" panose="020B0604020202020204"/>
                <a:ea typeface="Arial" panose="020B0604020202020204"/>
                <a:cs typeface="Arial" panose="020B0604020202020204"/>
              </a:rPr>
              <a:t>Final candidate</a:t>
            </a:r>
            <a:endParaRPr sz="900" b="1">
              <a:solidFill>
                <a:srgbClr val="E9C46A"/>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6477000" y="4324350"/>
            <a:ext cx="4667250" cy="428625"/>
          </a:xfrm>
          <a:prstGeom prst="rect">
            <a:avLst/>
          </a:prstGeom>
          <a:noFill/>
          <a:ln w="0">
            <a:noFill/>
            <a:prstDash val="solid"/>
          </a:ln>
        </p:spPr>
        <p:txBody>
          <a:bodyPr wrap="square" lIns="0" tIns="0" rIns="0" bIns="0" anchor="t">
            <a:normAutofit/>
          </a:bodyPr>
          <a:lstStyle/>
          <a:p>
            <a:pPr algn="l">
              <a:lnSpc>
                <a:spcPct val="100000"/>
              </a:lnSpc>
              <a:buNone/>
              <a:defRPr sz="2025" b="1">
                <a:solidFill>
                  <a:srgbClr val="102A43"/>
                </a:solidFill>
                <a:latin typeface="Arial" panose="020B0604020202020204"/>
                <a:ea typeface="Arial" panose="020B0604020202020204"/>
                <a:cs typeface="Arial" panose="020B0604020202020204"/>
              </a:defRPr>
            </a:pPr>
            <a:r>
              <a:rPr sz="2025" b="1">
                <a:solidFill>
                  <a:srgbClr val="102A43"/>
                </a:solidFill>
                <a:latin typeface="Arial" panose="020B0604020202020204"/>
                <a:ea typeface="Arial" panose="020B0604020202020204"/>
                <a:cs typeface="Arial" panose="020B0604020202020204"/>
              </a:rPr>
              <a:t>Gradient Boosting</a:t>
            </a:r>
            <a:endParaRPr sz="2025" b="1">
              <a:solidFill>
                <a:srgbClr val="102A43"/>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6477000" y="4819650"/>
            <a:ext cx="4667250" cy="485775"/>
          </a:xfrm>
          <a:prstGeom prst="rect">
            <a:avLst/>
          </a:prstGeom>
          <a:noFill/>
          <a:ln w="0">
            <a:noFill/>
            <a:prstDash val="solid"/>
          </a:ln>
        </p:spPr>
        <p:txBody>
          <a:bodyPr wrap="square" lIns="0" tIns="0" rIns="0" bIns="0" anchor="ctr">
            <a:normAutofit/>
          </a:bodyPr>
          <a:lstStyle/>
          <a:p>
            <a:pPr algn="l">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Boosting tuần tự; tìm learning_rate, max_depth và n_estimators.</a:t>
            </a:r>
            <a:endParaRPr sz="1200" b="0">
              <a:solidFill>
                <a:srgbClr val="5F6C7B"/>
              </a:solidFill>
              <a:latin typeface="Arial" panose="020B0604020202020204"/>
              <a:ea typeface="Arial" panose="020B0604020202020204"/>
              <a:cs typeface="Arial" panose="020B0604020202020204"/>
            </a:endParaRPr>
          </a:p>
        </p:txBody>
      </p:sp>
      <p:sp>
        <p:nvSpPr>
          <p:cNvPr id="25" name="Straight Connector 24"/>
          <p:cNvSpPr>
            <a:spLocks noGrp="1"/>
          </p:cNvSpPr>
          <p:nvPr/>
        </p:nvSpPr>
        <p:spPr>
          <a:xfrm>
            <a:off x="666750" y="6477000"/>
            <a:ext cx="10858500" cy="0"/>
          </a:xfrm>
          <a:prstGeom prst="line">
            <a:avLst/>
          </a:prstGeom>
          <a:noFill/>
          <a:ln w="9525">
            <a:solidFill>
              <a:srgbClr val="D7E0E8"/>
            </a:solidFill>
            <a:prstDash val="solid"/>
          </a:ln>
        </p:spPr>
      </p:sp>
      <p:sp>
        <p:nvSpPr>
          <p:cNvPr id="26" name="Rectangle 25"/>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sz="825" b="0">
                <a:solidFill>
                  <a:srgbClr val="5F6C7B"/>
                </a:solidFill>
                <a:latin typeface="Arial" panose="020B0604020202020204"/>
                <a:ea typeface="Arial" panose="020B0604020202020204"/>
                <a:cs typeface="Arial" panose="020B0604020202020204"/>
              </a:rPr>
              <a:t>Nguồn: ai-models/src/train.py</a:t>
            </a:r>
            <a:endParaRPr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39" name="Rectangle 38"/>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06 · TRAINING WORKFLOW</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Quy trình huấn luyện</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08</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619125" y="2286000"/>
            <a:ext cx="1714500" cy="1047750"/>
          </a:xfrm>
          <a:prstGeom prst="roundRect">
            <a:avLst>
              <a:gd name="adj" fmla="val 6364"/>
            </a:avLst>
          </a:prstGeom>
          <a:solidFill>
            <a:srgbClr val="FFFFFF"/>
          </a:solidFill>
          <a:ln w="9525">
            <a:solidFill>
              <a:srgbClr val="173F5F"/>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619125" y="2286000"/>
            <a:ext cx="1714500" cy="66675"/>
          </a:xfrm>
          <a:prstGeom prst="rect">
            <a:avLst/>
          </a:prstGeom>
          <a:solidFill>
            <a:srgbClr val="173F5F"/>
          </a:solidFill>
          <a:ln w="0">
            <a:noFill/>
            <a:prstDash val="solid"/>
          </a:ln>
        </p:spPr>
      </p:sp>
      <p:sp>
        <p:nvSpPr>
          <p:cNvPr id="7" name="Rectangle 6"/>
          <p:cNvSpPr>
            <a:spLocks noGrp="1"/>
          </p:cNvSpPr>
          <p:nvPr/>
        </p:nvSpPr>
        <p:spPr>
          <a:xfrm>
            <a:off x="733425" y="2476500"/>
            <a:ext cx="1485900" cy="323850"/>
          </a:xfrm>
          <a:prstGeom prst="rect">
            <a:avLst/>
          </a:prstGeom>
          <a:noFill/>
          <a:ln w="0">
            <a:noFill/>
            <a:prstDash val="solid"/>
          </a:ln>
        </p:spPr>
        <p:txBody>
          <a:bodyPr wrap="square" lIns="95250" tIns="57150" rIns="95250" bIns="57150" anchor="ctr">
            <a:normAutofit fontScale="96491"/>
          </a:bodyPr>
          <a:lstStyle/>
          <a:p>
            <a:pPr algn="ctr">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housing.csv</a:t>
            </a:r>
            <a:endParaRPr sz="1425" b="1">
              <a:solidFill>
                <a:srgbClr val="102A43"/>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733425" y="2847975"/>
            <a:ext cx="1485900" cy="333375"/>
          </a:xfrm>
          <a:prstGeom prst="rect">
            <a:avLst/>
          </a:prstGeom>
          <a:noFill/>
          <a:ln w="0">
            <a:noFill/>
            <a:prstDash val="solid"/>
          </a:ln>
        </p:spPr>
        <p:txBody>
          <a:bodyPr wrap="square" lIns="95250" tIns="57150" rIns="95250" bIns="57150" anchor="ctr">
            <a:normAutofit/>
          </a:bodyPr>
          <a:lstStyle/>
          <a:p>
            <a:pPr algn="ctr">
              <a:lnSpc>
                <a:spcPct val="100000"/>
              </a:lnSpc>
              <a:buNone/>
              <a:defRPr sz="975" b="0">
                <a:solidFill>
                  <a:srgbClr val="5F6C7B"/>
                </a:solidFill>
                <a:latin typeface="Arial" panose="020B0604020202020204"/>
                <a:ea typeface="Arial" panose="020B0604020202020204"/>
                <a:cs typeface="Arial" panose="020B0604020202020204"/>
              </a:defRPr>
            </a:pPr>
            <a:r>
              <a:rPr sz="975" b="0">
                <a:solidFill>
                  <a:srgbClr val="5F6C7B"/>
                </a:solidFill>
                <a:latin typeface="Arial" panose="020B0604020202020204"/>
                <a:ea typeface="Arial" panose="020B0604020202020204"/>
                <a:cs typeface="Arial" panose="020B0604020202020204"/>
              </a:rPr>
              <a:t>20.640 dòng</a:t>
            </a:r>
            <a:endParaRPr sz="975" b="0">
              <a:solidFill>
                <a:srgbClr val="5F6C7B"/>
              </a:solidFill>
              <a:latin typeface="Arial" panose="020B0604020202020204"/>
              <a:ea typeface="Arial" panose="020B0604020202020204"/>
              <a:cs typeface="Arial" panose="020B0604020202020204"/>
            </a:endParaRPr>
          </a:p>
        </p:txBody>
      </p:sp>
      <p:sp>
        <p:nvSpPr>
          <p:cNvPr id="9" name="Rounded Rectangle 8"/>
          <p:cNvSpPr>
            <a:spLocks noGrp="1"/>
          </p:cNvSpPr>
          <p:nvPr/>
        </p:nvSpPr>
        <p:spPr>
          <a:xfrm>
            <a:off x="2762250" y="1619250"/>
            <a:ext cx="1809750" cy="1047750"/>
          </a:xfrm>
          <a:prstGeom prst="roundRect">
            <a:avLst>
              <a:gd name="adj" fmla="val 6364"/>
            </a:avLst>
          </a:prstGeom>
          <a:solidFill>
            <a:srgbClr val="FFFFFF"/>
          </a:solidFill>
          <a:ln w="9525">
            <a:solidFill>
              <a:srgbClr val="167D8D"/>
            </a:solidFill>
            <a:prstDash val="solid"/>
          </a:ln>
        </p:spPr>
        <p:style>
          <a:lnRef idx="0">
            <a:srgbClr val="FFFFFF"/>
          </a:lnRef>
          <a:fillRef idx="0">
            <a:srgbClr val="FFFFFF"/>
          </a:fillRef>
          <a:effectRef idx="4">
            <a:srgbClr val="FFFFFF"/>
          </a:effectRef>
          <a:fontRef idx="major"/>
        </p:style>
      </p:sp>
      <p:sp>
        <p:nvSpPr>
          <p:cNvPr id="10" name="Rectangle 9"/>
          <p:cNvSpPr>
            <a:spLocks noGrp="1"/>
          </p:cNvSpPr>
          <p:nvPr/>
        </p:nvSpPr>
        <p:spPr>
          <a:xfrm>
            <a:off x="2762250" y="1619250"/>
            <a:ext cx="1809750" cy="66675"/>
          </a:xfrm>
          <a:prstGeom prst="rect">
            <a:avLst/>
          </a:prstGeom>
          <a:solidFill>
            <a:srgbClr val="167D8D"/>
          </a:solidFill>
          <a:ln w="0">
            <a:noFill/>
            <a:prstDash val="solid"/>
          </a:ln>
        </p:spPr>
      </p:sp>
      <p:sp>
        <p:nvSpPr>
          <p:cNvPr id="11" name="Rectangle 10"/>
          <p:cNvSpPr>
            <a:spLocks noGrp="1"/>
          </p:cNvSpPr>
          <p:nvPr/>
        </p:nvSpPr>
        <p:spPr>
          <a:xfrm>
            <a:off x="2876550" y="1809750"/>
            <a:ext cx="1581150" cy="323850"/>
          </a:xfrm>
          <a:prstGeom prst="rect">
            <a:avLst/>
          </a:prstGeom>
          <a:noFill/>
          <a:ln w="0">
            <a:noFill/>
            <a:prstDash val="solid"/>
          </a:ln>
        </p:spPr>
        <p:txBody>
          <a:bodyPr wrap="square" lIns="95250" tIns="57150" rIns="95250" bIns="57150" anchor="ctr">
            <a:normAutofit fontScale="96491"/>
          </a:bodyPr>
          <a:lstStyle/>
          <a:p>
            <a:pPr algn="ctr">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Train 80%</a:t>
            </a:r>
            <a:endParaRPr sz="1425" b="1">
              <a:solidFill>
                <a:srgbClr val="102A43"/>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2876550" y="2181225"/>
            <a:ext cx="1581150" cy="333375"/>
          </a:xfrm>
          <a:prstGeom prst="rect">
            <a:avLst/>
          </a:prstGeom>
          <a:noFill/>
          <a:ln w="0">
            <a:noFill/>
            <a:prstDash val="solid"/>
          </a:ln>
        </p:spPr>
        <p:txBody>
          <a:bodyPr wrap="square" lIns="95250" tIns="57150" rIns="95250" bIns="57150" anchor="ctr">
            <a:normAutofit/>
          </a:bodyPr>
          <a:lstStyle/>
          <a:p>
            <a:pPr algn="ctr">
              <a:lnSpc>
                <a:spcPct val="100000"/>
              </a:lnSpc>
              <a:buNone/>
              <a:defRPr sz="975" b="0">
                <a:solidFill>
                  <a:srgbClr val="5F6C7B"/>
                </a:solidFill>
                <a:latin typeface="Arial" panose="020B0604020202020204"/>
                <a:ea typeface="Arial" panose="020B0604020202020204"/>
                <a:cs typeface="Arial" panose="020B0604020202020204"/>
              </a:defRPr>
            </a:pPr>
            <a:r>
              <a:rPr sz="975" b="0">
                <a:solidFill>
                  <a:srgbClr val="5F6C7B"/>
                </a:solidFill>
                <a:latin typeface="Arial" panose="020B0604020202020204"/>
                <a:ea typeface="Arial" panose="020B0604020202020204"/>
                <a:cs typeface="Arial" panose="020B0604020202020204"/>
              </a:rPr>
              <a:t>Fit imputer + pipeline</a:t>
            </a:r>
            <a:endParaRPr sz="975" b="0">
              <a:solidFill>
                <a:srgbClr val="5F6C7B"/>
              </a:solidFill>
              <a:latin typeface="Arial" panose="020B0604020202020204"/>
              <a:ea typeface="Arial" panose="020B0604020202020204"/>
              <a:cs typeface="Arial" panose="020B0604020202020204"/>
            </a:endParaRPr>
          </a:p>
        </p:txBody>
      </p:sp>
      <p:sp>
        <p:nvSpPr>
          <p:cNvPr id="13" name="Rounded Rectangle 12"/>
          <p:cNvSpPr>
            <a:spLocks noGrp="1"/>
          </p:cNvSpPr>
          <p:nvPr/>
        </p:nvSpPr>
        <p:spPr>
          <a:xfrm>
            <a:off x="2762250" y="3143250"/>
            <a:ext cx="1809750" cy="1047750"/>
          </a:xfrm>
          <a:prstGeom prst="roundRect">
            <a:avLst>
              <a:gd name="adj" fmla="val 6364"/>
            </a:avLst>
          </a:prstGeom>
          <a:solidFill>
            <a:srgbClr val="FFFFFF"/>
          </a:solidFill>
          <a:ln w="9525">
            <a:solidFill>
              <a:srgbClr val="E76F51"/>
            </a:solidFill>
            <a:prstDash val="solid"/>
          </a:ln>
        </p:spPr>
        <p:style>
          <a:lnRef idx="0">
            <a:srgbClr val="FFFFFF"/>
          </a:lnRef>
          <a:fillRef idx="0">
            <a:srgbClr val="FFFFFF"/>
          </a:fillRef>
          <a:effectRef idx="4">
            <a:srgbClr val="FFFFFF"/>
          </a:effectRef>
          <a:fontRef idx="major"/>
        </p:style>
      </p:sp>
      <p:sp>
        <p:nvSpPr>
          <p:cNvPr id="14" name="Rectangle 13"/>
          <p:cNvSpPr>
            <a:spLocks noGrp="1"/>
          </p:cNvSpPr>
          <p:nvPr/>
        </p:nvSpPr>
        <p:spPr>
          <a:xfrm>
            <a:off x="2762250" y="3143250"/>
            <a:ext cx="1809750" cy="66675"/>
          </a:xfrm>
          <a:prstGeom prst="rect">
            <a:avLst/>
          </a:prstGeom>
          <a:solidFill>
            <a:srgbClr val="E76F51"/>
          </a:solidFill>
          <a:ln w="0">
            <a:noFill/>
            <a:prstDash val="solid"/>
          </a:ln>
        </p:spPr>
      </p:sp>
      <p:sp>
        <p:nvSpPr>
          <p:cNvPr id="15" name="Rectangle 14"/>
          <p:cNvSpPr>
            <a:spLocks noGrp="1"/>
          </p:cNvSpPr>
          <p:nvPr/>
        </p:nvSpPr>
        <p:spPr>
          <a:xfrm>
            <a:off x="2876550" y="3333750"/>
            <a:ext cx="1581150" cy="323850"/>
          </a:xfrm>
          <a:prstGeom prst="rect">
            <a:avLst/>
          </a:prstGeom>
          <a:noFill/>
          <a:ln w="0">
            <a:noFill/>
            <a:prstDash val="solid"/>
          </a:ln>
        </p:spPr>
        <p:txBody>
          <a:bodyPr wrap="square" lIns="95250" tIns="57150" rIns="95250" bIns="57150" anchor="ctr">
            <a:normAutofit fontScale="96491"/>
          </a:bodyPr>
          <a:lstStyle/>
          <a:p>
            <a:pPr algn="ctr">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Test 20%</a:t>
            </a:r>
            <a:endParaRPr sz="1425" b="1">
              <a:solidFill>
                <a:srgbClr val="102A43"/>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2876550" y="3705225"/>
            <a:ext cx="1581150" cy="333375"/>
          </a:xfrm>
          <a:prstGeom prst="rect">
            <a:avLst/>
          </a:prstGeom>
          <a:noFill/>
          <a:ln w="0">
            <a:noFill/>
            <a:prstDash val="solid"/>
          </a:ln>
        </p:spPr>
        <p:txBody>
          <a:bodyPr wrap="square" lIns="95250" tIns="57150" rIns="95250" bIns="57150" anchor="ctr">
            <a:normAutofit/>
          </a:bodyPr>
          <a:lstStyle/>
          <a:p>
            <a:pPr algn="ctr">
              <a:lnSpc>
                <a:spcPct val="100000"/>
              </a:lnSpc>
              <a:buNone/>
              <a:defRPr sz="975" b="0">
                <a:solidFill>
                  <a:srgbClr val="5F6C7B"/>
                </a:solidFill>
                <a:latin typeface="Arial" panose="020B0604020202020204"/>
                <a:ea typeface="Arial" panose="020B0604020202020204"/>
                <a:cs typeface="Arial" panose="020B0604020202020204"/>
              </a:defRPr>
            </a:pPr>
            <a:r>
              <a:rPr sz="975" b="0">
                <a:solidFill>
                  <a:srgbClr val="5F6C7B"/>
                </a:solidFill>
                <a:latin typeface="Arial" panose="020B0604020202020204"/>
                <a:ea typeface="Arial" panose="020B0604020202020204"/>
                <a:cs typeface="Arial" panose="020B0604020202020204"/>
              </a:rPr>
              <a:t>Giữ riêng để đánh giá</a:t>
            </a:r>
            <a:endParaRPr sz="975" b="0">
              <a:solidFill>
                <a:srgbClr val="5F6C7B"/>
              </a:solidFill>
              <a:latin typeface="Arial" panose="020B0604020202020204"/>
              <a:ea typeface="Arial" panose="020B0604020202020204"/>
              <a:cs typeface="Arial" panose="020B0604020202020204"/>
            </a:endParaRPr>
          </a:p>
        </p:txBody>
      </p:sp>
      <p:sp>
        <p:nvSpPr>
          <p:cNvPr id="17" name="Rounded Rectangle 16"/>
          <p:cNvSpPr>
            <a:spLocks noGrp="1"/>
          </p:cNvSpPr>
          <p:nvPr/>
        </p:nvSpPr>
        <p:spPr>
          <a:xfrm>
            <a:off x="5095875" y="1619250"/>
            <a:ext cx="2000250" cy="1047750"/>
          </a:xfrm>
          <a:prstGeom prst="roundRect">
            <a:avLst>
              <a:gd name="adj" fmla="val 6364"/>
            </a:avLst>
          </a:prstGeom>
          <a:solidFill>
            <a:srgbClr val="FFFFFF"/>
          </a:solidFill>
          <a:ln w="9525">
            <a:solidFill>
              <a:srgbClr val="E9C46A"/>
            </a:solidFill>
            <a:prstDash val="solid"/>
          </a:ln>
        </p:spPr>
        <p:style>
          <a:lnRef idx="0">
            <a:srgbClr val="FFFFFF"/>
          </a:lnRef>
          <a:fillRef idx="0">
            <a:srgbClr val="FFFFFF"/>
          </a:fillRef>
          <a:effectRef idx="4">
            <a:srgbClr val="FFFFFF"/>
          </a:effectRef>
          <a:fontRef idx="major"/>
        </p:style>
      </p:sp>
      <p:sp>
        <p:nvSpPr>
          <p:cNvPr id="18" name="Rectangle 17"/>
          <p:cNvSpPr>
            <a:spLocks noGrp="1"/>
          </p:cNvSpPr>
          <p:nvPr/>
        </p:nvSpPr>
        <p:spPr>
          <a:xfrm>
            <a:off x="5095875" y="1619250"/>
            <a:ext cx="2000250" cy="66675"/>
          </a:xfrm>
          <a:prstGeom prst="rect">
            <a:avLst/>
          </a:prstGeom>
          <a:solidFill>
            <a:srgbClr val="E9C46A"/>
          </a:solidFill>
          <a:ln w="0">
            <a:noFill/>
            <a:prstDash val="solid"/>
          </a:ln>
        </p:spPr>
      </p:sp>
      <p:sp>
        <p:nvSpPr>
          <p:cNvPr id="19" name="Rectangle 18"/>
          <p:cNvSpPr>
            <a:spLocks noGrp="1"/>
          </p:cNvSpPr>
          <p:nvPr/>
        </p:nvSpPr>
        <p:spPr>
          <a:xfrm>
            <a:off x="5210175" y="1809750"/>
            <a:ext cx="1771650" cy="323850"/>
          </a:xfrm>
          <a:prstGeom prst="rect">
            <a:avLst/>
          </a:prstGeom>
          <a:noFill/>
          <a:ln w="0">
            <a:noFill/>
            <a:prstDash val="solid"/>
          </a:ln>
        </p:spPr>
        <p:txBody>
          <a:bodyPr wrap="square" lIns="95250" tIns="57150" rIns="95250" bIns="57150" anchor="ctr">
            <a:normAutofit fontScale="96491"/>
          </a:bodyPr>
          <a:lstStyle/>
          <a:p>
            <a:pPr algn="ctr">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Search + CV</a:t>
            </a:r>
            <a:endParaRPr sz="1425" b="1">
              <a:solidFill>
                <a:srgbClr val="102A43"/>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5210175" y="2181225"/>
            <a:ext cx="1771650" cy="333375"/>
          </a:xfrm>
          <a:prstGeom prst="rect">
            <a:avLst/>
          </a:prstGeom>
          <a:noFill/>
          <a:ln w="0">
            <a:noFill/>
            <a:prstDash val="solid"/>
          </a:ln>
        </p:spPr>
        <p:txBody>
          <a:bodyPr wrap="square" lIns="95250" tIns="57150" rIns="95250" bIns="57150" anchor="ctr">
            <a:normAutofit/>
          </a:bodyPr>
          <a:lstStyle/>
          <a:p>
            <a:pPr algn="ctr">
              <a:lnSpc>
                <a:spcPct val="100000"/>
              </a:lnSpc>
              <a:buNone/>
              <a:defRPr sz="975" b="0">
                <a:solidFill>
                  <a:srgbClr val="5F6C7B"/>
                </a:solidFill>
                <a:latin typeface="Arial" panose="020B0604020202020204"/>
                <a:ea typeface="Arial" panose="020B0604020202020204"/>
                <a:cs typeface="Arial" panose="020B0604020202020204"/>
              </a:defRPr>
            </a:pPr>
            <a:r>
              <a:rPr sz="975" b="0">
                <a:solidFill>
                  <a:srgbClr val="5F6C7B"/>
                </a:solidFill>
                <a:latin typeface="Arial" panose="020B0604020202020204"/>
                <a:ea typeface="Arial" panose="020B0604020202020204"/>
                <a:cs typeface="Arial" panose="020B0604020202020204"/>
              </a:rPr>
              <a:t>5-fold · neg MSE</a:t>
            </a:r>
            <a:endParaRPr sz="975" b="0">
              <a:solidFill>
                <a:srgbClr val="5F6C7B"/>
              </a:solidFill>
              <a:latin typeface="Arial" panose="020B0604020202020204"/>
              <a:ea typeface="Arial" panose="020B0604020202020204"/>
              <a:cs typeface="Arial" panose="020B0604020202020204"/>
            </a:endParaRPr>
          </a:p>
        </p:txBody>
      </p:sp>
      <p:sp>
        <p:nvSpPr>
          <p:cNvPr id="21" name="Rounded Rectangle 20"/>
          <p:cNvSpPr>
            <a:spLocks noGrp="1"/>
          </p:cNvSpPr>
          <p:nvPr/>
        </p:nvSpPr>
        <p:spPr>
          <a:xfrm>
            <a:off x="7620000" y="1619250"/>
            <a:ext cx="1762125" cy="1047750"/>
          </a:xfrm>
          <a:prstGeom prst="roundRect">
            <a:avLst>
              <a:gd name="adj" fmla="val 6364"/>
            </a:avLst>
          </a:prstGeom>
          <a:solidFill>
            <a:srgbClr val="FFFFFF"/>
          </a:solidFill>
          <a:ln w="9525">
            <a:solidFill>
              <a:srgbClr val="2A9D8F"/>
            </a:solidFill>
            <a:prstDash val="solid"/>
          </a:ln>
        </p:spPr>
        <p:style>
          <a:lnRef idx="0">
            <a:srgbClr val="FFFFFF"/>
          </a:lnRef>
          <a:fillRef idx="0">
            <a:srgbClr val="FFFFFF"/>
          </a:fillRef>
          <a:effectRef idx="4">
            <a:srgbClr val="FFFFFF"/>
          </a:effectRef>
          <a:fontRef idx="major"/>
        </p:style>
      </p:sp>
      <p:sp>
        <p:nvSpPr>
          <p:cNvPr id="22" name="Rectangle 21"/>
          <p:cNvSpPr>
            <a:spLocks noGrp="1"/>
          </p:cNvSpPr>
          <p:nvPr/>
        </p:nvSpPr>
        <p:spPr>
          <a:xfrm>
            <a:off x="7620000" y="1619250"/>
            <a:ext cx="1762125" cy="66675"/>
          </a:xfrm>
          <a:prstGeom prst="rect">
            <a:avLst/>
          </a:prstGeom>
          <a:solidFill>
            <a:srgbClr val="2A9D8F"/>
          </a:solidFill>
          <a:ln w="0">
            <a:noFill/>
            <a:prstDash val="solid"/>
          </a:ln>
        </p:spPr>
      </p:sp>
      <p:sp>
        <p:nvSpPr>
          <p:cNvPr id="23" name="Rectangle 22"/>
          <p:cNvSpPr>
            <a:spLocks noGrp="1"/>
          </p:cNvSpPr>
          <p:nvPr/>
        </p:nvSpPr>
        <p:spPr>
          <a:xfrm>
            <a:off x="7734300" y="1809750"/>
            <a:ext cx="1533525" cy="323850"/>
          </a:xfrm>
          <a:prstGeom prst="rect">
            <a:avLst/>
          </a:prstGeom>
          <a:noFill/>
          <a:ln w="0">
            <a:noFill/>
            <a:prstDash val="solid"/>
          </a:ln>
        </p:spPr>
        <p:txBody>
          <a:bodyPr wrap="square" lIns="95250" tIns="57150" rIns="95250" bIns="57150" anchor="ctr">
            <a:normAutofit fontScale="96491"/>
          </a:bodyPr>
          <a:lstStyle/>
          <a:p>
            <a:pPr algn="ctr">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Fit tốt nhất</a:t>
            </a:r>
            <a:endParaRPr sz="1425" b="1">
              <a:solidFill>
                <a:srgbClr val="102A43"/>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7734300" y="2181225"/>
            <a:ext cx="1533525" cy="333375"/>
          </a:xfrm>
          <a:prstGeom prst="rect">
            <a:avLst/>
          </a:prstGeom>
          <a:noFill/>
          <a:ln w="0">
            <a:noFill/>
            <a:prstDash val="solid"/>
          </a:ln>
        </p:spPr>
        <p:txBody>
          <a:bodyPr wrap="square" lIns="95250" tIns="57150" rIns="95250" bIns="57150" anchor="ctr">
            <a:normAutofit/>
          </a:bodyPr>
          <a:lstStyle/>
          <a:p>
            <a:pPr algn="ctr">
              <a:lnSpc>
                <a:spcPct val="100000"/>
              </a:lnSpc>
              <a:buNone/>
              <a:defRPr sz="975" b="0">
                <a:solidFill>
                  <a:srgbClr val="5F6C7B"/>
                </a:solidFill>
                <a:latin typeface="Arial" panose="020B0604020202020204"/>
                <a:ea typeface="Arial" panose="020B0604020202020204"/>
                <a:cs typeface="Arial" panose="020B0604020202020204"/>
              </a:defRPr>
            </a:pPr>
            <a:r>
              <a:rPr sz="975" b="0">
                <a:solidFill>
                  <a:srgbClr val="5F6C7B"/>
                </a:solidFill>
                <a:latin typeface="Arial" panose="020B0604020202020204"/>
                <a:ea typeface="Arial" panose="020B0604020202020204"/>
                <a:cs typeface="Arial" panose="020B0604020202020204"/>
              </a:rPr>
              <a:t>Theo CV RMSE</a:t>
            </a:r>
            <a:endParaRPr sz="975" b="0">
              <a:solidFill>
                <a:srgbClr val="5F6C7B"/>
              </a:solidFill>
              <a:latin typeface="Arial" panose="020B0604020202020204"/>
              <a:ea typeface="Arial" panose="020B0604020202020204"/>
              <a:cs typeface="Arial" panose="020B0604020202020204"/>
            </a:endParaRPr>
          </a:p>
        </p:txBody>
      </p:sp>
      <p:sp>
        <p:nvSpPr>
          <p:cNvPr id="25" name="Rounded Rectangle 24"/>
          <p:cNvSpPr>
            <a:spLocks noGrp="1"/>
          </p:cNvSpPr>
          <p:nvPr/>
        </p:nvSpPr>
        <p:spPr>
          <a:xfrm>
            <a:off x="9906000" y="2286000"/>
            <a:ext cx="1714500" cy="1047750"/>
          </a:xfrm>
          <a:prstGeom prst="roundRect">
            <a:avLst>
              <a:gd name="adj" fmla="val 6364"/>
            </a:avLst>
          </a:prstGeom>
          <a:solidFill>
            <a:srgbClr val="FFFFFF"/>
          </a:solidFill>
          <a:ln w="9525">
            <a:solidFill>
              <a:srgbClr val="173F5F"/>
            </a:solidFill>
            <a:prstDash val="solid"/>
          </a:ln>
        </p:spPr>
        <p:style>
          <a:lnRef idx="0">
            <a:srgbClr val="FFFFFF"/>
          </a:lnRef>
          <a:fillRef idx="0">
            <a:srgbClr val="FFFFFF"/>
          </a:fillRef>
          <a:effectRef idx="4">
            <a:srgbClr val="FFFFFF"/>
          </a:effectRef>
          <a:fontRef idx="major"/>
        </p:style>
      </p:sp>
      <p:sp>
        <p:nvSpPr>
          <p:cNvPr id="26" name="Rectangle 25"/>
          <p:cNvSpPr>
            <a:spLocks noGrp="1"/>
          </p:cNvSpPr>
          <p:nvPr/>
        </p:nvSpPr>
        <p:spPr>
          <a:xfrm>
            <a:off x="9906000" y="2286000"/>
            <a:ext cx="1714500" cy="66675"/>
          </a:xfrm>
          <a:prstGeom prst="rect">
            <a:avLst/>
          </a:prstGeom>
          <a:solidFill>
            <a:srgbClr val="173F5F"/>
          </a:solidFill>
          <a:ln w="0">
            <a:noFill/>
            <a:prstDash val="solid"/>
          </a:ln>
        </p:spPr>
      </p:sp>
      <p:sp>
        <p:nvSpPr>
          <p:cNvPr id="27" name="Rectangle 26"/>
          <p:cNvSpPr>
            <a:spLocks noGrp="1"/>
          </p:cNvSpPr>
          <p:nvPr/>
        </p:nvSpPr>
        <p:spPr>
          <a:xfrm>
            <a:off x="10020300" y="2476500"/>
            <a:ext cx="1485900" cy="323850"/>
          </a:xfrm>
          <a:prstGeom prst="rect">
            <a:avLst/>
          </a:prstGeom>
          <a:noFill/>
          <a:ln w="0">
            <a:noFill/>
            <a:prstDash val="solid"/>
          </a:ln>
        </p:spPr>
        <p:txBody>
          <a:bodyPr wrap="square" lIns="95250" tIns="57150" rIns="95250" bIns="57150" anchor="ctr">
            <a:normAutofit fontScale="96491"/>
          </a:bodyPr>
          <a:lstStyle/>
          <a:p>
            <a:pPr algn="ctr">
              <a:lnSpc>
                <a:spcPct val="100000"/>
              </a:lnSpc>
              <a:buNone/>
              <a:defRPr sz="1425" b="1">
                <a:solidFill>
                  <a:srgbClr val="102A43"/>
                </a:solidFill>
                <a:latin typeface="Arial" panose="020B0604020202020204"/>
                <a:ea typeface="Arial" panose="020B0604020202020204"/>
                <a:cs typeface="Arial" panose="020B0604020202020204"/>
              </a:defRPr>
            </a:pPr>
            <a:r>
              <a:rPr sz="1425" b="1">
                <a:solidFill>
                  <a:srgbClr val="102A43"/>
                </a:solidFill>
                <a:latin typeface="Arial" panose="020B0604020202020204"/>
                <a:ea typeface="Arial" panose="020B0604020202020204"/>
                <a:cs typeface="Arial" panose="020B0604020202020204"/>
              </a:rPr>
              <a:t>Đánh giá</a:t>
            </a:r>
            <a:endParaRPr sz="1425" b="1">
              <a:solidFill>
                <a:srgbClr val="102A43"/>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10020300" y="2847975"/>
            <a:ext cx="1485900" cy="333375"/>
          </a:xfrm>
          <a:prstGeom prst="rect">
            <a:avLst/>
          </a:prstGeom>
          <a:noFill/>
          <a:ln w="0">
            <a:noFill/>
            <a:prstDash val="solid"/>
          </a:ln>
        </p:spPr>
        <p:txBody>
          <a:bodyPr wrap="square" lIns="95250" tIns="57150" rIns="95250" bIns="57150" anchor="ctr">
            <a:normAutofit/>
          </a:bodyPr>
          <a:lstStyle/>
          <a:p>
            <a:pPr algn="ctr">
              <a:lnSpc>
                <a:spcPct val="100000"/>
              </a:lnSpc>
              <a:buNone/>
              <a:defRPr sz="975" b="0">
                <a:solidFill>
                  <a:srgbClr val="5F6C7B"/>
                </a:solidFill>
                <a:latin typeface="Arial" panose="020B0604020202020204"/>
                <a:ea typeface="Arial" panose="020B0604020202020204"/>
                <a:cs typeface="Arial" panose="020B0604020202020204"/>
              </a:defRPr>
            </a:pPr>
            <a:r>
              <a:rPr sz="975" b="0">
                <a:solidFill>
                  <a:srgbClr val="5F6C7B"/>
                </a:solidFill>
                <a:latin typeface="Arial" panose="020B0604020202020204"/>
                <a:ea typeface="Arial" panose="020B0604020202020204"/>
                <a:cs typeface="Arial" panose="020B0604020202020204"/>
              </a:rPr>
              <a:t>RMSE · MAE · R²</a:t>
            </a:r>
            <a:endParaRPr sz="975" b="0">
              <a:solidFill>
                <a:srgbClr val="5F6C7B"/>
              </a:solidFill>
              <a:latin typeface="Arial" panose="020B0604020202020204"/>
              <a:ea typeface="Arial" panose="020B0604020202020204"/>
              <a:cs typeface="Arial" panose="020B0604020202020204"/>
            </a:endParaRPr>
          </a:p>
        </p:txBody>
      </p:sp>
      <p:sp>
        <p:nvSpPr>
          <p:cNvPr id="29" name="Right Arrow 28"/>
          <p:cNvSpPr>
            <a:spLocks noGrp="1"/>
          </p:cNvSpPr>
          <p:nvPr/>
        </p:nvSpPr>
        <p:spPr>
          <a:xfrm>
            <a:off x="2362200" y="2552700"/>
            <a:ext cx="304800" cy="228600"/>
          </a:xfrm>
          <a:prstGeom prst="rightArrow">
            <a:avLst/>
          </a:prstGeom>
          <a:solidFill>
            <a:srgbClr val="D7E0E8"/>
          </a:solidFill>
          <a:ln w="9525">
            <a:solidFill>
              <a:srgbClr val="D7E0E8"/>
            </a:solidFill>
            <a:prstDash val="solid"/>
          </a:ln>
        </p:spPr>
      </p:sp>
      <p:sp>
        <p:nvSpPr>
          <p:cNvPr id="30" name="Right Arrow 29"/>
          <p:cNvSpPr>
            <a:spLocks noGrp="1"/>
          </p:cNvSpPr>
          <p:nvPr/>
        </p:nvSpPr>
        <p:spPr>
          <a:xfrm>
            <a:off x="4572000" y="2047875"/>
            <a:ext cx="428625" cy="228600"/>
          </a:xfrm>
          <a:prstGeom prst="rightArrow">
            <a:avLst/>
          </a:prstGeom>
          <a:solidFill>
            <a:srgbClr val="D7E0E8"/>
          </a:solidFill>
          <a:ln w="9525">
            <a:solidFill>
              <a:srgbClr val="D7E0E8"/>
            </a:solidFill>
            <a:prstDash val="solid"/>
          </a:ln>
        </p:spPr>
      </p:sp>
      <p:sp>
        <p:nvSpPr>
          <p:cNvPr id="31" name="Right Arrow 30"/>
          <p:cNvSpPr>
            <a:spLocks noGrp="1"/>
          </p:cNvSpPr>
          <p:nvPr/>
        </p:nvSpPr>
        <p:spPr>
          <a:xfrm>
            <a:off x="7143750" y="2047875"/>
            <a:ext cx="381000" cy="228600"/>
          </a:xfrm>
          <a:prstGeom prst="rightArrow">
            <a:avLst/>
          </a:prstGeom>
          <a:solidFill>
            <a:srgbClr val="D7E0E8"/>
          </a:solidFill>
          <a:ln w="9525">
            <a:solidFill>
              <a:srgbClr val="D7E0E8"/>
            </a:solidFill>
            <a:prstDash val="solid"/>
          </a:ln>
        </p:spPr>
      </p:sp>
      <p:sp>
        <p:nvSpPr>
          <p:cNvPr id="32" name="Right Arrow 31"/>
          <p:cNvSpPr>
            <a:spLocks noGrp="1"/>
          </p:cNvSpPr>
          <p:nvPr/>
        </p:nvSpPr>
        <p:spPr>
          <a:xfrm>
            <a:off x="9429750" y="2552700"/>
            <a:ext cx="381000" cy="228600"/>
          </a:xfrm>
          <a:prstGeom prst="rightArrow">
            <a:avLst/>
          </a:prstGeom>
          <a:solidFill>
            <a:srgbClr val="D7E0E8"/>
          </a:solidFill>
          <a:ln w="9525">
            <a:solidFill>
              <a:srgbClr val="D7E0E8"/>
            </a:solidFill>
            <a:prstDash val="solid"/>
          </a:ln>
        </p:spPr>
      </p:sp>
      <p:sp>
        <p:nvSpPr>
          <p:cNvPr id="33" name="Straight Connector 32"/>
          <p:cNvSpPr>
            <a:spLocks noGrp="1"/>
          </p:cNvSpPr>
          <p:nvPr/>
        </p:nvSpPr>
        <p:spPr>
          <a:xfrm>
            <a:off x="2428875" y="2800350"/>
            <a:ext cx="333375" cy="819150"/>
          </a:xfrm>
          <a:prstGeom prst="line">
            <a:avLst/>
          </a:prstGeom>
          <a:noFill/>
          <a:ln w="28575">
            <a:solidFill>
              <a:srgbClr val="D7E0E8"/>
            </a:solidFill>
            <a:prstDash val="solid"/>
          </a:ln>
        </p:spPr>
      </p:sp>
      <p:sp>
        <p:nvSpPr>
          <p:cNvPr id="34" name="Rounded Rectangle 33"/>
          <p:cNvSpPr>
            <a:spLocks noGrp="1"/>
          </p:cNvSpPr>
          <p:nvPr/>
        </p:nvSpPr>
        <p:spPr>
          <a:xfrm>
            <a:off x="904875" y="4905375"/>
            <a:ext cx="10382250" cy="876300"/>
          </a:xfrm>
          <a:prstGeom prst="roundRect">
            <a:avLst>
              <a:gd name="adj" fmla="val 7609"/>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35" name="Rectangle 34"/>
          <p:cNvSpPr>
            <a:spLocks noGrp="1"/>
          </p:cNvSpPr>
          <p:nvPr/>
        </p:nvSpPr>
        <p:spPr>
          <a:xfrm>
            <a:off x="1123950" y="5095875"/>
            <a:ext cx="1809750" cy="257175"/>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167D8D"/>
                </a:solidFill>
                <a:latin typeface="Arial" panose="020B0604020202020204"/>
                <a:ea typeface="Arial" panose="020B0604020202020204"/>
                <a:cs typeface="Arial" panose="020B0604020202020204"/>
              </a:defRPr>
            </a:pPr>
            <a:r>
              <a:rPr sz="1275" b="1">
                <a:solidFill>
                  <a:srgbClr val="167D8D"/>
                </a:solidFill>
                <a:latin typeface="Arial" panose="020B0604020202020204"/>
                <a:ea typeface="Arial" panose="020B0604020202020204"/>
                <a:cs typeface="Arial" panose="020B0604020202020204"/>
              </a:rPr>
              <a:t>Kết quả chạy lại</a:t>
            </a:r>
            <a:endParaRPr sz="1275" b="1">
              <a:solidFill>
                <a:srgbClr val="167D8D"/>
              </a:solidFill>
              <a:latin typeface="Arial" panose="020B0604020202020204"/>
              <a:ea typeface="Arial" panose="020B0604020202020204"/>
              <a:cs typeface="Arial" panose="020B0604020202020204"/>
            </a:endParaRPr>
          </a:p>
        </p:txBody>
      </p:sp>
      <p:sp>
        <p:nvSpPr>
          <p:cNvPr id="36" name="Rectangle 35"/>
          <p:cNvSpPr>
            <a:spLocks noGrp="1"/>
          </p:cNvSpPr>
          <p:nvPr/>
        </p:nvSpPr>
        <p:spPr>
          <a:xfrm>
            <a:off x="3000375" y="5010150"/>
            <a:ext cx="7953375" cy="476250"/>
          </a:xfrm>
          <a:prstGeom prst="rect">
            <a:avLst/>
          </a:prstGeom>
          <a:noFill/>
          <a:ln w="0">
            <a:noFill/>
            <a:prstDash val="solid"/>
          </a:ln>
        </p:spPr>
        <p:txBody>
          <a:bodyPr wrap="square" lIns="95250" tIns="57150" rIns="95250" bIns="57150" anchor="ctr">
            <a:normAutofit fontScale="90729"/>
          </a:bodyPr>
          <a:lstStyle/>
          <a:p>
            <a:pPr algn="l">
              <a:lnSpc>
                <a:spcPct val="100000"/>
              </a:lnSpc>
              <a:buNone/>
              <a:defRPr sz="1425" b="1">
                <a:solidFill>
                  <a:srgbClr val="102A43"/>
                </a:solidFill>
                <a:latin typeface="Arial" panose="020B0604020202020204"/>
                <a:ea typeface="Arial" panose="020B0604020202020204"/>
                <a:cs typeface="Arial" panose="020B0604020202020204"/>
              </a:defRPr>
            </a:pPr>
            <a:r>
              <a:rPr lang="vi-VN" sz="1425" b="1">
                <a:solidFill>
                  <a:srgbClr val="102A43"/>
                </a:solidFill>
                <a:latin typeface="Arial" panose="020B0604020202020204"/>
                <a:ea typeface="Arial" panose="020B0604020202020204"/>
                <a:cs typeface="Arial" panose="020B0604020202020204"/>
              </a:rPr>
              <a:t>Gradient Boosting đứng đầu: CV RMSE 47.251,39 · Test RMSE 46.387,57 USD.</a:t>
            </a:r>
            <a:endParaRPr lang="vi-VN" sz="1425" b="1">
              <a:solidFill>
                <a:srgbClr val="102A43"/>
              </a:solidFill>
              <a:latin typeface="Arial" panose="020B0604020202020204"/>
              <a:ea typeface="Arial" panose="020B0604020202020204"/>
              <a:cs typeface="Arial" panose="020B0604020202020204"/>
            </a:endParaRPr>
          </a:p>
        </p:txBody>
      </p:sp>
      <p:sp>
        <p:nvSpPr>
          <p:cNvPr id="37" name="Straight Connector 36"/>
          <p:cNvSpPr>
            <a:spLocks noGrp="1"/>
          </p:cNvSpPr>
          <p:nvPr/>
        </p:nvSpPr>
        <p:spPr>
          <a:xfrm>
            <a:off x="666750" y="6477000"/>
            <a:ext cx="10858500" cy="0"/>
          </a:xfrm>
          <a:prstGeom prst="line">
            <a:avLst/>
          </a:prstGeom>
          <a:noFill/>
          <a:ln w="9525">
            <a:solidFill>
              <a:srgbClr val="D7E0E8"/>
            </a:solidFill>
            <a:prstDash val="solid"/>
          </a:ln>
        </p:spPr>
      </p:sp>
      <p:sp>
        <p:nvSpPr>
          <p:cNvPr id="38" name="Rectangle 37"/>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README.md · ai-models/colab/03_train.ipynb (snapshot notebook)</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29" name="Rectangle 28"/>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07 · EVALUATION</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So sánh model</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09</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523875" y="1428750"/>
            <a:ext cx="6191250" cy="4476750"/>
          </a:xfrm>
          <a:prstGeom prst="roundRect">
            <a:avLst>
              <a:gd name="adj" fmla="val 1489"/>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graphicFrame>
        <p:nvGraphicFramePr>
          <p:cNvPr id="34" name="Chart"/>
          <p:cNvGraphicFramePr/>
          <p:nvPr/>
        </p:nvGraphicFramePr>
        <p:xfrm>
          <a:off x="714375" y="1762125"/>
          <a:ext cx="5810250" cy="3476625"/>
        </p:xfrm>
        <a:graphic>
          <a:graphicData uri="http://schemas.openxmlformats.org/drawingml/2006/chart">
            <c:chart xmlns:c="http://schemas.openxmlformats.org/drawingml/2006/chart" xmlns:r="http://schemas.openxmlformats.org/officeDocument/2006/relationships" r:id="rId1"/>
          </a:graphicData>
        </a:graphic>
      </p:graphicFrame>
      <p:sp>
        <p:nvSpPr>
          <p:cNvPr id="7" name="Rectangle 6"/>
          <p:cNvSpPr>
            <a:spLocks noGrp="1"/>
          </p:cNvSpPr>
          <p:nvPr/>
        </p:nvSpPr>
        <p:spPr>
          <a:xfrm>
            <a:off x="904875" y="5391150"/>
            <a:ext cx="5429250" cy="257175"/>
          </a:xfrm>
          <a:prstGeom prst="rect">
            <a:avLst/>
          </a:prstGeom>
          <a:noFill/>
          <a:ln w="0">
            <a:noFill/>
            <a:prstDash val="solid"/>
          </a:ln>
        </p:spPr>
        <p:txBody>
          <a:bodyPr wrap="square" lIns="0" tIns="0" rIns="0" bIns="0" anchor="t">
            <a:normAutofit/>
          </a:bodyPr>
          <a:lstStyle/>
          <a:p>
            <a:pPr algn="ctr">
              <a:lnSpc>
                <a:spcPct val="100000"/>
              </a:lnSpc>
              <a:buNone/>
              <a:defRPr sz="900" b="0">
                <a:solidFill>
                  <a:srgbClr val="5F6C7B"/>
                </a:solidFill>
                <a:latin typeface="Arial" panose="020B0604020202020204"/>
                <a:ea typeface="Arial" panose="020B0604020202020204"/>
                <a:cs typeface="Arial" panose="020B0604020202020204"/>
              </a:defRPr>
            </a:pPr>
            <a:r>
              <a:rPr lang="vi-VN" sz="900" b="0">
                <a:solidFill>
                  <a:srgbClr val="5F6C7B"/>
                </a:solidFill>
                <a:latin typeface="Arial" panose="020B0604020202020204"/>
                <a:ea typeface="Arial" panose="020B0604020202020204"/>
                <a:cs typeface="Arial" panose="020B0604020202020204"/>
              </a:rPr>
              <a:t>Nguồn số liệu: README.md · kết quả notebook 03_train</a:t>
            </a:r>
            <a:endParaRPr lang="vi-VN" sz="900" b="0">
              <a:solidFill>
                <a:srgbClr val="5F6C7B"/>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7191375" y="1504950"/>
            <a:ext cx="4286250" cy="304800"/>
          </a:xfrm>
          <a:prstGeom prst="rect">
            <a:avLst/>
          </a:prstGeom>
          <a:noFill/>
          <a:ln w="0">
            <a:noFill/>
            <a:prstDash val="solid"/>
          </a:ln>
        </p:spPr>
        <p:txBody>
          <a:bodyPr wrap="square" lIns="0" tIns="0" rIns="0" bIns="0" anchor="t">
            <a:normAutofit/>
          </a:bodyPr>
          <a:lstStyle/>
          <a:p>
            <a:pPr algn="l">
              <a:lnSpc>
                <a:spcPct val="100000"/>
              </a:lnSpc>
              <a:buNone/>
              <a:defRPr sz="1725" b="1">
                <a:solidFill>
                  <a:srgbClr val="102A43"/>
                </a:solidFill>
                <a:latin typeface="Arial" panose="020B0604020202020204"/>
                <a:ea typeface="Arial" panose="020B0604020202020204"/>
                <a:cs typeface="Arial" panose="020B0604020202020204"/>
              </a:defRPr>
            </a:pPr>
            <a:r>
              <a:rPr sz="1725" b="1">
                <a:solidFill>
                  <a:srgbClr val="102A43"/>
                </a:solidFill>
                <a:latin typeface="Arial" panose="020B0604020202020204"/>
                <a:ea typeface="Arial" panose="020B0604020202020204"/>
                <a:cs typeface="Arial" panose="020B0604020202020204"/>
              </a:rPr>
              <a:t>Bảng kết quả</a:t>
            </a:r>
            <a:endParaRPr sz="1725" b="1">
              <a:solidFill>
                <a:srgbClr val="102A43"/>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7191375" y="1952625"/>
            <a:ext cx="2143125" cy="4857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Model</a:t>
            </a:r>
            <a:endParaRPr sz="975" b="1">
              <a:solidFill>
                <a:srgbClr val="FFFFFF"/>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9334500" y="1952625"/>
            <a:ext cx="1047750" cy="4857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r">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MAE</a:t>
            </a:r>
            <a:endParaRPr sz="975" b="1">
              <a:solidFill>
                <a:srgbClr val="FFFFFF"/>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10382250" y="1952625"/>
            <a:ext cx="952500" cy="4857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r">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R²</a:t>
            </a:r>
            <a:endParaRPr sz="975" b="1">
              <a:solidFill>
                <a:srgbClr val="FFFFFF"/>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7191375" y="2438400"/>
            <a:ext cx="2143125"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050" b="1">
                <a:solidFill>
                  <a:srgbClr val="1D2939"/>
                </a:solidFill>
                <a:latin typeface="Arial" panose="020B0604020202020204"/>
                <a:ea typeface="Arial" panose="020B0604020202020204"/>
                <a:cs typeface="Arial" panose="020B0604020202020204"/>
              </a:defRPr>
            </a:pPr>
            <a:r>
              <a:rPr sz="1050" b="1">
                <a:solidFill>
                  <a:srgbClr val="1D2939"/>
                </a:solidFill>
                <a:latin typeface="Arial" panose="020B0604020202020204"/>
                <a:ea typeface="Arial" panose="020B0604020202020204"/>
                <a:cs typeface="Arial" panose="020B0604020202020204"/>
              </a:rPr>
              <a:t>Gradient Boosting</a:t>
            </a:r>
            <a:endParaRPr sz="1050" b="1">
              <a:solidFill>
                <a:srgbClr val="1D2939"/>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9334500" y="2438400"/>
            <a:ext cx="1047750"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30.252</a:t>
            </a:r>
            <a:endParaRPr lang="vi-VN" sz="1050" b="0">
              <a:solidFill>
                <a:srgbClr val="1D2939"/>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10382250" y="2438400"/>
            <a:ext cx="952500"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0,8358</a:t>
            </a:r>
            <a:endParaRPr lang="vi-VN" sz="1050" b="0">
              <a:solidFill>
                <a:srgbClr val="1D2939"/>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7191375" y="2924175"/>
            <a:ext cx="2143125"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050" b="1">
                <a:solidFill>
                  <a:srgbClr val="1D2939"/>
                </a:solidFill>
                <a:latin typeface="Arial" panose="020B0604020202020204"/>
                <a:ea typeface="Arial" panose="020B0604020202020204"/>
                <a:cs typeface="Arial" panose="020B0604020202020204"/>
              </a:defRPr>
            </a:pPr>
            <a:r>
              <a:rPr sz="1050" b="1">
                <a:solidFill>
                  <a:srgbClr val="1D2939"/>
                </a:solidFill>
                <a:latin typeface="Arial" panose="020B0604020202020204"/>
                <a:ea typeface="Arial" panose="020B0604020202020204"/>
                <a:cs typeface="Arial" panose="020B0604020202020204"/>
              </a:rPr>
              <a:t>Random Forest</a:t>
            </a:r>
            <a:endParaRPr sz="1050" b="1">
              <a:solidFill>
                <a:srgbClr val="1D2939"/>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9334500" y="2924175"/>
            <a:ext cx="1047750"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31.942</a:t>
            </a:r>
            <a:endParaRPr lang="vi-VN" sz="1050" b="0">
              <a:solidFill>
                <a:srgbClr val="1D2939"/>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10382250" y="2924175"/>
            <a:ext cx="952500"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0,8115</a:t>
            </a:r>
            <a:endParaRPr lang="vi-VN" sz="1050" b="0">
              <a:solidFill>
                <a:srgbClr val="1D2939"/>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7191375" y="3409950"/>
            <a:ext cx="2143125"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050" b="1">
                <a:solidFill>
                  <a:srgbClr val="1D2939"/>
                </a:solidFill>
                <a:latin typeface="Arial" panose="020B0604020202020204"/>
                <a:ea typeface="Arial" panose="020B0604020202020204"/>
                <a:cs typeface="Arial" panose="020B0604020202020204"/>
              </a:defRPr>
            </a:pPr>
            <a:r>
              <a:rPr sz="1050" b="1">
                <a:solidFill>
                  <a:srgbClr val="1D2939"/>
                </a:solidFill>
                <a:latin typeface="Arial" panose="020B0604020202020204"/>
                <a:ea typeface="Arial" panose="020B0604020202020204"/>
                <a:cs typeface="Arial" panose="020B0604020202020204"/>
              </a:rPr>
              <a:t>Decision Tree</a:t>
            </a:r>
            <a:endParaRPr sz="1050" b="1">
              <a:solidFill>
                <a:srgbClr val="1D2939"/>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9334500" y="3409950"/>
            <a:ext cx="1047750"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39.990</a:t>
            </a:r>
            <a:endParaRPr lang="vi-VN" sz="1050" b="0">
              <a:solidFill>
                <a:srgbClr val="1D2939"/>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10382250" y="3409950"/>
            <a:ext cx="952500"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0,7179</a:t>
            </a:r>
            <a:endParaRPr lang="vi-VN" sz="1050" b="0">
              <a:solidFill>
                <a:srgbClr val="1D2939"/>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7191375" y="3895725"/>
            <a:ext cx="2143125"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050" b="1">
                <a:solidFill>
                  <a:srgbClr val="1D2939"/>
                </a:solidFill>
                <a:latin typeface="Arial" panose="020B0604020202020204"/>
                <a:ea typeface="Arial" panose="020B0604020202020204"/>
                <a:cs typeface="Arial" panose="020B0604020202020204"/>
              </a:defRPr>
            </a:pPr>
            <a:r>
              <a:rPr sz="1050" b="1">
                <a:solidFill>
                  <a:srgbClr val="1D2939"/>
                </a:solidFill>
                <a:latin typeface="Arial" panose="020B0604020202020204"/>
                <a:ea typeface="Arial" panose="020B0604020202020204"/>
                <a:cs typeface="Arial" panose="020B0604020202020204"/>
              </a:rPr>
              <a:t>Linear Regression</a:t>
            </a:r>
            <a:endParaRPr sz="1050" b="1">
              <a:solidFill>
                <a:srgbClr val="1D2939"/>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9334500" y="3895725"/>
            <a:ext cx="1047750"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49.645</a:t>
            </a:r>
            <a:endParaRPr lang="vi-VN" sz="1050" b="0">
              <a:solidFill>
                <a:srgbClr val="1D2939"/>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10382250" y="3895725"/>
            <a:ext cx="952500"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r">
              <a:lnSpc>
                <a:spcPct val="100000"/>
              </a:lnSpc>
              <a:buNone/>
              <a:defRPr sz="1050" b="0">
                <a:solidFill>
                  <a:srgbClr val="1D2939"/>
                </a:solidFill>
                <a:latin typeface="Arial" panose="020B0604020202020204"/>
                <a:ea typeface="Arial" panose="020B0604020202020204"/>
                <a:cs typeface="Arial" panose="020B0604020202020204"/>
              </a:defRPr>
            </a:pPr>
            <a:r>
              <a:rPr lang="vi-VN" sz="1050" b="0">
                <a:solidFill>
                  <a:srgbClr val="1D2939"/>
                </a:solidFill>
                <a:latin typeface="Arial" panose="020B0604020202020204"/>
                <a:ea typeface="Arial" panose="020B0604020202020204"/>
                <a:cs typeface="Arial" panose="020B0604020202020204"/>
              </a:rPr>
              <a:t>0,6353</a:t>
            </a:r>
            <a:endParaRPr lang="vi-VN" sz="1050" b="0">
              <a:solidFill>
                <a:srgbClr val="1D2939"/>
              </a:solidFill>
              <a:latin typeface="Arial" panose="020B0604020202020204"/>
              <a:ea typeface="Arial" panose="020B0604020202020204"/>
              <a:cs typeface="Arial" panose="020B0604020202020204"/>
            </a:endParaRPr>
          </a:p>
        </p:txBody>
      </p:sp>
      <p:sp>
        <p:nvSpPr>
          <p:cNvPr id="24" name="Rounded Rectangle 23"/>
          <p:cNvSpPr>
            <a:spLocks noGrp="1"/>
          </p:cNvSpPr>
          <p:nvPr/>
        </p:nvSpPr>
        <p:spPr>
          <a:xfrm>
            <a:off x="7191375" y="4648200"/>
            <a:ext cx="4143375" cy="1257300"/>
          </a:xfrm>
          <a:prstGeom prst="roundRect">
            <a:avLst>
              <a:gd name="adj" fmla="val 5303"/>
            </a:avLst>
          </a:prstGeom>
          <a:solidFill>
            <a:srgbClr val="EAF6F5"/>
          </a:solidFill>
          <a:ln w="9525">
            <a:solidFill>
              <a:srgbClr val="167D8D"/>
            </a:solidFill>
            <a:prstDash val="solid"/>
          </a:ln>
        </p:spPr>
        <p:style>
          <a:lnRef idx="0">
            <a:srgbClr val="FFFFFF"/>
          </a:lnRef>
          <a:fillRef idx="0">
            <a:srgbClr val="FFFFFF"/>
          </a:fillRef>
          <a:effectRef idx="4">
            <a:srgbClr val="FFFFFF"/>
          </a:effectRef>
          <a:fontRef idx="major"/>
        </p:style>
      </p:sp>
      <p:sp>
        <p:nvSpPr>
          <p:cNvPr id="25" name="Rectangle 24"/>
          <p:cNvSpPr>
            <a:spLocks noGrp="1"/>
          </p:cNvSpPr>
          <p:nvPr/>
        </p:nvSpPr>
        <p:spPr>
          <a:xfrm>
            <a:off x="7429500" y="4819650"/>
            <a:ext cx="1000125" cy="247650"/>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167D8D"/>
                </a:solidFill>
                <a:latin typeface="Arial" panose="020B0604020202020204"/>
                <a:ea typeface="Arial" panose="020B0604020202020204"/>
                <a:cs typeface="Arial" panose="020B0604020202020204"/>
              </a:defRPr>
            </a:pPr>
            <a:r>
              <a:rPr sz="1125" b="1">
                <a:solidFill>
                  <a:srgbClr val="167D8D"/>
                </a:solidFill>
                <a:latin typeface="Arial" panose="020B0604020202020204"/>
                <a:ea typeface="Arial" panose="020B0604020202020204"/>
                <a:cs typeface="Arial" panose="020B0604020202020204"/>
              </a:rPr>
              <a:t>Kết luận</a:t>
            </a:r>
            <a:endParaRPr sz="1125" b="1">
              <a:solidFill>
                <a:srgbClr val="167D8D"/>
              </a:solidFill>
              <a:latin typeface="Arial" panose="020B0604020202020204"/>
              <a:ea typeface="Arial" panose="020B0604020202020204"/>
              <a:cs typeface="Arial" panose="020B0604020202020204"/>
            </a:endParaRPr>
          </a:p>
        </p:txBody>
      </p:sp>
      <p:sp>
        <p:nvSpPr>
          <p:cNvPr id="26" name="Rectangle 25"/>
          <p:cNvSpPr>
            <a:spLocks noGrp="1"/>
          </p:cNvSpPr>
          <p:nvPr/>
        </p:nvSpPr>
        <p:spPr>
          <a:xfrm>
            <a:off x="7429500" y="5143500"/>
            <a:ext cx="3619500" cy="495300"/>
          </a:xfrm>
          <a:prstGeom prst="rect">
            <a:avLst/>
          </a:prstGeom>
          <a:noFill/>
          <a:ln w="0">
            <a:noFill/>
            <a:prstDash val="solid"/>
          </a:ln>
        </p:spPr>
        <p:txBody>
          <a:bodyPr wrap="square" lIns="0" tIns="0" rIns="0" bIns="0" anchor="ctr">
            <a:normAutofit/>
          </a:bodyPr>
          <a:lstStyle/>
          <a:p>
            <a:pPr algn="l">
              <a:lnSpc>
                <a:spcPct val="100000"/>
              </a:lnSpc>
              <a:buNone/>
              <a:defRPr sz="1350" b="1">
                <a:solidFill>
                  <a:srgbClr val="102A43"/>
                </a:solidFill>
                <a:latin typeface="Arial" panose="020B0604020202020204"/>
                <a:ea typeface="Arial" panose="020B0604020202020204"/>
                <a:cs typeface="Arial" panose="020B0604020202020204"/>
              </a:defRPr>
            </a:pPr>
            <a:r>
              <a:rPr lang="vi-VN" sz="1350" b="1">
                <a:solidFill>
                  <a:srgbClr val="102A43"/>
                </a:solidFill>
                <a:latin typeface="Arial" panose="020B0604020202020204"/>
                <a:ea typeface="Arial" panose="020B0604020202020204"/>
                <a:cs typeface="Arial" panose="020B0604020202020204"/>
              </a:rPr>
              <a:t>Gradient Boosting tốt nhất theo Test RMSE và R² trong snapshot notebook.</a:t>
            </a:r>
            <a:endParaRPr lang="vi-VN" sz="1350" b="1">
              <a:solidFill>
                <a:srgbClr val="102A43"/>
              </a:solidFill>
              <a:latin typeface="Arial" panose="020B0604020202020204"/>
              <a:ea typeface="Arial" panose="020B0604020202020204"/>
              <a:cs typeface="Arial" panose="020B0604020202020204"/>
            </a:endParaRPr>
          </a:p>
        </p:txBody>
      </p:sp>
      <p:sp>
        <p:nvSpPr>
          <p:cNvPr id="27" name="Straight Connector 26"/>
          <p:cNvSpPr>
            <a:spLocks noGrp="1"/>
          </p:cNvSpPr>
          <p:nvPr/>
        </p:nvSpPr>
        <p:spPr>
          <a:xfrm>
            <a:off x="666750" y="6477000"/>
            <a:ext cx="10858500" cy="0"/>
          </a:xfrm>
          <a:prstGeom prst="line">
            <a:avLst/>
          </a:prstGeom>
          <a:noFill/>
          <a:ln w="9525">
            <a:solidFill>
              <a:srgbClr val="D7E0E8"/>
            </a:solidFill>
            <a:prstDash val="solid"/>
          </a:ln>
        </p:spPr>
      </p:sp>
      <p:sp>
        <p:nvSpPr>
          <p:cNvPr id="28" name="Rectangle 27"/>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README.md · ai-models/colab/03_train.ipynb</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31" name="Rectangle 30"/>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08 · SELECTED ARTIFACT</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Model cuối cùng</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10</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523875" y="1428750"/>
            <a:ext cx="6191250" cy="4476750"/>
          </a:xfrm>
          <a:prstGeom prst="roundRect">
            <a:avLst>
              <a:gd name="adj" fmla="val 1489"/>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742950" y="1600200"/>
            <a:ext cx="5619750" cy="295275"/>
          </a:xfrm>
          <a:prstGeom prst="rect">
            <a:avLst/>
          </a:prstGeom>
          <a:noFill/>
          <a:ln w="0">
            <a:noFill/>
            <a:prstDash val="solid"/>
          </a:ln>
        </p:spPr>
        <p:txBody>
          <a:bodyPr wrap="square" lIns="0" tIns="0" rIns="0" bIns="0" anchor="t">
            <a:normAutofit/>
          </a:bodyPr>
          <a:lstStyle/>
          <a:p>
            <a:pPr algn="l">
              <a:lnSpc>
                <a:spcPct val="100000"/>
              </a:lnSpc>
              <a:buNone/>
              <a:defRPr sz="1575" b="1">
                <a:solidFill>
                  <a:srgbClr val="102A43"/>
                </a:solidFill>
                <a:latin typeface="Arial" panose="020B0604020202020204"/>
                <a:ea typeface="Arial" panose="020B0604020202020204"/>
                <a:cs typeface="Arial" panose="020B0604020202020204"/>
              </a:defRPr>
            </a:pPr>
            <a:r>
              <a:rPr sz="1575" b="1">
                <a:solidFill>
                  <a:srgbClr val="102A43"/>
                </a:solidFill>
                <a:latin typeface="Arial" panose="020B0604020202020204"/>
                <a:ea typeface="Arial" panose="020B0604020202020204"/>
                <a:cs typeface="Arial" panose="020B0604020202020204"/>
              </a:rPr>
              <a:t>Phân tích residual trong notebook</a:t>
            </a:r>
            <a:endParaRPr sz="1575" b="1">
              <a:solidFill>
                <a:srgbClr val="102A43"/>
              </a:solidFill>
              <a:latin typeface="Arial" panose="020B0604020202020204"/>
              <a:ea typeface="Arial" panose="020B0604020202020204"/>
              <a:cs typeface="Arial" panose="020B0604020202020204"/>
            </a:endParaRPr>
          </a:p>
        </p:txBody>
      </p:sp>
      <p:pic>
        <p:nvPicPr>
          <p:cNvPr id="37" name="Picture 36"/>
          <p:cNvPicPr>
            <a:picLocks noChangeAspect="1"/>
          </p:cNvPicPr>
          <p:nvPr/>
        </p:nvPicPr>
        <p:blipFill>
          <a:blip r:embed="rId1"/>
          <a:stretch>
            <a:fillRect/>
          </a:stretch>
        </p:blipFill>
        <p:spPr>
          <a:xfrm>
            <a:off x="1268016" y="1952625"/>
            <a:ext cx="4702969" cy="3524250"/>
          </a:xfrm>
          <a:prstGeom prst="roundRect">
            <a:avLst>
              <a:gd name="adj" fmla="val 1622"/>
            </a:avLst>
          </a:prstGeom>
        </p:spPr>
      </p:pic>
      <p:sp>
        <p:nvSpPr>
          <p:cNvPr id="8" name="Rectangle 7"/>
          <p:cNvSpPr>
            <a:spLocks noGrp="1"/>
          </p:cNvSpPr>
          <p:nvPr/>
        </p:nvSpPr>
        <p:spPr>
          <a:xfrm>
            <a:off x="904875" y="5524500"/>
            <a:ext cx="5429250" cy="209550"/>
          </a:xfrm>
          <a:prstGeom prst="rect">
            <a:avLst/>
          </a:prstGeom>
          <a:noFill/>
          <a:ln w="0">
            <a:noFill/>
            <a:prstDash val="solid"/>
          </a:ln>
        </p:spPr>
        <p:txBody>
          <a:bodyPr wrap="square" lIns="0" tIns="0" rIns="0" bIns="0" anchor="t">
            <a:normAutofit/>
          </a:bodyPr>
          <a:lstStyle/>
          <a:p>
            <a:pPr algn="ctr">
              <a:lnSpc>
                <a:spcPct val="100000"/>
              </a:lnSpc>
              <a:buNone/>
              <a:defRPr sz="900" b="0">
                <a:solidFill>
                  <a:srgbClr val="5F6C7B"/>
                </a:solidFill>
                <a:latin typeface="Arial" panose="020B0604020202020204"/>
                <a:ea typeface="Arial" panose="020B0604020202020204"/>
                <a:cs typeface="Arial" panose="020B0604020202020204"/>
              </a:defRPr>
            </a:pPr>
            <a:r>
              <a:rPr sz="900" b="0">
                <a:solidFill>
                  <a:srgbClr val="5F6C7B"/>
                </a:solidFill>
                <a:latin typeface="Arial" panose="020B0604020202020204"/>
                <a:ea typeface="Arial" panose="020B0604020202020204"/>
                <a:cs typeface="Arial" panose="020B0604020202020204"/>
              </a:rPr>
              <a:t>Hình residual là output thực tế trong notebook.</a:t>
            </a:r>
            <a:endParaRPr sz="900" b="0">
              <a:solidFill>
                <a:srgbClr val="5F6C7B"/>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7191375" y="1504950"/>
            <a:ext cx="4333875" cy="400050"/>
          </a:xfrm>
          <a:prstGeom prst="rect">
            <a:avLst/>
          </a:prstGeom>
          <a:noFill/>
          <a:ln w="0">
            <a:noFill/>
            <a:prstDash val="solid"/>
          </a:ln>
        </p:spPr>
        <p:txBody>
          <a:bodyPr wrap="square" lIns="0" tIns="0" rIns="0" bIns="0" anchor="t">
            <a:normAutofit/>
          </a:bodyPr>
          <a:lstStyle/>
          <a:p>
            <a:pPr algn="l">
              <a:lnSpc>
                <a:spcPct val="100000"/>
              </a:lnSpc>
              <a:buNone/>
              <a:defRPr sz="2100" b="1">
                <a:solidFill>
                  <a:srgbClr val="102A43"/>
                </a:solidFill>
                <a:latin typeface="Arial" panose="020B0604020202020204"/>
                <a:ea typeface="Arial" panose="020B0604020202020204"/>
                <a:cs typeface="Arial" panose="020B0604020202020204"/>
              </a:defRPr>
            </a:pPr>
            <a:r>
              <a:rPr sz="2100" b="1">
                <a:solidFill>
                  <a:srgbClr val="102A43"/>
                </a:solidFill>
                <a:latin typeface="Arial" panose="020B0604020202020204"/>
                <a:ea typeface="Arial" panose="020B0604020202020204"/>
                <a:cs typeface="Arial" panose="020B0604020202020204"/>
              </a:rPr>
              <a:t>GradientBoostingRegressor</a:t>
            </a:r>
            <a:endParaRPr sz="2100" b="1">
              <a:solidFill>
                <a:srgbClr val="102A43"/>
              </a:solidFill>
              <a:latin typeface="Arial" panose="020B0604020202020204"/>
              <a:ea typeface="Arial" panose="020B0604020202020204"/>
              <a:cs typeface="Arial" panose="020B0604020202020204"/>
            </a:endParaRPr>
          </a:p>
        </p:txBody>
      </p:sp>
      <p:sp>
        <p:nvSpPr>
          <p:cNvPr id="10" name="Rounded Rectangle 9"/>
          <p:cNvSpPr>
            <a:spLocks noGrp="1"/>
          </p:cNvSpPr>
          <p:nvPr/>
        </p:nvSpPr>
        <p:spPr>
          <a:xfrm>
            <a:off x="7191375" y="2028825"/>
            <a:ext cx="1190625" cy="266700"/>
          </a:xfrm>
          <a:prstGeom prst="roundRect">
            <a:avLst>
              <a:gd name="adj" fmla="val 50000"/>
            </a:avLst>
          </a:prstGeom>
          <a:solidFill>
            <a:srgbClr val="EAF6F5"/>
          </a:solidFill>
          <a:ln w="9525">
            <a:solidFill>
              <a:srgbClr val="EAF6F5"/>
            </a:solidFill>
            <a:prstDash val="solid"/>
          </a:ln>
        </p:spPr>
        <p:txBody>
          <a:bodyPr wrap="square" lIns="76200" tIns="19050" rIns="76200" bIns="19050" anchor="ctr">
            <a:normAutofit/>
          </a:bodyPr>
          <a:lstStyle/>
          <a:p>
            <a:pPr algn="ctr">
              <a:lnSpc>
                <a:spcPct val="100000"/>
              </a:lnSpc>
              <a:buNone/>
              <a:defRPr sz="900" b="1">
                <a:solidFill>
                  <a:srgbClr val="167D8D"/>
                </a:solidFill>
                <a:latin typeface="Arial" panose="020B0604020202020204"/>
                <a:ea typeface="Arial" panose="020B0604020202020204"/>
                <a:cs typeface="Arial" panose="020B0604020202020204"/>
              </a:defRPr>
            </a:pPr>
            <a:r>
              <a:rPr sz="900" b="1">
                <a:solidFill>
                  <a:srgbClr val="167D8D"/>
                </a:solidFill>
                <a:latin typeface="Arial" panose="020B0604020202020204"/>
                <a:ea typeface="Arial" panose="020B0604020202020204"/>
                <a:cs typeface="Arial" panose="020B0604020202020204"/>
              </a:rPr>
              <a:t>version 2.0.0</a:t>
            </a:r>
            <a:endParaRPr sz="900" b="1">
              <a:solidFill>
                <a:srgbClr val="167D8D"/>
              </a:solidFill>
              <a:latin typeface="Arial" panose="020B0604020202020204"/>
              <a:ea typeface="Arial" panose="020B0604020202020204"/>
              <a:cs typeface="Arial" panose="020B0604020202020204"/>
            </a:endParaRPr>
          </a:p>
        </p:txBody>
      </p:sp>
      <p:sp>
        <p:nvSpPr>
          <p:cNvPr id="11" name="Rounded Rectangle 10"/>
          <p:cNvSpPr>
            <a:spLocks noGrp="1"/>
          </p:cNvSpPr>
          <p:nvPr/>
        </p:nvSpPr>
        <p:spPr>
          <a:xfrm>
            <a:off x="8524875" y="2028825"/>
            <a:ext cx="1095375" cy="266700"/>
          </a:xfrm>
          <a:prstGeom prst="roundRect">
            <a:avLst>
              <a:gd name="adj" fmla="val 50000"/>
            </a:avLst>
          </a:prstGeom>
          <a:solidFill>
            <a:srgbClr val="EAF1F8"/>
          </a:solidFill>
          <a:ln w="9525">
            <a:solidFill>
              <a:srgbClr val="EAF1F8"/>
            </a:solidFill>
            <a:prstDash val="solid"/>
          </a:ln>
        </p:spPr>
        <p:txBody>
          <a:bodyPr wrap="square" lIns="76200" tIns="19050" rIns="76200" bIns="19050" anchor="ctr">
            <a:normAutofit/>
          </a:bodyPr>
          <a:lstStyle/>
          <a:p>
            <a:pPr algn="ctr">
              <a:lnSpc>
                <a:spcPct val="100000"/>
              </a:lnSpc>
              <a:buNone/>
              <a:defRPr sz="900" b="1">
                <a:solidFill>
                  <a:srgbClr val="173F5F"/>
                </a:solidFill>
                <a:latin typeface="Arial" panose="020B0604020202020204"/>
                <a:ea typeface="Arial" panose="020B0604020202020204"/>
                <a:cs typeface="Arial" panose="020B0604020202020204"/>
              </a:defRPr>
            </a:pPr>
            <a:r>
              <a:rPr sz="900" b="1">
                <a:solidFill>
                  <a:srgbClr val="173F5F"/>
                </a:solidFill>
                <a:latin typeface="Arial" panose="020B0604020202020204"/>
                <a:ea typeface="Arial" panose="020B0604020202020204"/>
                <a:cs typeface="Arial" panose="020B0604020202020204"/>
              </a:rPr>
              <a:t>model.joblib</a:t>
            </a:r>
            <a:endParaRPr sz="900" b="1">
              <a:solidFill>
                <a:srgbClr val="173F5F"/>
              </a:solidFill>
              <a:latin typeface="Arial" panose="020B0604020202020204"/>
              <a:ea typeface="Arial" panose="020B0604020202020204"/>
              <a:cs typeface="Arial" panose="020B0604020202020204"/>
            </a:endParaRPr>
          </a:p>
        </p:txBody>
      </p:sp>
      <p:sp>
        <p:nvSpPr>
          <p:cNvPr id="12" name="Rounded Rectangle 11"/>
          <p:cNvSpPr>
            <a:spLocks noGrp="1"/>
          </p:cNvSpPr>
          <p:nvPr/>
        </p:nvSpPr>
        <p:spPr>
          <a:xfrm>
            <a:off x="9763125" y="2028825"/>
            <a:ext cx="1000125" cy="266700"/>
          </a:xfrm>
          <a:prstGeom prst="roundRect">
            <a:avLst>
              <a:gd name="adj" fmla="val 50000"/>
            </a:avLst>
          </a:prstGeom>
          <a:solidFill>
            <a:srgbClr val="FCEDE8"/>
          </a:solidFill>
          <a:ln w="9525">
            <a:solidFill>
              <a:srgbClr val="FCEDE8"/>
            </a:solidFill>
            <a:prstDash val="solid"/>
          </a:ln>
        </p:spPr>
        <p:txBody>
          <a:bodyPr wrap="square" lIns="76200" tIns="19050" rIns="76200" bIns="19050" anchor="ctr">
            <a:normAutofit/>
          </a:bodyPr>
          <a:lstStyle/>
          <a:p>
            <a:pPr algn="ctr">
              <a:lnSpc>
                <a:spcPct val="100000"/>
              </a:lnSpc>
              <a:buNone/>
              <a:defRPr sz="900" b="1">
                <a:solidFill>
                  <a:srgbClr val="E76F51"/>
                </a:solidFill>
                <a:latin typeface="Arial" panose="020B0604020202020204"/>
                <a:ea typeface="Arial" panose="020B0604020202020204"/>
                <a:cs typeface="Arial" panose="020B0604020202020204"/>
              </a:defRPr>
            </a:pPr>
            <a:r>
              <a:rPr sz="900" b="1">
                <a:solidFill>
                  <a:srgbClr val="E76F51"/>
                </a:solidFill>
                <a:latin typeface="Arial" panose="020B0604020202020204"/>
                <a:ea typeface="Arial" panose="020B0604020202020204"/>
                <a:cs typeface="Arial" panose="020B0604020202020204"/>
              </a:rPr>
              <a:t>~1,03 MiB</a:t>
            </a:r>
            <a:endParaRPr sz="900" b="1">
              <a:solidFill>
                <a:srgbClr val="E76F51"/>
              </a:solidFill>
              <a:latin typeface="Arial" panose="020B0604020202020204"/>
              <a:ea typeface="Arial" panose="020B0604020202020204"/>
              <a:cs typeface="Arial" panose="020B0604020202020204"/>
            </a:endParaRPr>
          </a:p>
        </p:txBody>
      </p:sp>
      <p:sp>
        <p:nvSpPr>
          <p:cNvPr id="13" name="Rounded Rectangle 12"/>
          <p:cNvSpPr>
            <a:spLocks noGrp="1"/>
          </p:cNvSpPr>
          <p:nvPr/>
        </p:nvSpPr>
        <p:spPr>
          <a:xfrm>
            <a:off x="7191375" y="2571750"/>
            <a:ext cx="1285875" cy="1000125"/>
          </a:xfrm>
          <a:prstGeom prst="roundRect">
            <a:avLst>
              <a:gd name="adj" fmla="val 6667"/>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4" name="Rectangle 13"/>
          <p:cNvSpPr>
            <a:spLocks noGrp="1"/>
          </p:cNvSpPr>
          <p:nvPr/>
        </p:nvSpPr>
        <p:spPr>
          <a:xfrm>
            <a:off x="7191375" y="2571750"/>
            <a:ext cx="57150" cy="1000125"/>
          </a:xfrm>
          <a:prstGeom prst="rect">
            <a:avLst/>
          </a:prstGeom>
          <a:solidFill>
            <a:srgbClr val="167D8D"/>
          </a:solidFill>
          <a:ln w="0">
            <a:noFill/>
            <a:prstDash val="solid"/>
          </a:ln>
        </p:spPr>
      </p:sp>
      <p:sp>
        <p:nvSpPr>
          <p:cNvPr id="15" name="Rectangle 14"/>
          <p:cNvSpPr>
            <a:spLocks noGrp="1"/>
          </p:cNvSpPr>
          <p:nvPr/>
        </p:nvSpPr>
        <p:spPr>
          <a:xfrm>
            <a:off x="7362825" y="2686050"/>
            <a:ext cx="1000125"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46.795</a:t>
            </a:r>
            <a:endParaRPr sz="2250" b="1">
              <a:solidFill>
                <a:srgbClr val="102A43"/>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7362825" y="3114675"/>
            <a:ext cx="1000125"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RMSE</a:t>
            </a:r>
            <a:endParaRPr sz="1125" b="1">
              <a:solidFill>
                <a:srgbClr val="5F6C7B"/>
              </a:solidFill>
              <a:latin typeface="Arial" panose="020B0604020202020204"/>
              <a:ea typeface="Arial" panose="020B0604020202020204"/>
              <a:cs typeface="Arial" panose="020B0604020202020204"/>
            </a:endParaRPr>
          </a:p>
        </p:txBody>
      </p:sp>
      <p:sp>
        <p:nvSpPr>
          <p:cNvPr id="17" name="Rounded Rectangle 16"/>
          <p:cNvSpPr>
            <a:spLocks noGrp="1"/>
          </p:cNvSpPr>
          <p:nvPr/>
        </p:nvSpPr>
        <p:spPr>
          <a:xfrm>
            <a:off x="8620125" y="2571750"/>
            <a:ext cx="1285875" cy="1000125"/>
          </a:xfrm>
          <a:prstGeom prst="roundRect">
            <a:avLst>
              <a:gd name="adj" fmla="val 6667"/>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8" name="Rectangle 17"/>
          <p:cNvSpPr>
            <a:spLocks noGrp="1"/>
          </p:cNvSpPr>
          <p:nvPr/>
        </p:nvSpPr>
        <p:spPr>
          <a:xfrm>
            <a:off x="8620125" y="2571750"/>
            <a:ext cx="57150" cy="1000125"/>
          </a:xfrm>
          <a:prstGeom prst="rect">
            <a:avLst/>
          </a:prstGeom>
          <a:solidFill>
            <a:srgbClr val="173F5F"/>
          </a:solidFill>
          <a:ln w="0">
            <a:noFill/>
            <a:prstDash val="solid"/>
          </a:ln>
        </p:spPr>
      </p:sp>
      <p:sp>
        <p:nvSpPr>
          <p:cNvPr id="19" name="Rectangle 18"/>
          <p:cNvSpPr>
            <a:spLocks noGrp="1"/>
          </p:cNvSpPr>
          <p:nvPr/>
        </p:nvSpPr>
        <p:spPr>
          <a:xfrm>
            <a:off x="8791575" y="2686050"/>
            <a:ext cx="1000125"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30.649</a:t>
            </a:r>
            <a:endParaRPr sz="2250" b="1">
              <a:solidFill>
                <a:srgbClr val="102A43"/>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8791575" y="3114675"/>
            <a:ext cx="1000125"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MAE</a:t>
            </a:r>
            <a:endParaRPr sz="1125" b="1">
              <a:solidFill>
                <a:srgbClr val="5F6C7B"/>
              </a:solidFill>
              <a:latin typeface="Arial" panose="020B0604020202020204"/>
              <a:ea typeface="Arial" panose="020B0604020202020204"/>
              <a:cs typeface="Arial" panose="020B0604020202020204"/>
            </a:endParaRPr>
          </a:p>
        </p:txBody>
      </p:sp>
      <p:sp>
        <p:nvSpPr>
          <p:cNvPr id="21" name="Rounded Rectangle 20"/>
          <p:cNvSpPr>
            <a:spLocks noGrp="1"/>
          </p:cNvSpPr>
          <p:nvPr/>
        </p:nvSpPr>
        <p:spPr>
          <a:xfrm>
            <a:off x="10048875" y="2571750"/>
            <a:ext cx="1285875" cy="1000125"/>
          </a:xfrm>
          <a:prstGeom prst="roundRect">
            <a:avLst>
              <a:gd name="adj" fmla="val 6667"/>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2" name="Rectangle 21"/>
          <p:cNvSpPr>
            <a:spLocks noGrp="1"/>
          </p:cNvSpPr>
          <p:nvPr/>
        </p:nvSpPr>
        <p:spPr>
          <a:xfrm>
            <a:off x="10048875" y="2571750"/>
            <a:ext cx="57150" cy="1000125"/>
          </a:xfrm>
          <a:prstGeom prst="rect">
            <a:avLst/>
          </a:prstGeom>
          <a:solidFill>
            <a:srgbClr val="E9C46A"/>
          </a:solidFill>
          <a:ln w="0">
            <a:noFill/>
            <a:prstDash val="solid"/>
          </a:ln>
        </p:spPr>
      </p:sp>
      <p:sp>
        <p:nvSpPr>
          <p:cNvPr id="23" name="Rectangle 22"/>
          <p:cNvSpPr>
            <a:spLocks noGrp="1"/>
          </p:cNvSpPr>
          <p:nvPr/>
        </p:nvSpPr>
        <p:spPr>
          <a:xfrm>
            <a:off x="10220325" y="2686050"/>
            <a:ext cx="1000125"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0,8329</a:t>
            </a:r>
            <a:endParaRPr sz="2250" b="1">
              <a:solidFill>
                <a:srgbClr val="102A43"/>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10220325" y="3114675"/>
            <a:ext cx="1000125"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R²</a:t>
            </a:r>
            <a:endParaRPr sz="1125" b="1">
              <a:solidFill>
                <a:srgbClr val="5F6C7B"/>
              </a:solidFill>
              <a:latin typeface="Arial" panose="020B0604020202020204"/>
              <a:ea typeface="Arial" panose="020B0604020202020204"/>
              <a:cs typeface="Arial" panose="020B0604020202020204"/>
            </a:endParaRPr>
          </a:p>
        </p:txBody>
      </p:sp>
      <p:sp>
        <p:nvSpPr>
          <p:cNvPr id="25" name="Rounded Rectangle 24"/>
          <p:cNvSpPr>
            <a:spLocks noGrp="1"/>
          </p:cNvSpPr>
          <p:nvPr/>
        </p:nvSpPr>
        <p:spPr>
          <a:xfrm>
            <a:off x="7191375" y="3905250"/>
            <a:ext cx="4143375" cy="1428750"/>
          </a:xfrm>
          <a:prstGeom prst="roundRect">
            <a:avLst>
              <a:gd name="adj" fmla="val 4667"/>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6" name="Rectangle 25"/>
          <p:cNvSpPr>
            <a:spLocks noGrp="1"/>
          </p:cNvSpPr>
          <p:nvPr/>
        </p:nvSpPr>
        <p:spPr>
          <a:xfrm>
            <a:off x="7429500" y="4095750"/>
            <a:ext cx="1714500" cy="238125"/>
          </a:xfrm>
          <a:prstGeom prst="rect">
            <a:avLst/>
          </a:prstGeom>
          <a:noFill/>
          <a:ln w="0">
            <a:noFill/>
            <a:prstDash val="solid"/>
          </a:ln>
        </p:spPr>
        <p:txBody>
          <a:bodyPr wrap="square" lIns="0" tIns="0" rIns="0" bIns="0" anchor="t">
            <a:normAutofit/>
          </a:bodyPr>
          <a:lstStyle/>
          <a:p>
            <a:pPr algn="l">
              <a:lnSpc>
                <a:spcPct val="100000"/>
              </a:lnSpc>
              <a:buNone/>
              <a:defRPr sz="1200" b="1">
                <a:solidFill>
                  <a:srgbClr val="167D8D"/>
                </a:solidFill>
                <a:latin typeface="Arial" panose="020B0604020202020204"/>
                <a:ea typeface="Arial" panose="020B0604020202020204"/>
                <a:cs typeface="Arial" panose="020B0604020202020204"/>
              </a:defRPr>
            </a:pPr>
            <a:r>
              <a:rPr sz="1200" b="1">
                <a:solidFill>
                  <a:srgbClr val="167D8D"/>
                </a:solidFill>
                <a:latin typeface="Arial" panose="020B0604020202020204"/>
                <a:ea typeface="Arial" panose="020B0604020202020204"/>
                <a:cs typeface="Arial" panose="020B0604020202020204"/>
              </a:rPr>
              <a:t>Hyperparameters</a:t>
            </a:r>
            <a:endParaRPr sz="1200" b="1">
              <a:solidFill>
                <a:srgbClr val="167D8D"/>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7429500" y="4438650"/>
            <a:ext cx="3429000" cy="781050"/>
          </a:xfrm>
          <a:prstGeom prst="rect">
            <a:avLst/>
          </a:prstGeom>
          <a:noFill/>
          <a:ln w="0">
            <a:noFill/>
            <a:prstDash val="solid"/>
          </a:ln>
        </p:spPr>
        <p:txBody>
          <a:bodyPr wrap="square" lIns="0" tIns="0" rIns="0" bIns="0" anchor="t">
            <a:normAutofit/>
          </a:bodyPr>
          <a:lstStyle/>
          <a:p>
            <a:pPr algn="l">
              <a:lnSpc>
                <a:spcPct val="100000"/>
              </a:lnSpc>
              <a:buNone/>
              <a:defRPr sz="1200" b="0">
                <a:solidFill>
                  <a:srgbClr val="1D2939"/>
                </a:solidFill>
                <a:latin typeface="Arial" panose="020B0604020202020204"/>
                <a:ea typeface="Arial" panose="020B0604020202020204"/>
                <a:cs typeface="Arial" panose="020B0604020202020204"/>
              </a:defRPr>
            </a:pPr>
            <a:r>
              <a:rPr sz="1200" b="0">
                <a:solidFill>
                  <a:srgbClr val="1D2939"/>
                </a:solidFill>
                <a:latin typeface="Arial" panose="020B0604020202020204"/>
                <a:ea typeface="Arial" panose="020B0604020202020204"/>
                <a:cs typeface="Arial" panose="020B0604020202020204"/>
              </a:rPr>
              <a:t>n_estimators = 200</a:t>
            </a:r>
            <a:endParaRPr sz="1200" b="0">
              <a:solidFill>
                <a:srgbClr val="1D2939"/>
              </a:solidFill>
              <a:latin typeface="Arial" panose="020B0604020202020204"/>
              <a:ea typeface="Arial" panose="020B0604020202020204"/>
              <a:cs typeface="Arial" panose="020B0604020202020204"/>
            </a:endParaRPr>
          </a:p>
          <a:p>
            <a:pPr algn="l">
              <a:lnSpc>
                <a:spcPct val="100000"/>
              </a:lnSpc>
              <a:buNone/>
              <a:defRPr sz="1200" b="0">
                <a:solidFill>
                  <a:srgbClr val="1D2939"/>
                </a:solidFill>
                <a:latin typeface="Arial" panose="020B0604020202020204"/>
                <a:ea typeface="Arial" panose="020B0604020202020204"/>
                <a:cs typeface="Arial" panose="020B0604020202020204"/>
              </a:defRPr>
            </a:pPr>
            <a:r>
              <a:rPr sz="1200" b="0">
                <a:solidFill>
                  <a:srgbClr val="1D2939"/>
                </a:solidFill>
                <a:latin typeface="Arial" panose="020B0604020202020204"/>
                <a:ea typeface="Arial" panose="020B0604020202020204"/>
                <a:cs typeface="Arial" panose="020B0604020202020204"/>
              </a:rPr>
              <a:t>max_depth = 7</a:t>
            </a:r>
            <a:endParaRPr sz="1200" b="0">
              <a:solidFill>
                <a:srgbClr val="1D2939"/>
              </a:solidFill>
              <a:latin typeface="Arial" panose="020B0604020202020204"/>
              <a:ea typeface="Arial" panose="020B0604020202020204"/>
              <a:cs typeface="Arial" panose="020B0604020202020204"/>
            </a:endParaRPr>
          </a:p>
          <a:p>
            <a:pPr algn="l">
              <a:lnSpc>
                <a:spcPct val="100000"/>
              </a:lnSpc>
              <a:buNone/>
              <a:defRPr sz="1200" b="0">
                <a:solidFill>
                  <a:srgbClr val="1D2939"/>
                </a:solidFill>
                <a:latin typeface="Arial" panose="020B0604020202020204"/>
                <a:ea typeface="Arial" panose="020B0604020202020204"/>
                <a:cs typeface="Arial" panose="020B0604020202020204"/>
              </a:defRPr>
            </a:pPr>
            <a:r>
              <a:rPr sz="1200" b="0">
                <a:solidFill>
                  <a:srgbClr val="1D2939"/>
                </a:solidFill>
                <a:latin typeface="Arial" panose="020B0604020202020204"/>
                <a:ea typeface="Arial" panose="020B0604020202020204"/>
                <a:cs typeface="Arial" panose="020B0604020202020204"/>
              </a:rPr>
              <a:t>learning_rate = 0,05</a:t>
            </a:r>
            <a:endParaRPr sz="1200" b="0">
              <a:solidFill>
                <a:srgbClr val="1D2939"/>
              </a:solidFill>
              <a:latin typeface="Arial" panose="020B0604020202020204"/>
              <a:ea typeface="Arial" panose="020B0604020202020204"/>
              <a:cs typeface="Arial" panose="020B0604020202020204"/>
            </a:endParaRPr>
          </a:p>
          <a:p>
            <a:pPr algn="l">
              <a:lnSpc>
                <a:spcPct val="100000"/>
              </a:lnSpc>
              <a:buNone/>
              <a:defRPr sz="1200" b="0">
                <a:solidFill>
                  <a:srgbClr val="1D2939"/>
                </a:solidFill>
                <a:latin typeface="Arial" panose="020B0604020202020204"/>
                <a:ea typeface="Arial" panose="020B0604020202020204"/>
                <a:cs typeface="Arial" panose="020B0604020202020204"/>
              </a:defRPr>
            </a:pPr>
            <a:r>
              <a:rPr sz="1200" b="0">
                <a:solidFill>
                  <a:srgbClr val="1D2939"/>
                </a:solidFill>
                <a:latin typeface="Arial" panose="020B0604020202020204"/>
                <a:ea typeface="Arial" panose="020B0604020202020204"/>
                <a:cs typeface="Arial" panose="020B0604020202020204"/>
              </a:rPr>
              <a:t>random_state = 42</a:t>
            </a:r>
            <a:endParaRPr sz="1200" b="0">
              <a:solidFill>
                <a:srgbClr val="1D2939"/>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7381875" y="5476875"/>
            <a:ext cx="3619500" cy="219075"/>
          </a:xfrm>
          <a:prstGeom prst="rect">
            <a:avLst/>
          </a:prstGeom>
          <a:noFill/>
          <a:ln w="0">
            <a:noFill/>
            <a:prstDash val="solid"/>
          </a:ln>
        </p:spPr>
        <p:txBody>
          <a:bodyPr wrap="square" lIns="0" tIns="0" rIns="0" bIns="0" anchor="t">
            <a:normAutofit/>
          </a:bodyPr>
          <a:lstStyle/>
          <a:p>
            <a:pPr algn="l">
              <a:lnSpc>
                <a:spcPct val="100000"/>
              </a:lnSpc>
              <a:buNone/>
              <a:defRPr sz="900" b="0">
                <a:solidFill>
                  <a:srgbClr val="5F6C7B"/>
                </a:solidFill>
                <a:latin typeface="Arial" panose="020B0604020202020204"/>
                <a:ea typeface="Arial" panose="020B0604020202020204"/>
                <a:cs typeface="Arial" panose="020B0604020202020204"/>
              </a:defRPr>
            </a:pPr>
            <a:r>
              <a:rPr sz="900" b="0">
                <a:solidFill>
                  <a:srgbClr val="5F6C7B"/>
                </a:solidFill>
                <a:latin typeface="Arial" panose="020B0604020202020204"/>
                <a:ea typeface="Arial" panose="020B0604020202020204"/>
                <a:cs typeface="Arial" panose="020B0604020202020204"/>
              </a:rPr>
              <a:t>Metadata artifact: 01/10/2026</a:t>
            </a:r>
            <a:endParaRPr sz="900" b="0">
              <a:solidFill>
                <a:srgbClr val="5F6C7B"/>
              </a:solidFill>
              <a:latin typeface="Arial" panose="020B0604020202020204"/>
              <a:ea typeface="Arial" panose="020B0604020202020204"/>
              <a:cs typeface="Arial" panose="020B0604020202020204"/>
            </a:endParaRPr>
          </a:p>
        </p:txBody>
      </p:sp>
      <p:sp>
        <p:nvSpPr>
          <p:cNvPr id="29" name="Straight Connector 28"/>
          <p:cNvSpPr>
            <a:spLocks noGrp="1"/>
          </p:cNvSpPr>
          <p:nvPr/>
        </p:nvSpPr>
        <p:spPr>
          <a:xfrm>
            <a:off x="666750" y="6477000"/>
            <a:ext cx="10858500" cy="0"/>
          </a:xfrm>
          <a:prstGeom prst="line">
            <a:avLst/>
          </a:prstGeom>
          <a:noFill/>
          <a:ln w="9525">
            <a:solidFill>
              <a:srgbClr val="D7E0E8"/>
            </a:solidFill>
            <a:prstDash val="solid"/>
          </a:ln>
        </p:spPr>
      </p:sp>
      <p:sp>
        <p:nvSpPr>
          <p:cNvPr id="30" name="Rectangle 29"/>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ai-models/models/model.joblib; metadata.json; ai-models/colab/04_evaluate.ipynb</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35" name="Rectangle 34"/>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09 · SYSTEM DESIGN</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Kiến trúc hệ thống</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11</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523875" y="2095500"/>
            <a:ext cx="2286000" cy="2000250"/>
          </a:xfrm>
          <a:prstGeom prst="roundRect">
            <a:avLst>
              <a:gd name="adj" fmla="val 3333"/>
            </a:avLst>
          </a:prstGeom>
          <a:solidFill>
            <a:srgbClr val="FFFFFF"/>
          </a:solidFill>
          <a:ln w="9525">
            <a:solidFill>
              <a:srgbClr val="173F5F"/>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523875" y="2095500"/>
            <a:ext cx="2286000" cy="95250"/>
          </a:xfrm>
          <a:prstGeom prst="rect">
            <a:avLst/>
          </a:prstGeom>
          <a:solidFill>
            <a:srgbClr val="173F5F"/>
          </a:solidFill>
          <a:ln w="0">
            <a:noFill/>
            <a:prstDash val="solid"/>
          </a:ln>
        </p:spPr>
      </p:sp>
      <p:sp>
        <p:nvSpPr>
          <p:cNvPr id="7" name="Rectangle 6"/>
          <p:cNvSpPr>
            <a:spLocks noGrp="1"/>
          </p:cNvSpPr>
          <p:nvPr/>
        </p:nvSpPr>
        <p:spPr>
          <a:xfrm>
            <a:off x="695325" y="2400300"/>
            <a:ext cx="1943100" cy="381000"/>
          </a:xfrm>
          <a:prstGeom prst="rect">
            <a:avLst/>
          </a:prstGeom>
          <a:noFill/>
          <a:ln w="0">
            <a:noFill/>
            <a:prstDash val="solid"/>
          </a:ln>
        </p:spPr>
        <p:txBody>
          <a:bodyPr wrap="square" lIns="95250" tIns="57150" rIns="95250" bIns="57150" anchor="ctr">
            <a:normAutofit fontScale="97222"/>
          </a:bodyPr>
          <a:lstStyle/>
          <a:p>
            <a:pPr algn="ctr">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Frontend</a:t>
            </a:r>
            <a:endParaRPr sz="1800" b="1">
              <a:solidFill>
                <a:srgbClr val="102A43"/>
              </a:solidFill>
              <a:latin typeface="Arial" panose="020B0604020202020204"/>
              <a:ea typeface="Arial" panose="020B0604020202020204"/>
              <a:cs typeface="Arial" panose="020B0604020202020204"/>
            </a:endParaRPr>
          </a:p>
        </p:txBody>
      </p:sp>
      <p:sp>
        <p:nvSpPr>
          <p:cNvPr id="8" name="Rounded Rectangle 7"/>
          <p:cNvSpPr>
            <a:spLocks noGrp="1"/>
          </p:cNvSpPr>
          <p:nvPr/>
        </p:nvSpPr>
        <p:spPr>
          <a:xfrm>
            <a:off x="1047750" y="2952750"/>
            <a:ext cx="1238250" cy="400050"/>
          </a:xfrm>
          <a:prstGeom prst="roundRect">
            <a:avLst>
              <a:gd name="adj" fmla="val 50000"/>
            </a:avLst>
          </a:prstGeom>
          <a:solidFill>
            <a:srgbClr val="EAF1F8"/>
          </a:solidFill>
          <a:ln w="9525">
            <a:solidFill>
              <a:srgbClr val="EAF1F8"/>
            </a:solidFill>
            <a:prstDash val="solid"/>
          </a:ln>
        </p:spPr>
        <p:txBody>
          <a:bodyPr wrap="square" lIns="0" tIns="0" rIns="0" bIns="0" anchor="ctr">
            <a:normAutofit/>
          </a:bodyPr>
          <a:lstStyle/>
          <a:p>
            <a:pPr algn="ctr">
              <a:lnSpc>
                <a:spcPct val="100000"/>
              </a:lnSpc>
              <a:buNone/>
              <a:defRPr sz="1725" b="1">
                <a:solidFill>
                  <a:srgbClr val="173F5F"/>
                </a:solidFill>
                <a:latin typeface="Arial" panose="020B0604020202020204"/>
                <a:ea typeface="Arial" panose="020B0604020202020204"/>
                <a:cs typeface="Arial" panose="020B0604020202020204"/>
              </a:defRPr>
            </a:pPr>
            <a:r>
              <a:rPr sz="1725" b="1">
                <a:solidFill>
                  <a:srgbClr val="173F5F"/>
                </a:solidFill>
                <a:latin typeface="Arial" panose="020B0604020202020204"/>
                <a:ea typeface="Arial" panose="020B0604020202020204"/>
                <a:cs typeface="Arial" panose="020B0604020202020204"/>
              </a:rPr>
              <a:t>:3000</a:t>
            </a:r>
            <a:endParaRPr sz="1725" b="1">
              <a:solidFill>
                <a:srgbClr val="173F5F"/>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714375" y="3571875"/>
            <a:ext cx="1905000" cy="304800"/>
          </a:xfrm>
          <a:prstGeom prst="rect">
            <a:avLst/>
          </a:prstGeom>
          <a:noFill/>
          <a:ln w="0">
            <a:noFill/>
            <a:prstDash val="solid"/>
          </a:ln>
        </p:spPr>
        <p:txBody>
          <a:bodyPr wrap="square" lIns="95250" tIns="57150" rIns="95250" bIns="57150" anchor="ctr">
            <a:normAutofit/>
          </a:bodyPr>
          <a:lstStyle/>
          <a:p>
            <a:pPr algn="ctr">
              <a:lnSpc>
                <a:spcPct val="100000"/>
              </a:lnSpc>
              <a:buNone/>
              <a:defRPr sz="1125" b="0">
                <a:solidFill>
                  <a:srgbClr val="5F6C7B"/>
                </a:solidFill>
                <a:latin typeface="Arial" panose="020B0604020202020204"/>
                <a:ea typeface="Arial" panose="020B0604020202020204"/>
                <a:cs typeface="Arial" panose="020B0604020202020204"/>
              </a:defRPr>
            </a:pPr>
            <a:r>
              <a:rPr sz="1125" b="0">
                <a:solidFill>
                  <a:srgbClr val="5F6C7B"/>
                </a:solidFill>
                <a:latin typeface="Arial" panose="020B0604020202020204"/>
                <a:ea typeface="Arial" panose="020B0604020202020204"/>
                <a:cs typeface="Arial" panose="020B0604020202020204"/>
              </a:rPr>
              <a:t>FastAPI + Jinja</a:t>
            </a:r>
            <a:endParaRPr sz="1125" b="0">
              <a:solidFill>
                <a:srgbClr val="5F6C7B"/>
              </a:solidFill>
              <a:latin typeface="Arial" panose="020B0604020202020204"/>
              <a:ea typeface="Arial" panose="020B0604020202020204"/>
              <a:cs typeface="Arial" panose="020B0604020202020204"/>
            </a:endParaRPr>
          </a:p>
        </p:txBody>
      </p:sp>
      <p:sp>
        <p:nvSpPr>
          <p:cNvPr id="10" name="Rounded Rectangle 9"/>
          <p:cNvSpPr>
            <a:spLocks noGrp="1"/>
          </p:cNvSpPr>
          <p:nvPr/>
        </p:nvSpPr>
        <p:spPr>
          <a:xfrm>
            <a:off x="3333750" y="2095500"/>
            <a:ext cx="2286000" cy="2000250"/>
          </a:xfrm>
          <a:prstGeom prst="roundRect">
            <a:avLst>
              <a:gd name="adj" fmla="val 3333"/>
            </a:avLst>
          </a:prstGeom>
          <a:solidFill>
            <a:srgbClr val="FFFFFF"/>
          </a:solidFill>
          <a:ln w="9525">
            <a:solidFill>
              <a:srgbClr val="167D8D"/>
            </a:solidFill>
            <a:prstDash val="solid"/>
          </a:ln>
        </p:spPr>
        <p:style>
          <a:lnRef idx="0">
            <a:srgbClr val="FFFFFF"/>
          </a:lnRef>
          <a:fillRef idx="0">
            <a:srgbClr val="FFFFFF"/>
          </a:fillRef>
          <a:effectRef idx="4">
            <a:srgbClr val="FFFFFF"/>
          </a:effectRef>
          <a:fontRef idx="major"/>
        </p:style>
      </p:sp>
      <p:sp>
        <p:nvSpPr>
          <p:cNvPr id="11" name="Rectangle 10"/>
          <p:cNvSpPr>
            <a:spLocks noGrp="1"/>
          </p:cNvSpPr>
          <p:nvPr/>
        </p:nvSpPr>
        <p:spPr>
          <a:xfrm>
            <a:off x="3333750" y="2095500"/>
            <a:ext cx="2286000" cy="95250"/>
          </a:xfrm>
          <a:prstGeom prst="rect">
            <a:avLst/>
          </a:prstGeom>
          <a:solidFill>
            <a:srgbClr val="167D8D"/>
          </a:solidFill>
          <a:ln w="0">
            <a:noFill/>
            <a:prstDash val="solid"/>
          </a:ln>
        </p:spPr>
      </p:sp>
      <p:sp>
        <p:nvSpPr>
          <p:cNvPr id="12" name="Rectangle 11"/>
          <p:cNvSpPr>
            <a:spLocks noGrp="1"/>
          </p:cNvSpPr>
          <p:nvPr/>
        </p:nvSpPr>
        <p:spPr>
          <a:xfrm>
            <a:off x="3505200" y="2400300"/>
            <a:ext cx="1943100" cy="381000"/>
          </a:xfrm>
          <a:prstGeom prst="rect">
            <a:avLst/>
          </a:prstGeom>
          <a:noFill/>
          <a:ln w="0">
            <a:noFill/>
            <a:prstDash val="solid"/>
          </a:ln>
        </p:spPr>
        <p:txBody>
          <a:bodyPr wrap="square" lIns="95250" tIns="57150" rIns="95250" bIns="57150" anchor="ctr">
            <a:normAutofit fontScale="97222"/>
          </a:bodyPr>
          <a:lstStyle/>
          <a:p>
            <a:pPr algn="ctr">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Backend</a:t>
            </a:r>
            <a:endParaRPr sz="1800" b="1">
              <a:solidFill>
                <a:srgbClr val="102A43"/>
              </a:solidFill>
              <a:latin typeface="Arial" panose="020B0604020202020204"/>
              <a:ea typeface="Arial" panose="020B0604020202020204"/>
              <a:cs typeface="Arial" panose="020B0604020202020204"/>
            </a:endParaRPr>
          </a:p>
        </p:txBody>
      </p:sp>
      <p:sp>
        <p:nvSpPr>
          <p:cNvPr id="13" name="Rounded Rectangle 12"/>
          <p:cNvSpPr>
            <a:spLocks noGrp="1"/>
          </p:cNvSpPr>
          <p:nvPr/>
        </p:nvSpPr>
        <p:spPr>
          <a:xfrm>
            <a:off x="3857625" y="2952750"/>
            <a:ext cx="1238250" cy="400050"/>
          </a:xfrm>
          <a:prstGeom prst="roundRect">
            <a:avLst>
              <a:gd name="adj" fmla="val 50000"/>
            </a:avLst>
          </a:prstGeom>
          <a:solidFill>
            <a:srgbClr val="EAF6F5"/>
          </a:solidFill>
          <a:ln w="9525">
            <a:solidFill>
              <a:srgbClr val="EAF6F5"/>
            </a:solidFill>
            <a:prstDash val="solid"/>
          </a:ln>
        </p:spPr>
        <p:txBody>
          <a:bodyPr wrap="square" lIns="0" tIns="0" rIns="0" bIns="0" anchor="ctr">
            <a:normAutofit/>
          </a:bodyPr>
          <a:lstStyle/>
          <a:p>
            <a:pPr algn="ctr">
              <a:lnSpc>
                <a:spcPct val="100000"/>
              </a:lnSpc>
              <a:buNone/>
              <a:defRPr sz="1725" b="1">
                <a:solidFill>
                  <a:srgbClr val="167D8D"/>
                </a:solidFill>
                <a:latin typeface="Arial" panose="020B0604020202020204"/>
                <a:ea typeface="Arial" panose="020B0604020202020204"/>
                <a:cs typeface="Arial" panose="020B0604020202020204"/>
              </a:defRPr>
            </a:pPr>
            <a:r>
              <a:rPr sz="1725" b="1">
                <a:solidFill>
                  <a:srgbClr val="167D8D"/>
                </a:solidFill>
                <a:latin typeface="Arial" panose="020B0604020202020204"/>
                <a:ea typeface="Arial" panose="020B0604020202020204"/>
                <a:cs typeface="Arial" panose="020B0604020202020204"/>
              </a:rPr>
              <a:t>:8000</a:t>
            </a:r>
            <a:endParaRPr sz="1725" b="1">
              <a:solidFill>
                <a:srgbClr val="167D8D"/>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3524250" y="3571875"/>
            <a:ext cx="1905000" cy="304800"/>
          </a:xfrm>
          <a:prstGeom prst="rect">
            <a:avLst/>
          </a:prstGeom>
          <a:noFill/>
          <a:ln w="0">
            <a:noFill/>
            <a:prstDash val="solid"/>
          </a:ln>
        </p:spPr>
        <p:txBody>
          <a:bodyPr wrap="square" lIns="95250" tIns="57150" rIns="95250" bIns="57150" anchor="ctr">
            <a:normAutofit/>
          </a:bodyPr>
          <a:lstStyle/>
          <a:p>
            <a:pPr algn="ctr">
              <a:lnSpc>
                <a:spcPct val="100000"/>
              </a:lnSpc>
              <a:buNone/>
              <a:defRPr sz="1125" b="0">
                <a:solidFill>
                  <a:srgbClr val="5F6C7B"/>
                </a:solidFill>
                <a:latin typeface="Arial" panose="020B0604020202020204"/>
                <a:ea typeface="Arial" panose="020B0604020202020204"/>
                <a:cs typeface="Arial" panose="020B0604020202020204"/>
              </a:defRPr>
            </a:pPr>
            <a:r>
              <a:rPr sz="1125" b="0">
                <a:solidFill>
                  <a:srgbClr val="5F6C7B"/>
                </a:solidFill>
                <a:latin typeface="Arial" panose="020B0604020202020204"/>
                <a:ea typeface="Arial" panose="020B0604020202020204"/>
                <a:cs typeface="Arial" panose="020B0604020202020204"/>
              </a:rPr>
              <a:t>FastAPI</a:t>
            </a:r>
            <a:endParaRPr sz="1125" b="0">
              <a:solidFill>
                <a:srgbClr val="5F6C7B"/>
              </a:solidFill>
              <a:latin typeface="Arial" panose="020B0604020202020204"/>
              <a:ea typeface="Arial" panose="020B0604020202020204"/>
              <a:cs typeface="Arial" panose="020B0604020202020204"/>
            </a:endParaRPr>
          </a:p>
        </p:txBody>
      </p:sp>
      <p:sp>
        <p:nvSpPr>
          <p:cNvPr id="15" name="Rounded Rectangle 14"/>
          <p:cNvSpPr>
            <a:spLocks noGrp="1"/>
          </p:cNvSpPr>
          <p:nvPr/>
        </p:nvSpPr>
        <p:spPr>
          <a:xfrm>
            <a:off x="6143625" y="2095500"/>
            <a:ext cx="2286000" cy="2000250"/>
          </a:xfrm>
          <a:prstGeom prst="roundRect">
            <a:avLst>
              <a:gd name="adj" fmla="val 3333"/>
            </a:avLst>
          </a:prstGeom>
          <a:solidFill>
            <a:srgbClr val="FFFFFF"/>
          </a:solidFill>
          <a:ln w="9525">
            <a:solidFill>
              <a:srgbClr val="E9C46A"/>
            </a:solidFill>
            <a:prstDash val="solid"/>
          </a:ln>
        </p:spPr>
        <p:style>
          <a:lnRef idx="0">
            <a:srgbClr val="FFFFFF"/>
          </a:lnRef>
          <a:fillRef idx="0">
            <a:srgbClr val="FFFFFF"/>
          </a:fillRef>
          <a:effectRef idx="4">
            <a:srgbClr val="FFFFFF"/>
          </a:effectRef>
          <a:fontRef idx="major"/>
        </p:style>
      </p:sp>
      <p:sp>
        <p:nvSpPr>
          <p:cNvPr id="16" name="Rectangle 15"/>
          <p:cNvSpPr>
            <a:spLocks noGrp="1"/>
          </p:cNvSpPr>
          <p:nvPr/>
        </p:nvSpPr>
        <p:spPr>
          <a:xfrm>
            <a:off x="6143625" y="2095500"/>
            <a:ext cx="2286000" cy="95250"/>
          </a:xfrm>
          <a:prstGeom prst="rect">
            <a:avLst/>
          </a:prstGeom>
          <a:solidFill>
            <a:srgbClr val="E9C46A"/>
          </a:solidFill>
          <a:ln w="0">
            <a:noFill/>
            <a:prstDash val="solid"/>
          </a:ln>
        </p:spPr>
      </p:sp>
      <p:sp>
        <p:nvSpPr>
          <p:cNvPr id="17" name="Rectangle 16"/>
          <p:cNvSpPr>
            <a:spLocks noGrp="1"/>
          </p:cNvSpPr>
          <p:nvPr/>
        </p:nvSpPr>
        <p:spPr>
          <a:xfrm>
            <a:off x="6315075" y="2400300"/>
            <a:ext cx="1943100" cy="381000"/>
          </a:xfrm>
          <a:prstGeom prst="rect">
            <a:avLst/>
          </a:prstGeom>
          <a:noFill/>
          <a:ln w="0">
            <a:noFill/>
            <a:prstDash val="solid"/>
          </a:ln>
        </p:spPr>
        <p:txBody>
          <a:bodyPr wrap="square" lIns="95250" tIns="57150" rIns="95250" bIns="57150" anchor="ctr">
            <a:normAutofit fontScale="97222"/>
          </a:bodyPr>
          <a:lstStyle/>
          <a:p>
            <a:pPr algn="ctr">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AI Service</a:t>
            </a:r>
            <a:endParaRPr sz="1800" b="1">
              <a:solidFill>
                <a:srgbClr val="102A43"/>
              </a:solidFill>
              <a:latin typeface="Arial" panose="020B0604020202020204"/>
              <a:ea typeface="Arial" panose="020B0604020202020204"/>
              <a:cs typeface="Arial" panose="020B0604020202020204"/>
            </a:endParaRPr>
          </a:p>
        </p:txBody>
      </p:sp>
      <p:sp>
        <p:nvSpPr>
          <p:cNvPr id="18" name="Rounded Rectangle 17"/>
          <p:cNvSpPr>
            <a:spLocks noGrp="1"/>
          </p:cNvSpPr>
          <p:nvPr/>
        </p:nvSpPr>
        <p:spPr>
          <a:xfrm>
            <a:off x="6667500" y="2952750"/>
            <a:ext cx="1238250" cy="400050"/>
          </a:xfrm>
          <a:prstGeom prst="roundRect">
            <a:avLst>
              <a:gd name="adj" fmla="val 50000"/>
            </a:avLst>
          </a:prstGeom>
          <a:solidFill>
            <a:srgbClr val="FFF7DF"/>
          </a:solidFill>
          <a:ln w="9525">
            <a:solidFill>
              <a:srgbClr val="FFF7DF"/>
            </a:solidFill>
            <a:prstDash val="solid"/>
          </a:ln>
        </p:spPr>
        <p:txBody>
          <a:bodyPr wrap="square" lIns="0" tIns="0" rIns="0" bIns="0" anchor="ctr">
            <a:normAutofit/>
          </a:bodyPr>
          <a:lstStyle/>
          <a:p>
            <a:pPr algn="ctr">
              <a:lnSpc>
                <a:spcPct val="100000"/>
              </a:lnSpc>
              <a:buNone/>
              <a:defRPr sz="1725" b="1">
                <a:solidFill>
                  <a:srgbClr val="E9C46A"/>
                </a:solidFill>
                <a:latin typeface="Arial" panose="020B0604020202020204"/>
                <a:ea typeface="Arial" panose="020B0604020202020204"/>
                <a:cs typeface="Arial" panose="020B0604020202020204"/>
              </a:defRPr>
            </a:pPr>
            <a:r>
              <a:rPr sz="1725" b="1">
                <a:solidFill>
                  <a:srgbClr val="E9C46A"/>
                </a:solidFill>
                <a:latin typeface="Arial" panose="020B0604020202020204"/>
                <a:ea typeface="Arial" panose="020B0604020202020204"/>
                <a:cs typeface="Arial" panose="020B0604020202020204"/>
              </a:rPr>
              <a:t>:8001</a:t>
            </a:r>
            <a:endParaRPr sz="1725" b="1">
              <a:solidFill>
                <a:srgbClr val="E9C46A"/>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6334125" y="3571875"/>
            <a:ext cx="1905000" cy="304800"/>
          </a:xfrm>
          <a:prstGeom prst="rect">
            <a:avLst/>
          </a:prstGeom>
          <a:noFill/>
          <a:ln w="0">
            <a:noFill/>
            <a:prstDash val="solid"/>
          </a:ln>
        </p:spPr>
        <p:txBody>
          <a:bodyPr wrap="square" lIns="95250" tIns="57150" rIns="95250" bIns="57150" anchor="ctr">
            <a:normAutofit/>
          </a:bodyPr>
          <a:lstStyle/>
          <a:p>
            <a:pPr algn="ctr">
              <a:lnSpc>
                <a:spcPct val="100000"/>
              </a:lnSpc>
              <a:buNone/>
              <a:defRPr sz="1125" b="0">
                <a:solidFill>
                  <a:srgbClr val="5F6C7B"/>
                </a:solidFill>
                <a:latin typeface="Arial" panose="020B0604020202020204"/>
                <a:ea typeface="Arial" panose="020B0604020202020204"/>
                <a:cs typeface="Arial" panose="020B0604020202020204"/>
              </a:defRPr>
            </a:pPr>
            <a:r>
              <a:rPr sz="1125" b="0">
                <a:solidFill>
                  <a:srgbClr val="5F6C7B"/>
                </a:solidFill>
                <a:latin typeface="Arial" panose="020B0604020202020204"/>
                <a:ea typeface="Arial" panose="020B0604020202020204"/>
                <a:cs typeface="Arial" panose="020B0604020202020204"/>
              </a:rPr>
              <a:t>FastAPI + joblib</a:t>
            </a:r>
            <a:endParaRPr sz="1125" b="0">
              <a:solidFill>
                <a:srgbClr val="5F6C7B"/>
              </a:solidFill>
              <a:latin typeface="Arial" panose="020B0604020202020204"/>
              <a:ea typeface="Arial" panose="020B0604020202020204"/>
              <a:cs typeface="Arial" panose="020B0604020202020204"/>
            </a:endParaRPr>
          </a:p>
        </p:txBody>
      </p:sp>
      <p:sp>
        <p:nvSpPr>
          <p:cNvPr id="20" name="Rounded Rectangle 19"/>
          <p:cNvSpPr>
            <a:spLocks noGrp="1"/>
          </p:cNvSpPr>
          <p:nvPr/>
        </p:nvSpPr>
        <p:spPr>
          <a:xfrm>
            <a:off x="8953500" y="2095500"/>
            <a:ext cx="2286000" cy="2000250"/>
          </a:xfrm>
          <a:prstGeom prst="roundRect">
            <a:avLst>
              <a:gd name="adj" fmla="val 3333"/>
            </a:avLst>
          </a:prstGeom>
          <a:solidFill>
            <a:srgbClr val="FFFFFF"/>
          </a:solidFill>
          <a:ln w="9525">
            <a:solidFill>
              <a:srgbClr val="E76F51"/>
            </a:solidFill>
            <a:prstDash val="solid"/>
          </a:ln>
        </p:spPr>
        <p:style>
          <a:lnRef idx="0">
            <a:srgbClr val="FFFFFF"/>
          </a:lnRef>
          <a:fillRef idx="0">
            <a:srgbClr val="FFFFFF"/>
          </a:fillRef>
          <a:effectRef idx="4">
            <a:srgbClr val="FFFFFF"/>
          </a:effectRef>
          <a:fontRef idx="major"/>
        </p:style>
      </p:sp>
      <p:sp>
        <p:nvSpPr>
          <p:cNvPr id="21" name="Rectangle 20"/>
          <p:cNvSpPr>
            <a:spLocks noGrp="1"/>
          </p:cNvSpPr>
          <p:nvPr/>
        </p:nvSpPr>
        <p:spPr>
          <a:xfrm>
            <a:off x="8953500" y="2095500"/>
            <a:ext cx="2286000" cy="95250"/>
          </a:xfrm>
          <a:prstGeom prst="rect">
            <a:avLst/>
          </a:prstGeom>
          <a:solidFill>
            <a:srgbClr val="E76F51"/>
          </a:solidFill>
          <a:ln w="0">
            <a:noFill/>
            <a:prstDash val="solid"/>
          </a:ln>
        </p:spPr>
      </p:sp>
      <p:sp>
        <p:nvSpPr>
          <p:cNvPr id="22" name="Rectangle 21"/>
          <p:cNvSpPr>
            <a:spLocks noGrp="1"/>
          </p:cNvSpPr>
          <p:nvPr/>
        </p:nvSpPr>
        <p:spPr>
          <a:xfrm>
            <a:off x="9124950" y="2400300"/>
            <a:ext cx="1943100" cy="381000"/>
          </a:xfrm>
          <a:prstGeom prst="rect">
            <a:avLst/>
          </a:prstGeom>
          <a:noFill/>
          <a:ln w="0">
            <a:noFill/>
            <a:prstDash val="solid"/>
          </a:ln>
        </p:spPr>
        <p:txBody>
          <a:bodyPr wrap="square" lIns="95250" tIns="57150" rIns="95250" bIns="57150" anchor="ctr">
            <a:normAutofit fontScale="97222"/>
          </a:bodyPr>
          <a:lstStyle/>
          <a:p>
            <a:pPr algn="ctr">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MongoDB</a:t>
            </a:r>
            <a:endParaRPr sz="1800" b="1">
              <a:solidFill>
                <a:srgbClr val="102A43"/>
              </a:solidFill>
              <a:latin typeface="Arial" panose="020B0604020202020204"/>
              <a:ea typeface="Arial" panose="020B0604020202020204"/>
              <a:cs typeface="Arial" panose="020B0604020202020204"/>
            </a:endParaRPr>
          </a:p>
        </p:txBody>
      </p:sp>
      <p:sp>
        <p:nvSpPr>
          <p:cNvPr id="23" name="Rounded Rectangle 22"/>
          <p:cNvSpPr>
            <a:spLocks noGrp="1"/>
          </p:cNvSpPr>
          <p:nvPr/>
        </p:nvSpPr>
        <p:spPr>
          <a:xfrm>
            <a:off x="9477375" y="2952750"/>
            <a:ext cx="1238250" cy="400050"/>
          </a:xfrm>
          <a:prstGeom prst="roundRect">
            <a:avLst>
              <a:gd name="adj" fmla="val 50000"/>
            </a:avLst>
          </a:prstGeom>
          <a:solidFill>
            <a:srgbClr val="FCEDE8"/>
          </a:solidFill>
          <a:ln w="9525">
            <a:solidFill>
              <a:srgbClr val="FCEDE8"/>
            </a:solidFill>
            <a:prstDash val="solid"/>
          </a:ln>
        </p:spPr>
        <p:txBody>
          <a:bodyPr wrap="square" lIns="0" tIns="0" rIns="0" bIns="0" anchor="ctr">
            <a:normAutofit/>
          </a:bodyPr>
          <a:lstStyle/>
          <a:p>
            <a:pPr algn="ctr">
              <a:lnSpc>
                <a:spcPct val="100000"/>
              </a:lnSpc>
              <a:buNone/>
              <a:defRPr sz="1725" b="1">
                <a:solidFill>
                  <a:srgbClr val="E76F51"/>
                </a:solidFill>
                <a:latin typeface="Arial" panose="020B0604020202020204"/>
                <a:ea typeface="Arial" panose="020B0604020202020204"/>
                <a:cs typeface="Arial" panose="020B0604020202020204"/>
              </a:defRPr>
            </a:pPr>
            <a:r>
              <a:rPr sz="1725" b="1">
                <a:solidFill>
                  <a:srgbClr val="E76F51"/>
                </a:solidFill>
                <a:latin typeface="Arial" panose="020B0604020202020204"/>
                <a:ea typeface="Arial" panose="020B0604020202020204"/>
                <a:cs typeface="Arial" panose="020B0604020202020204"/>
              </a:rPr>
              <a:t>:27017</a:t>
            </a:r>
            <a:endParaRPr sz="1725" b="1">
              <a:solidFill>
                <a:srgbClr val="E76F51"/>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9144000" y="3571875"/>
            <a:ext cx="1905000" cy="304800"/>
          </a:xfrm>
          <a:prstGeom prst="rect">
            <a:avLst/>
          </a:prstGeom>
          <a:noFill/>
          <a:ln w="0">
            <a:noFill/>
            <a:prstDash val="solid"/>
          </a:ln>
        </p:spPr>
        <p:txBody>
          <a:bodyPr wrap="square" lIns="95250" tIns="57150" rIns="95250" bIns="57150" anchor="ctr">
            <a:normAutofit/>
          </a:bodyPr>
          <a:lstStyle/>
          <a:p>
            <a:pPr algn="ctr">
              <a:lnSpc>
                <a:spcPct val="100000"/>
              </a:lnSpc>
              <a:buNone/>
              <a:defRPr sz="1125" b="0">
                <a:solidFill>
                  <a:srgbClr val="5F6C7B"/>
                </a:solidFill>
                <a:latin typeface="Arial" panose="020B0604020202020204"/>
                <a:ea typeface="Arial" panose="020B0604020202020204"/>
                <a:cs typeface="Arial" panose="020B0604020202020204"/>
              </a:defRPr>
            </a:pPr>
            <a:r>
              <a:rPr sz="1125" b="0">
                <a:solidFill>
                  <a:srgbClr val="5F6C7B"/>
                </a:solidFill>
                <a:latin typeface="Arial" panose="020B0604020202020204"/>
                <a:ea typeface="Arial" panose="020B0604020202020204"/>
                <a:cs typeface="Arial" panose="020B0604020202020204"/>
              </a:rPr>
              <a:t>Prediction history</a:t>
            </a:r>
            <a:endParaRPr sz="1125" b="0">
              <a:solidFill>
                <a:srgbClr val="5F6C7B"/>
              </a:solidFill>
              <a:latin typeface="Arial" panose="020B0604020202020204"/>
              <a:ea typeface="Arial" panose="020B0604020202020204"/>
              <a:cs typeface="Arial" panose="020B0604020202020204"/>
            </a:endParaRPr>
          </a:p>
        </p:txBody>
      </p:sp>
      <p:sp>
        <p:nvSpPr>
          <p:cNvPr id="25" name="Right Arrow 24"/>
          <p:cNvSpPr>
            <a:spLocks noGrp="1"/>
          </p:cNvSpPr>
          <p:nvPr/>
        </p:nvSpPr>
        <p:spPr>
          <a:xfrm>
            <a:off x="2857500" y="2895600"/>
            <a:ext cx="304800" cy="266700"/>
          </a:xfrm>
          <a:prstGeom prst="rightArrow">
            <a:avLst/>
          </a:prstGeom>
          <a:solidFill>
            <a:srgbClr val="D7E0E8"/>
          </a:solidFill>
          <a:ln w="9525">
            <a:solidFill>
              <a:srgbClr val="D7E0E8"/>
            </a:solidFill>
            <a:prstDash val="solid"/>
          </a:ln>
        </p:spPr>
      </p:sp>
      <p:sp>
        <p:nvSpPr>
          <p:cNvPr id="26" name="Right Arrow 25"/>
          <p:cNvSpPr>
            <a:spLocks noGrp="1"/>
          </p:cNvSpPr>
          <p:nvPr/>
        </p:nvSpPr>
        <p:spPr>
          <a:xfrm>
            <a:off x="5667375" y="2895600"/>
            <a:ext cx="304800" cy="266700"/>
          </a:xfrm>
          <a:prstGeom prst="rightArrow">
            <a:avLst/>
          </a:prstGeom>
          <a:solidFill>
            <a:srgbClr val="D7E0E8"/>
          </a:solidFill>
          <a:ln w="9525">
            <a:solidFill>
              <a:srgbClr val="D7E0E8"/>
            </a:solidFill>
            <a:prstDash val="solid"/>
          </a:ln>
        </p:spPr>
      </p:sp>
      <p:sp>
        <p:nvSpPr>
          <p:cNvPr id="27" name="Right Arrow 26"/>
          <p:cNvSpPr>
            <a:spLocks noGrp="1"/>
          </p:cNvSpPr>
          <p:nvPr/>
        </p:nvSpPr>
        <p:spPr>
          <a:xfrm>
            <a:off x="8477250" y="2895600"/>
            <a:ext cx="304800" cy="266700"/>
          </a:xfrm>
          <a:prstGeom prst="rightArrow">
            <a:avLst/>
          </a:prstGeom>
          <a:solidFill>
            <a:srgbClr val="D7E0E8"/>
          </a:solidFill>
          <a:ln w="9525">
            <a:solidFill>
              <a:srgbClr val="D7E0E8"/>
            </a:solidFill>
            <a:prstDash val="solid"/>
          </a:ln>
        </p:spPr>
      </p:sp>
      <p:sp>
        <p:nvSpPr>
          <p:cNvPr id="28" name="Rectangle 27"/>
          <p:cNvSpPr>
            <a:spLocks noGrp="1"/>
          </p:cNvSpPr>
          <p:nvPr/>
        </p:nvSpPr>
        <p:spPr>
          <a:xfrm>
            <a:off x="2781300" y="2571750"/>
            <a:ext cx="476250" cy="190500"/>
          </a:xfrm>
          <a:prstGeom prst="rect">
            <a:avLst/>
          </a:prstGeom>
          <a:noFill/>
          <a:ln w="0">
            <a:noFill/>
            <a:prstDash val="solid"/>
          </a:ln>
        </p:spPr>
        <p:txBody>
          <a:bodyPr wrap="square" lIns="95250" tIns="57150" rIns="95250" bIns="57150" anchor="t">
            <a:normAutofit fontScale="60606"/>
          </a:bodyPr>
          <a:lstStyle/>
          <a:p>
            <a:pPr algn="ctr">
              <a:lnSpc>
                <a:spcPct val="100000"/>
              </a:lnSpc>
              <a:buNone/>
              <a:defRPr sz="825" b="1">
                <a:solidFill>
                  <a:srgbClr val="5F6C7B"/>
                </a:solidFill>
                <a:latin typeface="Arial" panose="020B0604020202020204"/>
                <a:ea typeface="Arial" panose="020B0604020202020204"/>
                <a:cs typeface="Arial" panose="020B0604020202020204"/>
              </a:defRPr>
            </a:pPr>
            <a:r>
              <a:rPr sz="825" b="1">
                <a:solidFill>
                  <a:srgbClr val="5F6C7B"/>
                </a:solidFill>
                <a:latin typeface="Arial" panose="020B0604020202020204"/>
                <a:ea typeface="Arial" panose="020B0604020202020204"/>
                <a:cs typeface="Arial" panose="020B0604020202020204"/>
              </a:rPr>
              <a:t>HTTP</a:t>
            </a:r>
            <a:endParaRPr sz="825" b="1">
              <a:solidFill>
                <a:srgbClr val="5F6C7B"/>
              </a:solidFill>
              <a:latin typeface="Arial" panose="020B0604020202020204"/>
              <a:ea typeface="Arial" panose="020B0604020202020204"/>
              <a:cs typeface="Arial" panose="020B0604020202020204"/>
            </a:endParaRPr>
          </a:p>
        </p:txBody>
      </p:sp>
      <p:sp>
        <p:nvSpPr>
          <p:cNvPr id="29" name="Rectangle 28"/>
          <p:cNvSpPr>
            <a:spLocks noGrp="1"/>
          </p:cNvSpPr>
          <p:nvPr/>
        </p:nvSpPr>
        <p:spPr>
          <a:xfrm>
            <a:off x="5591175" y="2571750"/>
            <a:ext cx="476250" cy="190500"/>
          </a:xfrm>
          <a:prstGeom prst="rect">
            <a:avLst/>
          </a:prstGeom>
          <a:noFill/>
          <a:ln w="0">
            <a:noFill/>
            <a:prstDash val="solid"/>
          </a:ln>
        </p:spPr>
        <p:txBody>
          <a:bodyPr wrap="square" lIns="95250" tIns="57150" rIns="95250" bIns="57150" anchor="t">
            <a:normAutofit fontScale="60606"/>
          </a:bodyPr>
          <a:lstStyle/>
          <a:p>
            <a:pPr algn="ctr">
              <a:lnSpc>
                <a:spcPct val="100000"/>
              </a:lnSpc>
              <a:buNone/>
              <a:defRPr sz="825" b="1">
                <a:solidFill>
                  <a:srgbClr val="5F6C7B"/>
                </a:solidFill>
                <a:latin typeface="Arial" panose="020B0604020202020204"/>
                <a:ea typeface="Arial" panose="020B0604020202020204"/>
                <a:cs typeface="Arial" panose="020B0604020202020204"/>
              </a:defRPr>
            </a:pPr>
            <a:r>
              <a:rPr sz="825" b="1">
                <a:solidFill>
                  <a:srgbClr val="5F6C7B"/>
                </a:solidFill>
                <a:latin typeface="Arial" panose="020B0604020202020204"/>
                <a:ea typeface="Arial" panose="020B0604020202020204"/>
                <a:cs typeface="Arial" panose="020B0604020202020204"/>
              </a:rPr>
              <a:t>HTTP</a:t>
            </a:r>
            <a:endParaRPr sz="825" b="1">
              <a:solidFill>
                <a:srgbClr val="5F6C7B"/>
              </a:solidFill>
              <a:latin typeface="Arial" panose="020B0604020202020204"/>
              <a:ea typeface="Arial" panose="020B0604020202020204"/>
              <a:cs typeface="Arial" panose="020B0604020202020204"/>
            </a:endParaRPr>
          </a:p>
        </p:txBody>
      </p:sp>
      <p:sp>
        <p:nvSpPr>
          <p:cNvPr id="30" name="Rectangle 29"/>
          <p:cNvSpPr>
            <a:spLocks noGrp="1"/>
          </p:cNvSpPr>
          <p:nvPr/>
        </p:nvSpPr>
        <p:spPr>
          <a:xfrm>
            <a:off x="8353425" y="2571750"/>
            <a:ext cx="666750" cy="190500"/>
          </a:xfrm>
          <a:prstGeom prst="rect">
            <a:avLst/>
          </a:prstGeom>
          <a:noFill/>
          <a:ln w="0">
            <a:noFill/>
            <a:prstDash val="solid"/>
          </a:ln>
        </p:spPr>
        <p:txBody>
          <a:bodyPr wrap="square" lIns="95250" tIns="57150" rIns="95250" bIns="57150" anchor="t">
            <a:normAutofit fontScale="60606"/>
          </a:bodyPr>
          <a:lstStyle/>
          <a:p>
            <a:pPr algn="ctr">
              <a:lnSpc>
                <a:spcPct val="100000"/>
              </a:lnSpc>
              <a:buNone/>
              <a:defRPr sz="825" b="1">
                <a:solidFill>
                  <a:srgbClr val="5F6C7B"/>
                </a:solidFill>
                <a:latin typeface="Arial" panose="020B0604020202020204"/>
                <a:ea typeface="Arial" panose="020B0604020202020204"/>
                <a:cs typeface="Arial" panose="020B0604020202020204"/>
              </a:defRPr>
            </a:pPr>
            <a:r>
              <a:rPr sz="825" b="1">
                <a:solidFill>
                  <a:srgbClr val="5F6C7B"/>
                </a:solidFill>
                <a:latin typeface="Arial" panose="020B0604020202020204"/>
                <a:ea typeface="Arial" panose="020B0604020202020204"/>
                <a:cs typeface="Arial" panose="020B0604020202020204"/>
              </a:rPr>
              <a:t>persist</a:t>
            </a:r>
            <a:endParaRPr sz="825" b="1">
              <a:solidFill>
                <a:srgbClr val="5F6C7B"/>
              </a:solidFill>
              <a:latin typeface="Arial" panose="020B0604020202020204"/>
              <a:ea typeface="Arial" panose="020B0604020202020204"/>
              <a:cs typeface="Arial" panose="020B0604020202020204"/>
            </a:endParaRPr>
          </a:p>
        </p:txBody>
      </p:sp>
      <p:sp>
        <p:nvSpPr>
          <p:cNvPr id="31" name="Rounded Rectangle 30"/>
          <p:cNvSpPr>
            <a:spLocks noGrp="1"/>
          </p:cNvSpPr>
          <p:nvPr/>
        </p:nvSpPr>
        <p:spPr>
          <a:xfrm>
            <a:off x="1524000" y="4762500"/>
            <a:ext cx="9144000" cy="904875"/>
          </a:xfrm>
          <a:prstGeom prst="roundRect">
            <a:avLst>
              <a:gd name="adj" fmla="val 7368"/>
            </a:avLst>
          </a:prstGeom>
          <a:solidFill>
            <a:srgbClr val="102A43"/>
          </a:solidFill>
          <a:ln w="9525">
            <a:solidFill>
              <a:srgbClr val="102A43"/>
            </a:solidFill>
            <a:prstDash val="solid"/>
          </a:ln>
        </p:spPr>
        <p:style>
          <a:lnRef idx="0">
            <a:srgbClr val="FFFFFF"/>
          </a:lnRef>
          <a:fillRef idx="0">
            <a:srgbClr val="FFFFFF"/>
          </a:fillRef>
          <a:effectRef idx="4">
            <a:srgbClr val="FFFFFF"/>
          </a:effectRef>
          <a:fontRef idx="major"/>
        </p:style>
      </p:sp>
      <p:sp>
        <p:nvSpPr>
          <p:cNvPr id="32" name="Rectangle 31"/>
          <p:cNvSpPr>
            <a:spLocks noGrp="1"/>
          </p:cNvSpPr>
          <p:nvPr/>
        </p:nvSpPr>
        <p:spPr>
          <a:xfrm>
            <a:off x="1857375" y="4953000"/>
            <a:ext cx="8477250" cy="457200"/>
          </a:xfrm>
          <a:prstGeom prst="rect">
            <a:avLst/>
          </a:prstGeom>
          <a:noFill/>
          <a:ln w="0">
            <a:noFill/>
            <a:prstDash val="solid"/>
          </a:ln>
        </p:spPr>
        <p:txBody>
          <a:bodyPr wrap="square" lIns="95250" tIns="57150" rIns="95250" bIns="57150" anchor="ctr">
            <a:normAutofit/>
          </a:bodyPr>
          <a:lstStyle/>
          <a:p>
            <a:pPr algn="ctr">
              <a:lnSpc>
                <a:spcPct val="100000"/>
              </a:lnSpc>
              <a:buNone/>
              <a:defRPr sz="1575" b="1">
                <a:solidFill>
                  <a:srgbClr val="FFFFFF"/>
                </a:solidFill>
                <a:latin typeface="Arial" panose="020B0604020202020204"/>
                <a:ea typeface="Arial" panose="020B0604020202020204"/>
                <a:cs typeface="Arial" panose="020B0604020202020204"/>
              </a:defRPr>
            </a:pPr>
            <a:r>
              <a:rPr sz="1575" b="1">
                <a:solidFill>
                  <a:srgbClr val="FFFFFF"/>
                </a:solidFill>
                <a:latin typeface="Arial" panose="020B0604020202020204"/>
                <a:ea typeface="Arial" panose="020B0604020202020204"/>
                <a:cs typeface="Arial" panose="020B0604020202020204"/>
              </a:rPr>
              <a:t>docker-compose.yml tạo mạng nội bộ cho 4 service và map cổng ra máy host.</a:t>
            </a:r>
            <a:endParaRPr sz="1575" b="1">
              <a:solidFill>
                <a:srgbClr val="FFFFFF"/>
              </a:solidFill>
              <a:latin typeface="Arial" panose="020B0604020202020204"/>
              <a:ea typeface="Arial" panose="020B0604020202020204"/>
              <a:cs typeface="Arial" panose="020B0604020202020204"/>
            </a:endParaRPr>
          </a:p>
        </p:txBody>
      </p:sp>
      <p:sp>
        <p:nvSpPr>
          <p:cNvPr id="33" name="Straight Connector 32"/>
          <p:cNvSpPr>
            <a:spLocks noGrp="1"/>
          </p:cNvSpPr>
          <p:nvPr/>
        </p:nvSpPr>
        <p:spPr>
          <a:xfrm>
            <a:off x="666750" y="6477000"/>
            <a:ext cx="10858500" cy="0"/>
          </a:xfrm>
          <a:prstGeom prst="line">
            <a:avLst/>
          </a:prstGeom>
          <a:noFill/>
          <a:ln w="9525">
            <a:solidFill>
              <a:srgbClr val="D7E0E8"/>
            </a:solidFill>
            <a:prstDash val="solid"/>
          </a:ln>
        </p:spPr>
      </p:sp>
      <p:sp>
        <p:nvSpPr>
          <p:cNvPr id="34" name="Rectangle 33"/>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docker-compose.yml; app/frontend/main.py; app/backend/main.py; ai-models/service/main.py</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38" name="Rectangle 37"/>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10 · RUNTIME FLOW</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Luồng một request dự đoán</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12</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857250" y="1666875"/>
            <a:ext cx="3143250" cy="1524000"/>
          </a:xfrm>
          <a:prstGeom prst="roundRect">
            <a:avLst>
              <a:gd name="adj" fmla="val 437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ounded Rectangle 5"/>
          <p:cNvSpPr>
            <a:spLocks noGrp="1"/>
          </p:cNvSpPr>
          <p:nvPr/>
        </p:nvSpPr>
        <p:spPr>
          <a:xfrm>
            <a:off x="1028700" y="1838325"/>
            <a:ext cx="419100" cy="419100"/>
          </a:xfrm>
          <a:prstGeom prst="roundRect">
            <a:avLst>
              <a:gd name="adj" fmla="val 50000"/>
            </a:avLst>
          </a:prstGeom>
          <a:solidFill>
            <a:srgbClr val="173F5F"/>
          </a:solidFill>
          <a:ln w="9525">
            <a:solidFill>
              <a:srgbClr val="173F5F"/>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1</a:t>
            </a:r>
            <a:endParaRPr sz="1350" b="1">
              <a:solidFill>
                <a:srgbClr val="FFFFFF"/>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1619250" y="1857375"/>
            <a:ext cx="2143125" cy="333375"/>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Nhập dữ liệu</a:t>
            </a:r>
            <a:endParaRPr sz="1650" b="1">
              <a:solidFill>
                <a:srgbClr val="102A43"/>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1095375" y="2447925"/>
            <a:ext cx="2667000" cy="4762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9 trường gốc trên giao diện</a:t>
            </a:r>
            <a:endParaRPr sz="1200" b="0">
              <a:solidFill>
                <a:srgbClr val="5F6C7B"/>
              </a:solidFill>
              <a:latin typeface="Arial" panose="020B0604020202020204"/>
              <a:ea typeface="Arial" panose="020B0604020202020204"/>
              <a:cs typeface="Arial" panose="020B0604020202020204"/>
            </a:endParaRPr>
          </a:p>
        </p:txBody>
      </p:sp>
      <p:sp>
        <p:nvSpPr>
          <p:cNvPr id="9" name="Rounded Rectangle 8"/>
          <p:cNvSpPr>
            <a:spLocks noGrp="1"/>
          </p:cNvSpPr>
          <p:nvPr/>
        </p:nvSpPr>
        <p:spPr>
          <a:xfrm>
            <a:off x="4476750" y="1666875"/>
            <a:ext cx="3143250" cy="1524000"/>
          </a:xfrm>
          <a:prstGeom prst="roundRect">
            <a:avLst>
              <a:gd name="adj" fmla="val 437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0" name="Rounded Rectangle 9"/>
          <p:cNvSpPr>
            <a:spLocks noGrp="1"/>
          </p:cNvSpPr>
          <p:nvPr/>
        </p:nvSpPr>
        <p:spPr>
          <a:xfrm>
            <a:off x="4648200" y="1838325"/>
            <a:ext cx="419100" cy="419100"/>
          </a:xfrm>
          <a:prstGeom prst="roundRect">
            <a:avLst>
              <a:gd name="adj" fmla="val 50000"/>
            </a:avLst>
          </a:prstGeom>
          <a:solidFill>
            <a:srgbClr val="167D8D"/>
          </a:solidFill>
          <a:ln w="9525">
            <a:solidFill>
              <a:srgbClr val="167D8D"/>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2</a:t>
            </a:r>
            <a:endParaRPr sz="1350" b="1">
              <a:solidFill>
                <a:srgbClr val="FFFFFF"/>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5238750" y="1857375"/>
            <a:ext cx="2143125" cy="333375"/>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Frontend</a:t>
            </a:r>
            <a:endParaRPr sz="1650" b="1">
              <a:solidFill>
                <a:srgbClr val="102A43"/>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4714875" y="2447925"/>
            <a:ext cx="2667000" cy="4762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POST /api/predict đến backend</a:t>
            </a:r>
            <a:endParaRPr sz="1200" b="0">
              <a:solidFill>
                <a:srgbClr val="5F6C7B"/>
              </a:solidFill>
              <a:latin typeface="Arial" panose="020B0604020202020204"/>
              <a:ea typeface="Arial" panose="020B0604020202020204"/>
              <a:cs typeface="Arial" panose="020B0604020202020204"/>
            </a:endParaRPr>
          </a:p>
        </p:txBody>
      </p:sp>
      <p:sp>
        <p:nvSpPr>
          <p:cNvPr id="13" name="Rounded Rectangle 12"/>
          <p:cNvSpPr>
            <a:spLocks noGrp="1"/>
          </p:cNvSpPr>
          <p:nvPr/>
        </p:nvSpPr>
        <p:spPr>
          <a:xfrm>
            <a:off x="8096250" y="1666875"/>
            <a:ext cx="3143250" cy="1524000"/>
          </a:xfrm>
          <a:prstGeom prst="roundRect">
            <a:avLst>
              <a:gd name="adj" fmla="val 437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4" name="Rounded Rectangle 13"/>
          <p:cNvSpPr>
            <a:spLocks noGrp="1"/>
          </p:cNvSpPr>
          <p:nvPr/>
        </p:nvSpPr>
        <p:spPr>
          <a:xfrm>
            <a:off x="8267700" y="1838325"/>
            <a:ext cx="419100" cy="419100"/>
          </a:xfrm>
          <a:prstGeom prst="roundRect">
            <a:avLst>
              <a:gd name="adj" fmla="val 50000"/>
            </a:avLst>
          </a:prstGeom>
          <a:solidFill>
            <a:srgbClr val="E76F51"/>
          </a:solidFill>
          <a:ln w="9525">
            <a:solidFill>
              <a:srgbClr val="E76F51"/>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3</a:t>
            </a:r>
            <a:endParaRPr sz="1350" b="1">
              <a:solidFill>
                <a:srgbClr val="FFFFFF"/>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8858250" y="1857375"/>
            <a:ext cx="2143125" cy="333375"/>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Backend</a:t>
            </a:r>
            <a:endParaRPr sz="1650" b="1">
              <a:solidFill>
                <a:srgbClr val="102A43"/>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8334375" y="2447925"/>
            <a:ext cx="2667000" cy="4762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Validate và tạo 3 tỷ lệ</a:t>
            </a:r>
            <a:endParaRPr sz="1200" b="0">
              <a:solidFill>
                <a:srgbClr val="5F6C7B"/>
              </a:solidFill>
              <a:latin typeface="Arial" panose="020B0604020202020204"/>
              <a:ea typeface="Arial" panose="020B0604020202020204"/>
              <a:cs typeface="Arial" panose="020B0604020202020204"/>
            </a:endParaRPr>
          </a:p>
        </p:txBody>
      </p:sp>
      <p:sp>
        <p:nvSpPr>
          <p:cNvPr id="17" name="Rounded Rectangle 16"/>
          <p:cNvSpPr>
            <a:spLocks noGrp="1"/>
          </p:cNvSpPr>
          <p:nvPr/>
        </p:nvSpPr>
        <p:spPr>
          <a:xfrm>
            <a:off x="8096250" y="3905250"/>
            <a:ext cx="3143250" cy="1524000"/>
          </a:xfrm>
          <a:prstGeom prst="roundRect">
            <a:avLst>
              <a:gd name="adj" fmla="val 437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8" name="Rounded Rectangle 17"/>
          <p:cNvSpPr>
            <a:spLocks noGrp="1"/>
          </p:cNvSpPr>
          <p:nvPr/>
        </p:nvSpPr>
        <p:spPr>
          <a:xfrm>
            <a:off x="8267700" y="4076700"/>
            <a:ext cx="419100" cy="419100"/>
          </a:xfrm>
          <a:prstGeom prst="roundRect">
            <a:avLst>
              <a:gd name="adj" fmla="val 50000"/>
            </a:avLst>
          </a:prstGeom>
          <a:solidFill>
            <a:srgbClr val="E9C46A"/>
          </a:solidFill>
          <a:ln w="9525">
            <a:solidFill>
              <a:srgbClr val="E9C46A"/>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4</a:t>
            </a:r>
            <a:endParaRPr sz="1350" b="1">
              <a:solidFill>
                <a:srgbClr val="FFFFFF"/>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8858250" y="4095750"/>
            <a:ext cx="2143125" cy="333375"/>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AI Service</a:t>
            </a:r>
            <a:endParaRPr sz="1650" b="1">
              <a:solidFill>
                <a:srgbClr val="102A43"/>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8334375" y="4686300"/>
            <a:ext cx="2667000" cy="4762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Pipeline transform + predict</a:t>
            </a:r>
            <a:endParaRPr sz="1200" b="0">
              <a:solidFill>
                <a:srgbClr val="5F6C7B"/>
              </a:solidFill>
              <a:latin typeface="Arial" panose="020B0604020202020204"/>
              <a:ea typeface="Arial" panose="020B0604020202020204"/>
              <a:cs typeface="Arial" panose="020B0604020202020204"/>
            </a:endParaRPr>
          </a:p>
        </p:txBody>
      </p:sp>
      <p:sp>
        <p:nvSpPr>
          <p:cNvPr id="21" name="Rounded Rectangle 20"/>
          <p:cNvSpPr>
            <a:spLocks noGrp="1"/>
          </p:cNvSpPr>
          <p:nvPr/>
        </p:nvSpPr>
        <p:spPr>
          <a:xfrm>
            <a:off x="4476750" y="3905250"/>
            <a:ext cx="3143250" cy="1524000"/>
          </a:xfrm>
          <a:prstGeom prst="roundRect">
            <a:avLst>
              <a:gd name="adj" fmla="val 437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2" name="Rounded Rectangle 21"/>
          <p:cNvSpPr>
            <a:spLocks noGrp="1"/>
          </p:cNvSpPr>
          <p:nvPr/>
        </p:nvSpPr>
        <p:spPr>
          <a:xfrm>
            <a:off x="4648200" y="4076700"/>
            <a:ext cx="419100" cy="419100"/>
          </a:xfrm>
          <a:prstGeom prst="roundRect">
            <a:avLst>
              <a:gd name="adj" fmla="val 50000"/>
            </a:avLst>
          </a:prstGeom>
          <a:solidFill>
            <a:srgbClr val="2A9D8F"/>
          </a:solidFill>
          <a:ln w="9525">
            <a:solidFill>
              <a:srgbClr val="2A9D8F"/>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5</a:t>
            </a:r>
            <a:endParaRPr sz="1350" b="1">
              <a:solidFill>
                <a:srgbClr val="FFFFFF"/>
              </a:solidFill>
              <a:latin typeface="Arial" panose="020B0604020202020204"/>
              <a:ea typeface="Arial" panose="020B0604020202020204"/>
              <a:cs typeface="Arial" panose="020B0604020202020204"/>
            </a:endParaRPr>
          </a:p>
        </p:txBody>
      </p:sp>
      <p:sp>
        <p:nvSpPr>
          <p:cNvPr id="23" name="Rectangle 22"/>
          <p:cNvSpPr>
            <a:spLocks noGrp="1"/>
          </p:cNvSpPr>
          <p:nvPr/>
        </p:nvSpPr>
        <p:spPr>
          <a:xfrm>
            <a:off x="5238750" y="4095750"/>
            <a:ext cx="2143125" cy="333375"/>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Lưu lịch sử</a:t>
            </a:r>
            <a:endParaRPr sz="1650" b="1">
              <a:solidFill>
                <a:srgbClr val="102A43"/>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4714875" y="4686300"/>
            <a:ext cx="2667000" cy="4762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MongoDB nếu khả dụng</a:t>
            </a:r>
            <a:endParaRPr sz="1200" b="0">
              <a:solidFill>
                <a:srgbClr val="5F6C7B"/>
              </a:solidFill>
              <a:latin typeface="Arial" panose="020B0604020202020204"/>
              <a:ea typeface="Arial" panose="020B0604020202020204"/>
              <a:cs typeface="Arial" panose="020B0604020202020204"/>
            </a:endParaRPr>
          </a:p>
        </p:txBody>
      </p:sp>
      <p:sp>
        <p:nvSpPr>
          <p:cNvPr id="25" name="Rounded Rectangle 24"/>
          <p:cNvSpPr>
            <a:spLocks noGrp="1"/>
          </p:cNvSpPr>
          <p:nvPr/>
        </p:nvSpPr>
        <p:spPr>
          <a:xfrm>
            <a:off x="857250" y="3905250"/>
            <a:ext cx="3143250" cy="1524000"/>
          </a:xfrm>
          <a:prstGeom prst="roundRect">
            <a:avLst>
              <a:gd name="adj" fmla="val 437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6" name="Rounded Rectangle 25"/>
          <p:cNvSpPr>
            <a:spLocks noGrp="1"/>
          </p:cNvSpPr>
          <p:nvPr/>
        </p:nvSpPr>
        <p:spPr>
          <a:xfrm>
            <a:off x="1028700" y="4076700"/>
            <a:ext cx="419100" cy="419100"/>
          </a:xfrm>
          <a:prstGeom prst="roundRect">
            <a:avLst>
              <a:gd name="adj" fmla="val 50000"/>
            </a:avLst>
          </a:prstGeom>
          <a:solidFill>
            <a:srgbClr val="173F5F"/>
          </a:solidFill>
          <a:ln w="9525">
            <a:solidFill>
              <a:srgbClr val="173F5F"/>
            </a:solidFill>
            <a:prstDash val="solid"/>
          </a:ln>
        </p:spPr>
        <p:txBody>
          <a:bodyPr wrap="square" lIns="0" tIns="0" rIns="0" bIns="0" anchor="ctr">
            <a:normAutofit/>
          </a:bodyPr>
          <a:lstStyle/>
          <a:p>
            <a:pPr algn="ctr">
              <a:lnSpc>
                <a:spcPct val="100000"/>
              </a:lnSpc>
              <a:buNone/>
              <a:defRPr sz="1350" b="1">
                <a:solidFill>
                  <a:srgbClr val="FFFFFF"/>
                </a:solidFill>
                <a:latin typeface="Arial" panose="020B0604020202020204"/>
                <a:ea typeface="Arial" panose="020B0604020202020204"/>
                <a:cs typeface="Arial" panose="020B0604020202020204"/>
              </a:defRPr>
            </a:pPr>
            <a:r>
              <a:rPr sz="1350" b="1">
                <a:solidFill>
                  <a:srgbClr val="FFFFFF"/>
                </a:solidFill>
                <a:latin typeface="Arial" panose="020B0604020202020204"/>
                <a:ea typeface="Arial" panose="020B0604020202020204"/>
                <a:cs typeface="Arial" panose="020B0604020202020204"/>
              </a:rPr>
              <a:t>6</a:t>
            </a:r>
            <a:endParaRPr sz="1350" b="1">
              <a:solidFill>
                <a:srgbClr val="FFFFFF"/>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1619250" y="4095750"/>
            <a:ext cx="2143125" cy="333375"/>
          </a:xfrm>
          <a:prstGeom prst="rect">
            <a:avLst/>
          </a:prstGeom>
          <a:noFill/>
          <a:ln w="0">
            <a:noFill/>
            <a:prstDash val="solid"/>
          </a:ln>
        </p:spPr>
        <p:txBody>
          <a:bodyPr wrap="square" lIns="0" tIns="0" rIns="0" bIns="0" anchor="ctr">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Trả kết quả</a:t>
            </a:r>
            <a:endParaRPr sz="1650" b="1">
              <a:solidFill>
                <a:srgbClr val="102A43"/>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1095375" y="4686300"/>
            <a:ext cx="2667000" cy="476250"/>
          </a:xfrm>
          <a:prstGeom prst="rect">
            <a:avLst/>
          </a:prstGeom>
          <a:noFill/>
          <a:ln w="0">
            <a:noFill/>
            <a:prstDash val="solid"/>
          </a:ln>
        </p:spPr>
        <p:txBody>
          <a:bodyPr wrap="square" lIns="95250" tIns="57150" rIns="95250" bIns="57150" anchor="ctr">
            <a:normAutofit/>
          </a:bodyPr>
          <a:lstStyle/>
          <a:p>
            <a:pPr algn="ctr">
              <a:lnSpc>
                <a:spcPct val="100000"/>
              </a:lnSpc>
              <a:buNone/>
              <a:defRPr sz="1200" b="0">
                <a:solidFill>
                  <a:srgbClr val="5F6C7B"/>
                </a:solidFill>
                <a:latin typeface="Arial" panose="020B0604020202020204"/>
                <a:ea typeface="Arial" panose="020B0604020202020204"/>
                <a:cs typeface="Arial" panose="020B0604020202020204"/>
              </a:defRPr>
            </a:pPr>
            <a:r>
              <a:rPr sz="1200" b="0">
                <a:solidFill>
                  <a:srgbClr val="5F6C7B"/>
                </a:solidFill>
                <a:latin typeface="Arial" panose="020B0604020202020204"/>
                <a:ea typeface="Arial" panose="020B0604020202020204"/>
                <a:cs typeface="Arial" panose="020B0604020202020204"/>
              </a:rPr>
              <a:t>prediction + model_version</a:t>
            </a:r>
            <a:endParaRPr sz="1200" b="0">
              <a:solidFill>
                <a:srgbClr val="5F6C7B"/>
              </a:solidFill>
              <a:latin typeface="Arial" panose="020B0604020202020204"/>
              <a:ea typeface="Arial" panose="020B0604020202020204"/>
              <a:cs typeface="Arial" panose="020B0604020202020204"/>
            </a:endParaRPr>
          </a:p>
        </p:txBody>
      </p:sp>
      <p:sp>
        <p:nvSpPr>
          <p:cNvPr id="29" name="Right Arrow 28"/>
          <p:cNvSpPr>
            <a:spLocks noGrp="1"/>
          </p:cNvSpPr>
          <p:nvPr/>
        </p:nvSpPr>
        <p:spPr>
          <a:xfrm>
            <a:off x="4048125" y="2266950"/>
            <a:ext cx="323850" cy="266700"/>
          </a:xfrm>
          <a:prstGeom prst="rightArrow">
            <a:avLst/>
          </a:prstGeom>
          <a:solidFill>
            <a:srgbClr val="D7E0E8"/>
          </a:solidFill>
          <a:ln w="9525">
            <a:solidFill>
              <a:srgbClr val="D7E0E8"/>
            </a:solidFill>
            <a:prstDash val="solid"/>
          </a:ln>
        </p:spPr>
      </p:sp>
      <p:sp>
        <p:nvSpPr>
          <p:cNvPr id="30" name="Right Arrow 29"/>
          <p:cNvSpPr>
            <a:spLocks noGrp="1"/>
          </p:cNvSpPr>
          <p:nvPr/>
        </p:nvSpPr>
        <p:spPr>
          <a:xfrm>
            <a:off x="7667625" y="2266950"/>
            <a:ext cx="323850" cy="266700"/>
          </a:xfrm>
          <a:prstGeom prst="rightArrow">
            <a:avLst/>
          </a:prstGeom>
          <a:solidFill>
            <a:srgbClr val="D7E0E8"/>
          </a:solidFill>
          <a:ln w="9525">
            <a:solidFill>
              <a:srgbClr val="D7E0E8"/>
            </a:solidFill>
            <a:prstDash val="solid"/>
          </a:ln>
        </p:spPr>
      </p:sp>
      <p:sp>
        <p:nvSpPr>
          <p:cNvPr id="31" name="Down Arrow 30"/>
          <p:cNvSpPr>
            <a:spLocks noGrp="1"/>
          </p:cNvSpPr>
          <p:nvPr/>
        </p:nvSpPr>
        <p:spPr>
          <a:xfrm>
            <a:off x="10715625" y="3286125"/>
            <a:ext cx="247650" cy="476250"/>
          </a:xfrm>
          <a:prstGeom prst="downArrow">
            <a:avLst/>
          </a:prstGeom>
          <a:solidFill>
            <a:srgbClr val="D7E0E8"/>
          </a:solidFill>
          <a:ln w="9525">
            <a:solidFill>
              <a:srgbClr val="D7E0E8"/>
            </a:solidFill>
            <a:prstDash val="solid"/>
          </a:ln>
        </p:spPr>
      </p:sp>
      <p:sp>
        <p:nvSpPr>
          <p:cNvPr id="32" name="Right Arrow 31"/>
          <p:cNvSpPr>
            <a:spLocks noGrp="1"/>
          </p:cNvSpPr>
          <p:nvPr/>
        </p:nvSpPr>
        <p:spPr>
          <a:xfrm>
            <a:off x="7667625" y="4505325"/>
            <a:ext cx="323850" cy="266700"/>
          </a:xfrm>
          <a:prstGeom prst="rightArrow">
            <a:avLst/>
          </a:prstGeom>
          <a:solidFill>
            <a:srgbClr val="D7E0E8"/>
          </a:solidFill>
          <a:ln w="9525">
            <a:solidFill>
              <a:srgbClr val="D7E0E8"/>
            </a:solidFill>
            <a:prstDash val="solid"/>
          </a:ln>
        </p:spPr>
      </p:sp>
      <p:sp>
        <p:nvSpPr>
          <p:cNvPr id="33" name="Right Arrow 32"/>
          <p:cNvSpPr>
            <a:spLocks noGrp="1"/>
          </p:cNvSpPr>
          <p:nvPr/>
        </p:nvSpPr>
        <p:spPr>
          <a:xfrm>
            <a:off x="4048125" y="4505325"/>
            <a:ext cx="323850" cy="266700"/>
          </a:xfrm>
          <a:prstGeom prst="rightArrow">
            <a:avLst/>
          </a:prstGeom>
          <a:solidFill>
            <a:srgbClr val="D7E0E8"/>
          </a:solidFill>
          <a:ln w="9525">
            <a:solidFill>
              <a:srgbClr val="D7E0E8"/>
            </a:solidFill>
            <a:prstDash val="solid"/>
          </a:ln>
        </p:spPr>
      </p:sp>
      <p:sp>
        <p:nvSpPr>
          <p:cNvPr id="34" name="Rounded Rectangle 33"/>
          <p:cNvSpPr>
            <a:spLocks noGrp="1"/>
          </p:cNvSpPr>
          <p:nvPr/>
        </p:nvSpPr>
        <p:spPr>
          <a:xfrm>
            <a:off x="3143250" y="5762625"/>
            <a:ext cx="5905500" cy="428625"/>
          </a:xfrm>
          <a:prstGeom prst="roundRect">
            <a:avLst>
              <a:gd name="adj" fmla="val 15556"/>
            </a:avLst>
          </a:prstGeom>
          <a:solidFill>
            <a:srgbClr val="EAF1F8"/>
          </a:solidFill>
          <a:ln w="9525">
            <a:solidFill>
              <a:srgbClr val="D7E0E8"/>
            </a:solidFill>
            <a:prstDash val="solid"/>
          </a:ln>
        </p:spPr>
        <p:style>
          <a:lnRef idx="0">
            <a:srgbClr val="FFFFFF"/>
          </a:lnRef>
          <a:fillRef idx="0">
            <a:srgbClr val="FFFFFF"/>
          </a:fillRef>
          <a:effectRef idx="4">
            <a:srgbClr val="FFFFFF"/>
          </a:effectRef>
          <a:fontRef idx="major"/>
        </p:style>
      </p:sp>
      <p:sp>
        <p:nvSpPr>
          <p:cNvPr id="35" name="Rectangle 34"/>
          <p:cNvSpPr>
            <a:spLocks noGrp="1"/>
          </p:cNvSpPr>
          <p:nvPr/>
        </p:nvSpPr>
        <p:spPr>
          <a:xfrm>
            <a:off x="3286125" y="5819775"/>
            <a:ext cx="5619750" cy="285750"/>
          </a:xfrm>
          <a:prstGeom prst="rect">
            <a:avLst/>
          </a:prstGeom>
          <a:noFill/>
          <a:ln w="0">
            <a:noFill/>
            <a:prstDash val="solid"/>
          </a:ln>
        </p:spPr>
        <p:txBody>
          <a:bodyPr wrap="square" lIns="95250" tIns="57150" rIns="95250" bIns="57150" anchor="ctr">
            <a:normAutofit/>
          </a:bodyPr>
          <a:lstStyle/>
          <a:p>
            <a:pPr algn="ctr">
              <a:lnSpc>
                <a:spcPct val="100000"/>
              </a:lnSpc>
              <a:buNone/>
              <a:defRPr sz="1125" b="1">
                <a:solidFill>
                  <a:srgbClr val="173F5F"/>
                </a:solidFill>
                <a:latin typeface="Arial" panose="020B0604020202020204"/>
                <a:ea typeface="Arial" panose="020B0604020202020204"/>
                <a:cs typeface="Arial" panose="020B0604020202020204"/>
              </a:defRPr>
            </a:pPr>
            <a:r>
              <a:rPr sz="1125" b="1">
                <a:solidFill>
                  <a:srgbClr val="173F5F"/>
                </a:solidFill>
                <a:latin typeface="Arial" panose="020B0604020202020204"/>
                <a:ea typeface="Arial" panose="020B0604020202020204"/>
                <a:cs typeface="Arial" panose="020B0604020202020204"/>
              </a:rPr>
              <a:t>X-Request-ID được truyền xuyên suốt để đối chiếu log giữa các service.</a:t>
            </a:r>
            <a:endParaRPr sz="1125" b="1">
              <a:solidFill>
                <a:srgbClr val="173F5F"/>
              </a:solidFill>
              <a:latin typeface="Arial" panose="020B0604020202020204"/>
              <a:ea typeface="Arial" panose="020B0604020202020204"/>
              <a:cs typeface="Arial" panose="020B0604020202020204"/>
            </a:endParaRPr>
          </a:p>
        </p:txBody>
      </p:sp>
      <p:sp>
        <p:nvSpPr>
          <p:cNvPr id="36" name="Straight Connector 35"/>
          <p:cNvSpPr>
            <a:spLocks noGrp="1"/>
          </p:cNvSpPr>
          <p:nvPr/>
        </p:nvSpPr>
        <p:spPr>
          <a:xfrm>
            <a:off x="666750" y="6477000"/>
            <a:ext cx="10858500" cy="0"/>
          </a:xfrm>
          <a:prstGeom prst="line">
            <a:avLst/>
          </a:prstGeom>
          <a:noFill/>
          <a:ln w="9525">
            <a:solidFill>
              <a:srgbClr val="D7E0E8"/>
            </a:solidFill>
            <a:prstDash val="solid"/>
          </a:ln>
        </p:spPr>
      </p:sp>
      <p:sp>
        <p:nvSpPr>
          <p:cNvPr id="37" name="Rectangle 36"/>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app/frontend/main.py; app/backend/main.py; ai-models/service/main.py</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34" name="Rectangle 33"/>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11 · PACKAGING</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Docker và deployment</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13</a:t>
            </a:r>
            <a:endParaRPr sz="1050" b="1">
              <a:solidFill>
                <a:srgbClr val="5F6C7B"/>
              </a:solidFill>
              <a:latin typeface="Arial" panose="020B0604020202020204"/>
              <a:ea typeface="Arial" panose="020B0604020202020204"/>
              <a:cs typeface="Arial" panose="020B0604020202020204"/>
            </a:endParaRPr>
          </a:p>
        </p:txBody>
      </p:sp>
      <p:sp>
        <p:nvSpPr>
          <p:cNvPr id="5" name="Rectangle 4"/>
          <p:cNvSpPr>
            <a:spLocks noGrp="1"/>
          </p:cNvSpPr>
          <p:nvPr/>
        </p:nvSpPr>
        <p:spPr>
          <a:xfrm>
            <a:off x="666750" y="1428750"/>
            <a:ext cx="4095750" cy="342900"/>
          </a:xfrm>
          <a:prstGeom prst="rect">
            <a:avLst/>
          </a:prstGeom>
          <a:noFill/>
          <a:ln w="0">
            <a:noFill/>
            <a:prstDash val="solid"/>
          </a:ln>
        </p:spPr>
        <p:txBody>
          <a:bodyPr wrap="square" lIns="0" tIns="0" rIns="0" bIns="0" anchor="t">
            <a:normAutofit/>
          </a:bodyPr>
          <a:lstStyle/>
          <a:p>
            <a:pPr algn="l">
              <a:lnSpc>
                <a:spcPct val="100000"/>
              </a:lnSpc>
              <a:buNone/>
              <a:defRPr sz="1875" b="1">
                <a:solidFill>
                  <a:srgbClr val="102A43"/>
                </a:solidFill>
                <a:latin typeface="Arial" panose="020B0604020202020204"/>
                <a:ea typeface="Arial" panose="020B0604020202020204"/>
                <a:cs typeface="Arial" panose="020B0604020202020204"/>
              </a:defRPr>
            </a:pPr>
            <a:r>
              <a:rPr sz="1875" b="1">
                <a:solidFill>
                  <a:srgbClr val="102A43"/>
                </a:solidFill>
                <a:latin typeface="Arial" panose="020B0604020202020204"/>
                <a:ea typeface="Arial" panose="020B0604020202020204"/>
                <a:cs typeface="Arial" panose="020B0604020202020204"/>
              </a:rPr>
              <a:t>Docker Compose</a:t>
            </a:r>
            <a:endParaRPr sz="1875" b="1">
              <a:solidFill>
                <a:srgbClr val="102A43"/>
              </a:solidFill>
              <a:latin typeface="Arial" panose="020B0604020202020204"/>
              <a:ea typeface="Arial" panose="020B0604020202020204"/>
              <a:cs typeface="Arial" panose="020B0604020202020204"/>
            </a:endParaRPr>
          </a:p>
        </p:txBody>
      </p:sp>
      <p:sp>
        <p:nvSpPr>
          <p:cNvPr id="6" name="Rectangle 5"/>
          <p:cNvSpPr>
            <a:spLocks noGrp="1"/>
          </p:cNvSpPr>
          <p:nvPr/>
        </p:nvSpPr>
        <p:spPr>
          <a:xfrm>
            <a:off x="666750" y="1952625"/>
            <a:ext cx="1809750" cy="5238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Service</a:t>
            </a:r>
            <a:endParaRPr sz="975" b="1">
              <a:solidFill>
                <a:srgbClr val="FFFFFF"/>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2476500" y="1952625"/>
            <a:ext cx="1047750" cy="5238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Port</a:t>
            </a:r>
            <a:endParaRPr sz="975" b="1">
              <a:solidFill>
                <a:srgbClr val="FFFFFF"/>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3524250" y="1952625"/>
            <a:ext cx="2762250" cy="5238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lang="vi-VN" sz="975" b="1">
                <a:solidFill>
                  <a:srgbClr val="FFFFFF"/>
                </a:solidFill>
                <a:latin typeface="Arial" panose="020B0604020202020204"/>
                <a:ea typeface="Arial" panose="020B0604020202020204"/>
                <a:cs typeface="Arial" panose="020B0604020202020204"/>
              </a:rPr>
              <a:t>Dockerfile / image</a:t>
            </a:r>
            <a:endParaRPr lang="vi-VN" sz="975" b="1">
              <a:solidFill>
                <a:srgbClr val="FFFFFF"/>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666750" y="2476500"/>
            <a:ext cx="1809750" cy="5238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frontend</a:t>
            </a:r>
            <a:endParaRPr sz="1125" b="1">
              <a:solidFill>
                <a:srgbClr val="1D2939"/>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2476500" y="2476500"/>
            <a:ext cx="1047750" cy="5238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3000</a:t>
            </a:r>
            <a:endParaRPr sz="1125" b="0">
              <a:solidFill>
                <a:srgbClr val="1D2939"/>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3524250" y="2476500"/>
            <a:ext cx="2762250" cy="5238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lang="vi-VN" sz="1125" b="0">
                <a:solidFill>
                  <a:srgbClr val="1D2939"/>
                </a:solidFill>
                <a:latin typeface="Arial" panose="020B0604020202020204"/>
                <a:ea typeface="Arial" panose="020B0604020202020204"/>
                <a:cs typeface="Arial" panose="020B0604020202020204"/>
              </a:rPr>
              <a:t>./app/frontend/Dockerfile</a:t>
            </a:r>
            <a:endParaRPr lang="vi-VN" sz="1125" b="0">
              <a:solidFill>
                <a:srgbClr val="1D2939"/>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666750" y="3000375"/>
            <a:ext cx="1809750" cy="5238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backend</a:t>
            </a:r>
            <a:endParaRPr sz="1125" b="1">
              <a:solidFill>
                <a:srgbClr val="1D2939"/>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2476500" y="3000375"/>
            <a:ext cx="1047750" cy="5238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8000</a:t>
            </a:r>
            <a:endParaRPr sz="1125" b="0">
              <a:solidFill>
                <a:srgbClr val="1D2939"/>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3524250" y="3000375"/>
            <a:ext cx="2762250" cy="5238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lang="vi-VN" sz="1125" b="0">
                <a:solidFill>
                  <a:srgbClr val="1D2939"/>
                </a:solidFill>
                <a:latin typeface="Arial" panose="020B0604020202020204"/>
                <a:ea typeface="Arial" panose="020B0604020202020204"/>
                <a:cs typeface="Arial" panose="020B0604020202020204"/>
              </a:rPr>
              <a:t>./app/backend/Dockerfile</a:t>
            </a:r>
            <a:endParaRPr lang="vi-VN" sz="1125" b="0">
              <a:solidFill>
                <a:srgbClr val="1D2939"/>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666750" y="3524250"/>
            <a:ext cx="1809750" cy="5238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ai-service</a:t>
            </a:r>
            <a:endParaRPr sz="1125" b="1">
              <a:solidFill>
                <a:srgbClr val="1D2939"/>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2476500" y="3524250"/>
            <a:ext cx="1047750" cy="5238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8001</a:t>
            </a:r>
            <a:endParaRPr sz="1125" b="0">
              <a:solidFill>
                <a:srgbClr val="1D2939"/>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3524250" y="3524250"/>
            <a:ext cx="2762250" cy="5238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lang="vi-VN" sz="1125" b="0">
                <a:solidFill>
                  <a:srgbClr val="1D2939"/>
                </a:solidFill>
                <a:latin typeface="Arial" panose="020B0604020202020204"/>
                <a:ea typeface="Arial" panose="020B0604020202020204"/>
                <a:cs typeface="Arial" panose="020B0604020202020204"/>
              </a:rPr>
              <a:t>./ai-models/service/Dockerfile</a:t>
            </a:r>
            <a:endParaRPr lang="vi-VN" sz="1125" b="0">
              <a:solidFill>
                <a:srgbClr val="1D2939"/>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666750" y="4048125"/>
            <a:ext cx="1809750" cy="5238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mongodb</a:t>
            </a:r>
            <a:endParaRPr sz="1125" b="1">
              <a:solidFill>
                <a:srgbClr val="1D2939"/>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2476500" y="4048125"/>
            <a:ext cx="1047750" cy="5238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27017</a:t>
            </a:r>
            <a:endParaRPr sz="1125" b="0">
              <a:solidFill>
                <a:srgbClr val="1D2939"/>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3524250" y="4048125"/>
            <a:ext cx="2762250" cy="5238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lang="vi-VN" sz="1125" b="0">
                <a:solidFill>
                  <a:srgbClr val="1D2939"/>
                </a:solidFill>
                <a:latin typeface="Arial" panose="020B0604020202020204"/>
                <a:ea typeface="Arial" panose="020B0604020202020204"/>
                <a:cs typeface="Arial" panose="020B0604020202020204"/>
              </a:rPr>
              <a:t>mongo:7</a:t>
            </a:r>
            <a:endParaRPr lang="vi-VN" sz="1125" b="0">
              <a:solidFill>
                <a:srgbClr val="1D2939"/>
              </a:solidFill>
              <a:latin typeface="Arial" panose="020B0604020202020204"/>
              <a:ea typeface="Arial" panose="020B0604020202020204"/>
              <a:cs typeface="Arial" panose="020B0604020202020204"/>
            </a:endParaRPr>
          </a:p>
        </p:txBody>
      </p:sp>
      <p:sp>
        <p:nvSpPr>
          <p:cNvPr id="21" name="Rounded Rectangle 20"/>
          <p:cNvSpPr>
            <a:spLocks noGrp="1"/>
          </p:cNvSpPr>
          <p:nvPr/>
        </p:nvSpPr>
        <p:spPr>
          <a:xfrm>
            <a:off x="6667500" y="1428750"/>
            <a:ext cx="4857750" cy="1762125"/>
          </a:xfrm>
          <a:prstGeom prst="roundRect">
            <a:avLst>
              <a:gd name="adj" fmla="val 3784"/>
            </a:avLst>
          </a:prstGeom>
          <a:solidFill>
            <a:srgbClr val="EAF6F5"/>
          </a:solidFill>
          <a:ln w="9525">
            <a:solidFill>
              <a:srgbClr val="167D8D"/>
            </a:solidFill>
            <a:prstDash val="solid"/>
          </a:ln>
        </p:spPr>
        <p:style>
          <a:lnRef idx="0">
            <a:srgbClr val="FFFFFF"/>
          </a:lnRef>
          <a:fillRef idx="0">
            <a:srgbClr val="FFFFFF"/>
          </a:fillRef>
          <a:effectRef idx="4">
            <a:srgbClr val="FFFFFF"/>
          </a:effectRef>
          <a:fontRef idx="major"/>
        </p:style>
      </p:sp>
      <p:sp>
        <p:nvSpPr>
          <p:cNvPr id="22" name="Rectangle 21"/>
          <p:cNvSpPr>
            <a:spLocks noGrp="1"/>
          </p:cNvSpPr>
          <p:nvPr/>
        </p:nvSpPr>
        <p:spPr>
          <a:xfrm>
            <a:off x="6934200" y="1666875"/>
            <a:ext cx="4191000" cy="295275"/>
          </a:xfrm>
          <a:prstGeom prst="rect">
            <a:avLst/>
          </a:prstGeom>
          <a:noFill/>
          <a:ln w="0">
            <a:noFill/>
            <a:prstDash val="solid"/>
          </a:ln>
        </p:spPr>
        <p:txBody>
          <a:bodyPr wrap="square" lIns="0" tIns="0" rIns="0" bIns="0" anchor="t">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Kiểm tra cấu hình</a:t>
            </a:r>
            <a:endParaRPr sz="1650" b="1">
              <a:solidFill>
                <a:srgbClr val="102A43"/>
              </a:solidFill>
              <a:latin typeface="Arial" panose="020B0604020202020204"/>
              <a:ea typeface="Arial" panose="020B0604020202020204"/>
              <a:cs typeface="Arial" panose="020B0604020202020204"/>
            </a:endParaRPr>
          </a:p>
        </p:txBody>
      </p:sp>
      <p:sp>
        <p:nvSpPr>
          <p:cNvPr id="23" name="Rounded Rectangle 22"/>
          <p:cNvSpPr>
            <a:spLocks noGrp="1"/>
          </p:cNvSpPr>
          <p:nvPr/>
        </p:nvSpPr>
        <p:spPr>
          <a:xfrm>
            <a:off x="6934200" y="2143125"/>
            <a:ext cx="1047750" cy="438150"/>
          </a:xfrm>
          <a:prstGeom prst="roundRect">
            <a:avLst>
              <a:gd name="adj" fmla="val 50000"/>
            </a:avLst>
          </a:prstGeom>
          <a:solidFill>
            <a:srgbClr val="2E7D5B"/>
          </a:solidFill>
          <a:ln w="9525">
            <a:solidFill>
              <a:srgbClr val="2E7D5B"/>
            </a:solidFill>
            <a:prstDash val="solid"/>
          </a:ln>
        </p:spPr>
        <p:txBody>
          <a:bodyPr wrap="square" lIns="0" tIns="0" rIns="0" bIns="0" anchor="ctr">
            <a:normAutofit/>
          </a:bodyPr>
          <a:lstStyle/>
          <a:p>
            <a:pPr algn="ctr">
              <a:lnSpc>
                <a:spcPct val="100000"/>
              </a:lnSpc>
              <a:buNone/>
              <a:defRPr sz="1725" b="1">
                <a:solidFill>
                  <a:srgbClr val="FFFFFF"/>
                </a:solidFill>
                <a:latin typeface="Arial" panose="020B0604020202020204"/>
                <a:ea typeface="Arial" panose="020B0604020202020204"/>
                <a:cs typeface="Arial" panose="020B0604020202020204"/>
              </a:defRPr>
            </a:pPr>
            <a:r>
              <a:rPr sz="1725" b="1">
                <a:solidFill>
                  <a:srgbClr val="FFFFFF"/>
                </a:solidFill>
                <a:latin typeface="Arial" panose="020B0604020202020204"/>
                <a:ea typeface="Arial" panose="020B0604020202020204"/>
                <a:cs typeface="Arial" panose="020B0604020202020204"/>
              </a:rPr>
              <a:t>PASS</a:t>
            </a:r>
            <a:endParaRPr sz="1725" b="1">
              <a:solidFill>
                <a:srgbClr val="FFFFFF"/>
              </a:solidFill>
              <a:latin typeface="Arial" panose="020B0604020202020204"/>
              <a:ea typeface="Arial" panose="020B0604020202020204"/>
              <a:cs typeface="Arial" panose="020B0604020202020204"/>
            </a:endParaRPr>
          </a:p>
        </p:txBody>
      </p:sp>
      <p:sp>
        <p:nvSpPr>
          <p:cNvPr id="24" name="Rectangle 23"/>
          <p:cNvSpPr>
            <a:spLocks noGrp="1"/>
          </p:cNvSpPr>
          <p:nvPr/>
        </p:nvSpPr>
        <p:spPr>
          <a:xfrm>
            <a:off x="8172450" y="2076450"/>
            <a:ext cx="3048000" cy="561975"/>
          </a:xfrm>
          <a:prstGeom prst="rect">
            <a:avLst/>
          </a:prstGeom>
          <a:noFill/>
          <a:ln w="0">
            <a:noFill/>
            <a:prstDash val="solid"/>
          </a:ln>
        </p:spPr>
        <p:txBody>
          <a:bodyPr wrap="square" lIns="95250" tIns="57150" rIns="95250" bIns="5715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docker compose --env-file .env.example config</a:t>
            </a:r>
            <a:endParaRPr sz="1125" b="0">
              <a:solidFill>
                <a:srgbClr val="1D2939"/>
              </a:solidFill>
              <a:latin typeface="Arial" panose="020B0604020202020204"/>
              <a:ea typeface="Arial" panose="020B0604020202020204"/>
              <a:cs typeface="Arial" panose="020B0604020202020204"/>
            </a:endParaRPr>
          </a:p>
        </p:txBody>
      </p:sp>
      <p:sp>
        <p:nvSpPr>
          <p:cNvPr id="25" name="Rounded Rectangle 24"/>
          <p:cNvSpPr>
            <a:spLocks noGrp="1"/>
          </p:cNvSpPr>
          <p:nvPr/>
        </p:nvSpPr>
        <p:spPr>
          <a:xfrm>
            <a:off x="6667500" y="3429000"/>
            <a:ext cx="4857750" cy="1619250"/>
          </a:xfrm>
          <a:prstGeom prst="roundRect">
            <a:avLst>
              <a:gd name="adj" fmla="val 4118"/>
            </a:avLst>
          </a:prstGeom>
          <a:solidFill>
            <a:srgbClr val="FFF7DF"/>
          </a:solidFill>
          <a:ln w="9525">
            <a:solidFill>
              <a:srgbClr val="E9C46A"/>
            </a:solidFill>
            <a:prstDash val="solid"/>
          </a:ln>
        </p:spPr>
        <p:style>
          <a:lnRef idx="0">
            <a:srgbClr val="FFFFFF"/>
          </a:lnRef>
          <a:fillRef idx="0">
            <a:srgbClr val="FFFFFF"/>
          </a:fillRef>
          <a:effectRef idx="4">
            <a:srgbClr val="FFFFFF"/>
          </a:effectRef>
          <a:fontRef idx="major"/>
        </p:style>
      </p:sp>
      <p:sp>
        <p:nvSpPr>
          <p:cNvPr id="26" name="Rectangle 25"/>
          <p:cNvSpPr>
            <a:spLocks noGrp="1"/>
          </p:cNvSpPr>
          <p:nvPr/>
        </p:nvSpPr>
        <p:spPr>
          <a:xfrm>
            <a:off x="6934200" y="3638550"/>
            <a:ext cx="2000250" cy="266700"/>
          </a:xfrm>
          <a:prstGeom prst="rect">
            <a:avLst/>
          </a:prstGeom>
          <a:noFill/>
          <a:ln w="0">
            <a:noFill/>
            <a:prstDash val="solid"/>
          </a:ln>
        </p:spPr>
        <p:txBody>
          <a:bodyPr wrap="square" lIns="0" tIns="0" rIns="0" bIns="0" anchor="t">
            <a:normAutofit/>
          </a:bodyPr>
          <a:lstStyle/>
          <a:p>
            <a:pPr algn="l">
              <a:lnSpc>
                <a:spcPct val="100000"/>
              </a:lnSpc>
              <a:buNone/>
              <a:defRPr sz="1500" b="1">
                <a:solidFill>
                  <a:srgbClr val="102A43"/>
                </a:solidFill>
                <a:latin typeface="Arial" panose="020B0604020202020204"/>
                <a:ea typeface="Arial" panose="020B0604020202020204"/>
                <a:cs typeface="Arial" panose="020B0604020202020204"/>
              </a:defRPr>
            </a:pPr>
            <a:r>
              <a:rPr sz="1500" b="1">
                <a:solidFill>
                  <a:srgbClr val="102A43"/>
                </a:solidFill>
                <a:latin typeface="Arial" panose="020B0604020202020204"/>
                <a:ea typeface="Arial" panose="020B0604020202020204"/>
                <a:cs typeface="Arial" panose="020B0604020202020204"/>
              </a:rPr>
              <a:t>Runtime Docker</a:t>
            </a:r>
            <a:endParaRPr sz="1500" b="1">
              <a:solidFill>
                <a:srgbClr val="102A43"/>
              </a:solidFill>
              <a:latin typeface="Arial" panose="020B0604020202020204"/>
              <a:ea typeface="Arial" panose="020B0604020202020204"/>
              <a:cs typeface="Arial" panose="020B0604020202020204"/>
            </a:endParaRPr>
          </a:p>
        </p:txBody>
      </p:sp>
      <p:sp>
        <p:nvSpPr>
          <p:cNvPr id="27" name="Rectangle 26"/>
          <p:cNvSpPr>
            <a:spLocks noGrp="1"/>
          </p:cNvSpPr>
          <p:nvPr/>
        </p:nvSpPr>
        <p:spPr>
          <a:xfrm>
            <a:off x="6934200" y="4048125"/>
            <a:ext cx="4095750" cy="352425"/>
          </a:xfrm>
          <a:prstGeom prst="rect">
            <a:avLst/>
          </a:prstGeom>
          <a:noFill/>
          <a:ln w="0">
            <a:noFill/>
            <a:prstDash val="solid"/>
          </a:ln>
        </p:spPr>
        <p:txBody>
          <a:bodyPr wrap="square" lIns="0" tIns="0" rIns="0" bIns="0" anchor="t">
            <a:normAutofit/>
          </a:bodyPr>
          <a:lstStyle/>
          <a:p>
            <a:pPr algn="l">
              <a:lnSpc>
                <a:spcPct val="100000"/>
              </a:lnSpc>
              <a:buNone/>
              <a:defRPr sz="1725" b="1">
                <a:solidFill>
                  <a:srgbClr val="B54736"/>
                </a:solidFill>
                <a:latin typeface="Arial" panose="020B0604020202020204"/>
                <a:ea typeface="Arial" panose="020B0604020202020204"/>
                <a:cs typeface="Arial" panose="020B0604020202020204"/>
              </a:defRPr>
            </a:pPr>
            <a:r>
              <a:rPr lang="vi-VN" sz="1725" b="1">
                <a:solidFill>
                  <a:srgbClr val="B54736"/>
                </a:solidFill>
                <a:latin typeface="Arial" panose="020B0604020202020204"/>
                <a:ea typeface="Arial" panose="020B0604020202020204"/>
                <a:cs typeface="Arial" panose="020B0604020202020204"/>
              </a:rPr>
              <a:t>Local end-to-end đã xác minh</a:t>
            </a:r>
            <a:endParaRPr lang="vi-VN" sz="1725" b="1">
              <a:solidFill>
                <a:srgbClr val="B54736"/>
              </a:solidFill>
              <a:latin typeface="Arial" panose="020B0604020202020204"/>
              <a:ea typeface="Arial" panose="020B0604020202020204"/>
              <a:cs typeface="Arial" panose="020B0604020202020204"/>
            </a:endParaRPr>
          </a:p>
        </p:txBody>
      </p:sp>
      <p:sp>
        <p:nvSpPr>
          <p:cNvPr id="28" name="Rectangle 27"/>
          <p:cNvSpPr>
            <a:spLocks noGrp="1"/>
          </p:cNvSpPr>
          <p:nvPr/>
        </p:nvSpPr>
        <p:spPr>
          <a:xfrm>
            <a:off x="6934200" y="4505325"/>
            <a:ext cx="4095750" cy="333375"/>
          </a:xfrm>
          <a:prstGeom prst="rect">
            <a:avLst/>
          </a:prstGeom>
          <a:noFill/>
          <a:ln w="0">
            <a:noFill/>
            <a:prstDash val="solid"/>
          </a:ln>
        </p:spPr>
        <p:txBody>
          <a:bodyPr wrap="square" lIns="0" tIns="0" rIns="0" bIns="0" anchor="t">
            <a:normAutofit fontScale="98863"/>
          </a:bodyPr>
          <a:lstStyle/>
          <a:p>
            <a:pPr algn="l">
              <a:lnSpc>
                <a:spcPct val="100000"/>
              </a:lnSpc>
              <a:buNone/>
              <a:defRPr sz="1125" b="0">
                <a:solidFill>
                  <a:srgbClr val="5F6C7B"/>
                </a:solidFill>
                <a:latin typeface="Arial" panose="020B0604020202020204"/>
                <a:ea typeface="Arial" panose="020B0604020202020204"/>
                <a:cs typeface="Arial" panose="020B0604020202020204"/>
              </a:defRPr>
            </a:pPr>
            <a:r>
              <a:rPr lang="vi-VN" sz="1125" b="0">
                <a:solidFill>
                  <a:srgbClr val="5F6C7B"/>
                </a:solidFill>
                <a:latin typeface="Arial" panose="020B0604020202020204"/>
                <a:ea typeface="Arial" panose="020B0604020202020204"/>
                <a:cs typeface="Arial" panose="020B0604020202020204"/>
              </a:rPr>
              <a:t>4 container khỏe; health FE/BE/AI HTTP 200; MongoDB connected.</a:t>
            </a:r>
            <a:endParaRPr lang="vi-VN" sz="1125" b="0">
              <a:solidFill>
                <a:srgbClr val="5F6C7B"/>
              </a:solidFill>
              <a:latin typeface="Arial" panose="020B0604020202020204"/>
              <a:ea typeface="Arial" panose="020B0604020202020204"/>
              <a:cs typeface="Arial" panose="020B0604020202020204"/>
            </a:endParaRPr>
          </a:p>
        </p:txBody>
      </p:sp>
      <p:sp>
        <p:nvSpPr>
          <p:cNvPr id="29" name="Rounded Rectangle 28"/>
          <p:cNvSpPr>
            <a:spLocks noGrp="1"/>
          </p:cNvSpPr>
          <p:nvPr/>
        </p:nvSpPr>
        <p:spPr>
          <a:xfrm>
            <a:off x="666750" y="5095875"/>
            <a:ext cx="10858500" cy="876300"/>
          </a:xfrm>
          <a:prstGeom prst="roundRect">
            <a:avLst>
              <a:gd name="adj" fmla="val 7609"/>
            </a:avLst>
          </a:prstGeom>
          <a:solidFill>
            <a:srgbClr val="102A43"/>
          </a:solidFill>
          <a:ln w="9525">
            <a:solidFill>
              <a:srgbClr val="102A43"/>
            </a:solidFill>
            <a:prstDash val="solid"/>
          </a:ln>
        </p:spPr>
        <p:style>
          <a:lnRef idx="0">
            <a:srgbClr val="FFFFFF"/>
          </a:lnRef>
          <a:fillRef idx="0">
            <a:srgbClr val="FFFFFF"/>
          </a:fillRef>
          <a:effectRef idx="4">
            <a:srgbClr val="FFFFFF"/>
          </a:effectRef>
          <a:fontRef idx="major"/>
        </p:style>
      </p:sp>
      <p:sp>
        <p:nvSpPr>
          <p:cNvPr id="30" name="Rectangle 29"/>
          <p:cNvSpPr>
            <a:spLocks noGrp="1"/>
          </p:cNvSpPr>
          <p:nvPr/>
        </p:nvSpPr>
        <p:spPr>
          <a:xfrm>
            <a:off x="904875" y="5286375"/>
            <a:ext cx="2095500" cy="285750"/>
          </a:xfrm>
          <a:prstGeom prst="rect">
            <a:avLst/>
          </a:prstGeom>
          <a:noFill/>
          <a:ln w="0">
            <a:noFill/>
            <a:prstDash val="solid"/>
          </a:ln>
        </p:spPr>
        <p:txBody>
          <a:bodyPr wrap="square" lIns="0" tIns="0" rIns="0" bIns="0" anchor="t">
            <a:normAutofit/>
          </a:bodyPr>
          <a:lstStyle/>
          <a:p>
            <a:pPr algn="l">
              <a:lnSpc>
                <a:spcPct val="100000"/>
              </a:lnSpc>
              <a:buNone/>
              <a:defRPr sz="1275" b="1">
                <a:solidFill>
                  <a:srgbClr val="E9C46A"/>
                </a:solidFill>
                <a:latin typeface="Arial" panose="020B0604020202020204"/>
                <a:ea typeface="Arial" panose="020B0604020202020204"/>
                <a:cs typeface="Arial" panose="020B0604020202020204"/>
              </a:defRPr>
            </a:pPr>
            <a:r>
              <a:rPr sz="1275" b="1">
                <a:solidFill>
                  <a:srgbClr val="E9C46A"/>
                </a:solidFill>
                <a:latin typeface="Arial" panose="020B0604020202020204"/>
                <a:ea typeface="Arial" panose="020B0604020202020204"/>
                <a:cs typeface="Arial" panose="020B0604020202020204"/>
              </a:rPr>
              <a:t>Deployment public</a:t>
            </a:r>
            <a:endParaRPr sz="1275" b="1">
              <a:solidFill>
                <a:srgbClr val="E9C46A"/>
              </a:solidFill>
              <a:latin typeface="Arial" panose="020B0604020202020204"/>
              <a:ea typeface="Arial" panose="020B0604020202020204"/>
              <a:cs typeface="Arial" panose="020B0604020202020204"/>
            </a:endParaRPr>
          </a:p>
        </p:txBody>
      </p:sp>
      <p:sp>
        <p:nvSpPr>
          <p:cNvPr id="31" name="Rectangle 30"/>
          <p:cNvSpPr>
            <a:spLocks noGrp="1"/>
          </p:cNvSpPr>
          <p:nvPr/>
        </p:nvSpPr>
        <p:spPr>
          <a:xfrm>
            <a:off x="3048000" y="5219700"/>
            <a:ext cx="8001000" cy="419100"/>
          </a:xfrm>
          <a:prstGeom prst="rect">
            <a:avLst/>
          </a:prstGeom>
          <a:noFill/>
          <a:ln w="0">
            <a:noFill/>
            <a:prstDash val="solid"/>
          </a:ln>
        </p:spPr>
        <p:txBody>
          <a:bodyPr wrap="square" lIns="95250" tIns="57150" rIns="95250" bIns="57150" anchor="ctr">
            <a:normAutofit/>
          </a:bodyPr>
          <a:lstStyle/>
          <a:p>
            <a:pPr algn="l">
              <a:lnSpc>
                <a:spcPct val="100000"/>
              </a:lnSpc>
              <a:buNone/>
              <a:defRPr sz="1725" b="1">
                <a:solidFill>
                  <a:srgbClr val="FFFFFF"/>
                </a:solidFill>
                <a:latin typeface="Arial" panose="020B0604020202020204"/>
                <a:ea typeface="Arial" panose="020B0604020202020204"/>
                <a:cs typeface="Arial" panose="020B0604020202020204"/>
              </a:defRPr>
            </a:pPr>
            <a:r>
              <a:rPr lang="vi-VN" sz="1725" b="1">
                <a:solidFill>
                  <a:srgbClr val="FFFFFF"/>
                </a:solidFill>
                <a:latin typeface="Arial" panose="020B0604020202020204"/>
                <a:ea typeface="Arial" panose="020B0604020202020204"/>
                <a:cs typeface="Arial" panose="020B0604020202020204"/>
              </a:rPr>
              <a:t>Tunnel ngrok tạm thời · xác minh URL trước demo.</a:t>
            </a:r>
            <a:endParaRPr lang="vi-VN" sz="1725" b="1">
              <a:solidFill>
                <a:srgbClr val="FFFFFF"/>
              </a:solidFill>
              <a:latin typeface="Arial" panose="020B0604020202020204"/>
              <a:ea typeface="Arial" panose="020B0604020202020204"/>
              <a:cs typeface="Arial" panose="020B0604020202020204"/>
            </a:endParaRPr>
          </a:p>
        </p:txBody>
      </p:sp>
      <p:sp>
        <p:nvSpPr>
          <p:cNvPr id="32" name="Straight Connector 31"/>
          <p:cNvSpPr>
            <a:spLocks noGrp="1"/>
          </p:cNvSpPr>
          <p:nvPr/>
        </p:nvSpPr>
        <p:spPr>
          <a:xfrm>
            <a:off x="666750" y="6477000"/>
            <a:ext cx="10858500" cy="0"/>
          </a:xfrm>
          <a:prstGeom prst="line">
            <a:avLst/>
          </a:prstGeom>
          <a:noFill/>
          <a:ln w="9525">
            <a:solidFill>
              <a:srgbClr val="D7E0E8"/>
            </a:solidFill>
            <a:prstDash val="solid"/>
          </a:ln>
        </p:spPr>
      </p:sp>
      <p:sp>
        <p:nvSpPr>
          <p:cNvPr id="33" name="Rectangle 32"/>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sz="825" b="0">
                <a:solidFill>
                  <a:srgbClr val="5F6C7B"/>
                </a:solidFill>
                <a:latin typeface="Arial" panose="020B0604020202020204"/>
                <a:ea typeface="Arial" panose="020B0604020202020204"/>
                <a:cs typeface="Arial" panose="020B0604020202020204"/>
              </a:rPr>
              <a:t>Nguồn: docker-compose.yml; .env.example; README.md</a:t>
            </a:r>
            <a:endParaRPr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28" name="Rectangle 27"/>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12 · VERIFICATION</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Kiểm thử</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14</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666750" y="1476375"/>
            <a:ext cx="3333750" cy="1238250"/>
          </a:xfrm>
          <a:prstGeom prst="roundRect">
            <a:avLst>
              <a:gd name="adj" fmla="val 538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666750" y="1476375"/>
            <a:ext cx="57150" cy="1238250"/>
          </a:xfrm>
          <a:prstGeom prst="rect">
            <a:avLst/>
          </a:prstGeom>
          <a:solidFill>
            <a:srgbClr val="2E7D5B"/>
          </a:solidFill>
          <a:ln w="0">
            <a:noFill/>
            <a:prstDash val="solid"/>
          </a:ln>
        </p:spPr>
      </p:sp>
      <p:sp>
        <p:nvSpPr>
          <p:cNvPr id="7" name="Rectangle 6"/>
          <p:cNvSpPr>
            <a:spLocks noGrp="1"/>
          </p:cNvSpPr>
          <p:nvPr/>
        </p:nvSpPr>
        <p:spPr>
          <a:xfrm>
            <a:off x="838200" y="1590675"/>
            <a:ext cx="3048000"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12 / 12</a:t>
            </a:r>
            <a:endParaRPr sz="2250" b="1">
              <a:solidFill>
                <a:srgbClr val="102A43"/>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838200" y="2019300"/>
            <a:ext cx="3048000"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Pytest đã pass</a:t>
            </a:r>
            <a:endParaRPr sz="1125" b="1">
              <a:solidFill>
                <a:srgbClr val="5F6C7B"/>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838200" y="2305050"/>
            <a:ext cx="3048000" cy="323850"/>
          </a:xfrm>
          <a:prstGeom prst="rect">
            <a:avLst/>
          </a:prstGeom>
          <a:noFill/>
          <a:ln w="0">
            <a:noFill/>
            <a:prstDash val="solid"/>
          </a:ln>
        </p:spPr>
        <p:txBody>
          <a:bodyPr wrap="square" lIns="0" tIns="0" rIns="0" bIns="0" anchor="t">
            <a:normAutofit/>
          </a:bodyPr>
          <a:lstStyle/>
          <a:p>
            <a:pPr algn="l">
              <a:lnSpc>
                <a:spcPct val="100000"/>
              </a:lnSpc>
              <a:buNone/>
              <a:defRPr sz="900" b="0">
                <a:solidFill>
                  <a:srgbClr val="5F6C7B"/>
                </a:solidFill>
                <a:latin typeface="Arial" panose="020B0604020202020204"/>
                <a:ea typeface="Arial" panose="020B0604020202020204"/>
                <a:cs typeface="Arial" panose="020B0604020202020204"/>
              </a:defRPr>
            </a:pPr>
            <a:r>
              <a:rPr sz="900" b="0">
                <a:solidFill>
                  <a:srgbClr val="5F6C7B"/>
                </a:solidFill>
                <a:latin typeface="Arial" panose="020B0604020202020204"/>
                <a:ea typeface="Arial" panose="020B0604020202020204"/>
                <a:cs typeface="Arial" panose="020B0604020202020204"/>
              </a:rPr>
              <a:t>AI service: 7 · Backend: 5</a:t>
            </a:r>
            <a:endParaRPr sz="900" b="0">
              <a:solidFill>
                <a:srgbClr val="5F6C7B"/>
              </a:solidFill>
              <a:latin typeface="Arial" panose="020B0604020202020204"/>
              <a:ea typeface="Arial" panose="020B0604020202020204"/>
              <a:cs typeface="Arial" panose="020B0604020202020204"/>
            </a:endParaRPr>
          </a:p>
        </p:txBody>
      </p:sp>
      <p:sp>
        <p:nvSpPr>
          <p:cNvPr id="10" name="Rounded Rectangle 9"/>
          <p:cNvSpPr>
            <a:spLocks noGrp="1"/>
          </p:cNvSpPr>
          <p:nvPr/>
        </p:nvSpPr>
        <p:spPr>
          <a:xfrm>
            <a:off x="4286250" y="1476375"/>
            <a:ext cx="3333750" cy="1238250"/>
          </a:xfrm>
          <a:prstGeom prst="roundRect">
            <a:avLst>
              <a:gd name="adj" fmla="val 538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1" name="Rectangle 10"/>
          <p:cNvSpPr>
            <a:spLocks noGrp="1"/>
          </p:cNvSpPr>
          <p:nvPr/>
        </p:nvSpPr>
        <p:spPr>
          <a:xfrm>
            <a:off x="4286250" y="1476375"/>
            <a:ext cx="57150" cy="1238250"/>
          </a:xfrm>
          <a:prstGeom prst="rect">
            <a:avLst/>
          </a:prstGeom>
          <a:solidFill>
            <a:srgbClr val="167D8D"/>
          </a:solidFill>
          <a:ln w="0">
            <a:noFill/>
            <a:prstDash val="solid"/>
          </a:ln>
        </p:spPr>
      </p:sp>
      <p:sp>
        <p:nvSpPr>
          <p:cNvPr id="12" name="Rectangle 11"/>
          <p:cNvSpPr>
            <a:spLocks noGrp="1"/>
          </p:cNvSpPr>
          <p:nvPr/>
        </p:nvSpPr>
        <p:spPr>
          <a:xfrm>
            <a:off x="4457700" y="1590675"/>
            <a:ext cx="3048000"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sz="2250" b="1">
                <a:solidFill>
                  <a:srgbClr val="102A43"/>
                </a:solidFill>
                <a:latin typeface="Arial" panose="020B0604020202020204"/>
                <a:ea typeface="Arial" panose="020B0604020202020204"/>
                <a:cs typeface="Arial" panose="020B0604020202020204"/>
              </a:rPr>
              <a:t>PASS</a:t>
            </a:r>
            <a:endParaRPr sz="2250" b="1">
              <a:solidFill>
                <a:srgbClr val="102A43"/>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4457700" y="2019300"/>
            <a:ext cx="3048000"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sz="1125" b="1">
                <a:solidFill>
                  <a:srgbClr val="5F6C7B"/>
                </a:solidFill>
                <a:latin typeface="Arial" panose="020B0604020202020204"/>
                <a:ea typeface="Arial" panose="020B0604020202020204"/>
                <a:cs typeface="Arial" panose="020B0604020202020204"/>
              </a:rPr>
              <a:t>Smoke test</a:t>
            </a:r>
            <a:endParaRPr sz="1125" b="1">
              <a:solidFill>
                <a:srgbClr val="5F6C7B"/>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4457700" y="2305050"/>
            <a:ext cx="3048000" cy="323850"/>
          </a:xfrm>
          <a:prstGeom prst="rect">
            <a:avLst/>
          </a:prstGeom>
          <a:noFill/>
          <a:ln w="0">
            <a:noFill/>
            <a:prstDash val="solid"/>
          </a:ln>
        </p:spPr>
        <p:txBody>
          <a:bodyPr wrap="square" lIns="0" tIns="0" rIns="0" bIns="0" anchor="t">
            <a:normAutofit/>
          </a:bodyPr>
          <a:lstStyle/>
          <a:p>
            <a:pPr algn="l">
              <a:lnSpc>
                <a:spcPct val="100000"/>
              </a:lnSpc>
              <a:buNone/>
              <a:defRPr sz="900" b="0">
                <a:solidFill>
                  <a:srgbClr val="5F6C7B"/>
                </a:solidFill>
                <a:latin typeface="Arial" panose="020B0604020202020204"/>
                <a:ea typeface="Arial" panose="020B0604020202020204"/>
                <a:cs typeface="Arial" panose="020B0604020202020204"/>
              </a:defRPr>
            </a:pPr>
            <a:r>
              <a:rPr lang="vi-VN" sz="900" b="0">
                <a:solidFill>
                  <a:srgbClr val="5F6C7B"/>
                </a:solidFill>
                <a:latin typeface="Arial" panose="020B0604020202020204"/>
                <a:ea typeface="Arial" panose="020B0604020202020204"/>
                <a:cs typeface="Arial" panose="020B0604020202020204"/>
              </a:rPr>
              <a:t>health + predict + history qua Docker Compose</a:t>
            </a:r>
            <a:endParaRPr lang="vi-VN" sz="900" b="0">
              <a:solidFill>
                <a:srgbClr val="5F6C7B"/>
              </a:solidFill>
              <a:latin typeface="Arial" panose="020B0604020202020204"/>
              <a:ea typeface="Arial" panose="020B0604020202020204"/>
              <a:cs typeface="Arial" panose="020B0604020202020204"/>
            </a:endParaRPr>
          </a:p>
        </p:txBody>
      </p:sp>
      <p:sp>
        <p:nvSpPr>
          <p:cNvPr id="15" name="Rounded Rectangle 14"/>
          <p:cNvSpPr>
            <a:spLocks noGrp="1"/>
          </p:cNvSpPr>
          <p:nvPr/>
        </p:nvSpPr>
        <p:spPr>
          <a:xfrm>
            <a:off x="7905750" y="1476375"/>
            <a:ext cx="3619500" cy="1238250"/>
          </a:xfrm>
          <a:prstGeom prst="roundRect">
            <a:avLst>
              <a:gd name="adj" fmla="val 5385"/>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16" name="Rectangle 15"/>
          <p:cNvSpPr>
            <a:spLocks noGrp="1"/>
          </p:cNvSpPr>
          <p:nvPr/>
        </p:nvSpPr>
        <p:spPr>
          <a:xfrm>
            <a:off x="7905750" y="1476375"/>
            <a:ext cx="57150" cy="1238250"/>
          </a:xfrm>
          <a:prstGeom prst="rect">
            <a:avLst/>
          </a:prstGeom>
          <a:solidFill>
            <a:srgbClr val="E9C46A"/>
          </a:solidFill>
          <a:ln w="0">
            <a:noFill/>
            <a:prstDash val="solid"/>
          </a:ln>
        </p:spPr>
      </p:sp>
      <p:sp>
        <p:nvSpPr>
          <p:cNvPr id="17" name="Rectangle 16"/>
          <p:cNvSpPr>
            <a:spLocks noGrp="1"/>
          </p:cNvSpPr>
          <p:nvPr/>
        </p:nvSpPr>
        <p:spPr>
          <a:xfrm>
            <a:off x="8077200" y="1590675"/>
            <a:ext cx="3333750" cy="419100"/>
          </a:xfrm>
          <a:prstGeom prst="rect">
            <a:avLst/>
          </a:prstGeom>
          <a:noFill/>
          <a:ln w="0">
            <a:noFill/>
            <a:prstDash val="solid"/>
          </a:ln>
        </p:spPr>
        <p:txBody>
          <a:bodyPr wrap="square" lIns="0" tIns="0" rIns="0" bIns="0" anchor="t">
            <a:normAutofit/>
          </a:bodyPr>
          <a:lstStyle/>
          <a:p>
            <a:pPr algn="l">
              <a:lnSpc>
                <a:spcPct val="100000"/>
              </a:lnSpc>
              <a:buNone/>
              <a:defRPr sz="2250" b="1">
                <a:solidFill>
                  <a:srgbClr val="102A43"/>
                </a:solidFill>
                <a:latin typeface="Arial" panose="020B0604020202020204"/>
                <a:ea typeface="Arial" panose="020B0604020202020204"/>
                <a:cs typeface="Arial" panose="020B0604020202020204"/>
              </a:defRPr>
            </a:pPr>
            <a:r>
              <a:rPr lang="vi-VN" sz="2250" b="1">
                <a:solidFill>
                  <a:srgbClr val="102A43"/>
                </a:solidFill>
                <a:latin typeface="Arial" panose="020B0604020202020204"/>
                <a:ea typeface="Arial" panose="020B0604020202020204"/>
                <a:cs typeface="Arial" panose="020B0604020202020204"/>
              </a:rPr>
              <a:t>HTTP 200</a:t>
            </a:r>
            <a:endParaRPr lang="vi-VN" sz="2250" b="1">
              <a:solidFill>
                <a:srgbClr val="102A43"/>
              </a:solidFill>
              <a:latin typeface="Arial" panose="020B0604020202020204"/>
              <a:ea typeface="Arial" panose="020B0604020202020204"/>
              <a:cs typeface="Arial" panose="020B0604020202020204"/>
            </a:endParaRPr>
          </a:p>
        </p:txBody>
      </p:sp>
      <p:sp>
        <p:nvSpPr>
          <p:cNvPr id="18" name="Rectangle 17"/>
          <p:cNvSpPr>
            <a:spLocks noGrp="1"/>
          </p:cNvSpPr>
          <p:nvPr/>
        </p:nvSpPr>
        <p:spPr>
          <a:xfrm>
            <a:off x="8077200" y="2019300"/>
            <a:ext cx="3333750" cy="276225"/>
          </a:xfrm>
          <a:prstGeom prst="rect">
            <a:avLst/>
          </a:prstGeom>
          <a:noFill/>
          <a:ln w="0">
            <a:noFill/>
            <a:prstDash val="solid"/>
          </a:ln>
        </p:spPr>
        <p:txBody>
          <a:bodyPr wrap="square" lIns="0" tIns="0" rIns="0" bIns="0" anchor="t">
            <a:normAutofit/>
          </a:bodyPr>
          <a:lstStyle/>
          <a:p>
            <a:pPr algn="l">
              <a:lnSpc>
                <a:spcPct val="100000"/>
              </a:lnSpc>
              <a:buNone/>
              <a:defRPr sz="1125" b="1">
                <a:solidFill>
                  <a:srgbClr val="5F6C7B"/>
                </a:solidFill>
                <a:latin typeface="Arial" panose="020B0604020202020204"/>
                <a:ea typeface="Arial" panose="020B0604020202020204"/>
                <a:cs typeface="Arial" panose="020B0604020202020204"/>
              </a:defRPr>
            </a:pPr>
            <a:r>
              <a:rPr lang="vi-VN" sz="1125" b="1">
                <a:solidFill>
                  <a:srgbClr val="5F6C7B"/>
                </a:solidFill>
                <a:latin typeface="Arial" panose="020B0604020202020204"/>
                <a:ea typeface="Arial" panose="020B0604020202020204"/>
                <a:cs typeface="Arial" panose="020B0604020202020204"/>
              </a:rPr>
              <a:t>FE/BE/AI /health</a:t>
            </a:r>
            <a:endParaRPr lang="vi-VN" sz="1125" b="1">
              <a:solidFill>
                <a:srgbClr val="5F6C7B"/>
              </a:solidFill>
              <a:latin typeface="Arial" panose="020B0604020202020204"/>
              <a:ea typeface="Arial" panose="020B0604020202020204"/>
              <a:cs typeface="Arial" panose="020B0604020202020204"/>
            </a:endParaRPr>
          </a:p>
        </p:txBody>
      </p:sp>
      <p:sp>
        <p:nvSpPr>
          <p:cNvPr id="19" name="Rectangle 18"/>
          <p:cNvSpPr>
            <a:spLocks noGrp="1"/>
          </p:cNvSpPr>
          <p:nvPr/>
        </p:nvSpPr>
        <p:spPr>
          <a:xfrm>
            <a:off x="8077200" y="2305050"/>
            <a:ext cx="3333750" cy="323850"/>
          </a:xfrm>
          <a:prstGeom prst="rect">
            <a:avLst/>
          </a:prstGeom>
          <a:noFill/>
          <a:ln w="0">
            <a:noFill/>
            <a:prstDash val="solid"/>
          </a:ln>
        </p:spPr>
        <p:txBody>
          <a:bodyPr wrap="square" lIns="0" tIns="0" rIns="0" bIns="0" anchor="t">
            <a:normAutofit/>
          </a:bodyPr>
          <a:lstStyle/>
          <a:p>
            <a:pPr algn="l">
              <a:lnSpc>
                <a:spcPct val="100000"/>
              </a:lnSpc>
              <a:buNone/>
              <a:defRPr sz="900" b="0">
                <a:solidFill>
                  <a:srgbClr val="5F6C7B"/>
                </a:solidFill>
                <a:latin typeface="Arial" panose="020B0604020202020204"/>
                <a:ea typeface="Arial" panose="020B0604020202020204"/>
                <a:cs typeface="Arial" panose="020B0604020202020204"/>
              </a:defRPr>
            </a:pPr>
            <a:r>
              <a:rPr lang="vi-VN" sz="900" b="0">
                <a:solidFill>
                  <a:srgbClr val="5F6C7B"/>
                </a:solidFill>
                <a:latin typeface="Arial" panose="020B0604020202020204"/>
                <a:ea typeface="Arial" panose="020B0604020202020204"/>
                <a:cs typeface="Arial" panose="020B0604020202020204"/>
              </a:rPr>
              <a:t>MongoDB: history saved</a:t>
            </a:r>
            <a:endParaRPr lang="vi-VN" sz="900" b="0">
              <a:solidFill>
                <a:srgbClr val="5F6C7B"/>
              </a:solidFill>
              <a:latin typeface="Arial" panose="020B0604020202020204"/>
              <a:ea typeface="Arial" panose="020B0604020202020204"/>
              <a:cs typeface="Arial" panose="020B0604020202020204"/>
            </a:endParaRPr>
          </a:p>
        </p:txBody>
      </p:sp>
      <p:sp>
        <p:nvSpPr>
          <p:cNvPr id="20" name="Rounded Rectangle 19"/>
          <p:cNvSpPr>
            <a:spLocks noGrp="1"/>
          </p:cNvSpPr>
          <p:nvPr/>
        </p:nvSpPr>
        <p:spPr>
          <a:xfrm>
            <a:off x="666750" y="3190875"/>
            <a:ext cx="5191125" cy="2524125"/>
          </a:xfrm>
          <a:prstGeom prst="roundRect">
            <a:avLst>
              <a:gd name="adj" fmla="val 2642"/>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21" name="Rectangle 20"/>
          <p:cNvSpPr>
            <a:spLocks noGrp="1"/>
          </p:cNvSpPr>
          <p:nvPr/>
        </p:nvSpPr>
        <p:spPr>
          <a:xfrm>
            <a:off x="904875" y="3429000"/>
            <a:ext cx="4572000" cy="295275"/>
          </a:xfrm>
          <a:prstGeom prst="rect">
            <a:avLst/>
          </a:prstGeom>
          <a:noFill/>
          <a:ln w="0">
            <a:noFill/>
            <a:prstDash val="solid"/>
          </a:ln>
        </p:spPr>
        <p:txBody>
          <a:bodyPr wrap="square" lIns="0" tIns="0" rIns="0" bIns="0" anchor="t">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Phạm vi đã kiểm tra</a:t>
            </a:r>
            <a:endParaRPr sz="1650" b="1">
              <a:solidFill>
                <a:srgbClr val="102A43"/>
              </a:solidFill>
              <a:latin typeface="Arial" panose="020B0604020202020204"/>
              <a:ea typeface="Arial" panose="020B0604020202020204"/>
              <a:cs typeface="Arial" panose="020B0604020202020204"/>
            </a:endParaRPr>
          </a:p>
        </p:txBody>
      </p:sp>
      <p:sp>
        <p:nvSpPr>
          <p:cNvPr id="22" name="Rectangle 21"/>
          <p:cNvSpPr>
            <a:spLocks noGrp="1"/>
          </p:cNvSpPr>
          <p:nvPr/>
        </p:nvSpPr>
        <p:spPr>
          <a:xfrm>
            <a:off x="904875" y="3905250"/>
            <a:ext cx="4619625" cy="1524000"/>
          </a:xfrm>
          <a:prstGeom prst="rect">
            <a:avLst/>
          </a:prstGeom>
          <a:noFill/>
          <a:ln w="0">
            <a:noFill/>
            <a:prstDash val="solid"/>
          </a:ln>
        </p:spPr>
        <p:txBody>
          <a:bodyPr wrap="square" lIns="114300" tIns="76200" rIns="114300" bIns="76200" anchor="t">
            <a:normAutofit/>
          </a:bodyPr>
          <a:lstStyle/>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sz="1200">
                <a:solidFill>
                  <a:srgbClr val="1D2939"/>
                </a:solidFill>
                <a:latin typeface="Arial" panose="020B0604020202020204"/>
                <a:ea typeface="Arial" panose="020B0604020202020204"/>
                <a:cs typeface="Arial" panose="020B0604020202020204"/>
              </a:rPr>
              <a:t>AI service: health, model info, predict, schema validation.</a:t>
            </a:r>
            <a:endParaRPr sz="120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sz="1200">
                <a:solidFill>
                  <a:srgbClr val="1D2939"/>
                </a:solidFill>
                <a:latin typeface="Arial" panose="020B0604020202020204"/>
                <a:ea typeface="Arial" panose="020B0604020202020204"/>
                <a:cs typeface="Arial" panose="020B0604020202020204"/>
              </a:rPr>
              <a:t>Backend: health, API behavior và xử lý client mock.</a:t>
            </a:r>
            <a:endParaRPr sz="120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lang="vi-VN" sz="1200">
                <a:solidFill>
                  <a:srgbClr val="1D2939"/>
                </a:solidFill>
                <a:latin typeface="Arial" panose="020B0604020202020204"/>
                <a:ea typeface="Arial" panose="020B0604020202020204"/>
                <a:cs typeface="Arial" panose="020B0604020202020204"/>
              </a:rPr>
              <a:t>Compose: FE/BE/AI/MongoDB chạy khỏe trên local.</a:t>
            </a:r>
            <a:endParaRPr sz="120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lang="vi-VN" sz="1200">
                <a:solidFill>
                  <a:srgbClr val="1D2939"/>
                </a:solidFill>
                <a:latin typeface="Arial" panose="020B0604020202020204"/>
                <a:ea typeface="Arial" panose="020B0604020202020204"/>
                <a:cs typeface="Arial" panose="020B0604020202020204"/>
              </a:rPr>
              <a:t>Prediction đã lưu được vào history trên stack local.</a:t>
            </a:r>
            <a:endParaRPr lang="vi-VN" sz="1200">
              <a:solidFill>
                <a:srgbClr val="1D2939"/>
              </a:solidFill>
              <a:latin typeface="Arial" panose="020B0604020202020204"/>
              <a:ea typeface="Arial" panose="020B0604020202020204"/>
              <a:cs typeface="Arial" panose="020B0604020202020204"/>
            </a:endParaRPr>
          </a:p>
        </p:txBody>
      </p:sp>
      <p:sp>
        <p:nvSpPr>
          <p:cNvPr id="23" name="Rounded Rectangle 22"/>
          <p:cNvSpPr>
            <a:spLocks noGrp="1"/>
          </p:cNvSpPr>
          <p:nvPr/>
        </p:nvSpPr>
        <p:spPr>
          <a:xfrm>
            <a:off x="6191250" y="3190875"/>
            <a:ext cx="5334000" cy="2524125"/>
          </a:xfrm>
          <a:prstGeom prst="roundRect">
            <a:avLst>
              <a:gd name="adj" fmla="val 2642"/>
            </a:avLst>
          </a:prstGeom>
          <a:solidFill>
            <a:srgbClr val="FCEDE8"/>
          </a:solidFill>
          <a:ln w="9525">
            <a:solidFill>
              <a:srgbClr val="E76F51"/>
            </a:solidFill>
            <a:prstDash val="solid"/>
          </a:ln>
        </p:spPr>
        <p:style>
          <a:lnRef idx="0">
            <a:srgbClr val="FFFFFF"/>
          </a:lnRef>
          <a:fillRef idx="0">
            <a:srgbClr val="FFFFFF"/>
          </a:fillRef>
          <a:effectRef idx="4">
            <a:srgbClr val="FFFFFF"/>
          </a:effectRef>
          <a:fontRef idx="major"/>
        </p:style>
      </p:sp>
      <p:sp>
        <p:nvSpPr>
          <p:cNvPr id="24" name="Rectangle 23"/>
          <p:cNvSpPr>
            <a:spLocks noGrp="1"/>
          </p:cNvSpPr>
          <p:nvPr/>
        </p:nvSpPr>
        <p:spPr>
          <a:xfrm>
            <a:off x="6429375" y="3429000"/>
            <a:ext cx="4762500" cy="295275"/>
          </a:xfrm>
          <a:prstGeom prst="rect">
            <a:avLst/>
          </a:prstGeom>
          <a:noFill/>
          <a:ln w="0">
            <a:noFill/>
            <a:prstDash val="solid"/>
          </a:ln>
        </p:spPr>
        <p:txBody>
          <a:bodyPr wrap="square" lIns="0" tIns="0" rIns="0" bIns="0" anchor="t">
            <a:normAutofit/>
          </a:bodyPr>
          <a:lstStyle/>
          <a:p>
            <a:pPr algn="l">
              <a:lnSpc>
                <a:spcPct val="100000"/>
              </a:lnSpc>
              <a:buNone/>
              <a:defRPr sz="1650" b="1">
                <a:solidFill>
                  <a:srgbClr val="102A43"/>
                </a:solidFill>
                <a:latin typeface="Arial" panose="020B0604020202020204"/>
                <a:ea typeface="Arial" panose="020B0604020202020204"/>
                <a:cs typeface="Arial" panose="020B0604020202020204"/>
              </a:defRPr>
            </a:pPr>
            <a:r>
              <a:rPr sz="1650" b="1">
                <a:solidFill>
                  <a:srgbClr val="102A43"/>
                </a:solidFill>
                <a:latin typeface="Arial" panose="020B0604020202020204"/>
                <a:ea typeface="Arial" panose="020B0604020202020204"/>
                <a:cs typeface="Arial" panose="020B0604020202020204"/>
              </a:rPr>
              <a:t>Giới hạn kiểm thử</a:t>
            </a:r>
            <a:endParaRPr sz="1650" b="1">
              <a:solidFill>
                <a:srgbClr val="102A43"/>
              </a:solidFill>
              <a:latin typeface="Arial" panose="020B0604020202020204"/>
              <a:ea typeface="Arial" panose="020B0604020202020204"/>
              <a:cs typeface="Arial" panose="020B0604020202020204"/>
            </a:endParaRPr>
          </a:p>
        </p:txBody>
      </p:sp>
      <p:sp>
        <p:nvSpPr>
          <p:cNvPr id="25" name="Rectangle 24"/>
          <p:cNvSpPr>
            <a:spLocks noGrp="1"/>
          </p:cNvSpPr>
          <p:nvPr/>
        </p:nvSpPr>
        <p:spPr>
          <a:xfrm>
            <a:off x="6429375" y="3905250"/>
            <a:ext cx="4762500" cy="1524000"/>
          </a:xfrm>
          <a:prstGeom prst="rect">
            <a:avLst/>
          </a:prstGeom>
          <a:noFill/>
          <a:ln w="0">
            <a:noFill/>
            <a:prstDash val="solid"/>
          </a:ln>
        </p:spPr>
        <p:txBody>
          <a:bodyPr wrap="square" lIns="114300" tIns="76200" rIns="114300" bIns="76200" anchor="t">
            <a:normAutofit/>
          </a:bodyPr>
          <a:lstStyle/>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lang="vi-VN" sz="1200">
                <a:solidFill>
                  <a:srgbClr val="1D2939"/>
                </a:solidFill>
                <a:latin typeface="Arial" panose="020B0604020202020204"/>
                <a:ea typeface="Arial" panose="020B0604020202020204"/>
                <a:cs typeface="Arial" panose="020B0604020202020204"/>
              </a:rPr>
              <a:t>Public tunnel ngrok tạm thời, phụ thuộc máy host.</a:t>
            </a:r>
            <a:endParaRPr sz="120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lang="vi-VN" sz="1200">
                <a:solidFill>
                  <a:srgbClr val="1D2939"/>
                </a:solidFill>
                <a:latin typeface="Arial" panose="020B0604020202020204"/>
                <a:ea typeface="Arial" panose="020B0604020202020204"/>
                <a:cs typeface="Arial" panose="020B0604020202020204"/>
              </a:rPr>
              <a:t>URL ngrok cần được xác minh lại trước demo.</a:t>
            </a:r>
            <a:endParaRPr sz="120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lang="vi-VN" sz="1200">
                <a:solidFill>
                  <a:srgbClr val="1D2939"/>
                </a:solidFill>
                <a:latin typeface="Arial" panose="020B0604020202020204"/>
                <a:ea typeface="Arial" panose="020B0604020202020204"/>
                <a:cs typeface="Arial" panose="020B0604020202020204"/>
              </a:rPr>
              <a:t>API hiện chưa có authentication/authorization.</a:t>
            </a:r>
            <a:endParaRPr sz="120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800"/>
              </a:spcAft>
              <a:buNone/>
              <a:defRPr sz="1200">
                <a:solidFill>
                  <a:srgbClr val="1D2939"/>
                </a:solidFill>
                <a:latin typeface="Arial" panose="020B0604020202020204"/>
                <a:ea typeface="Arial" panose="020B0604020202020204"/>
                <a:cs typeface="Arial" panose="020B0604020202020204"/>
              </a:defRPr>
            </a:pPr>
            <a:r>
              <a:rPr lang="vi-VN" sz="1200">
                <a:solidFill>
                  <a:srgbClr val="1D2939"/>
                </a:solidFill>
                <a:latin typeface="Arial" panose="020B0604020202020204"/>
                <a:ea typeface="Arial" panose="020B0604020202020204"/>
                <a:cs typeface="Arial" panose="020B0604020202020204"/>
              </a:rPr>
              <a:t>Load test đo local, không đại diện cho public host.</a:t>
            </a:r>
            <a:endParaRPr lang="vi-VN" sz="1200">
              <a:solidFill>
                <a:srgbClr val="1D2939"/>
              </a:solidFill>
              <a:latin typeface="Arial" panose="020B0604020202020204"/>
              <a:ea typeface="Arial" panose="020B0604020202020204"/>
              <a:cs typeface="Arial" panose="020B0604020202020204"/>
            </a:endParaRPr>
          </a:p>
        </p:txBody>
      </p:sp>
      <p:sp>
        <p:nvSpPr>
          <p:cNvPr id="26" name="Straight Connector 25"/>
          <p:cNvSpPr>
            <a:spLocks noGrp="1"/>
          </p:cNvSpPr>
          <p:nvPr/>
        </p:nvSpPr>
        <p:spPr>
          <a:xfrm>
            <a:off x="666750" y="6477000"/>
            <a:ext cx="10858500" cy="0"/>
          </a:xfrm>
          <a:prstGeom prst="line">
            <a:avLst/>
          </a:prstGeom>
          <a:noFill/>
          <a:ln w="9525">
            <a:solidFill>
              <a:srgbClr val="D7E0E8"/>
            </a:solidFill>
            <a:prstDash val="solid"/>
          </a:ln>
        </p:spPr>
      </p:sp>
      <p:sp>
        <p:nvSpPr>
          <p:cNvPr id="27" name="Rectangle 26"/>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ai-models/service/tests; app/backend/tests; docs/deployment_log.md (02/10/2026)</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p:sp>
        <p:nvSpPr>
          <p:cNvPr id="26" name="Rectangle 25"/>
          <p:cNvSpPr>
            <a:spLocks noGrp="1"/>
          </p:cNvSpPr>
          <p:nvPr/>
        </p:nvSpPr>
        <p:spPr>
          <a:xfrm>
            <a:off x="666750" y="323850"/>
            <a:ext cx="9525000" cy="228600"/>
          </a:xfrm>
          <a:prstGeom prst="rect">
            <a:avLst/>
          </a:prstGeom>
          <a:noFill/>
          <a:ln w="0">
            <a:noFill/>
            <a:prstDash val="solid"/>
          </a:ln>
        </p:spPr>
        <p:txBody>
          <a:bodyPr wrap="square" lIns="0" tIns="0" rIns="0" bIns="0" anchor="t">
            <a:normAutofit/>
          </a:bodyPr>
          <a:lstStyle/>
          <a:p>
            <a:pPr algn="l">
              <a:lnSpc>
                <a:spcPct val="100000"/>
              </a:lnSpc>
              <a:buNone/>
              <a:defRPr sz="975" b="1">
                <a:solidFill>
                  <a:srgbClr val="167D8D"/>
                </a:solidFill>
                <a:latin typeface="Arial" panose="020B0604020202020204"/>
                <a:ea typeface="Arial" panose="020B0604020202020204"/>
                <a:cs typeface="Arial" panose="020B0604020202020204"/>
              </a:defRPr>
            </a:pPr>
            <a:r>
              <a:rPr sz="975" b="1">
                <a:solidFill>
                  <a:srgbClr val="167D8D"/>
                </a:solidFill>
                <a:latin typeface="Arial" panose="020B0604020202020204"/>
                <a:ea typeface="Arial" panose="020B0604020202020204"/>
                <a:cs typeface="Arial" panose="020B0604020202020204"/>
              </a:rPr>
              <a:t>13 · NON-FUNCTIONAL TESTING</a:t>
            </a:r>
            <a:endParaRPr sz="975" b="1">
              <a:solidFill>
                <a:srgbClr val="167D8D"/>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571500"/>
            <a:ext cx="10287000" cy="523875"/>
          </a:xfrm>
          <a:prstGeom prst="rect">
            <a:avLst/>
          </a:prstGeom>
          <a:noFill/>
          <a:ln w="0">
            <a:noFill/>
            <a:prstDash val="solid"/>
          </a:ln>
        </p:spPr>
        <p:txBody>
          <a:bodyPr wrap="square" lIns="0" tIns="0" rIns="0" bIns="0" anchor="t">
            <a:normAutofit/>
          </a:bodyPr>
          <a:lstStyle/>
          <a:p>
            <a:pPr algn="l">
              <a:lnSpc>
                <a:spcPct val="100000"/>
              </a:lnSpc>
              <a:buNone/>
              <a:defRPr sz="2700" b="1">
                <a:solidFill>
                  <a:srgbClr val="102A43"/>
                </a:solidFill>
                <a:latin typeface="Arial" panose="020B0604020202020204"/>
                <a:ea typeface="Arial" panose="020B0604020202020204"/>
                <a:cs typeface="Arial" panose="020B0604020202020204"/>
              </a:defRPr>
            </a:pPr>
            <a:r>
              <a:rPr sz="2700" b="1">
                <a:solidFill>
                  <a:srgbClr val="102A43"/>
                </a:solidFill>
                <a:latin typeface="Arial" panose="020B0604020202020204"/>
                <a:ea typeface="Arial" panose="020B0604020202020204"/>
                <a:cs typeface="Arial" panose="020B0604020202020204"/>
              </a:rPr>
              <a:t>Load test và performance</a:t>
            </a:r>
            <a:endParaRPr sz="2700" b="1">
              <a:solidFill>
                <a:srgbClr val="102A43"/>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666750" y="1152525"/>
            <a:ext cx="714375" cy="47625"/>
          </a:xfrm>
          <a:prstGeom prst="rect">
            <a:avLst/>
          </a:prstGeom>
          <a:solidFill>
            <a:srgbClr val="E76F51"/>
          </a:solidFill>
          <a:ln w="0">
            <a:noFill/>
            <a:prstDash val="solid"/>
          </a:ln>
        </p:spPr>
      </p:sp>
      <p:sp>
        <p:nvSpPr>
          <p:cNvPr id="4" name="Rectangle 3"/>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5F6C7B"/>
                </a:solidFill>
                <a:latin typeface="Arial" panose="020B0604020202020204"/>
                <a:ea typeface="Arial" panose="020B0604020202020204"/>
                <a:cs typeface="Arial" panose="020B0604020202020204"/>
              </a:defRPr>
            </a:pPr>
            <a:r>
              <a:rPr sz="1050" b="1">
                <a:solidFill>
                  <a:srgbClr val="5F6C7B"/>
                </a:solidFill>
                <a:latin typeface="Arial" panose="020B0604020202020204"/>
                <a:ea typeface="Arial" panose="020B0604020202020204"/>
                <a:cs typeface="Arial" panose="020B0604020202020204"/>
              </a:rPr>
              <a:t>15</a:t>
            </a:r>
            <a:endParaRPr sz="1050" b="1">
              <a:solidFill>
                <a:srgbClr val="5F6C7B"/>
              </a:solidFill>
              <a:latin typeface="Arial" panose="020B0604020202020204"/>
              <a:ea typeface="Arial" panose="020B0604020202020204"/>
              <a:cs typeface="Arial" panose="020B0604020202020204"/>
            </a:endParaRPr>
          </a:p>
        </p:txBody>
      </p:sp>
      <p:sp>
        <p:nvSpPr>
          <p:cNvPr id="5" name="Rounded Rectangle 4"/>
          <p:cNvSpPr>
            <a:spLocks noGrp="1"/>
          </p:cNvSpPr>
          <p:nvPr/>
        </p:nvSpPr>
        <p:spPr>
          <a:xfrm>
            <a:off x="666750" y="1476375"/>
            <a:ext cx="4857750" cy="4095750"/>
          </a:xfrm>
          <a:prstGeom prst="roundRect">
            <a:avLst>
              <a:gd name="adj" fmla="val 1628"/>
            </a:avLst>
          </a:prstGeom>
          <a:solidFill>
            <a:srgbClr val="FFFFFF"/>
          </a:solidFill>
          <a:ln w="9525">
            <a:solidFill>
              <a:srgbClr val="D7E0E8"/>
            </a:solidFill>
            <a:prstDash val="solid"/>
          </a:ln>
        </p:spPr>
        <p:style>
          <a:lnRef idx="0">
            <a:srgbClr val="FFFFFF"/>
          </a:lnRef>
          <a:fillRef idx="0">
            <a:srgbClr val="FFFFFF"/>
          </a:fillRef>
          <a:effectRef idx="4">
            <a:srgbClr val="FFFFFF"/>
          </a:effectRef>
          <a:fontRef idx="major"/>
        </p:style>
      </p:sp>
      <p:sp>
        <p:nvSpPr>
          <p:cNvPr id="6" name="Rectangle 5"/>
          <p:cNvSpPr>
            <a:spLocks noGrp="1"/>
          </p:cNvSpPr>
          <p:nvPr/>
        </p:nvSpPr>
        <p:spPr>
          <a:xfrm>
            <a:off x="904875" y="1714500"/>
            <a:ext cx="4286250" cy="333375"/>
          </a:xfrm>
          <a:prstGeom prst="rect">
            <a:avLst/>
          </a:prstGeom>
          <a:noFill/>
          <a:ln w="0">
            <a:noFill/>
            <a:prstDash val="solid"/>
          </a:ln>
        </p:spPr>
        <p:txBody>
          <a:bodyPr wrap="square" lIns="0" tIns="0" rIns="0" bIns="0" anchor="t">
            <a:normAutofit/>
          </a:bodyPr>
          <a:lstStyle/>
          <a:p>
            <a:pPr algn="l">
              <a:lnSpc>
                <a:spcPct val="100000"/>
              </a:lnSpc>
              <a:buNone/>
              <a:defRPr sz="1875" b="1">
                <a:solidFill>
                  <a:srgbClr val="102A43"/>
                </a:solidFill>
                <a:latin typeface="Arial" panose="020B0604020202020204"/>
                <a:ea typeface="Arial" panose="020B0604020202020204"/>
                <a:cs typeface="Arial" panose="020B0604020202020204"/>
              </a:defRPr>
            </a:pPr>
            <a:r>
              <a:rPr lang="vi-VN" sz="1875" b="1">
                <a:solidFill>
                  <a:srgbClr val="102A43"/>
                </a:solidFill>
                <a:latin typeface="Arial" panose="020B0604020202020204"/>
                <a:ea typeface="Arial" panose="020B0604020202020204"/>
                <a:cs typeface="Arial" panose="020B0604020202020204"/>
              </a:rPr>
              <a:t>Load test API qua Frontend</a:t>
            </a:r>
            <a:endParaRPr lang="vi-VN" sz="1875" b="1">
              <a:solidFill>
                <a:srgbClr val="102A43"/>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904875" y="2238375"/>
            <a:ext cx="1809750" cy="4857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Tham số</a:t>
            </a:r>
            <a:endParaRPr sz="975" b="1">
              <a:solidFill>
                <a:srgbClr val="FFFFFF"/>
              </a:solidFill>
              <a:latin typeface="Arial" panose="020B0604020202020204"/>
              <a:ea typeface="Arial" panose="020B0604020202020204"/>
              <a:cs typeface="Arial" panose="020B0604020202020204"/>
            </a:endParaRPr>
          </a:p>
        </p:txBody>
      </p:sp>
      <p:sp>
        <p:nvSpPr>
          <p:cNvPr id="8" name="Rectangle 7"/>
          <p:cNvSpPr>
            <a:spLocks noGrp="1"/>
          </p:cNvSpPr>
          <p:nvPr/>
        </p:nvSpPr>
        <p:spPr>
          <a:xfrm>
            <a:off x="2714625" y="2238375"/>
            <a:ext cx="2333625" cy="485775"/>
          </a:xfrm>
          <a:prstGeom prst="rect">
            <a:avLst/>
          </a:prstGeom>
          <a:solidFill>
            <a:srgbClr val="102A43"/>
          </a:solidFill>
          <a:ln w="9525">
            <a:solidFill>
              <a:srgbClr val="D7E0E8"/>
            </a:solidFill>
            <a:prstDash val="solid"/>
          </a:ln>
        </p:spPr>
        <p:txBody>
          <a:bodyPr wrap="square" lIns="85725" tIns="38100" rIns="85725" bIns="38100" anchor="ctr">
            <a:normAutofit/>
          </a:bodyPr>
          <a:lstStyle/>
          <a:p>
            <a:pPr algn="l">
              <a:lnSpc>
                <a:spcPct val="100000"/>
              </a:lnSpc>
              <a:buNone/>
              <a:defRPr sz="975" b="1">
                <a:solidFill>
                  <a:srgbClr val="FFFFFF"/>
                </a:solidFill>
                <a:latin typeface="Arial" panose="020B0604020202020204"/>
                <a:ea typeface="Arial" panose="020B0604020202020204"/>
                <a:cs typeface="Arial" panose="020B0604020202020204"/>
              </a:defRPr>
            </a:pPr>
            <a:r>
              <a:rPr sz="975" b="1">
                <a:solidFill>
                  <a:srgbClr val="FFFFFF"/>
                </a:solidFill>
                <a:latin typeface="Arial" panose="020B0604020202020204"/>
                <a:ea typeface="Arial" panose="020B0604020202020204"/>
                <a:cs typeface="Arial" panose="020B0604020202020204"/>
              </a:rPr>
              <a:t>Giá trị cấu hình</a:t>
            </a:r>
            <a:endParaRPr sz="975" b="1">
              <a:solidFill>
                <a:srgbClr val="FFFFFF"/>
              </a:solidFill>
              <a:latin typeface="Arial" panose="020B0604020202020204"/>
              <a:ea typeface="Arial" panose="020B0604020202020204"/>
              <a:cs typeface="Arial" panose="020B0604020202020204"/>
            </a:endParaRPr>
          </a:p>
        </p:txBody>
      </p:sp>
      <p:sp>
        <p:nvSpPr>
          <p:cNvPr id="9" name="Rectangle 8"/>
          <p:cNvSpPr>
            <a:spLocks noGrp="1"/>
          </p:cNvSpPr>
          <p:nvPr/>
        </p:nvSpPr>
        <p:spPr>
          <a:xfrm>
            <a:off x="904875" y="2724150"/>
            <a:ext cx="1809750"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Virtual users</a:t>
            </a:r>
            <a:endParaRPr sz="1125" b="1">
              <a:solidFill>
                <a:srgbClr val="1D2939"/>
              </a:solidFill>
              <a:latin typeface="Arial" panose="020B0604020202020204"/>
              <a:ea typeface="Arial" panose="020B0604020202020204"/>
              <a:cs typeface="Arial" panose="020B0604020202020204"/>
            </a:endParaRPr>
          </a:p>
        </p:txBody>
      </p:sp>
      <p:sp>
        <p:nvSpPr>
          <p:cNvPr id="10" name="Rectangle 9"/>
          <p:cNvSpPr>
            <a:spLocks noGrp="1"/>
          </p:cNvSpPr>
          <p:nvPr/>
        </p:nvSpPr>
        <p:spPr>
          <a:xfrm>
            <a:off x="2714625" y="2724150"/>
            <a:ext cx="2333625"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10 VUs</a:t>
            </a:r>
            <a:endParaRPr sz="1125" b="0">
              <a:solidFill>
                <a:srgbClr val="1D2939"/>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904875" y="3209925"/>
            <a:ext cx="1809750"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Thời lượng</a:t>
            </a:r>
            <a:endParaRPr sz="1125" b="1">
              <a:solidFill>
                <a:srgbClr val="1D2939"/>
              </a:solidFill>
              <a:latin typeface="Arial" panose="020B0604020202020204"/>
              <a:ea typeface="Arial" panose="020B0604020202020204"/>
              <a:cs typeface="Arial" panose="020B0604020202020204"/>
            </a:endParaRPr>
          </a:p>
        </p:txBody>
      </p:sp>
      <p:sp>
        <p:nvSpPr>
          <p:cNvPr id="12" name="Rectangle 11"/>
          <p:cNvSpPr>
            <a:spLocks noGrp="1"/>
          </p:cNvSpPr>
          <p:nvPr/>
        </p:nvSpPr>
        <p:spPr>
          <a:xfrm>
            <a:off x="2714625" y="3209925"/>
            <a:ext cx="2333625"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60 giây</a:t>
            </a:r>
            <a:endParaRPr sz="1125" b="0">
              <a:solidFill>
                <a:srgbClr val="1D2939"/>
              </a:solidFill>
              <a:latin typeface="Arial" panose="020B0604020202020204"/>
              <a:ea typeface="Arial" panose="020B0604020202020204"/>
              <a:cs typeface="Arial" panose="020B0604020202020204"/>
            </a:endParaRPr>
          </a:p>
        </p:txBody>
      </p:sp>
      <p:sp>
        <p:nvSpPr>
          <p:cNvPr id="13" name="Rectangle 12"/>
          <p:cNvSpPr>
            <a:spLocks noGrp="1"/>
          </p:cNvSpPr>
          <p:nvPr/>
        </p:nvSpPr>
        <p:spPr>
          <a:xfrm>
            <a:off x="904875" y="3695700"/>
            <a:ext cx="1809750"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p95 latency</a:t>
            </a:r>
            <a:endParaRPr sz="1125" b="1">
              <a:solidFill>
                <a:srgbClr val="1D2939"/>
              </a:solidFill>
              <a:latin typeface="Arial" panose="020B0604020202020204"/>
              <a:ea typeface="Arial" panose="020B0604020202020204"/>
              <a:cs typeface="Arial" panose="020B0604020202020204"/>
            </a:endParaRPr>
          </a:p>
        </p:txBody>
      </p:sp>
      <p:sp>
        <p:nvSpPr>
          <p:cNvPr id="14" name="Rectangle 13"/>
          <p:cNvSpPr>
            <a:spLocks noGrp="1"/>
          </p:cNvSpPr>
          <p:nvPr/>
        </p:nvSpPr>
        <p:spPr>
          <a:xfrm>
            <a:off x="2714625" y="3695700"/>
            <a:ext cx="2333625" cy="485775"/>
          </a:xfrm>
          <a:prstGeom prst="rect">
            <a:avLst/>
          </a:prstGeom>
          <a:solidFill>
            <a:srgbClr val="FFFFFF"/>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&lt; 2.000 ms</a:t>
            </a:r>
            <a:endParaRPr sz="1125" b="0">
              <a:solidFill>
                <a:srgbClr val="1D2939"/>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904875" y="4181475"/>
            <a:ext cx="1809750"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1">
                <a:solidFill>
                  <a:srgbClr val="1D2939"/>
                </a:solidFill>
                <a:latin typeface="Arial" panose="020B0604020202020204"/>
                <a:ea typeface="Arial" panose="020B0604020202020204"/>
                <a:cs typeface="Arial" panose="020B0604020202020204"/>
              </a:defRPr>
            </a:pPr>
            <a:r>
              <a:rPr sz="1125" b="1">
                <a:solidFill>
                  <a:srgbClr val="1D2939"/>
                </a:solidFill>
                <a:latin typeface="Arial" panose="020B0604020202020204"/>
                <a:ea typeface="Arial" panose="020B0604020202020204"/>
                <a:cs typeface="Arial" panose="020B0604020202020204"/>
              </a:rPr>
              <a:t>Error rate</a:t>
            </a:r>
            <a:endParaRPr sz="1125" b="1">
              <a:solidFill>
                <a:srgbClr val="1D2939"/>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2714625" y="4181475"/>
            <a:ext cx="2333625" cy="485775"/>
          </a:xfrm>
          <a:prstGeom prst="rect">
            <a:avLst/>
          </a:prstGeom>
          <a:solidFill>
            <a:srgbClr val="EAF1F8"/>
          </a:solidFill>
          <a:ln w="9525">
            <a:solidFill>
              <a:srgbClr val="D7E0E8"/>
            </a:solidFill>
            <a:prstDash val="solid"/>
          </a:ln>
        </p:spPr>
        <p:txBody>
          <a:bodyPr wrap="square" lIns="85725" tIns="38100" rIns="85725" bIns="38100" anchor="ctr">
            <a:normAutofit/>
          </a:bodyPr>
          <a:lstStyle/>
          <a:p>
            <a:pPr algn="l">
              <a:lnSpc>
                <a:spcPct val="100000"/>
              </a:lnSpc>
              <a:buNone/>
              <a:defRPr sz="1125" b="0">
                <a:solidFill>
                  <a:srgbClr val="1D2939"/>
                </a:solidFill>
                <a:latin typeface="Arial" panose="020B0604020202020204"/>
                <a:ea typeface="Arial" panose="020B0604020202020204"/>
                <a:cs typeface="Arial" panose="020B0604020202020204"/>
              </a:defRPr>
            </a:pPr>
            <a:r>
              <a:rPr sz="1125" b="0">
                <a:solidFill>
                  <a:srgbClr val="1D2939"/>
                </a:solidFill>
                <a:latin typeface="Arial" panose="020B0604020202020204"/>
                <a:ea typeface="Arial" panose="020B0604020202020204"/>
                <a:cs typeface="Arial" panose="020B0604020202020204"/>
              </a:rPr>
              <a:t>&lt; 1%</a:t>
            </a:r>
            <a:endParaRPr sz="1125" b="0">
              <a:solidFill>
                <a:srgbClr val="1D2939"/>
              </a:solidFill>
              <a:latin typeface="Arial" panose="020B0604020202020204"/>
              <a:ea typeface="Arial" panose="020B0604020202020204"/>
              <a:cs typeface="Arial" panose="020B0604020202020204"/>
            </a:endParaRPr>
          </a:p>
        </p:txBody>
      </p:sp>
      <p:sp>
        <p:nvSpPr>
          <p:cNvPr id="17" name="Rectangle 16"/>
          <p:cNvSpPr>
            <a:spLocks noGrp="1"/>
          </p:cNvSpPr>
          <p:nvPr/>
        </p:nvSpPr>
        <p:spPr>
          <a:xfrm>
            <a:off x="1000125" y="4953000"/>
            <a:ext cx="3905250" cy="247650"/>
          </a:xfrm>
          <a:prstGeom prst="rect">
            <a:avLst/>
          </a:prstGeom>
          <a:noFill/>
          <a:ln w="0">
            <a:noFill/>
            <a:prstDash val="solid"/>
          </a:ln>
        </p:spPr>
        <p:txBody>
          <a:bodyPr wrap="square" lIns="0" tIns="0" rIns="0" bIns="0" anchor="t">
            <a:normAutofit/>
          </a:bodyPr>
          <a:lstStyle/>
          <a:p>
            <a:pPr algn="l">
              <a:lnSpc>
                <a:spcPct val="100000"/>
              </a:lnSpc>
              <a:buNone/>
              <a:defRPr sz="975" b="0">
                <a:solidFill>
                  <a:srgbClr val="5F6C7B"/>
                </a:solidFill>
                <a:latin typeface="Arial" panose="020B0604020202020204"/>
                <a:ea typeface="Arial" panose="020B0604020202020204"/>
                <a:cs typeface="Arial" panose="020B0604020202020204"/>
              </a:defRPr>
            </a:pPr>
            <a:r>
              <a:rPr lang="vi-VN" sz="975" b="0">
                <a:solidFill>
                  <a:srgbClr val="5F6C7B"/>
                </a:solidFill>
                <a:latin typeface="Arial" panose="020B0604020202020204"/>
                <a:ea typeface="Arial" panose="020B0604020202020204"/>
                <a:cs typeface="Arial" panose="020B0604020202020204"/>
              </a:rPr>
              <a:t>File: scripts/load_test.ps1</a:t>
            </a:r>
            <a:endParaRPr lang="vi-VN" sz="975" b="0">
              <a:solidFill>
                <a:srgbClr val="5F6C7B"/>
              </a:solidFill>
              <a:latin typeface="Arial" panose="020B0604020202020204"/>
              <a:ea typeface="Arial" panose="020B0604020202020204"/>
              <a:cs typeface="Arial" panose="020B0604020202020204"/>
            </a:endParaRPr>
          </a:p>
        </p:txBody>
      </p:sp>
      <p:sp>
        <p:nvSpPr>
          <p:cNvPr id="18" name="Rounded Rectangle 17"/>
          <p:cNvSpPr>
            <a:spLocks noGrp="1"/>
          </p:cNvSpPr>
          <p:nvPr/>
        </p:nvSpPr>
        <p:spPr>
          <a:xfrm>
            <a:off x="5905500" y="1476375"/>
            <a:ext cx="5619750" cy="4095750"/>
          </a:xfrm>
          <a:prstGeom prst="roundRect">
            <a:avLst>
              <a:gd name="adj" fmla="val 1628"/>
            </a:avLst>
          </a:prstGeom>
          <a:solidFill>
            <a:srgbClr val="FFF7DF"/>
          </a:solidFill>
          <a:ln w="9525">
            <a:solidFill>
              <a:srgbClr val="E9C46A"/>
            </a:solidFill>
            <a:prstDash val="solid"/>
          </a:ln>
        </p:spPr>
        <p:style>
          <a:lnRef idx="0">
            <a:srgbClr val="FFFFFF"/>
          </a:lnRef>
          <a:fillRef idx="0">
            <a:srgbClr val="FFFFFF"/>
          </a:fillRef>
          <a:effectRef idx="4">
            <a:srgbClr val="FFFFFF"/>
          </a:effectRef>
          <a:fontRef idx="major"/>
        </p:style>
      </p:sp>
      <p:sp>
        <p:nvSpPr>
          <p:cNvPr id="19" name="Rectangle 18"/>
          <p:cNvSpPr>
            <a:spLocks noGrp="1"/>
          </p:cNvSpPr>
          <p:nvPr/>
        </p:nvSpPr>
        <p:spPr>
          <a:xfrm>
            <a:off x="6191250" y="1714500"/>
            <a:ext cx="5048250" cy="333375"/>
          </a:xfrm>
          <a:prstGeom prst="rect">
            <a:avLst/>
          </a:prstGeom>
          <a:noFill/>
          <a:ln w="0">
            <a:noFill/>
            <a:prstDash val="solid"/>
          </a:ln>
        </p:spPr>
        <p:txBody>
          <a:bodyPr wrap="square" lIns="0" tIns="0" rIns="0" bIns="0" anchor="t">
            <a:normAutofit/>
          </a:bodyPr>
          <a:lstStyle/>
          <a:p>
            <a:pPr algn="l">
              <a:lnSpc>
                <a:spcPct val="100000"/>
              </a:lnSpc>
              <a:buNone/>
              <a:defRPr sz="1875" b="1">
                <a:solidFill>
                  <a:srgbClr val="102A43"/>
                </a:solidFill>
                <a:latin typeface="Arial" panose="020B0604020202020204"/>
                <a:ea typeface="Arial" panose="020B0604020202020204"/>
                <a:cs typeface="Arial" panose="020B0604020202020204"/>
              </a:defRPr>
            </a:pPr>
            <a:r>
              <a:rPr lang="vi-VN" sz="1875" b="1">
                <a:solidFill>
                  <a:srgbClr val="102A43"/>
                </a:solidFill>
                <a:latin typeface="Arial" panose="020B0604020202020204"/>
                <a:ea typeface="Arial" panose="020B0604020202020204"/>
                <a:cs typeface="Arial" panose="020B0604020202020204"/>
              </a:rPr>
              <a:t>Requests thành công</a:t>
            </a:r>
            <a:endParaRPr lang="vi-VN" sz="1875" b="1">
              <a:solidFill>
                <a:srgbClr val="102A43"/>
              </a:solidFill>
              <a:latin typeface="Arial" panose="020B0604020202020204"/>
              <a:ea typeface="Arial" panose="020B0604020202020204"/>
              <a:cs typeface="Arial" panose="020B0604020202020204"/>
            </a:endParaRPr>
          </a:p>
        </p:txBody>
      </p:sp>
      <p:sp>
        <p:nvSpPr>
          <p:cNvPr id="20" name="Rectangle 19"/>
          <p:cNvSpPr>
            <a:spLocks noGrp="1"/>
          </p:cNvSpPr>
          <p:nvPr/>
        </p:nvSpPr>
        <p:spPr>
          <a:xfrm>
            <a:off x="6191250" y="2286000"/>
            <a:ext cx="2476500" cy="628650"/>
          </a:xfrm>
          <a:prstGeom prst="rect">
            <a:avLst/>
          </a:prstGeom>
          <a:noFill/>
          <a:ln w="0">
            <a:noFill/>
            <a:prstDash val="solid"/>
          </a:ln>
        </p:spPr>
        <p:txBody>
          <a:bodyPr wrap="square" lIns="0" tIns="0" rIns="0" bIns="0" anchor="t">
            <a:normAutofit/>
          </a:bodyPr>
          <a:lstStyle/>
          <a:p>
            <a:pPr algn="l">
              <a:lnSpc>
                <a:spcPct val="100000"/>
              </a:lnSpc>
              <a:buNone/>
              <a:defRPr sz="2850" b="1">
                <a:solidFill>
                  <a:srgbClr val="B54736"/>
                </a:solidFill>
                <a:latin typeface="Arial" panose="020B0604020202020204"/>
                <a:ea typeface="Arial" panose="020B0604020202020204"/>
                <a:cs typeface="Arial" panose="020B0604020202020204"/>
              </a:defRPr>
            </a:pPr>
            <a:r>
              <a:rPr lang="vi-VN" sz="2850" b="1">
                <a:solidFill>
                  <a:srgbClr val="B54736"/>
                </a:solidFill>
                <a:latin typeface="Arial" panose="020B0604020202020204"/>
                <a:ea typeface="Arial" panose="020B0604020202020204"/>
                <a:cs typeface="Arial" panose="020B0604020202020204"/>
              </a:rPr>
              <a:t>2.062</a:t>
            </a:r>
            <a:endParaRPr lang="vi-VN" sz="2850" b="1">
              <a:solidFill>
                <a:srgbClr val="B54736"/>
              </a:solidFill>
              <a:latin typeface="Arial" panose="020B0604020202020204"/>
              <a:ea typeface="Arial" panose="020B0604020202020204"/>
              <a:cs typeface="Arial" panose="020B0604020202020204"/>
            </a:endParaRPr>
          </a:p>
        </p:txBody>
      </p:sp>
      <p:sp>
        <p:nvSpPr>
          <p:cNvPr id="21" name="Rectangle 20"/>
          <p:cNvSpPr>
            <a:spLocks noGrp="1"/>
          </p:cNvSpPr>
          <p:nvPr/>
        </p:nvSpPr>
        <p:spPr>
          <a:xfrm>
            <a:off x="6191250" y="3095625"/>
            <a:ext cx="4762500" cy="1619250"/>
          </a:xfrm>
          <a:prstGeom prst="rect">
            <a:avLst/>
          </a:prstGeom>
          <a:noFill/>
          <a:ln w="0">
            <a:noFill/>
            <a:prstDash val="solid"/>
          </a:ln>
        </p:spPr>
        <p:txBody>
          <a:bodyPr wrap="square" lIns="114300" tIns="76200" rIns="114300" bIns="76200" anchor="t">
            <a:normAutofit/>
          </a:bodyPr>
          <a:lstStyle/>
          <a:p>
            <a:pPr marL="254000" indent="-127000" algn="l">
              <a:lnSpc>
                <a:spcPct val="100000"/>
              </a:lnSpc>
              <a:spcAft>
                <a:spcPts val="1000"/>
              </a:spcAft>
              <a:buNone/>
              <a:defRPr sz="1350">
                <a:solidFill>
                  <a:srgbClr val="1D2939"/>
                </a:solidFill>
                <a:latin typeface="Arial" panose="020B0604020202020204"/>
                <a:ea typeface="Arial" panose="020B0604020202020204"/>
                <a:cs typeface="Arial" panose="020B0604020202020204"/>
              </a:defRPr>
            </a:pPr>
            <a:r>
              <a:rPr lang="vi-VN" sz="1350">
                <a:solidFill>
                  <a:srgbClr val="1D2939"/>
                </a:solidFill>
                <a:latin typeface="Arial" panose="020B0604020202020204"/>
                <a:ea typeface="Arial" panose="020B0604020202020204"/>
                <a:cs typeface="Arial" panose="020B0604020202020204"/>
              </a:rPr>
              <a:t>10 users · 60s cấu hình · 0 lỗi.</a:t>
            </a:r>
            <a:endParaRPr sz="135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000"/>
              </a:spcAft>
              <a:buNone/>
              <a:defRPr sz="1350">
                <a:solidFill>
                  <a:srgbClr val="1D2939"/>
                </a:solidFill>
                <a:latin typeface="Arial" panose="020B0604020202020204"/>
                <a:ea typeface="Arial" panose="020B0604020202020204"/>
                <a:cs typeface="Arial" panose="020B0604020202020204"/>
              </a:defRPr>
            </a:pPr>
            <a:r>
              <a:rPr lang="vi-VN" sz="1350">
                <a:solidFill>
                  <a:srgbClr val="1D2939"/>
                </a:solidFill>
                <a:latin typeface="Arial" panose="020B0604020202020204"/>
                <a:ea typeface="Arial" panose="020B0604020202020204"/>
                <a:cs typeface="Arial" panose="020B0604020202020204"/>
              </a:rPr>
              <a:t>26,67 req/s · p50 261,49 ms · p95 339,08 ms.</a:t>
            </a:r>
            <a:endParaRPr sz="135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000"/>
              </a:spcAft>
              <a:buNone/>
              <a:defRPr sz="1350">
                <a:solidFill>
                  <a:srgbClr val="1D2939"/>
                </a:solidFill>
                <a:latin typeface="Arial" panose="020B0604020202020204"/>
                <a:ea typeface="Arial" panose="020B0604020202020204"/>
                <a:cs typeface="Arial" panose="020B0604020202020204"/>
              </a:defRPr>
            </a:pPr>
            <a:r>
              <a:rPr lang="vi-VN" sz="1350">
                <a:solidFill>
                  <a:srgbClr val="1D2939"/>
                </a:solidFill>
                <a:latin typeface="Arial" panose="020B0604020202020204"/>
                <a:ea typeface="Arial" panose="020B0604020202020204"/>
                <a:cs typeface="Arial" panose="020B0604020202020204"/>
              </a:rPr>
              <a:t>Error rate 0% · ngưỡng p95 &lt; 2.000 ms: PASS.</a:t>
            </a:r>
            <a:endParaRPr sz="1350">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000"/>
              </a:spcAft>
              <a:buNone/>
              <a:defRPr sz="1350">
                <a:solidFill>
                  <a:srgbClr val="1D2939"/>
                </a:solidFill>
                <a:latin typeface="Arial" panose="020B0604020202020204"/>
                <a:ea typeface="Arial" panose="020B0604020202020204"/>
                <a:cs typeface="Arial" panose="020B0604020202020204"/>
              </a:defRPr>
            </a:pPr>
            <a:r>
              <a:rPr lang="vi-VN" sz="1350">
                <a:solidFill>
                  <a:srgbClr val="1D2939"/>
                </a:solidFill>
                <a:latin typeface="Arial" panose="020B0604020202020204"/>
                <a:ea typeface="Arial" panose="020B0604020202020204"/>
                <a:cs typeface="Arial" panose="020B0604020202020204"/>
              </a:rPr>
              <a:t>Đo local, không đại diện hiệu năng trên public host.</a:t>
            </a:r>
            <a:endParaRPr lang="vi-VN" sz="1350">
              <a:solidFill>
                <a:srgbClr val="1D2939"/>
              </a:solidFill>
              <a:latin typeface="Arial" panose="020B0604020202020204"/>
              <a:ea typeface="Arial" panose="020B0604020202020204"/>
              <a:cs typeface="Arial" panose="020B0604020202020204"/>
            </a:endParaRPr>
          </a:p>
        </p:txBody>
      </p:sp>
      <p:sp>
        <p:nvSpPr>
          <p:cNvPr id="22" name="Rounded Rectangle 21"/>
          <p:cNvSpPr>
            <a:spLocks noGrp="1"/>
          </p:cNvSpPr>
          <p:nvPr/>
        </p:nvSpPr>
        <p:spPr>
          <a:xfrm>
            <a:off x="6191250" y="4857750"/>
            <a:ext cx="4762500" cy="428625"/>
          </a:xfrm>
          <a:prstGeom prst="roundRect">
            <a:avLst>
              <a:gd name="adj" fmla="val 15556"/>
            </a:avLst>
          </a:prstGeom>
          <a:solidFill>
            <a:srgbClr val="FFFFFF"/>
          </a:solidFill>
          <a:ln w="9525">
            <a:solidFill>
              <a:srgbClr val="E9C46A"/>
            </a:solidFill>
            <a:prstDash val="solid"/>
          </a:ln>
        </p:spPr>
        <p:style>
          <a:lnRef idx="0">
            <a:srgbClr val="FFFFFF"/>
          </a:lnRef>
          <a:fillRef idx="0">
            <a:srgbClr val="FFFFFF"/>
          </a:fillRef>
          <a:effectRef idx="4">
            <a:srgbClr val="FFFFFF"/>
          </a:effectRef>
          <a:fontRef idx="major"/>
        </p:style>
      </p:sp>
      <p:sp>
        <p:nvSpPr>
          <p:cNvPr id="23" name="Rectangle 22"/>
          <p:cNvSpPr>
            <a:spLocks noGrp="1"/>
          </p:cNvSpPr>
          <p:nvPr/>
        </p:nvSpPr>
        <p:spPr>
          <a:xfrm>
            <a:off x="6334125" y="4914900"/>
            <a:ext cx="4476750" cy="295275"/>
          </a:xfrm>
          <a:prstGeom prst="rect">
            <a:avLst/>
          </a:prstGeom>
          <a:noFill/>
          <a:ln w="0">
            <a:noFill/>
            <a:prstDash val="solid"/>
          </a:ln>
        </p:spPr>
        <p:txBody>
          <a:bodyPr wrap="square" lIns="95250" tIns="57150" rIns="95250" bIns="57150" anchor="ctr">
            <a:normAutofit/>
          </a:bodyPr>
          <a:lstStyle/>
          <a:p>
            <a:pPr algn="ctr">
              <a:lnSpc>
                <a:spcPct val="100000"/>
              </a:lnSpc>
              <a:buNone/>
              <a:defRPr sz="1125" b="1">
                <a:solidFill>
                  <a:srgbClr val="102A43"/>
                </a:solidFill>
                <a:latin typeface="Arial" panose="020B0604020202020204"/>
                <a:ea typeface="Arial" panose="020B0604020202020204"/>
                <a:cs typeface="Arial" panose="020B0604020202020204"/>
              </a:defRPr>
            </a:pPr>
            <a:r>
              <a:rPr lang="vi-VN" sz="1125" b="1">
                <a:solidFill>
                  <a:srgbClr val="102A43"/>
                </a:solidFill>
                <a:latin typeface="Arial" panose="020B0604020202020204"/>
                <a:ea typeface="Arial" panose="020B0604020202020204"/>
                <a:cs typeface="Arial" panose="020B0604020202020204"/>
              </a:rPr>
              <a:t>Thời gian đo thực tế: 77,32 giây.</a:t>
            </a:r>
            <a:endParaRPr lang="vi-VN" sz="1125" b="1">
              <a:solidFill>
                <a:srgbClr val="102A43"/>
              </a:solidFill>
              <a:latin typeface="Arial" panose="020B0604020202020204"/>
              <a:ea typeface="Arial" panose="020B0604020202020204"/>
              <a:cs typeface="Arial" panose="020B0604020202020204"/>
            </a:endParaRPr>
          </a:p>
        </p:txBody>
      </p:sp>
      <p:sp>
        <p:nvSpPr>
          <p:cNvPr id="24" name="Straight Connector 23"/>
          <p:cNvSpPr>
            <a:spLocks noGrp="1"/>
          </p:cNvSpPr>
          <p:nvPr/>
        </p:nvSpPr>
        <p:spPr>
          <a:xfrm>
            <a:off x="666750" y="6477000"/>
            <a:ext cx="10858500" cy="0"/>
          </a:xfrm>
          <a:prstGeom prst="line">
            <a:avLst/>
          </a:prstGeom>
          <a:noFill/>
          <a:ln w="9525">
            <a:solidFill>
              <a:srgbClr val="D7E0E8"/>
            </a:solidFill>
            <a:prstDash val="solid"/>
          </a:ln>
        </p:spPr>
      </p:sp>
      <p:sp>
        <p:nvSpPr>
          <p:cNvPr id="25" name="Rectangle 24"/>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5F6C7B"/>
                </a:solidFill>
                <a:latin typeface="Arial" panose="020B0604020202020204"/>
                <a:ea typeface="Arial" panose="020B0604020202020204"/>
                <a:cs typeface="Arial" panose="020B0604020202020204"/>
              </a:defRPr>
            </a:pPr>
            <a:r>
              <a:rPr lang="vi-VN" sz="825" b="0">
                <a:solidFill>
                  <a:srgbClr val="5F6C7B"/>
                </a:solidFill>
                <a:latin typeface="Arial" panose="020B0604020202020204"/>
                <a:ea typeface="Arial" panose="020B0604020202020204"/>
                <a:cs typeface="Arial" panose="020B0604020202020204"/>
              </a:rPr>
              <a:t>Nguồn: docs/load_test_results.md; scripts/load_test.ps1</a:t>
            </a:r>
            <a:endParaRPr lang="vi-VN" sz="825" b="0">
              <a:solidFill>
                <a:srgbClr val="5F6C7B"/>
              </a:solidFill>
              <a:latin typeface="Arial" panose="020B0604020202020204"/>
              <a:ea typeface="Arial" panose="020B0604020202020204"/>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p:sp>
        <p:nvSpPr>
          <p:cNvPr id="19" name="Rectangle 18"/>
          <p:cNvSpPr>
            <a:spLocks noGrp="1"/>
          </p:cNvSpPr>
          <p:nvPr/>
        </p:nvSpPr>
        <p:spPr>
          <a:xfrm>
            <a:off x="666750" y="400050"/>
            <a:ext cx="9334500" cy="247650"/>
          </a:xfrm>
          <a:prstGeom prst="rect">
            <a:avLst/>
          </a:prstGeom>
          <a:noFill/>
          <a:ln w="0">
            <a:noFill/>
            <a:prstDash val="solid"/>
          </a:ln>
        </p:spPr>
        <p:txBody>
          <a:bodyPr wrap="square" lIns="0" tIns="0" rIns="0" bIns="0" anchor="t">
            <a:normAutofit/>
          </a:bodyPr>
          <a:lstStyle/>
          <a:p>
            <a:pPr algn="l">
              <a:lnSpc>
                <a:spcPct val="100000"/>
              </a:lnSpc>
              <a:buNone/>
              <a:defRPr sz="1050" b="1">
                <a:solidFill>
                  <a:srgbClr val="E9C46A"/>
                </a:solidFill>
                <a:latin typeface="Arial" panose="020B0604020202020204"/>
                <a:ea typeface="Arial" panose="020B0604020202020204"/>
                <a:cs typeface="Arial" panose="020B0604020202020204"/>
              </a:defRPr>
            </a:pPr>
            <a:r>
              <a:rPr sz="1050" b="1">
                <a:solidFill>
                  <a:srgbClr val="E9C46A"/>
                </a:solidFill>
                <a:latin typeface="Arial" panose="020B0604020202020204"/>
                <a:ea typeface="Arial" panose="020B0604020202020204"/>
                <a:cs typeface="Arial" panose="020B0604020202020204"/>
              </a:rPr>
              <a:t>14 · WRAP-UP</a:t>
            </a:r>
            <a:endParaRPr sz="1050" b="1">
              <a:solidFill>
                <a:srgbClr val="E9C46A"/>
              </a:solidFill>
              <a:latin typeface="Arial" panose="020B0604020202020204"/>
              <a:ea typeface="Arial" panose="020B0604020202020204"/>
              <a:cs typeface="Arial" panose="020B0604020202020204"/>
            </a:endParaRPr>
          </a:p>
        </p:txBody>
      </p:sp>
      <p:sp>
        <p:nvSpPr>
          <p:cNvPr id="2" name="Rectangle 1"/>
          <p:cNvSpPr>
            <a:spLocks noGrp="1"/>
          </p:cNvSpPr>
          <p:nvPr/>
        </p:nvSpPr>
        <p:spPr>
          <a:xfrm>
            <a:off x="666750" y="685800"/>
            <a:ext cx="10287000" cy="552450"/>
          </a:xfrm>
          <a:prstGeom prst="rect">
            <a:avLst/>
          </a:prstGeom>
          <a:noFill/>
          <a:ln w="0">
            <a:noFill/>
            <a:prstDash val="solid"/>
          </a:ln>
        </p:spPr>
        <p:txBody>
          <a:bodyPr wrap="square" lIns="0" tIns="0" rIns="0" bIns="0" anchor="t">
            <a:normAutofit/>
          </a:bodyPr>
          <a:lstStyle/>
          <a:p>
            <a:pPr algn="l">
              <a:lnSpc>
                <a:spcPct val="100000"/>
              </a:lnSpc>
              <a:buNone/>
              <a:defRPr sz="2850" b="1">
                <a:solidFill>
                  <a:srgbClr val="FFFFFF"/>
                </a:solidFill>
                <a:latin typeface="Arial" panose="020B0604020202020204"/>
                <a:ea typeface="Arial" panose="020B0604020202020204"/>
                <a:cs typeface="Arial" panose="020B0604020202020204"/>
              </a:defRPr>
            </a:pPr>
            <a:r>
              <a:rPr sz="2850" b="1">
                <a:solidFill>
                  <a:srgbClr val="FFFFFF"/>
                </a:solidFill>
                <a:latin typeface="Arial" panose="020B0604020202020204"/>
                <a:ea typeface="Arial" panose="020B0604020202020204"/>
                <a:cs typeface="Arial" panose="020B0604020202020204"/>
              </a:rPr>
              <a:t>Kết luận và hướng phát triển</a:t>
            </a:r>
            <a:endParaRPr sz="2850" b="1">
              <a:solidFill>
                <a:srgbClr val="FFFFFF"/>
              </a:solidFill>
              <a:latin typeface="Arial" panose="020B0604020202020204"/>
              <a:ea typeface="Arial" panose="020B0604020202020204"/>
              <a:cs typeface="Arial" panose="020B0604020202020204"/>
            </a:endParaRPr>
          </a:p>
        </p:txBody>
      </p:sp>
      <p:sp>
        <p:nvSpPr>
          <p:cNvPr id="3" name="Rectangle 2"/>
          <p:cNvSpPr>
            <a:spLocks noGrp="1"/>
          </p:cNvSpPr>
          <p:nvPr/>
        </p:nvSpPr>
        <p:spPr>
          <a:xfrm>
            <a:off x="11191875" y="409575"/>
            <a:ext cx="381000" cy="247650"/>
          </a:xfrm>
          <a:prstGeom prst="rect">
            <a:avLst/>
          </a:prstGeom>
          <a:noFill/>
          <a:ln w="0">
            <a:noFill/>
            <a:prstDash val="solid"/>
          </a:ln>
        </p:spPr>
        <p:txBody>
          <a:bodyPr wrap="square" lIns="0" tIns="0" rIns="0" bIns="0" anchor="t">
            <a:normAutofit/>
          </a:bodyPr>
          <a:lstStyle/>
          <a:p>
            <a:pPr algn="r">
              <a:lnSpc>
                <a:spcPct val="100000"/>
              </a:lnSpc>
              <a:buNone/>
              <a:defRPr sz="1050" b="1">
                <a:solidFill>
                  <a:srgbClr val="FFFFFF"/>
                </a:solidFill>
                <a:latin typeface="Arial" panose="020B0604020202020204"/>
                <a:ea typeface="Arial" panose="020B0604020202020204"/>
                <a:cs typeface="Arial" panose="020B0604020202020204"/>
              </a:defRPr>
            </a:pPr>
            <a:r>
              <a:rPr sz="1050" b="1">
                <a:solidFill>
                  <a:srgbClr val="FFFFFF"/>
                </a:solidFill>
                <a:latin typeface="Arial" panose="020B0604020202020204"/>
                <a:ea typeface="Arial" panose="020B0604020202020204"/>
                <a:cs typeface="Arial" panose="020B0604020202020204"/>
              </a:rPr>
              <a:t>16</a:t>
            </a:r>
            <a:endParaRPr sz="1050" b="1">
              <a:solidFill>
                <a:srgbClr val="FFFFFF"/>
              </a:solidFill>
              <a:latin typeface="Arial" panose="020B0604020202020204"/>
              <a:ea typeface="Arial" panose="020B0604020202020204"/>
              <a:cs typeface="Arial" panose="020B0604020202020204"/>
            </a:endParaRPr>
          </a:p>
        </p:txBody>
      </p:sp>
      <p:sp>
        <p:nvSpPr>
          <p:cNvPr id="4" name="Rounded Rectangle 3"/>
          <p:cNvSpPr>
            <a:spLocks noGrp="1"/>
          </p:cNvSpPr>
          <p:nvPr/>
        </p:nvSpPr>
        <p:spPr>
          <a:xfrm>
            <a:off x="666750" y="1571625"/>
            <a:ext cx="3238500" cy="3714750"/>
          </a:xfrm>
          <a:prstGeom prst="roundRect">
            <a:avLst>
              <a:gd name="adj" fmla="val 2059"/>
            </a:avLst>
          </a:prstGeom>
          <a:solidFill>
            <a:srgbClr val="FFFFFF"/>
          </a:solidFill>
          <a:ln w="9525">
            <a:solidFill>
              <a:srgbClr val="167D8D"/>
            </a:solidFill>
            <a:prstDash val="solid"/>
          </a:ln>
        </p:spPr>
        <p:style>
          <a:lnRef idx="0">
            <a:srgbClr val="FFFFFF"/>
          </a:lnRef>
          <a:fillRef idx="0">
            <a:srgbClr val="FFFFFF"/>
          </a:fillRef>
          <a:effectRef idx="6">
            <a:srgbClr val="FFFFFF"/>
          </a:effectRef>
          <a:fontRef idx="major"/>
        </p:style>
      </p:sp>
      <p:sp>
        <p:nvSpPr>
          <p:cNvPr id="5" name="Rectangle 4"/>
          <p:cNvSpPr>
            <a:spLocks noGrp="1"/>
          </p:cNvSpPr>
          <p:nvPr/>
        </p:nvSpPr>
        <p:spPr>
          <a:xfrm>
            <a:off x="666750" y="1571625"/>
            <a:ext cx="3238500" cy="85725"/>
          </a:xfrm>
          <a:prstGeom prst="rect">
            <a:avLst/>
          </a:prstGeom>
          <a:solidFill>
            <a:srgbClr val="167D8D"/>
          </a:solidFill>
          <a:ln w="0">
            <a:noFill/>
            <a:prstDash val="solid"/>
          </a:ln>
        </p:spPr>
      </p:sp>
      <p:sp>
        <p:nvSpPr>
          <p:cNvPr id="6" name="Rectangle 5"/>
          <p:cNvSpPr>
            <a:spLocks noGrp="1"/>
          </p:cNvSpPr>
          <p:nvPr/>
        </p:nvSpPr>
        <p:spPr>
          <a:xfrm>
            <a:off x="904875" y="1885950"/>
            <a:ext cx="2762250" cy="400050"/>
          </a:xfrm>
          <a:prstGeom prst="rect">
            <a:avLst/>
          </a:prstGeom>
          <a:noFill/>
          <a:ln w="0">
            <a:noFill/>
            <a:prstDash val="solid"/>
          </a:ln>
        </p:spPr>
        <p:txBody>
          <a:bodyPr wrap="square" lIns="95250" tIns="57150" rIns="95250" bIns="57150" anchor="ctr">
            <a:normAutofit/>
          </a:bodyPr>
          <a:lstStyle/>
          <a:p>
            <a:pPr algn="ctr">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Đã hoàn thành</a:t>
            </a:r>
            <a:endParaRPr sz="1800" b="1">
              <a:solidFill>
                <a:srgbClr val="102A43"/>
              </a:solidFill>
              <a:latin typeface="Arial" panose="020B0604020202020204"/>
              <a:ea typeface="Arial" panose="020B0604020202020204"/>
              <a:cs typeface="Arial" panose="020B0604020202020204"/>
            </a:endParaRPr>
          </a:p>
        </p:txBody>
      </p:sp>
      <p:sp>
        <p:nvSpPr>
          <p:cNvPr id="7" name="Rectangle 6"/>
          <p:cNvSpPr>
            <a:spLocks noGrp="1"/>
          </p:cNvSpPr>
          <p:nvPr/>
        </p:nvSpPr>
        <p:spPr>
          <a:xfrm>
            <a:off x="933450" y="2571750"/>
            <a:ext cx="2667000" cy="2190750"/>
          </a:xfrm>
          <a:prstGeom prst="rect">
            <a:avLst/>
          </a:prstGeom>
          <a:noFill/>
          <a:ln w="0">
            <a:noFill/>
            <a:prstDash val="solid"/>
          </a:ln>
        </p:spPr>
        <p:txBody>
          <a:bodyPr wrap="square" lIns="114300" tIns="76200" rIns="114300" bIns="76200" anchor="t">
            <a:normAutofit/>
          </a:bodyPr>
          <a:lstStyle/>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EDA với hình thực tế</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4 model + tuning</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Artifact Gradient Boosting</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API đa service</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Docker Compose + load test local PASS</a:t>
            </a:r>
            <a:endParaRPr lang="vi-VN" sz="1275">
              <a:solidFill>
                <a:srgbClr val="1D2939"/>
              </a:solidFill>
              <a:latin typeface="Arial" panose="020B0604020202020204"/>
              <a:ea typeface="Arial" panose="020B0604020202020204"/>
              <a:cs typeface="Arial" panose="020B0604020202020204"/>
            </a:endParaRPr>
          </a:p>
        </p:txBody>
      </p:sp>
      <p:sp>
        <p:nvSpPr>
          <p:cNvPr id="8" name="Rounded Rectangle 7"/>
          <p:cNvSpPr>
            <a:spLocks noGrp="1"/>
          </p:cNvSpPr>
          <p:nvPr/>
        </p:nvSpPr>
        <p:spPr>
          <a:xfrm>
            <a:off x="4238625" y="1571625"/>
            <a:ext cx="3238500" cy="3714750"/>
          </a:xfrm>
          <a:prstGeom prst="roundRect">
            <a:avLst>
              <a:gd name="adj" fmla="val 2059"/>
            </a:avLst>
          </a:prstGeom>
          <a:solidFill>
            <a:srgbClr val="FFFFFF"/>
          </a:solidFill>
          <a:ln w="9525">
            <a:solidFill>
              <a:srgbClr val="E76F51"/>
            </a:solidFill>
            <a:prstDash val="solid"/>
          </a:ln>
        </p:spPr>
        <p:style>
          <a:lnRef idx="0">
            <a:srgbClr val="FFFFFF"/>
          </a:lnRef>
          <a:fillRef idx="0">
            <a:srgbClr val="FFFFFF"/>
          </a:fillRef>
          <a:effectRef idx="6">
            <a:srgbClr val="FFFFFF"/>
          </a:effectRef>
          <a:fontRef idx="major"/>
        </p:style>
      </p:sp>
      <p:sp>
        <p:nvSpPr>
          <p:cNvPr id="9" name="Rectangle 8"/>
          <p:cNvSpPr>
            <a:spLocks noGrp="1"/>
          </p:cNvSpPr>
          <p:nvPr/>
        </p:nvSpPr>
        <p:spPr>
          <a:xfrm>
            <a:off x="4238625" y="1571625"/>
            <a:ext cx="3238500" cy="85725"/>
          </a:xfrm>
          <a:prstGeom prst="rect">
            <a:avLst/>
          </a:prstGeom>
          <a:solidFill>
            <a:srgbClr val="E76F51"/>
          </a:solidFill>
          <a:ln w="0">
            <a:noFill/>
            <a:prstDash val="solid"/>
          </a:ln>
        </p:spPr>
      </p:sp>
      <p:sp>
        <p:nvSpPr>
          <p:cNvPr id="10" name="Rectangle 9"/>
          <p:cNvSpPr>
            <a:spLocks noGrp="1"/>
          </p:cNvSpPr>
          <p:nvPr/>
        </p:nvSpPr>
        <p:spPr>
          <a:xfrm>
            <a:off x="4476750" y="1885950"/>
            <a:ext cx="2762250" cy="400050"/>
          </a:xfrm>
          <a:prstGeom prst="rect">
            <a:avLst/>
          </a:prstGeom>
          <a:noFill/>
          <a:ln w="0">
            <a:noFill/>
            <a:prstDash val="solid"/>
          </a:ln>
        </p:spPr>
        <p:txBody>
          <a:bodyPr wrap="square" lIns="95250" tIns="57150" rIns="95250" bIns="57150" anchor="ctr">
            <a:normAutofit/>
          </a:bodyPr>
          <a:lstStyle/>
          <a:p>
            <a:pPr algn="ctr">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Giới hạn hiện tại</a:t>
            </a:r>
            <a:endParaRPr sz="1800" b="1">
              <a:solidFill>
                <a:srgbClr val="102A43"/>
              </a:solidFill>
              <a:latin typeface="Arial" panose="020B0604020202020204"/>
              <a:ea typeface="Arial" panose="020B0604020202020204"/>
              <a:cs typeface="Arial" panose="020B0604020202020204"/>
            </a:endParaRPr>
          </a:p>
        </p:txBody>
      </p:sp>
      <p:sp>
        <p:nvSpPr>
          <p:cNvPr id="11" name="Rectangle 10"/>
          <p:cNvSpPr>
            <a:spLocks noGrp="1"/>
          </p:cNvSpPr>
          <p:nvPr/>
        </p:nvSpPr>
        <p:spPr>
          <a:xfrm>
            <a:off x="4505325" y="2571750"/>
            <a:ext cx="2667000" cy="2190750"/>
          </a:xfrm>
          <a:prstGeom prst="rect">
            <a:avLst/>
          </a:prstGeom>
          <a:noFill/>
          <a:ln w="0">
            <a:noFill/>
            <a:prstDash val="solid"/>
          </a:ln>
        </p:spPr>
        <p:txBody>
          <a:bodyPr wrap="square" lIns="114300" tIns="76200" rIns="114300" bIns="76200" anchor="t">
            <a:normAutofit/>
          </a:bodyPr>
          <a:lstStyle/>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Ngrok tạm thời · URL cần xác minh</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API chưa có authentication</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Notebook/artifact metrics khác nhau</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Load test chỉ đo local</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Target có mức trần</a:t>
            </a:r>
            <a:endParaRPr sz="1275">
              <a:solidFill>
                <a:srgbClr val="1D2939"/>
              </a:solidFill>
              <a:latin typeface="Arial" panose="020B0604020202020204"/>
              <a:ea typeface="Arial" panose="020B0604020202020204"/>
              <a:cs typeface="Arial" panose="020B0604020202020204"/>
            </a:endParaRPr>
          </a:p>
        </p:txBody>
      </p:sp>
      <p:sp>
        <p:nvSpPr>
          <p:cNvPr id="12" name="Rounded Rectangle 11"/>
          <p:cNvSpPr>
            <a:spLocks noGrp="1"/>
          </p:cNvSpPr>
          <p:nvPr/>
        </p:nvSpPr>
        <p:spPr>
          <a:xfrm>
            <a:off x="7810500" y="1571625"/>
            <a:ext cx="3238500" cy="3714750"/>
          </a:xfrm>
          <a:prstGeom prst="roundRect">
            <a:avLst>
              <a:gd name="adj" fmla="val 2059"/>
            </a:avLst>
          </a:prstGeom>
          <a:solidFill>
            <a:srgbClr val="FFFFFF"/>
          </a:solidFill>
          <a:ln w="9525">
            <a:solidFill>
              <a:srgbClr val="E9C46A"/>
            </a:solidFill>
            <a:prstDash val="solid"/>
          </a:ln>
        </p:spPr>
        <p:style>
          <a:lnRef idx="0">
            <a:srgbClr val="FFFFFF"/>
          </a:lnRef>
          <a:fillRef idx="0">
            <a:srgbClr val="FFFFFF"/>
          </a:fillRef>
          <a:effectRef idx="6">
            <a:srgbClr val="FFFFFF"/>
          </a:effectRef>
          <a:fontRef idx="major"/>
        </p:style>
      </p:sp>
      <p:sp>
        <p:nvSpPr>
          <p:cNvPr id="13" name="Rectangle 12"/>
          <p:cNvSpPr>
            <a:spLocks noGrp="1"/>
          </p:cNvSpPr>
          <p:nvPr/>
        </p:nvSpPr>
        <p:spPr>
          <a:xfrm>
            <a:off x="7810500" y="1571625"/>
            <a:ext cx="3238500" cy="85725"/>
          </a:xfrm>
          <a:prstGeom prst="rect">
            <a:avLst/>
          </a:prstGeom>
          <a:solidFill>
            <a:srgbClr val="E9C46A"/>
          </a:solidFill>
          <a:ln w="0">
            <a:noFill/>
            <a:prstDash val="solid"/>
          </a:ln>
        </p:spPr>
      </p:sp>
      <p:sp>
        <p:nvSpPr>
          <p:cNvPr id="14" name="Rectangle 13"/>
          <p:cNvSpPr>
            <a:spLocks noGrp="1"/>
          </p:cNvSpPr>
          <p:nvPr/>
        </p:nvSpPr>
        <p:spPr>
          <a:xfrm>
            <a:off x="8048625" y="1885950"/>
            <a:ext cx="2762250" cy="400050"/>
          </a:xfrm>
          <a:prstGeom prst="rect">
            <a:avLst/>
          </a:prstGeom>
          <a:noFill/>
          <a:ln w="0">
            <a:noFill/>
            <a:prstDash val="solid"/>
          </a:ln>
        </p:spPr>
        <p:txBody>
          <a:bodyPr wrap="square" lIns="95250" tIns="57150" rIns="95250" bIns="57150" anchor="ctr">
            <a:normAutofit/>
          </a:bodyPr>
          <a:lstStyle/>
          <a:p>
            <a:pPr algn="ctr">
              <a:lnSpc>
                <a:spcPct val="100000"/>
              </a:lnSpc>
              <a:buNone/>
              <a:defRPr sz="1800" b="1">
                <a:solidFill>
                  <a:srgbClr val="102A43"/>
                </a:solidFill>
                <a:latin typeface="Arial" panose="020B0604020202020204"/>
                <a:ea typeface="Arial" panose="020B0604020202020204"/>
                <a:cs typeface="Arial" panose="020B0604020202020204"/>
              </a:defRPr>
            </a:pPr>
            <a:r>
              <a:rPr sz="1800" b="1">
                <a:solidFill>
                  <a:srgbClr val="102A43"/>
                </a:solidFill>
                <a:latin typeface="Arial" panose="020B0604020202020204"/>
                <a:ea typeface="Arial" panose="020B0604020202020204"/>
                <a:cs typeface="Arial" panose="020B0604020202020204"/>
              </a:rPr>
              <a:t>Bước tiếp theo</a:t>
            </a:r>
            <a:endParaRPr sz="1800" b="1">
              <a:solidFill>
                <a:srgbClr val="102A43"/>
              </a:solidFill>
              <a:latin typeface="Arial" panose="020B0604020202020204"/>
              <a:ea typeface="Arial" panose="020B0604020202020204"/>
              <a:cs typeface="Arial" panose="020B0604020202020204"/>
            </a:endParaRPr>
          </a:p>
        </p:txBody>
      </p:sp>
      <p:sp>
        <p:nvSpPr>
          <p:cNvPr id="15" name="Rectangle 14"/>
          <p:cNvSpPr>
            <a:spLocks noGrp="1"/>
          </p:cNvSpPr>
          <p:nvPr/>
        </p:nvSpPr>
        <p:spPr>
          <a:xfrm>
            <a:off x="8077200" y="2571750"/>
            <a:ext cx="2667000" cy="2190750"/>
          </a:xfrm>
          <a:prstGeom prst="rect">
            <a:avLst/>
          </a:prstGeom>
          <a:noFill/>
          <a:ln w="0">
            <a:noFill/>
            <a:prstDash val="solid"/>
          </a:ln>
        </p:spPr>
        <p:txBody>
          <a:bodyPr wrap="square" lIns="114300" tIns="76200" rIns="114300" bIns="76200" anchor="t">
            <a:normAutofit/>
          </a:bodyPr>
          <a:lstStyle/>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Hosting ổn định + URL mới</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Benchmark trên host deploy</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lang="vi-VN" sz="1275">
                <a:solidFill>
                  <a:srgbClr val="1D2939"/>
                </a:solidFill>
                <a:latin typeface="Arial" panose="020B0604020202020204"/>
                <a:ea typeface="Arial" panose="020B0604020202020204"/>
                <a:cs typeface="Arial" panose="020B0604020202020204"/>
              </a:rPr>
              <a:t>Bổ sung authentication</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Giám sát drift / latency</a:t>
            </a:r>
            <a:endParaRPr sz="1275">
              <a:solidFill>
                <a:srgbClr val="1D2939"/>
              </a:solidFill>
              <a:latin typeface="Arial" panose="020B0604020202020204"/>
              <a:ea typeface="Arial" panose="020B0604020202020204"/>
              <a:cs typeface="Arial" panose="020B0604020202020204"/>
            </a:endParaRPr>
          </a:p>
          <a:p>
            <a:pPr marL="254000" indent="-127000" algn="l">
              <a:lnSpc>
                <a:spcPct val="100000"/>
              </a:lnSpc>
              <a:spcAft>
                <a:spcPts val="1200"/>
              </a:spcAft>
              <a:buNone/>
              <a:defRPr sz="1275">
                <a:solidFill>
                  <a:srgbClr val="1D2939"/>
                </a:solidFill>
                <a:latin typeface="Arial" panose="020B0604020202020204"/>
                <a:ea typeface="Arial" panose="020B0604020202020204"/>
                <a:cs typeface="Arial" panose="020B0604020202020204"/>
              </a:defRPr>
            </a:pPr>
            <a:r>
              <a:rPr sz="1275">
                <a:solidFill>
                  <a:srgbClr val="1D2939"/>
                </a:solidFill>
                <a:latin typeface="Arial" panose="020B0604020202020204"/>
                <a:ea typeface="Arial" panose="020B0604020202020204"/>
                <a:cs typeface="Arial" panose="020B0604020202020204"/>
              </a:rPr>
              <a:t>Bổ sung CI/CD</a:t>
            </a:r>
            <a:endParaRPr sz="1275">
              <a:solidFill>
                <a:srgbClr val="1D2939"/>
              </a:solidFill>
              <a:latin typeface="Arial" panose="020B0604020202020204"/>
              <a:ea typeface="Arial" panose="020B0604020202020204"/>
              <a:cs typeface="Arial" panose="020B0604020202020204"/>
            </a:endParaRPr>
          </a:p>
        </p:txBody>
      </p:sp>
      <p:sp>
        <p:nvSpPr>
          <p:cNvPr id="16" name="Rectangle 15"/>
          <p:cNvSpPr>
            <a:spLocks noGrp="1"/>
          </p:cNvSpPr>
          <p:nvPr/>
        </p:nvSpPr>
        <p:spPr>
          <a:xfrm>
            <a:off x="666750" y="5619750"/>
            <a:ext cx="10858500" cy="552450"/>
          </a:xfrm>
          <a:prstGeom prst="rect">
            <a:avLst/>
          </a:prstGeom>
          <a:noFill/>
          <a:ln w="0">
            <a:noFill/>
            <a:prstDash val="solid"/>
          </a:ln>
        </p:spPr>
        <p:txBody>
          <a:bodyPr wrap="square" lIns="95250" tIns="57150" rIns="95250" bIns="57150" anchor="ctr">
            <a:normAutofit fontScale="91270"/>
          </a:bodyPr>
          <a:lstStyle/>
          <a:p>
            <a:pPr algn="ctr">
              <a:lnSpc>
                <a:spcPct val="100000"/>
              </a:lnSpc>
              <a:buNone/>
              <a:defRPr sz="3150" b="1">
                <a:solidFill>
                  <a:srgbClr val="FFFFFF"/>
                </a:solidFill>
                <a:latin typeface="Arial" panose="020B0604020202020204"/>
                <a:ea typeface="Arial" panose="020B0604020202020204"/>
                <a:cs typeface="Arial" panose="020B0604020202020204"/>
              </a:defRPr>
            </a:pPr>
            <a:r>
              <a:rPr sz="3150" b="1">
                <a:solidFill>
                  <a:srgbClr val="FFFFFF"/>
                </a:solidFill>
                <a:latin typeface="Arial" panose="020B0604020202020204"/>
                <a:ea typeface="Arial" panose="020B0604020202020204"/>
                <a:cs typeface="Arial" panose="020B0604020202020204"/>
              </a:rPr>
              <a:t>Q&amp;A</a:t>
            </a:r>
            <a:endParaRPr sz="3150" b="1">
              <a:solidFill>
                <a:srgbClr val="FFFFFF"/>
              </a:solidFill>
              <a:latin typeface="Arial" panose="020B0604020202020204"/>
              <a:ea typeface="Arial" panose="020B0604020202020204"/>
              <a:cs typeface="Arial" panose="020B0604020202020204"/>
            </a:endParaRPr>
          </a:p>
        </p:txBody>
      </p:sp>
      <p:sp>
        <p:nvSpPr>
          <p:cNvPr id="17" name="Straight Connector 16"/>
          <p:cNvSpPr>
            <a:spLocks noGrp="1"/>
          </p:cNvSpPr>
          <p:nvPr/>
        </p:nvSpPr>
        <p:spPr>
          <a:xfrm>
            <a:off x="666750" y="6477000"/>
            <a:ext cx="10858500" cy="0"/>
          </a:xfrm>
          <a:prstGeom prst="line">
            <a:avLst/>
          </a:prstGeom>
          <a:noFill/>
          <a:ln w="9525">
            <a:solidFill>
              <a:srgbClr val="FFFFFF">
                <a:alpha val="33333"/>
              </a:srgbClr>
            </a:solidFill>
            <a:prstDash val="solid"/>
          </a:ln>
        </p:spPr>
      </p:sp>
      <p:sp>
        <p:nvSpPr>
          <p:cNvPr id="18" name="Rectangle 17"/>
          <p:cNvSpPr>
            <a:spLocks noGrp="1"/>
          </p:cNvSpPr>
          <p:nvPr/>
        </p:nvSpPr>
        <p:spPr>
          <a:xfrm>
            <a:off x="666750" y="6524625"/>
            <a:ext cx="10572750" cy="209550"/>
          </a:xfrm>
          <a:prstGeom prst="rect">
            <a:avLst/>
          </a:prstGeom>
          <a:noFill/>
          <a:ln w="0">
            <a:noFill/>
            <a:prstDash val="solid"/>
          </a:ln>
        </p:spPr>
        <p:txBody>
          <a:bodyPr wrap="square" lIns="0" tIns="0" rIns="0" bIns="0" anchor="t">
            <a:normAutofit/>
          </a:bodyPr>
          <a:lstStyle/>
          <a:p>
            <a:pPr algn="l">
              <a:lnSpc>
                <a:spcPct val="100000"/>
              </a:lnSpc>
              <a:buNone/>
              <a:defRPr sz="825" b="0">
                <a:solidFill>
                  <a:srgbClr val="D9E3EC"/>
                </a:solidFill>
                <a:latin typeface="Arial" panose="020B0604020202020204"/>
                <a:ea typeface="Arial" panose="020B0604020202020204"/>
                <a:cs typeface="Arial" panose="020B0604020202020204"/>
              </a:defRPr>
            </a:pPr>
            <a:r>
              <a:rPr lang="vi-VN" sz="825" b="0">
                <a:solidFill>
                  <a:srgbClr val="D9E3EC"/>
                </a:solidFill>
                <a:latin typeface="Arial" panose="020B0604020202020204"/>
                <a:ea typeface="Arial" panose="020B0604020202020204"/>
                <a:cs typeface="Arial" panose="020B0604020202020204"/>
              </a:rPr>
              <a:t>Nguồn: README.md; docs/deployment_log.md; docs/load_test_results.md</a:t>
            </a:r>
            <a:endParaRPr lang="vi-VN" sz="825" b="0">
              <a:solidFill>
                <a:srgbClr val="D9E3EC"/>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6993</Words>
  <Application>WPS Presentation</Application>
  <PresentationFormat>Converted Presentation</PresentationFormat>
  <Paragraphs>638</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16</vt:i4>
      </vt:variant>
    </vt:vector>
  </HeadingPairs>
  <TitlesOfParts>
    <vt:vector size="24" baseType="lpstr">
      <vt:lpstr>Arial</vt:lpstr>
      <vt:lpstr>SimSun</vt:lpstr>
      <vt:lpstr>Wingdings</vt:lpstr>
      <vt:lpstr>Arial</vt:lpstr>
      <vt:lpstr>Microsoft YaHei</vt:lpstr>
      <vt:lpstr>Arial Unicode MS</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Admin</cp:lastModifiedBy>
  <cp:revision>8</cp:revision>
  <dcterms:created xsi:type="dcterms:W3CDTF">2026-09-27T12:29:00Z</dcterms:created>
  <dcterms:modified xsi:type="dcterms:W3CDTF">2026-10-02T15:32:02Z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CD0675A086CB42FCA49D615082F5B964_12</vt:lpwstr>
  </property>
</Properties>
</file>