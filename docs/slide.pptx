
<file path=[Content_Types].xml><?xml version="1.0" encoding="utf-8"?>
<Types xmlns="http://schemas.openxmlformats.org/package/2006/content-types">
  <Default Extension="xlsx" ContentType="application/vnd.openxmlformats-officedocument.spreadsheetml.sheet"/>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sldIdLst>
    <p:sldId id="256" r:id="rId3"/>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Lst>
  <p:sldSz cx="12192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2" Type="http://schemas.openxmlformats.org/officeDocument/2006/relationships/tableStyles" Target="tableStyles.xml"/><Relationship Id="rId21" Type="http://schemas.openxmlformats.org/officeDocument/2006/relationships/viewProps" Target="viewProps.xml"/><Relationship Id="rId20" Type="http://schemas.openxmlformats.org/officeDocument/2006/relationships/presProps" Target="presProps.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Workbook1.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0" vertOverflow="ellipsis" vert="horz" wrap="square" anchor="ctr" anchorCtr="1"/>
          <a:lstStyle/>
          <a:p>
            <a:pPr>
              <a:defRPr lang="en-US" sz="1800" b="1" i="0" u="none" strike="noStrike" kern="1200" baseline="0">
                <a:solidFill>
                  <a:schemeClr val="tx1"/>
                </a:solidFill>
                <a:latin typeface="+mn-lt"/>
                <a:ea typeface="+mn-ea"/>
                <a:cs typeface="+mn-cs"/>
              </a:defRPr>
            </a:pPr>
            <a:r>
              <a:rPr sz="1275" b="1">
                <a:solidFill>
                  <a:srgbClr val="102A43"/>
                </a:solidFill>
                <a:latin typeface="Arial" panose="020B0604020202020204"/>
                <a:ea typeface="Arial" panose="020B0604020202020204"/>
                <a:cs typeface="Arial" panose="020B0604020202020204"/>
              </a:rPr>
              <a:t>RMSE trên tập test (USD, thấp hơn tốt hơn)</a:t>
            </a:r>
            <a:endParaRPr sz="1275" b="1">
              <a:solidFill>
                <a:srgbClr val="102A43"/>
              </a:solidFill>
              <a:latin typeface="Arial" panose="020B0604020202020204"/>
              <a:ea typeface="Arial" panose="020B0604020202020204"/>
              <a:cs typeface="Arial" panose="020B0604020202020204"/>
            </a:endParaRPr>
          </a:p>
        </c:rich>
      </c:tx>
      <c:layout/>
      <c:overlay val="0"/>
    </c:title>
    <c:autoTitleDeleted val="0"/>
    <c:plotArea>
      <c:layout/>
      <c:barChart>
        <c:barDir val="bar"/>
        <c:grouping val="clustered"/>
        <c:varyColors val="1"/>
        <c:ser>
          <c:idx val="0"/>
          <c:order val="0"/>
          <c:tx>
            <c:strRef>
              <c:f>RMSE</c:f>
              <c:strCache>
                <c:ptCount val="1"/>
                <c:pt idx="0">
                  <c:v>RMSE</c:v>
                </c:pt>
              </c:strCache>
            </c:strRef>
          </c:tx>
          <c:spPr>
            <a:solidFill>
              <a:srgbClr val="167D8D"/>
            </a:solidFill>
          </c:spPr>
          <c:invertIfNegative val="0"/>
          <c:dPt>
            <c:idx val="0"/>
            <c:invertIfNegative val="0"/>
            <c:bubble3D val="0"/>
            <c:spPr>
              <a:solidFill>
                <a:srgbClr val="167D8D"/>
              </a:solidFill>
            </c:spPr>
          </c:dPt>
          <c:dPt>
            <c:idx val="1"/>
            <c:invertIfNegative val="0"/>
            <c:bubble3D val="0"/>
            <c:spPr>
              <a:solidFill>
                <a:srgbClr val="173F5F"/>
              </a:solidFill>
            </c:spPr>
          </c:dPt>
          <c:dPt>
            <c:idx val="2"/>
            <c:invertIfNegative val="0"/>
            <c:bubble3D val="0"/>
            <c:spPr>
              <a:solidFill>
                <a:srgbClr val="E9C46A"/>
              </a:solidFill>
            </c:spPr>
          </c:dPt>
          <c:dPt>
            <c:idx val="3"/>
            <c:invertIfNegative val="0"/>
            <c:bubble3D val="0"/>
            <c:spPr>
              <a:solidFill>
                <a:srgbClr val="E76F51"/>
              </a:solidFill>
            </c:spPr>
          </c:dPt>
          <c:dLbls>
            <c:numFmt formatCode="General" sourceLinked="1"/>
            <c:spPr>
              <a:noFill/>
              <a:ln>
                <a:noFill/>
              </a:ln>
              <a:effectLst/>
            </c:spPr>
            <c:txPr>
              <a:bodyPr rot="0" spcFirstLastPara="0" vertOverflow="ellipsis" vert="horz" wrap="square" lIns="38100" tIns="19050" rIns="38100" bIns="19050" anchor="ctr" anchorCtr="1"/>
              <a:lstStyle/>
              <a:p>
                <a:pPr>
                  <a:defRPr lang="en-US" sz="1000" b="0" i="0" u="none" strike="noStrike" kern="1200" baseline="0">
                    <a:solidFill>
                      <a:schemeClr val="tx1"/>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0"/>
                <c15:leaderLines/>
              </c:ext>
            </c:extLst>
          </c:dLbls>
          <c:cat>
            <c:strRef>
              <c:f>'Chart Data'!$A$2:$A$5</c:f>
              <c:strCache>
                <c:ptCount val="4"/>
                <c:pt idx="0">
                  <c:v>Gradient Boosting</c:v>
                </c:pt>
                <c:pt idx="1">
                  <c:v>Random Forest</c:v>
                </c:pt>
                <c:pt idx="2">
                  <c:v>Decision Tree</c:v>
                </c:pt>
                <c:pt idx="3">
                  <c:v>Linear Regression</c:v>
                </c:pt>
              </c:strCache>
            </c:strRef>
          </c:cat>
          <c:val>
            <c:numRef>
              <c:f>'Chart Data'!$B$2:$B$5</c:f>
              <c:numCache>
                <c:formatCode>General</c:formatCode>
                <c:ptCount val="4"/>
                <c:pt idx="0">
                  <c:v>46839.74</c:v>
                </c:pt>
                <c:pt idx="1">
                  <c:v>50180.69</c:v>
                </c:pt>
                <c:pt idx="2">
                  <c:v>62657.82</c:v>
                </c:pt>
                <c:pt idx="3">
                  <c:v>72701.33</c:v>
                </c:pt>
              </c:numCache>
            </c:numRef>
          </c:val>
        </c:ser>
        <c:dLbls>
          <c:showLegendKey val="0"/>
          <c:showVal val="1"/>
          <c:showCatName val="0"/>
          <c:showSerName val="0"/>
          <c:showPercent val="0"/>
          <c:showBubbleSize val="0"/>
        </c:dLbls>
        <c:gapWidth val="35"/>
        <c:axId val="48650112"/>
        <c:axId val="48672768"/>
      </c:barChart>
      <c:catAx>
        <c:axId val="48650112"/>
        <c:scaling>
          <c:orientation val="minMax"/>
        </c:scaling>
        <c:delete val="0"/>
        <c:axPos val="l"/>
        <c:majorGridlines>
          <c:spPr>
            <a:ln w="9525">
              <a:solidFill>
                <a:srgbClr val="D7E0E8"/>
              </a:solidFill>
              <a:prstDash val="solid"/>
              <a:round/>
            </a:ln>
          </c:spPr>
        </c:majorGridlines>
        <c:numFmt formatCode="#,##0" sourceLinked="1"/>
        <c:majorTickMark val="none"/>
        <c:minorTickMark val="none"/>
        <c:tickLblPos val="nextTo"/>
        <c:spPr>
          <a:ln w="9525">
            <a:solidFill>
              <a:srgbClr val="D4D4D4"/>
            </a:solidFill>
            <a:prstDash val="solid"/>
            <a:round/>
          </a:ln>
        </c:spPr>
        <c:txPr>
          <a:bodyPr rot="-60000000" spcFirstLastPara="0" vertOverflow="ellipsis" vert="horz" wrap="square" anchor="ctr" anchorCtr="1"/>
          <a:lstStyle/>
          <a:p>
            <a:pPr>
              <a:defRPr lang="en-US" sz="900" b="0" i="0" u="none" strike="noStrike" kern="1200" baseline="0">
                <a:solidFill>
                  <a:srgbClr val="5F6C7B"/>
                </a:solidFill>
                <a:latin typeface="Arial" panose="020B0604020202020204"/>
                <a:ea typeface="Arial" panose="020B0604020202020204"/>
                <a:cs typeface="Arial" panose="020B0604020202020204"/>
              </a:defRPr>
            </a:pPr>
          </a:p>
        </c:txPr>
        <c:crossAx val="48672768"/>
        <c:crosses val="autoZero"/>
        <c:auto val="1"/>
        <c:lblAlgn val="ctr"/>
        <c:lblOffset val="100"/>
        <c:noMultiLvlLbl val="0"/>
      </c:catAx>
      <c:valAx>
        <c:axId val="48672768"/>
        <c:scaling>
          <c:orientation val="minMax"/>
        </c:scaling>
        <c:delete val="0"/>
        <c:axPos val="b"/>
        <c:numFmt formatCode="General" sourceLinked="1"/>
        <c:majorTickMark val="none"/>
        <c:minorTickMark val="none"/>
        <c:tickLblPos val="nextTo"/>
        <c:spPr>
          <a:ln w="9525">
            <a:solidFill>
              <a:srgbClr val="D7E0E8"/>
            </a:solidFill>
            <a:prstDash val="solid"/>
            <a:round/>
          </a:ln>
        </c:spPr>
        <c:txPr>
          <a:bodyPr rot="-60000000" spcFirstLastPara="0" vertOverflow="ellipsis" vert="horz" wrap="square" anchor="ctr" anchorCtr="1"/>
          <a:lstStyle/>
          <a:p>
            <a:pPr>
              <a:defRPr lang="en-US" sz="975" b="0" i="0" u="none" strike="noStrike" kern="1200" baseline="0">
                <a:solidFill>
                  <a:srgbClr val="1D2939"/>
                </a:solidFill>
                <a:latin typeface="Arial" panose="020B0604020202020204"/>
                <a:ea typeface="Arial" panose="020B0604020202020204"/>
                <a:cs typeface="Arial" panose="020B0604020202020204"/>
              </a:defRPr>
            </a:pPr>
          </a:p>
        </c:txPr>
        <c:crossAx val="48650112"/>
        <c:crosses val="autoZero"/>
        <c:crossBetween val="between"/>
      </c:valAx>
      <c:spPr>
        <a:solidFill>
          <a:srgbClr val="FFFFFF"/>
        </a:solidFill>
        <a:ln w="0">
          <a:solidFill>
            <a:srgbClr val="FFFFFF"/>
          </a:solidFill>
          <a:prstDash val="solid"/>
        </a:ln>
      </c:spPr>
    </c:plotArea>
    <c:plotVisOnly val="1"/>
    <c:dispBlanksAs val="gap"/>
    <c:showDLblsOverMax val="0"/>
    <c:extLst>
      <c:ext uri="{0b15fc19-7d7d-44ad-8c2d-2c3a37ce22c3}">
        <chartProps xmlns="https://web.wps.cn/et/2018/main" chartId="{3cb23841-030e-40f8-bea9-6d2f839c9e7a}"/>
      </c:ext>
    </c:extLst>
  </c:chart>
  <c:spPr>
    <a:solidFill>
      <a:srgbClr val="FFFFFF"/>
    </a:solidFill>
    <a:ln w="0">
      <a:solidFill>
        <a:srgbClr val="FFFFFF"/>
      </a:solidFill>
      <a:prstDash val="solid"/>
    </a:ln>
  </c:spPr>
  <c:txPr>
    <a:bodyPr/>
    <a:lstStyle/>
    <a:p>
      <a:pPr>
        <a:defRPr lang="en-US"/>
      </a:pPr>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Header Placeholder"/>
          <p:cNvSpPr/>
          <p:nvPr>
            <p:ph type="hdr" sz="quarter"/>
          </p:nvPr>
        </p:nvSpPr>
        <p:spPr>
          <a:prstGeom prst="rect">
            <a:avLst/>
          </a:prstGeom>
        </p:spPr>
        <p:txBody>
          <a:bodyPr/>
          <a:lstStyle/>
          <a:p/>
        </p:txBody>
      </p:sp>
      <p:sp>
        <p:nvSpPr>
          <p:cNvPr id="3" name="Date Placeholder"/>
          <p:cNvSpPr/>
          <p:nvPr>
            <p:ph type="dt" sz="quarter" idx="1"/>
          </p:nvPr>
        </p:nvSpPr>
        <p:spPr>
          <a:prstGeom prst="rect">
            <a:avLst/>
          </a:prstGeom>
        </p:spPr>
        <p:txBody>
          <a:bodyPr/>
          <a:lstStyle/>
          <a:p/>
        </p:txBody>
      </p:sp>
      <p:sp>
        <p:nvSpPr>
          <p:cNvPr id="4" name="Slide Image Placeholder"/>
          <p:cNvSpPr/>
          <p:nvPr>
            <p:ph type="sldImg" idx="2"/>
          </p:nvPr>
        </p:nvSpPr>
        <p:spPr>
          <a:prstGeom prst="rect">
            <a:avLst/>
          </a:prstGeom>
        </p:spPr>
        <p:txBody>
          <a:bodyPr/>
          <a:lstStyle/>
          <a:p/>
        </p:txBody>
      </p:sp>
      <p:sp>
        <p:nvSpPr>
          <p:cNvPr id="5" name="Notes Placeholder"/>
          <p:cNvSpPr/>
          <p:nvPr>
            <p:ph type="body" sz="quarter" idx="3"/>
          </p:nvPr>
        </p:nvSpPr>
        <p:spPr>
          <a:prstGeom prst="rect">
            <a:avLst/>
          </a:prstGeom>
        </p:spPr>
        <p:txBody>
          <a:bodyPr/>
          <a:lstStyle/>
          <a:p/>
        </p:txBody>
      </p:sp>
      <p:sp>
        <p:nvSpPr>
          <p:cNvPr id="6" name="Footer Placeholder"/>
          <p:cNvSpPr/>
          <p:nvPr>
            <p:ph type="ftr" sz="quarter" idx="4"/>
          </p:nvPr>
        </p:nvSpPr>
        <p:spPr>
          <a:prstGeom prst="rect">
            <a:avLst/>
          </a:prstGeom>
        </p:spPr>
        <p:txBody>
          <a:bodyPr/>
          <a:lstStyle/>
          <a:p/>
        </p:txBody>
      </p:sp>
      <p:sp>
        <p:nvSpPr>
          <p:cNvPr id="7" name="Slide Number Placeholder"/>
          <p:cNvSpPr/>
          <p:nvPr>
            <p:ph type="sldNum" sz="quarter" idx="5"/>
          </p:nvPr>
        </p:nvSpPr>
        <p:spPr>
          <a:prstGeom prst="rect">
            <a:avLst/>
          </a:prstGeom>
        </p:spPr>
        <p:txBody>
          <a:bodyPr/>
          <a:lstStyle/>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Thời lượng: 30–40 giây.</a:t>
            </a:r>
          </a:p>
          <a:p>
            <a:r>
              <a:t>Mở đầu bằng mục tiêu: xây dựng quy trình dự đoán giá nhà California từ dữ liệu đến API.</a:t>
            </a:r>
          </a:p>
          <a:p>
            <a:r>
              <a:t>Nhấn mạnh toàn bộ số liệu trong slide lấy từ repository và kết quả chạy thực tế.</a:t>
            </a:r>
          </a:p>
          <a:p>
            <a:r>
              <a:t>Chuyển ý: bắt đầu từ bài toán và tiêu chí đánh giá.</a:t>
            </a:r>
          </a:p>
          <a:p>
            <a:r>
              <a:t>Nguồn: README.md; ai-models/notebooks/ML_Project.ipynb.</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Thời lượng: 45 giây.</a:t>
            </a:r>
          </a:p>
          <a:p>
            <a:r>
              <a:t>Giải thích đây là bài toán supervised regression. Input API gồm 9 trường gốc; backend tạo thêm 3 tỷ lệ trước khi gọi AI service.</a:t>
            </a:r>
          </a:p>
          <a:p>
            <a:r>
              <a:t>Ba chỉ số chính là RMSE, MAE và R².</a:t>
            </a:r>
          </a:p>
          <a:p>
            <a:r>
              <a:t>Chuyển ý: dữ liệu nền cho bài toán có quy mô và chất lượng như thế nào?</a:t>
            </a:r>
          </a:p>
          <a:p>
            <a:r>
              <a:t>Nguồn: ai-models/src/train.py; ai-service/app/schemas.py; backend/app/schemas.py.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Thời lượng: 50 giây.</a:t>
            </a:r>
          </a:p>
          <a:p>
            <a:r>
              <a:t>Nêu quy mô 20.640 dòng và 10 cột, trong đó 9 feature và 1 target.</a:t>
            </a:r>
          </a:p>
          <a:p>
            <a:r>
              <a:t>Chỉ total_bedrooms có dữ liệu thiếu: 207 dòng.</a:t>
            </a:r>
          </a:p>
          <a:p>
            <a:r>
              <a:t>Lưu ý giá trị mục tiêu bị chặn ở 500.001 USD, có thể ảnh hưởng các dự đoán ở phân khúc cao.</a:t>
            </a:r>
          </a:p>
          <a:p>
            <a:r>
              <a:t>Chuyển ý: xem phân phối và chất lượng dữ liệu bằng các hình EDA thực tế.</a:t>
            </a:r>
          </a:p>
          <a:p>
            <a:r>
              <a:t>Nguồn: ai-models/data/housing.csv.zip; ai-models/notebooks/01_eda.ipynb.</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Thời lượng: 60 giây.</a:t>
            </a:r>
          </a:p>
          <a:p>
            <a:r>
              <a:t>Hình trái: target có phân phối lệch phải và hiệu ứng trần.</a:t>
            </a:r>
          </a:p>
          <a:p>
            <a:r>
              <a:t>Hình giữa: phân phối median_income và housing_median_age.</a:t>
            </a:r>
          </a:p>
          <a:p>
            <a:r>
              <a:t>Hình phải: heatmap cho thấy missing chỉ nằm ở total_bedrooms.</a:t>
            </a:r>
          </a:p>
          <a:p>
            <a:r>
              <a:t>Quyết định kỹ thuật: dùng median imputation và đánh giá bằng metric ít nhạy hơn với outlier bên cạnh RMSE.</a:t>
            </a:r>
          </a:p>
          <a:p>
            <a:r>
              <a:t>Chuyển ý: tiếp theo xem các quan hệ giữa feature và target.</a:t>
            </a:r>
          </a:p>
          <a:p>
            <a:r>
              <a:t>Nguồn hình: ai-models/notebooks/ML_Project.ipynb.</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Thời lượng: 60 giây.</a:t>
            </a:r>
          </a:p>
          <a:p>
            <a:r>
              <a:t>median_income có tương quan 0,688 với giá nhà, mạnh nhất trong các biến số. latitude có tương quan âm khoảng -0,144.</a:t>
            </a:r>
          </a:p>
          <a:p>
            <a:r>
              <a:t>Scatter cho thấy quan hệ không hoàn toàn tuyến tính và target có mức trần. Pairplot củng cố lựa chọn thử các mô hình cây và boosting.</a:t>
            </a:r>
          </a:p>
          <a:p>
            <a:r>
              <a:t>Chuyển ý: từ quan sát EDA, pipeline tiền xử lý được thiết kế như sau.</a:t>
            </a:r>
          </a:p>
          <a:p>
            <a:r>
              <a:t>Nguồn: ai-models/notebooks/ML_Project.ipynb; ai-models/data/housing.csv.zip.</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Thời lượng: 60 giây.</a:t>
            </a:r>
          </a:p>
          <a:p>
            <a:r>
              <a:t>Đi qua 5 bước: split, median imputation, feature engineering, scale/encode và ghép pipeline.</a:t>
            </a:r>
          </a:p>
          <a:p>
            <a:r>
              <a:t>Ba đặc trưng tạo thêm là rooms_per_household, bedrooms_per_room, population_per_household.</a:t>
            </a:r>
          </a:p>
          <a:p>
            <a:r>
              <a:t>Nêu rõ giới hạn hiện tại: imputer không nằm trong artifact cuối; API validation hiện yêu cầu trường đầu vào đầy đủ.</a:t>
            </a:r>
          </a:p>
          <a:p>
            <a:r>
              <a:t>Chuyển ý: pipeline này được dùng để huấn luyện bốn nhóm model.</a:t>
            </a:r>
          </a:p>
          <a:p>
            <a:r>
              <a:t>Nguồn: ai-models/src/preprocess.py; ai-models/src/train.py; ai-service/app/model.py.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Thời lượng: 45 giây.</a:t>
            </a:r>
          </a:p>
          <a:p>
            <a:r>
              <a:t>Giải thích vai trò của bốn model: linear làm baseline; ba model cây xử lý phi tuyến.</a:t>
            </a:r>
          </a:p>
          <a:p>
            <a:r>
              <a:t>Decision Tree dùng GridSearchCV. Random Forest và Gradient Boosting dùng RandomizedSearchCV để giới hạn chi phí tìm kiếm.</a:t>
            </a:r>
          </a:p>
          <a:p>
            <a:r>
              <a:t>Chuyển ý: toàn bộ model đi qua cùng một quy trình huấn luyện và test.</a:t>
            </a:r>
          </a:p>
          <a:p>
            <a:r>
              <a:t>Nguồn: ai-models/src/train.py.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Thời lượng: 55 giây.</a:t>
            </a:r>
          </a:p>
          <a:p>
            <a:r>
              <a:t>Mô tả cách tránh leakage: giữ tập test riêng; các bước fit thực hiện trên train.</a:t>
            </a:r>
          </a:p>
          <a:p>
            <a:r>
              <a:t>Tìm kiếm tham số dùng 5-fold cross-validation và neg_mean_squared_error.</a:t>
            </a:r>
          </a:p>
          <a:p>
            <a:r>
              <a:t>Kết quả chạy lại cho thấy Gradient Boosting có CV RMSE và test RMSE tốt nhất.</a:t>
            </a:r>
          </a:p>
          <a:p>
            <a:r>
              <a:t>Chuyển ý: xem bảng so sánh định lượng giữa bốn model.</a:t>
            </a:r>
          </a:p>
          <a:p>
            <a:r>
              <a:t>Nguồn: ai-models/src/train.py; log chạy thực tế ngày 27/09/2026.</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Thời lượng: 70 giây.</a:t>
            </a:r>
          </a:p>
          <a:p>
            <a:r>
              <a:t>Đọc biểu đồ từ tốt đến kém theo RMSE. Gradient Boosting tốt nhất với test RMSE 46.839,74; tiếp theo là Random Forest 50.180,69.</a:t>
            </a:r>
          </a:p>
          <a:p>
            <a:r>
              <a:t>Bảng bên phải bổ sung MAE và R². Gradient Boosting cũng dẫn đầu với MAE 30.660,42 và R² 0,8326.</a:t>
            </a:r>
          </a:p>
          <a:p>
            <a:r>
              <a:t>Các số này là kết quả chạy lại; metadata artifact hiện lưu một lần train khác, sẽ trình bày ở slide tiếp theo.</a:t>
            </a:r>
          </a:p>
          <a:p>
            <a:r>
              <a:t>Nguồn: log chạy ai-models/src/train.py --search ngày 27/09/2026.</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Thời lượng: 60 giây.</a:t>
            </a:r>
          </a:p>
          <a:p>
            <a:r>
              <a:t>Artifact cuối là Pipeline chứa preprocessor và GradientBoostingRegressor.</a:t>
            </a:r>
          </a:p>
          <a:p>
            <a:r>
              <a:t>Metadata lưu RMSE 46.794,54, MAE 30.649,37 và R² 0,8329. Số này chênh nhẹ so với lần chạy lại vì là hai lần huấn luyện khác nhau.</a:t>
            </a:r>
          </a:p>
          <a:p>
            <a:r>
              <a:t>Model artifact có kích thước khoảng 1,03 MiB và version 1.0.0.</a:t>
            </a:r>
          </a:p>
          <a:p>
            <a:r>
              <a:t>Chuyển ý: model được đưa vào kiến trúc bốn service.</a:t>
            </a:r>
          </a:p>
          <a:p>
            <a:r>
              <a:t>Nguồn: ai-models/models/model.joblib; ai-models/models/metadata.json; ai-models/notebooks/ML_Project.ipynb.</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Thời lượng: 60 giây.</a:t>
            </a:r>
          </a:p>
          <a:p>
            <a:r>
              <a:t>Frontend nhận dữ liệu người dùng và gọi backend. Backend validate, tạo feature và điều phối. AI service tải model để dự đoán. MongoDB lưu lịch sử nếu kết nối khả dụng.</a:t>
            </a:r>
          </a:p>
          <a:p>
            <a:r>
              <a:t>Bốn service chạy trong Docker Compose với các cổng 3000, 8000, 8001 và 27017.</a:t>
            </a:r>
          </a:p>
          <a:p>
            <a:r>
              <a:t>Chuyển ý: xem chi tiết một request đi qua hệ thống.</a:t>
            </a:r>
          </a:p>
          <a:p>
            <a:r>
              <a:t>Nguồn: docker-compose.yml; frontend/app/main.py; backend/app/main.py; ai-service/app/main.py.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Thời lượng: 60 giây.</a:t>
            </a:r>
          </a:p>
          <a:p>
            <a:r>
              <a:t>Đi theo số thứ tự 1 đến 6. Điểm kỹ thuật quan trọng là backend tạo ba tỷ lệ trước khi gọi AI service.</a:t>
            </a:r>
          </a:p>
          <a:p>
            <a:r>
              <a:t>X-Request-ID giúp truy vết một yêu cầu qua nhiều service.</a:t>
            </a:r>
          </a:p>
          <a:p>
            <a:r>
              <a:t>Việc lưu MongoDB được thiết kế không làm thất bại response dự đoán nếu database tạm thời không sẵn sàng.</a:t>
            </a:r>
          </a:p>
          <a:p>
            <a:r>
              <a:t>Chuyển ý: đóng gói và trạng thái triển khai hiện tại.</a:t>
            </a:r>
          </a:p>
          <a:p>
            <a:r>
              <a:t>Nguồn: frontend/app/main.py; backend/app/main.py; backend/app/services/ai_client.py.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Thời lượng: 60 giây.</a:t>
            </a:r>
          </a:p>
          <a:p>
            <a:r>
              <a:t>Compose định nghĩa đủ bốn service và cấu hình được parse thành công bằng lệnh config.</a:t>
            </a:r>
          </a:p>
          <a:p>
            <a:r>
              <a:t>Không khẳng định Docker chạy end-to-end vì daemon không hoạt động trong lúc đánh giá.</a:t>
            </a:r>
          </a:p>
          <a:p>
            <a:r>
              <a:t>Repository chưa có URL public; trạng thái được ghi rõ là đang chuẩn bị.</a:t>
            </a:r>
          </a:p>
          <a:p>
            <a:r>
              <a:t>Chuyển ý: dù chưa chạy Docker đầy đủ, unit test và smoke test cục bộ đã được thực hiện.</a:t>
            </a:r>
          </a:p>
          <a:p>
            <a:r>
              <a:t>Nguồn: docker-compose.yml; .env.example; README.md; kết quả lệnh docker compose config.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Thời lượng: 65 giây.</a:t>
            </a:r>
          </a:p>
          <a:p>
            <a:r>
              <a:t>Tổng cộng 12 test pytest pass: 7 cho AI service và 5 cho backend.</a:t>
            </a:r>
          </a:p>
          <a:p>
            <a:r>
              <a:t>Smoke test khởi động backend và AI service cục bộ, gọi predict thành công với giá dự đoán 262.225,38 USD và model version 1.0.0.</a:t>
            </a:r>
          </a:p>
          <a:p>
            <a:r>
              <a:t>Trình bày trung thực giới hạn: MongoDB không chạy, nên persistence và history chưa được xác nhận.</a:t>
            </a:r>
          </a:p>
          <a:p>
            <a:r>
              <a:t>Chuyển ý: load test đã có kịch bản nhưng chưa có kết quả đo.</a:t>
            </a:r>
          </a:p>
          <a:p>
            <a:r>
              <a:t>Nguồn: ai-service/tests; backend/tests; tests/smoke/smoke_test.py; log chạy ngày 27/09/2026.</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Thời lượng: 55 giây.</a:t>
            </a:r>
          </a:p>
          <a:p>
            <a:r>
              <a:t>Repository đã chuẩn bị script k6 với 10 VUs, 60 giây, ngưỡng p95 dưới 2 giây và error rate dưới 1%.</a:t>
            </a:r>
          </a:p>
          <a:p>
            <a:r>
              <a:t>Tuy nhiên k6 chưa có trong môi trường, nên không báo cáo p95, throughput hay error rate thực tế. Lighthouse cũng chưa đo.</a:t>
            </a:r>
          </a:p>
          <a:p>
            <a:r>
              <a:t>Chuyển ý: tổng kết kết quả đạt được và các bước cần hoàn thiện.</a:t>
            </a:r>
          </a:p>
          <a:p>
            <a:r>
              <a:t>Nguồn: tests/load/predict.js; docs/performance-test.md.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Thời lượng: 60 giây.</a:t>
            </a:r>
          </a:p>
          <a:p>
            <a:r>
              <a:t>Kết luận: dự án đã đi đủ chuỗi dữ liệu, mô hình, API và kiểm thử cơ bản. Gradient Boosting là model tốt nhất trong bốn model đã chạy.</a:t>
            </a:r>
          </a:p>
          <a:p>
            <a:r>
              <a:t>Nêu thẳng các phần chưa hoàn tất: deploy public, Docker end-to-end, Mongo history và benchmark hiệu năng.</a:t>
            </a:r>
          </a:p>
          <a:p>
            <a:r>
              <a:t>Đề xuất ưu tiên: chạy Compose đầy đủ, bổ sung benchmark, pin dependency và thiết lập CI/CD.</a:t>
            </a:r>
          </a:p>
          <a:p>
            <a:r>
              <a:t>Mời câu hỏi.</a:t>
            </a:r>
          </a:p>
          <a:p>
            <a:r>
              <a:t>Nguồn: tổng hợp toàn repository và kết quả kiểm tra ngày 27/09/2026.</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5" Type="http://schemas.openxmlformats.org/officeDocument/2006/relationships/notesSlide" Target="../notesSlides/notesSlide4.xml"/><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image" Target="../media/image2.png"/></Relationships>
</file>

<file path=ppt/slides/_rels/slide5.xml.rels><?xml version="1.0" encoding="UTF-8" standalone="yes"?>
<Relationships xmlns="http://schemas.openxmlformats.org/package/2006/relationships"><Relationship Id="rId5" Type="http://schemas.openxmlformats.org/officeDocument/2006/relationships/notesSlide" Target="../notesSlides/notesSlide5.xml"/><Relationship Id="rId4" Type="http://schemas.openxmlformats.org/officeDocument/2006/relationships/slideLayout" Target="../slideLayouts/slideLayout1.xml"/><Relationship Id="rId3"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image" Target="../media/image5.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xml"/><Relationship Id="rId1" Type="http://schemas.openxmlformats.org/officeDocument/2006/relationships/chart" Target="../charts/chart1.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xml"/><Relationship Id="rId1" Type="http://schemas.openxmlformats.org/officeDocument/2006/relationships/image" Target="../media/image7.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02A43"/>
        </a:solidFill>
        <a:effectLst/>
      </p:bgPr>
    </p:bg>
    <p:spTree>
      <p:nvGrpSpPr>
        <p:cNvPr id="1" name=""/>
        <p:cNvGrpSpPr/>
        <p:nvPr/>
      </p:nvGrpSpPr>
      <p:grpSpPr/>
      <p:sp>
        <p:nvSpPr>
          <p:cNvPr id="13" name="Rectangle 12"/>
          <p:cNvSpPr>
            <a:spLocks noGrp="1"/>
          </p:cNvSpPr>
          <p:nvPr/>
        </p:nvSpPr>
        <p:spPr>
          <a:xfrm>
            <a:off x="0" y="0"/>
            <a:ext cx="12192000" cy="6858000"/>
          </a:xfrm>
          <a:prstGeom prst="rect">
            <a:avLst/>
          </a:prstGeom>
          <a:solidFill>
            <a:srgbClr val="102A43"/>
          </a:solidFill>
          <a:ln w="0">
            <a:noFill/>
            <a:prstDash val="solid"/>
          </a:ln>
        </p:spPr>
      </p:sp>
      <p:sp>
        <p:nvSpPr>
          <p:cNvPr id="2" name="Rectangle 1"/>
          <p:cNvSpPr>
            <a:spLocks noGrp="1"/>
          </p:cNvSpPr>
          <p:nvPr/>
        </p:nvSpPr>
        <p:spPr>
          <a:xfrm>
            <a:off x="7096125" y="0"/>
            <a:ext cx="5095875" cy="6858000"/>
          </a:xfrm>
          <a:prstGeom prst="rect">
            <a:avLst/>
          </a:prstGeom>
          <a:solidFill>
            <a:srgbClr val="FFFFFF"/>
          </a:solidFill>
          <a:ln w="0">
            <a:noFill/>
            <a:prstDash val="solid"/>
          </a:ln>
        </p:spPr>
      </p:sp>
      <p:pic>
        <p:nvPicPr>
          <p:cNvPr id="15" name="Picture 14"/>
          <p:cNvPicPr>
            <a:picLocks noChangeAspect="1"/>
          </p:cNvPicPr>
          <p:nvPr/>
        </p:nvPicPr>
        <p:blipFill>
          <a:blip r:embed="rId1"/>
          <a:stretch>
            <a:fillRect/>
          </a:stretch>
        </p:blipFill>
        <p:spPr>
          <a:xfrm>
            <a:off x="7286625" y="1783796"/>
            <a:ext cx="4619625" cy="3147534"/>
          </a:xfrm>
          <a:prstGeom prst="roundRect">
            <a:avLst>
              <a:gd name="adj" fmla="val 1237"/>
            </a:avLst>
          </a:prstGeom>
        </p:spPr>
      </p:pic>
      <p:sp>
        <p:nvSpPr>
          <p:cNvPr id="4" name="Rectangle 3"/>
          <p:cNvSpPr>
            <a:spLocks noGrp="1"/>
          </p:cNvSpPr>
          <p:nvPr/>
        </p:nvSpPr>
        <p:spPr>
          <a:xfrm>
            <a:off x="7096125" y="0"/>
            <a:ext cx="95250" cy="6858000"/>
          </a:xfrm>
          <a:prstGeom prst="rect">
            <a:avLst/>
          </a:prstGeom>
          <a:solidFill>
            <a:srgbClr val="E76F51"/>
          </a:solidFill>
          <a:ln w="0">
            <a:noFill/>
            <a:prstDash val="solid"/>
          </a:ln>
        </p:spPr>
      </p:sp>
      <p:sp>
        <p:nvSpPr>
          <p:cNvPr id="5" name="Rectangle 4"/>
          <p:cNvSpPr>
            <a:spLocks noGrp="1"/>
          </p:cNvSpPr>
          <p:nvPr/>
        </p:nvSpPr>
        <p:spPr>
          <a:xfrm>
            <a:off x="685800" y="590550"/>
            <a:ext cx="5572125" cy="266700"/>
          </a:xfrm>
          <a:prstGeom prst="rect">
            <a:avLst/>
          </a:prstGeom>
          <a:noFill/>
          <a:ln w="0">
            <a:noFill/>
            <a:prstDash val="solid"/>
          </a:ln>
        </p:spPr>
        <p:txBody>
          <a:bodyPr wrap="square" lIns="0" tIns="0" rIns="0" bIns="0" anchor="t">
            <a:normAutofit/>
          </a:bodyPr>
          <a:lstStyle/>
          <a:p>
            <a:pPr algn="l">
              <a:lnSpc>
                <a:spcPct val="100000"/>
              </a:lnSpc>
              <a:buNone/>
              <a:defRPr sz="1050" b="1">
                <a:solidFill>
                  <a:srgbClr val="E9C46A"/>
                </a:solidFill>
                <a:latin typeface="Arial" panose="020B0604020202020204"/>
                <a:ea typeface="Arial" panose="020B0604020202020204"/>
                <a:cs typeface="Arial" panose="020B0604020202020204"/>
              </a:defRPr>
            </a:pPr>
            <a:r>
              <a:rPr sz="1050" b="1">
                <a:solidFill>
                  <a:srgbClr val="E9C46A"/>
                </a:solidFill>
                <a:latin typeface="Arial" panose="020B0604020202020204"/>
                <a:ea typeface="Arial" panose="020B0604020202020204"/>
                <a:cs typeface="Arial" panose="020B0604020202020204"/>
              </a:rPr>
              <a:t>BÁO CÁO BÀI TẬP LỚN</a:t>
            </a:r>
            <a:endParaRPr sz="1050" b="1">
              <a:solidFill>
                <a:srgbClr val="E9C46A"/>
              </a:solidFill>
              <a:latin typeface="Arial" panose="020B0604020202020204"/>
              <a:ea typeface="Arial" panose="020B0604020202020204"/>
              <a:cs typeface="Arial" panose="020B0604020202020204"/>
            </a:endParaRPr>
          </a:p>
        </p:txBody>
      </p:sp>
      <p:sp>
        <p:nvSpPr>
          <p:cNvPr id="6" name="Rectangle 5"/>
          <p:cNvSpPr>
            <a:spLocks noGrp="1"/>
          </p:cNvSpPr>
          <p:nvPr/>
        </p:nvSpPr>
        <p:spPr>
          <a:xfrm>
            <a:off x="685800" y="1143000"/>
            <a:ext cx="5715000" cy="1619250"/>
          </a:xfrm>
          <a:prstGeom prst="rect">
            <a:avLst/>
          </a:prstGeom>
          <a:noFill/>
          <a:ln w="0">
            <a:noFill/>
            <a:prstDash val="solid"/>
          </a:ln>
        </p:spPr>
        <p:txBody>
          <a:bodyPr wrap="square" lIns="0" tIns="0" rIns="0" bIns="0" anchor="t">
            <a:normAutofit/>
          </a:bodyPr>
          <a:lstStyle/>
          <a:p>
            <a:pPr algn="l">
              <a:lnSpc>
                <a:spcPct val="92000"/>
              </a:lnSpc>
              <a:buNone/>
              <a:defRPr sz="3750" b="1">
                <a:solidFill>
                  <a:srgbClr val="FFFFFF"/>
                </a:solidFill>
                <a:latin typeface="Arial" panose="020B0604020202020204"/>
                <a:ea typeface="Arial" panose="020B0604020202020204"/>
                <a:cs typeface="Arial" panose="020B0604020202020204"/>
              </a:defRPr>
            </a:pPr>
            <a:r>
              <a:rPr sz="3750" b="1">
                <a:solidFill>
                  <a:srgbClr val="FFFFFF"/>
                </a:solidFill>
                <a:latin typeface="Arial" panose="020B0604020202020204"/>
                <a:ea typeface="Arial" panose="020B0604020202020204"/>
                <a:cs typeface="Arial" panose="020B0604020202020204"/>
              </a:rPr>
              <a:t>DỰ ĐOÁN GIÁ NHÀ</a:t>
            </a:r>
            <a:endParaRPr sz="3750" b="1">
              <a:solidFill>
                <a:srgbClr val="FFFFFF"/>
              </a:solidFill>
              <a:latin typeface="Arial" panose="020B0604020202020204"/>
              <a:ea typeface="Arial" panose="020B0604020202020204"/>
              <a:cs typeface="Arial" panose="020B0604020202020204"/>
            </a:endParaRPr>
          </a:p>
          <a:p>
            <a:pPr algn="l">
              <a:lnSpc>
                <a:spcPct val="92000"/>
              </a:lnSpc>
              <a:buNone/>
              <a:defRPr sz="3750" b="1">
                <a:solidFill>
                  <a:srgbClr val="FFFFFF"/>
                </a:solidFill>
                <a:latin typeface="Arial" panose="020B0604020202020204"/>
                <a:ea typeface="Arial" panose="020B0604020202020204"/>
                <a:cs typeface="Arial" panose="020B0604020202020204"/>
              </a:defRPr>
            </a:pPr>
            <a:r>
              <a:rPr sz="3750" b="1">
                <a:solidFill>
                  <a:srgbClr val="FFFFFF"/>
                </a:solidFill>
                <a:latin typeface="Arial" panose="020B0604020202020204"/>
                <a:ea typeface="Arial" panose="020B0604020202020204"/>
                <a:cs typeface="Arial" panose="020B0604020202020204"/>
              </a:rPr>
              <a:t>CALIFORNIA</a:t>
            </a:r>
            <a:endParaRPr sz="3750" b="1">
              <a:solidFill>
                <a:srgbClr val="FFFFFF"/>
              </a:solidFill>
              <a:latin typeface="Arial" panose="020B0604020202020204"/>
              <a:ea typeface="Arial" panose="020B0604020202020204"/>
              <a:cs typeface="Arial" panose="020B0604020202020204"/>
            </a:endParaRPr>
          </a:p>
        </p:txBody>
      </p:sp>
      <p:sp>
        <p:nvSpPr>
          <p:cNvPr id="7" name="Rectangle 6"/>
          <p:cNvSpPr>
            <a:spLocks noGrp="1"/>
          </p:cNvSpPr>
          <p:nvPr/>
        </p:nvSpPr>
        <p:spPr>
          <a:xfrm>
            <a:off x="685800" y="2952750"/>
            <a:ext cx="5572125" cy="361950"/>
          </a:xfrm>
          <a:prstGeom prst="rect">
            <a:avLst/>
          </a:prstGeom>
          <a:noFill/>
          <a:ln w="0">
            <a:noFill/>
            <a:prstDash val="solid"/>
          </a:ln>
        </p:spPr>
        <p:txBody>
          <a:bodyPr wrap="square" lIns="0" tIns="0" rIns="0" bIns="0" anchor="t">
            <a:normAutofit/>
          </a:bodyPr>
          <a:lstStyle/>
          <a:p>
            <a:pPr algn="l">
              <a:lnSpc>
                <a:spcPct val="100000"/>
              </a:lnSpc>
              <a:buNone/>
              <a:defRPr sz="1800" b="0">
                <a:solidFill>
                  <a:srgbClr val="D9E3EC"/>
                </a:solidFill>
                <a:latin typeface="Arial" panose="020B0604020202020204"/>
                <a:ea typeface="Arial" panose="020B0604020202020204"/>
                <a:cs typeface="Arial" panose="020B0604020202020204"/>
              </a:defRPr>
            </a:pPr>
            <a:r>
              <a:rPr sz="1800" b="0">
                <a:solidFill>
                  <a:srgbClr val="D9E3EC"/>
                </a:solidFill>
                <a:latin typeface="Arial" panose="020B0604020202020204"/>
                <a:ea typeface="Arial" panose="020B0604020202020204"/>
                <a:cs typeface="Arial" panose="020B0604020202020204"/>
              </a:rPr>
              <a:t>California Housing Price Prediction</a:t>
            </a:r>
            <a:endParaRPr sz="1800" b="0">
              <a:solidFill>
                <a:srgbClr val="D9E3EC"/>
              </a:solidFill>
              <a:latin typeface="Arial" panose="020B0604020202020204"/>
              <a:ea typeface="Arial" panose="020B0604020202020204"/>
              <a:cs typeface="Arial" panose="020B0604020202020204"/>
            </a:endParaRPr>
          </a:p>
        </p:txBody>
      </p:sp>
      <p:sp>
        <p:nvSpPr>
          <p:cNvPr id="8" name="Rectangle 7"/>
          <p:cNvSpPr>
            <a:spLocks noGrp="1"/>
          </p:cNvSpPr>
          <p:nvPr/>
        </p:nvSpPr>
        <p:spPr>
          <a:xfrm>
            <a:off x="685800" y="3571875"/>
            <a:ext cx="4572000" cy="304800"/>
          </a:xfrm>
          <a:prstGeom prst="rect">
            <a:avLst/>
          </a:prstGeom>
          <a:noFill/>
          <a:ln w="0">
            <a:noFill/>
            <a:prstDash val="solid"/>
          </a:ln>
        </p:spPr>
        <p:txBody>
          <a:bodyPr wrap="square" lIns="0" tIns="0" rIns="0" bIns="0" anchor="t">
            <a:normAutofit/>
          </a:bodyPr>
          <a:lstStyle/>
          <a:p>
            <a:pPr algn="l">
              <a:lnSpc>
                <a:spcPct val="100000"/>
              </a:lnSpc>
              <a:buNone/>
              <a:defRPr sz="1350" b="1">
                <a:solidFill>
                  <a:srgbClr val="2A9D8F"/>
                </a:solidFill>
                <a:latin typeface="Arial" panose="020B0604020202020204"/>
                <a:ea typeface="Arial" panose="020B0604020202020204"/>
                <a:cs typeface="Arial" panose="020B0604020202020204"/>
              </a:defRPr>
            </a:pPr>
            <a:r>
              <a:rPr sz="1350" b="1">
                <a:solidFill>
                  <a:srgbClr val="2A9D8F"/>
                </a:solidFill>
                <a:latin typeface="Arial" panose="020B0604020202020204"/>
                <a:ea typeface="Arial" panose="020B0604020202020204"/>
                <a:cs typeface="Arial" panose="020B0604020202020204"/>
              </a:rPr>
              <a:t>Machine Learning · FastAPI · Docker</a:t>
            </a:r>
            <a:endParaRPr sz="1350" b="1">
              <a:solidFill>
                <a:srgbClr val="2A9D8F"/>
              </a:solidFill>
              <a:latin typeface="Arial" panose="020B0604020202020204"/>
              <a:ea typeface="Arial" panose="020B0604020202020204"/>
              <a:cs typeface="Arial" panose="020B0604020202020204"/>
            </a:endParaRPr>
          </a:p>
        </p:txBody>
      </p:sp>
      <p:sp>
        <p:nvSpPr>
          <p:cNvPr id="9" name="Rectangle 8"/>
          <p:cNvSpPr>
            <a:spLocks noGrp="1"/>
          </p:cNvSpPr>
          <p:nvPr/>
        </p:nvSpPr>
        <p:spPr>
          <a:xfrm>
            <a:off x="685800" y="4580890"/>
            <a:ext cx="4953000" cy="876935"/>
          </a:xfrm>
          <a:prstGeom prst="rect">
            <a:avLst/>
          </a:prstGeom>
          <a:noFill/>
          <a:ln w="0">
            <a:noFill/>
            <a:prstDash val="solid"/>
          </a:ln>
        </p:spPr>
        <p:txBody>
          <a:bodyPr wrap="square" lIns="0" tIns="0" rIns="0" bIns="0" anchor="t">
            <a:normAutofit lnSpcReduction="10000"/>
          </a:bodyPr>
          <a:lstStyle/>
          <a:p>
            <a:pPr algn="l">
              <a:lnSpc>
                <a:spcPct val="100000"/>
              </a:lnSpc>
              <a:buNone/>
              <a:defRPr sz="1500" b="1">
                <a:solidFill>
                  <a:srgbClr val="FFFFFF"/>
                </a:solidFill>
                <a:latin typeface="Arial" panose="020B0604020202020204"/>
                <a:ea typeface="Arial" panose="020B0604020202020204"/>
                <a:cs typeface="Arial" panose="020B0604020202020204"/>
              </a:defRPr>
            </a:pPr>
            <a:endParaRPr lang="vi-VN" sz="1500" b="1">
              <a:solidFill>
                <a:srgbClr val="FFFFFF"/>
              </a:solidFill>
              <a:latin typeface="Arial" panose="020B0604020202020204"/>
              <a:ea typeface="Arial" panose="020B0604020202020204"/>
              <a:cs typeface="Arial" panose="020B0604020202020204"/>
            </a:endParaRPr>
          </a:p>
          <a:p>
            <a:pPr algn="l">
              <a:lnSpc>
                <a:spcPct val="100000"/>
              </a:lnSpc>
              <a:buNone/>
              <a:defRPr sz="1500" b="1">
                <a:solidFill>
                  <a:srgbClr val="FFFFFF"/>
                </a:solidFill>
                <a:latin typeface="Arial" panose="020B0604020202020204"/>
                <a:ea typeface="Arial" panose="020B0604020202020204"/>
                <a:cs typeface="Arial" panose="020B0604020202020204"/>
              </a:defRPr>
            </a:pPr>
            <a:r>
              <a:rPr lang="vi-VN" sz="1500" b="1">
                <a:solidFill>
                  <a:srgbClr val="FFFFFF"/>
                </a:solidFill>
                <a:latin typeface="Arial" panose="020B0604020202020204"/>
                <a:ea typeface="Arial" panose="020B0604020202020204"/>
                <a:cs typeface="Arial" panose="020B0604020202020204"/>
              </a:rPr>
              <a:t>Thành Viên: </a:t>
            </a:r>
            <a:endParaRPr lang="vi-VN" sz="1500" b="1">
              <a:solidFill>
                <a:srgbClr val="FFFFFF"/>
              </a:solidFill>
              <a:latin typeface="Arial" panose="020B0604020202020204"/>
              <a:ea typeface="Arial" panose="020B0604020202020204"/>
              <a:cs typeface="Arial" panose="020B0604020202020204"/>
            </a:endParaRPr>
          </a:p>
          <a:p>
            <a:pPr indent="457200" algn="l">
              <a:lnSpc>
                <a:spcPct val="100000"/>
              </a:lnSpc>
              <a:buNone/>
              <a:defRPr sz="1500" b="1">
                <a:solidFill>
                  <a:srgbClr val="FFFFFF"/>
                </a:solidFill>
                <a:latin typeface="Arial" panose="020B0604020202020204"/>
                <a:ea typeface="Arial" panose="020B0604020202020204"/>
                <a:cs typeface="Arial" panose="020B0604020202020204"/>
              </a:defRPr>
            </a:pPr>
            <a:r>
              <a:rPr lang="vi-VN" sz="1500" b="1">
                <a:solidFill>
                  <a:srgbClr val="FFFFFF"/>
                </a:solidFill>
                <a:latin typeface="Arial" panose="020B0604020202020204"/>
                <a:ea typeface="Arial" panose="020B0604020202020204"/>
                <a:cs typeface="Arial" panose="020B0604020202020204"/>
              </a:rPr>
              <a:t>Nguyễn Đức Minh - </a:t>
            </a:r>
            <a:r>
              <a:rPr lang="vi-VN" sz="1500" b="1">
                <a:solidFill>
                  <a:srgbClr val="FFFFFF"/>
                </a:solidFill>
                <a:latin typeface="Arial" panose="020B0604020202020204"/>
                <a:ea typeface="Arial" panose="020B0604020202020204"/>
                <a:cs typeface="Arial" panose="020B0604020202020204"/>
              </a:rPr>
              <a:t>10123224</a:t>
            </a:r>
            <a:endParaRPr lang="vi-VN" sz="1500" b="1">
              <a:solidFill>
                <a:srgbClr val="FFFFFF"/>
              </a:solidFill>
              <a:latin typeface="Arial" panose="020B0604020202020204"/>
              <a:ea typeface="Arial" panose="020B0604020202020204"/>
              <a:cs typeface="Arial" panose="020B0604020202020204"/>
            </a:endParaRPr>
          </a:p>
          <a:p>
            <a:pPr indent="457200" algn="l">
              <a:lnSpc>
                <a:spcPct val="100000"/>
              </a:lnSpc>
              <a:buNone/>
              <a:defRPr sz="1500" b="1">
                <a:solidFill>
                  <a:srgbClr val="FFFFFF"/>
                </a:solidFill>
                <a:latin typeface="Arial" panose="020B0604020202020204"/>
                <a:ea typeface="Arial" panose="020B0604020202020204"/>
                <a:cs typeface="Arial" panose="020B0604020202020204"/>
              </a:defRPr>
            </a:pPr>
            <a:r>
              <a:rPr lang="vi-VN" sz="1500" b="1">
                <a:solidFill>
                  <a:srgbClr val="FFFFFF"/>
                </a:solidFill>
                <a:latin typeface="Arial" panose="020B0604020202020204"/>
                <a:ea typeface="Arial" panose="020B0604020202020204"/>
                <a:cs typeface="Arial" panose="020B0604020202020204"/>
              </a:rPr>
              <a:t>Đào Chính Quang - </a:t>
            </a:r>
            <a:r>
              <a:rPr lang="vi-VN" sz="1500" b="1">
                <a:solidFill>
                  <a:srgbClr val="FFFFFF"/>
                </a:solidFill>
                <a:latin typeface="Arial" panose="020B0604020202020204"/>
                <a:ea typeface="Arial" panose="020B0604020202020204"/>
                <a:cs typeface="Arial" panose="020B0604020202020204"/>
              </a:rPr>
              <a:t>10123263</a:t>
            </a:r>
            <a:endParaRPr lang="vi-VN" sz="1500" b="1">
              <a:solidFill>
                <a:srgbClr val="FFFFFF"/>
              </a:solidFill>
              <a:latin typeface="Arial" panose="020B0604020202020204"/>
              <a:ea typeface="Arial" panose="020B0604020202020204"/>
              <a:cs typeface="Arial" panose="020B0604020202020204"/>
            </a:endParaRPr>
          </a:p>
        </p:txBody>
      </p:sp>
      <p:sp>
        <p:nvSpPr>
          <p:cNvPr id="10" name="Rectangle 9"/>
          <p:cNvSpPr>
            <a:spLocks noGrp="1"/>
          </p:cNvSpPr>
          <p:nvPr/>
        </p:nvSpPr>
        <p:spPr>
          <a:xfrm>
            <a:off x="685800" y="5810250"/>
            <a:ext cx="5715000" cy="228600"/>
          </a:xfrm>
          <a:prstGeom prst="rect">
            <a:avLst/>
          </a:prstGeom>
          <a:noFill/>
          <a:ln w="0">
            <a:noFill/>
            <a:prstDash val="solid"/>
          </a:ln>
        </p:spPr>
        <p:txBody>
          <a:bodyPr wrap="square" lIns="0" tIns="0" rIns="0" bIns="0" anchor="t">
            <a:normAutofit/>
          </a:bodyPr>
          <a:lstStyle/>
          <a:p>
            <a:pPr algn="l">
              <a:lnSpc>
                <a:spcPct val="100000"/>
              </a:lnSpc>
              <a:buNone/>
              <a:defRPr sz="975" b="0">
                <a:solidFill>
                  <a:srgbClr val="B9C8D6"/>
                </a:solidFill>
                <a:latin typeface="Arial" panose="020B0604020202020204"/>
                <a:ea typeface="Arial" panose="020B0604020202020204"/>
                <a:cs typeface="Arial" panose="020B0604020202020204"/>
              </a:defRPr>
            </a:pPr>
            <a:r>
              <a:rPr sz="975" b="0">
                <a:solidFill>
                  <a:srgbClr val="B9C8D6"/>
                </a:solidFill>
                <a:latin typeface="Arial" panose="020B0604020202020204"/>
                <a:ea typeface="Arial" panose="020B0604020202020204"/>
                <a:cs typeface="Arial" panose="020B0604020202020204"/>
              </a:rPr>
              <a:t>Repository: cali-house-price-prediction-git</a:t>
            </a:r>
            <a:endParaRPr sz="975" b="0">
              <a:solidFill>
                <a:srgbClr val="B9C8D6"/>
              </a:solidFill>
              <a:latin typeface="Arial" panose="020B0604020202020204"/>
              <a:ea typeface="Arial" panose="020B0604020202020204"/>
              <a:cs typeface="Arial" panose="020B0604020202020204"/>
            </a:endParaRPr>
          </a:p>
        </p:txBody>
      </p:sp>
      <p:sp>
        <p:nvSpPr>
          <p:cNvPr id="11" name="Straight Connector 10"/>
          <p:cNvSpPr>
            <a:spLocks noGrp="1"/>
          </p:cNvSpPr>
          <p:nvPr/>
        </p:nvSpPr>
        <p:spPr>
          <a:xfrm>
            <a:off x="666750" y="6477000"/>
            <a:ext cx="10858500" cy="0"/>
          </a:xfrm>
          <a:prstGeom prst="line">
            <a:avLst/>
          </a:prstGeom>
          <a:noFill/>
          <a:ln w="9525">
            <a:solidFill>
              <a:srgbClr val="FFFFFF">
                <a:alpha val="33333"/>
              </a:srgbClr>
            </a:solidFill>
            <a:prstDash val="solid"/>
          </a:ln>
        </p:spPr>
      </p:sp>
      <p:sp>
        <p:nvSpPr>
          <p:cNvPr id="12" name="Rectangle 11"/>
          <p:cNvSpPr>
            <a:spLocks noGrp="1"/>
          </p:cNvSpPr>
          <p:nvPr/>
        </p:nvSpPr>
        <p:spPr>
          <a:xfrm>
            <a:off x="666750" y="6524625"/>
            <a:ext cx="10572750" cy="209550"/>
          </a:xfrm>
          <a:prstGeom prst="rect">
            <a:avLst/>
          </a:prstGeom>
          <a:noFill/>
          <a:ln w="0">
            <a:noFill/>
            <a:prstDash val="solid"/>
          </a:ln>
        </p:spPr>
        <p:txBody>
          <a:bodyPr wrap="square" lIns="0" tIns="0" rIns="0" bIns="0" anchor="t">
            <a:normAutofit/>
          </a:bodyPr>
          <a:lstStyle/>
          <a:p>
            <a:pPr algn="l">
              <a:lnSpc>
                <a:spcPct val="100000"/>
              </a:lnSpc>
              <a:buNone/>
              <a:defRPr sz="825" b="0">
                <a:solidFill>
                  <a:srgbClr val="D9E3EC"/>
                </a:solidFill>
                <a:latin typeface="Arial" panose="020B0604020202020204"/>
                <a:ea typeface="Arial" panose="020B0604020202020204"/>
                <a:cs typeface="Arial" panose="020B0604020202020204"/>
              </a:defRPr>
            </a:pPr>
            <a:r>
              <a:rPr sz="825" b="0">
                <a:solidFill>
                  <a:srgbClr val="D9E3EC"/>
                </a:solidFill>
                <a:latin typeface="Arial" panose="020B0604020202020204"/>
                <a:ea typeface="Arial" panose="020B0604020202020204"/>
                <a:cs typeface="Arial" panose="020B0604020202020204"/>
              </a:rPr>
              <a:t>Nguồn hình: ai-models/notebooks/ML_Project.ipynb</a:t>
            </a:r>
            <a:endParaRPr sz="825" b="0">
              <a:solidFill>
                <a:srgbClr val="D9E3EC"/>
              </a:solidFill>
              <a:latin typeface="Arial" panose="020B0604020202020204"/>
              <a:ea typeface="Arial" panose="020B0604020202020204"/>
              <a:cs typeface="Arial" panose="020B0604020202020204"/>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
        <p:cNvGrpSpPr/>
        <p:nvPr/>
      </p:nvGrpSpPr>
      <p:grpSpPr/>
      <p:sp>
        <p:nvSpPr>
          <p:cNvPr id="25" name="Rectangle 24"/>
          <p:cNvSpPr>
            <a:spLocks noGrp="1"/>
          </p:cNvSpPr>
          <p:nvPr/>
        </p:nvSpPr>
        <p:spPr>
          <a:xfrm>
            <a:off x="666750" y="323850"/>
            <a:ext cx="9525000" cy="228600"/>
          </a:xfrm>
          <a:prstGeom prst="rect">
            <a:avLst/>
          </a:prstGeom>
          <a:noFill/>
          <a:ln w="0">
            <a:noFill/>
            <a:prstDash val="solid"/>
          </a:ln>
        </p:spPr>
        <p:txBody>
          <a:bodyPr wrap="square" lIns="0" tIns="0" rIns="0" bIns="0" anchor="t">
            <a:normAutofit/>
          </a:bodyPr>
          <a:lstStyle/>
          <a:p>
            <a:pPr algn="l">
              <a:lnSpc>
                <a:spcPct val="100000"/>
              </a:lnSpc>
              <a:buNone/>
              <a:defRPr sz="975" b="1">
                <a:solidFill>
                  <a:srgbClr val="167D8D"/>
                </a:solidFill>
                <a:latin typeface="Arial" panose="020B0604020202020204"/>
                <a:ea typeface="Arial" panose="020B0604020202020204"/>
                <a:cs typeface="Arial" panose="020B0604020202020204"/>
              </a:defRPr>
            </a:pPr>
            <a:r>
              <a:rPr sz="975" b="1">
                <a:solidFill>
                  <a:srgbClr val="167D8D"/>
                </a:solidFill>
                <a:latin typeface="Arial" panose="020B0604020202020204"/>
                <a:ea typeface="Arial" panose="020B0604020202020204"/>
                <a:cs typeface="Arial" panose="020B0604020202020204"/>
              </a:rPr>
              <a:t>01 · PROBLEM FRAMING</a:t>
            </a:r>
            <a:endParaRPr sz="975" b="1">
              <a:solidFill>
                <a:srgbClr val="167D8D"/>
              </a:solidFill>
              <a:latin typeface="Arial" panose="020B0604020202020204"/>
              <a:ea typeface="Arial" panose="020B0604020202020204"/>
              <a:cs typeface="Arial" panose="020B0604020202020204"/>
            </a:endParaRPr>
          </a:p>
        </p:txBody>
      </p:sp>
      <p:sp>
        <p:nvSpPr>
          <p:cNvPr id="2" name="Rectangle 1"/>
          <p:cNvSpPr>
            <a:spLocks noGrp="1"/>
          </p:cNvSpPr>
          <p:nvPr/>
        </p:nvSpPr>
        <p:spPr>
          <a:xfrm>
            <a:off x="666750" y="571500"/>
            <a:ext cx="10287000" cy="523875"/>
          </a:xfrm>
          <a:prstGeom prst="rect">
            <a:avLst/>
          </a:prstGeom>
          <a:noFill/>
          <a:ln w="0">
            <a:noFill/>
            <a:prstDash val="solid"/>
          </a:ln>
        </p:spPr>
        <p:txBody>
          <a:bodyPr wrap="square" lIns="0" tIns="0" rIns="0" bIns="0" anchor="t">
            <a:normAutofit/>
          </a:bodyPr>
          <a:lstStyle/>
          <a:p>
            <a:pPr algn="l">
              <a:lnSpc>
                <a:spcPct val="100000"/>
              </a:lnSpc>
              <a:buNone/>
              <a:defRPr sz="2700" b="1">
                <a:solidFill>
                  <a:srgbClr val="102A43"/>
                </a:solidFill>
                <a:latin typeface="Arial" panose="020B0604020202020204"/>
                <a:ea typeface="Arial" panose="020B0604020202020204"/>
                <a:cs typeface="Arial" panose="020B0604020202020204"/>
              </a:defRPr>
            </a:pPr>
            <a:r>
              <a:rPr sz="2700" b="1">
                <a:solidFill>
                  <a:srgbClr val="102A43"/>
                </a:solidFill>
                <a:latin typeface="Arial" panose="020B0604020202020204"/>
                <a:ea typeface="Arial" panose="020B0604020202020204"/>
                <a:cs typeface="Arial" panose="020B0604020202020204"/>
              </a:rPr>
              <a:t>Bài toán dự đoán giá nhà</a:t>
            </a:r>
            <a:endParaRPr sz="2700" b="1">
              <a:solidFill>
                <a:srgbClr val="102A43"/>
              </a:solidFill>
              <a:latin typeface="Arial" panose="020B0604020202020204"/>
              <a:ea typeface="Arial" panose="020B0604020202020204"/>
              <a:cs typeface="Arial" panose="020B0604020202020204"/>
            </a:endParaRPr>
          </a:p>
        </p:txBody>
      </p:sp>
      <p:sp>
        <p:nvSpPr>
          <p:cNvPr id="3" name="Rectangle 2"/>
          <p:cNvSpPr>
            <a:spLocks noGrp="1"/>
          </p:cNvSpPr>
          <p:nvPr/>
        </p:nvSpPr>
        <p:spPr>
          <a:xfrm>
            <a:off x="666750" y="1152525"/>
            <a:ext cx="714375" cy="47625"/>
          </a:xfrm>
          <a:prstGeom prst="rect">
            <a:avLst/>
          </a:prstGeom>
          <a:solidFill>
            <a:srgbClr val="E76F51"/>
          </a:solidFill>
          <a:ln w="0">
            <a:noFill/>
            <a:prstDash val="solid"/>
          </a:ln>
        </p:spPr>
      </p:sp>
      <p:sp>
        <p:nvSpPr>
          <p:cNvPr id="4" name="Rectangle 3"/>
          <p:cNvSpPr>
            <a:spLocks noGrp="1"/>
          </p:cNvSpPr>
          <p:nvPr/>
        </p:nvSpPr>
        <p:spPr>
          <a:xfrm>
            <a:off x="11191875" y="409575"/>
            <a:ext cx="381000" cy="247650"/>
          </a:xfrm>
          <a:prstGeom prst="rect">
            <a:avLst/>
          </a:prstGeom>
          <a:noFill/>
          <a:ln w="0">
            <a:noFill/>
            <a:prstDash val="solid"/>
          </a:ln>
        </p:spPr>
        <p:txBody>
          <a:bodyPr wrap="square" lIns="0" tIns="0" rIns="0" bIns="0" anchor="t">
            <a:normAutofit/>
          </a:bodyPr>
          <a:lstStyle/>
          <a:p>
            <a:pPr algn="r">
              <a:lnSpc>
                <a:spcPct val="100000"/>
              </a:lnSpc>
              <a:buNone/>
              <a:defRPr sz="1050" b="1">
                <a:solidFill>
                  <a:srgbClr val="5F6C7B"/>
                </a:solidFill>
                <a:latin typeface="Arial" panose="020B0604020202020204"/>
                <a:ea typeface="Arial" panose="020B0604020202020204"/>
                <a:cs typeface="Arial" panose="020B0604020202020204"/>
              </a:defRPr>
            </a:pPr>
            <a:r>
              <a:rPr sz="1050" b="1">
                <a:solidFill>
                  <a:srgbClr val="5F6C7B"/>
                </a:solidFill>
                <a:latin typeface="Arial" panose="020B0604020202020204"/>
                <a:ea typeface="Arial" panose="020B0604020202020204"/>
                <a:cs typeface="Arial" panose="020B0604020202020204"/>
              </a:rPr>
              <a:t>02</a:t>
            </a:r>
            <a:endParaRPr sz="1050" b="1">
              <a:solidFill>
                <a:srgbClr val="5F6C7B"/>
              </a:solidFill>
              <a:latin typeface="Arial" panose="020B0604020202020204"/>
              <a:ea typeface="Arial" panose="020B0604020202020204"/>
              <a:cs typeface="Arial" panose="020B0604020202020204"/>
            </a:endParaRPr>
          </a:p>
        </p:txBody>
      </p:sp>
      <p:sp>
        <p:nvSpPr>
          <p:cNvPr id="5" name="Rectangle 4"/>
          <p:cNvSpPr>
            <a:spLocks noGrp="1"/>
          </p:cNvSpPr>
          <p:nvPr/>
        </p:nvSpPr>
        <p:spPr>
          <a:xfrm>
            <a:off x="666750" y="1381125"/>
            <a:ext cx="8096250" cy="361950"/>
          </a:xfrm>
          <a:prstGeom prst="rect">
            <a:avLst/>
          </a:prstGeom>
          <a:noFill/>
          <a:ln w="0">
            <a:noFill/>
            <a:prstDash val="solid"/>
          </a:ln>
        </p:spPr>
        <p:txBody>
          <a:bodyPr wrap="square" lIns="0" tIns="0" rIns="0" bIns="0" anchor="t">
            <a:normAutofit/>
          </a:bodyPr>
          <a:lstStyle/>
          <a:p>
            <a:pPr algn="l">
              <a:lnSpc>
                <a:spcPct val="100000"/>
              </a:lnSpc>
              <a:buNone/>
              <a:defRPr sz="1650" b="0">
                <a:solidFill>
                  <a:srgbClr val="5F6C7B"/>
                </a:solidFill>
                <a:latin typeface="Arial" panose="020B0604020202020204"/>
                <a:ea typeface="Arial" panose="020B0604020202020204"/>
                <a:cs typeface="Arial" panose="020B0604020202020204"/>
              </a:defRPr>
            </a:pPr>
            <a:r>
              <a:rPr sz="1650" b="0">
                <a:solidFill>
                  <a:srgbClr val="5F6C7B"/>
                </a:solidFill>
                <a:latin typeface="Arial" panose="020B0604020202020204"/>
                <a:ea typeface="Arial" panose="020B0604020202020204"/>
                <a:cs typeface="Arial" panose="020B0604020202020204"/>
              </a:rPr>
              <a:t>Ước lượng median_house_value từ 9 đặc trưng khu vực và vị trí.</a:t>
            </a:r>
            <a:endParaRPr sz="1650" b="0">
              <a:solidFill>
                <a:srgbClr val="5F6C7B"/>
              </a:solidFill>
              <a:latin typeface="Arial" panose="020B0604020202020204"/>
              <a:ea typeface="Arial" panose="020B0604020202020204"/>
              <a:cs typeface="Arial" panose="020B0604020202020204"/>
            </a:endParaRPr>
          </a:p>
        </p:txBody>
      </p:sp>
      <p:sp>
        <p:nvSpPr>
          <p:cNvPr id="6" name="Rounded Rectangle 5"/>
          <p:cNvSpPr>
            <a:spLocks noGrp="1"/>
          </p:cNvSpPr>
          <p:nvPr/>
        </p:nvSpPr>
        <p:spPr>
          <a:xfrm>
            <a:off x="762000" y="2238375"/>
            <a:ext cx="2857500" cy="1809750"/>
          </a:xfrm>
          <a:prstGeom prst="roundRect">
            <a:avLst>
              <a:gd name="adj" fmla="val 3684"/>
            </a:avLst>
          </a:prstGeom>
          <a:solidFill>
            <a:srgbClr val="EAF6F5"/>
          </a:solidFill>
          <a:ln w="9525">
            <a:solidFill>
              <a:srgbClr val="167D8D"/>
            </a:solidFill>
            <a:prstDash val="solid"/>
          </a:ln>
        </p:spPr>
        <p:style>
          <a:lnRef idx="0">
            <a:srgbClr val="FFFFFF"/>
          </a:lnRef>
          <a:fillRef idx="0">
            <a:srgbClr val="FFFFFF"/>
          </a:fillRef>
          <a:effectRef idx="4">
            <a:srgbClr val="FFFFFF"/>
          </a:effectRef>
          <a:fontRef idx="major"/>
        </p:style>
      </p:sp>
      <p:sp>
        <p:nvSpPr>
          <p:cNvPr id="7" name="Rectangle 6"/>
          <p:cNvSpPr>
            <a:spLocks noGrp="1"/>
          </p:cNvSpPr>
          <p:nvPr/>
        </p:nvSpPr>
        <p:spPr>
          <a:xfrm>
            <a:off x="971550" y="2447925"/>
            <a:ext cx="2438400" cy="266700"/>
          </a:xfrm>
          <a:prstGeom prst="rect">
            <a:avLst/>
          </a:prstGeom>
          <a:noFill/>
          <a:ln w="0">
            <a:noFill/>
            <a:prstDash val="solid"/>
          </a:ln>
        </p:spPr>
        <p:txBody>
          <a:bodyPr wrap="square" lIns="0" tIns="0" rIns="0" bIns="0" anchor="t">
            <a:normAutofit/>
          </a:bodyPr>
          <a:lstStyle/>
          <a:p>
            <a:pPr algn="l">
              <a:lnSpc>
                <a:spcPct val="100000"/>
              </a:lnSpc>
              <a:buNone/>
              <a:defRPr sz="1050" b="1">
                <a:solidFill>
                  <a:srgbClr val="167D8D"/>
                </a:solidFill>
                <a:latin typeface="Arial" panose="020B0604020202020204"/>
                <a:ea typeface="Arial" panose="020B0604020202020204"/>
                <a:cs typeface="Arial" panose="020B0604020202020204"/>
              </a:defRPr>
            </a:pPr>
            <a:r>
              <a:rPr sz="1050" b="1">
                <a:solidFill>
                  <a:srgbClr val="167D8D"/>
                </a:solidFill>
                <a:latin typeface="Arial" panose="020B0604020202020204"/>
                <a:ea typeface="Arial" panose="020B0604020202020204"/>
                <a:cs typeface="Arial" panose="020B0604020202020204"/>
              </a:rPr>
              <a:t>INPUT</a:t>
            </a:r>
            <a:endParaRPr sz="1050" b="1">
              <a:solidFill>
                <a:srgbClr val="167D8D"/>
              </a:solidFill>
              <a:latin typeface="Arial" panose="020B0604020202020204"/>
              <a:ea typeface="Arial" panose="020B0604020202020204"/>
              <a:cs typeface="Arial" panose="020B0604020202020204"/>
            </a:endParaRPr>
          </a:p>
        </p:txBody>
      </p:sp>
      <p:sp>
        <p:nvSpPr>
          <p:cNvPr id="8" name="Rectangle 7"/>
          <p:cNvSpPr>
            <a:spLocks noGrp="1"/>
          </p:cNvSpPr>
          <p:nvPr/>
        </p:nvSpPr>
        <p:spPr>
          <a:xfrm>
            <a:off x="971550" y="2905125"/>
            <a:ext cx="2438400" cy="781050"/>
          </a:xfrm>
          <a:prstGeom prst="rect">
            <a:avLst/>
          </a:prstGeom>
          <a:noFill/>
          <a:ln w="0">
            <a:noFill/>
            <a:prstDash val="solid"/>
          </a:ln>
        </p:spPr>
        <p:txBody>
          <a:bodyPr wrap="square" lIns="0" tIns="0" rIns="0" bIns="0" anchor="ctr">
            <a:normAutofit/>
          </a:bodyPr>
          <a:lstStyle/>
          <a:p>
            <a:pPr algn="ctr">
              <a:lnSpc>
                <a:spcPct val="100000"/>
              </a:lnSpc>
              <a:buNone/>
              <a:defRPr sz="1875" b="1">
                <a:solidFill>
                  <a:srgbClr val="102A43"/>
                </a:solidFill>
                <a:latin typeface="Arial" panose="020B0604020202020204"/>
                <a:ea typeface="Arial" panose="020B0604020202020204"/>
                <a:cs typeface="Arial" panose="020B0604020202020204"/>
              </a:defRPr>
            </a:pPr>
            <a:r>
              <a:rPr sz="1875" b="1">
                <a:solidFill>
                  <a:srgbClr val="102A43"/>
                </a:solidFill>
                <a:latin typeface="Arial" panose="020B0604020202020204"/>
                <a:ea typeface="Arial" panose="020B0604020202020204"/>
                <a:cs typeface="Arial" panose="020B0604020202020204"/>
              </a:rPr>
              <a:t>8 biến số</a:t>
            </a:r>
            <a:endParaRPr sz="1875" b="1">
              <a:solidFill>
                <a:srgbClr val="102A43"/>
              </a:solidFill>
              <a:latin typeface="Arial" panose="020B0604020202020204"/>
              <a:ea typeface="Arial" panose="020B0604020202020204"/>
              <a:cs typeface="Arial" panose="020B0604020202020204"/>
            </a:endParaRPr>
          </a:p>
          <a:p>
            <a:pPr algn="ctr">
              <a:lnSpc>
                <a:spcPct val="100000"/>
              </a:lnSpc>
              <a:buNone/>
              <a:defRPr sz="1875" b="1">
                <a:solidFill>
                  <a:srgbClr val="102A43"/>
                </a:solidFill>
                <a:latin typeface="Arial" panose="020B0604020202020204"/>
                <a:ea typeface="Arial" panose="020B0604020202020204"/>
                <a:cs typeface="Arial" panose="020B0604020202020204"/>
              </a:defRPr>
            </a:pPr>
            <a:r>
              <a:rPr sz="1875" b="1">
                <a:solidFill>
                  <a:srgbClr val="102A43"/>
                </a:solidFill>
                <a:latin typeface="Arial" panose="020B0604020202020204"/>
                <a:ea typeface="Arial" panose="020B0604020202020204"/>
                <a:cs typeface="Arial" panose="020B0604020202020204"/>
              </a:rPr>
              <a:t>+ ocean_proximity</a:t>
            </a:r>
            <a:endParaRPr sz="1875" b="1">
              <a:solidFill>
                <a:srgbClr val="102A43"/>
              </a:solidFill>
              <a:latin typeface="Arial" panose="020B0604020202020204"/>
              <a:ea typeface="Arial" panose="020B0604020202020204"/>
              <a:cs typeface="Arial" panose="020B0604020202020204"/>
            </a:endParaRPr>
          </a:p>
        </p:txBody>
      </p:sp>
      <p:sp>
        <p:nvSpPr>
          <p:cNvPr id="9" name="Rounded Rectangle 8"/>
          <p:cNvSpPr>
            <a:spLocks noGrp="1"/>
          </p:cNvSpPr>
          <p:nvPr/>
        </p:nvSpPr>
        <p:spPr>
          <a:xfrm>
            <a:off x="4286250" y="2238375"/>
            <a:ext cx="2857500" cy="1809750"/>
          </a:xfrm>
          <a:prstGeom prst="roundRect">
            <a:avLst>
              <a:gd name="adj" fmla="val 3684"/>
            </a:avLst>
          </a:prstGeom>
          <a:solidFill>
            <a:srgbClr val="EAF1F8"/>
          </a:solidFill>
          <a:ln w="9525">
            <a:solidFill>
              <a:srgbClr val="173F5F"/>
            </a:solidFill>
            <a:prstDash val="solid"/>
          </a:ln>
        </p:spPr>
        <p:style>
          <a:lnRef idx="0">
            <a:srgbClr val="FFFFFF"/>
          </a:lnRef>
          <a:fillRef idx="0">
            <a:srgbClr val="FFFFFF"/>
          </a:fillRef>
          <a:effectRef idx="4">
            <a:srgbClr val="FFFFFF"/>
          </a:effectRef>
          <a:fontRef idx="major"/>
        </p:style>
      </p:sp>
      <p:sp>
        <p:nvSpPr>
          <p:cNvPr id="10" name="Rectangle 9"/>
          <p:cNvSpPr>
            <a:spLocks noGrp="1"/>
          </p:cNvSpPr>
          <p:nvPr/>
        </p:nvSpPr>
        <p:spPr>
          <a:xfrm>
            <a:off x="4495800" y="2447925"/>
            <a:ext cx="2438400" cy="266700"/>
          </a:xfrm>
          <a:prstGeom prst="rect">
            <a:avLst/>
          </a:prstGeom>
          <a:noFill/>
          <a:ln w="0">
            <a:noFill/>
            <a:prstDash val="solid"/>
          </a:ln>
        </p:spPr>
        <p:txBody>
          <a:bodyPr wrap="square" lIns="0" tIns="0" rIns="0" bIns="0" anchor="t">
            <a:normAutofit/>
          </a:bodyPr>
          <a:lstStyle/>
          <a:p>
            <a:pPr algn="l">
              <a:lnSpc>
                <a:spcPct val="100000"/>
              </a:lnSpc>
              <a:buNone/>
              <a:defRPr sz="1050" b="1">
                <a:solidFill>
                  <a:srgbClr val="173F5F"/>
                </a:solidFill>
                <a:latin typeface="Arial" panose="020B0604020202020204"/>
                <a:ea typeface="Arial" panose="020B0604020202020204"/>
                <a:cs typeface="Arial" panose="020B0604020202020204"/>
              </a:defRPr>
            </a:pPr>
            <a:r>
              <a:rPr sz="1050" b="1">
                <a:solidFill>
                  <a:srgbClr val="173F5F"/>
                </a:solidFill>
                <a:latin typeface="Arial" panose="020B0604020202020204"/>
                <a:ea typeface="Arial" panose="020B0604020202020204"/>
                <a:cs typeface="Arial" panose="020B0604020202020204"/>
              </a:rPr>
              <a:t>MÔ HÌNH</a:t>
            </a:r>
            <a:endParaRPr sz="1050" b="1">
              <a:solidFill>
                <a:srgbClr val="173F5F"/>
              </a:solidFill>
              <a:latin typeface="Arial" panose="020B0604020202020204"/>
              <a:ea typeface="Arial" panose="020B0604020202020204"/>
              <a:cs typeface="Arial" panose="020B0604020202020204"/>
            </a:endParaRPr>
          </a:p>
        </p:txBody>
      </p:sp>
      <p:sp>
        <p:nvSpPr>
          <p:cNvPr id="11" name="Rectangle 10"/>
          <p:cNvSpPr>
            <a:spLocks noGrp="1"/>
          </p:cNvSpPr>
          <p:nvPr/>
        </p:nvSpPr>
        <p:spPr>
          <a:xfrm>
            <a:off x="4495800" y="2905125"/>
            <a:ext cx="2438400" cy="781050"/>
          </a:xfrm>
          <a:prstGeom prst="rect">
            <a:avLst/>
          </a:prstGeom>
          <a:noFill/>
          <a:ln w="0">
            <a:noFill/>
            <a:prstDash val="solid"/>
          </a:ln>
        </p:spPr>
        <p:txBody>
          <a:bodyPr wrap="square" lIns="0" tIns="0" rIns="0" bIns="0" anchor="ctr">
            <a:normAutofit/>
          </a:bodyPr>
          <a:lstStyle/>
          <a:p>
            <a:pPr algn="ctr">
              <a:lnSpc>
                <a:spcPct val="100000"/>
              </a:lnSpc>
              <a:buNone/>
              <a:defRPr sz="1875" b="1">
                <a:solidFill>
                  <a:srgbClr val="102A43"/>
                </a:solidFill>
                <a:latin typeface="Arial" panose="020B0604020202020204"/>
                <a:ea typeface="Arial" panose="020B0604020202020204"/>
                <a:cs typeface="Arial" panose="020B0604020202020204"/>
              </a:defRPr>
            </a:pPr>
            <a:r>
              <a:rPr sz="1875" b="1">
                <a:solidFill>
                  <a:srgbClr val="102A43"/>
                </a:solidFill>
                <a:latin typeface="Arial" panose="020B0604020202020204"/>
                <a:ea typeface="Arial" panose="020B0604020202020204"/>
                <a:cs typeface="Arial" panose="020B0604020202020204"/>
              </a:rPr>
              <a:t>Pipeline tiền xử lý</a:t>
            </a:r>
            <a:endParaRPr sz="1875" b="1">
              <a:solidFill>
                <a:srgbClr val="102A43"/>
              </a:solidFill>
              <a:latin typeface="Arial" panose="020B0604020202020204"/>
              <a:ea typeface="Arial" panose="020B0604020202020204"/>
              <a:cs typeface="Arial" panose="020B0604020202020204"/>
            </a:endParaRPr>
          </a:p>
          <a:p>
            <a:pPr algn="ctr">
              <a:lnSpc>
                <a:spcPct val="100000"/>
              </a:lnSpc>
              <a:buNone/>
              <a:defRPr sz="1875" b="1">
                <a:solidFill>
                  <a:srgbClr val="102A43"/>
                </a:solidFill>
                <a:latin typeface="Arial" panose="020B0604020202020204"/>
                <a:ea typeface="Arial" panose="020B0604020202020204"/>
                <a:cs typeface="Arial" panose="020B0604020202020204"/>
              </a:defRPr>
            </a:pPr>
            <a:r>
              <a:rPr sz="1875" b="1">
                <a:solidFill>
                  <a:srgbClr val="102A43"/>
                </a:solidFill>
                <a:latin typeface="Arial" panose="020B0604020202020204"/>
                <a:ea typeface="Arial" panose="020B0604020202020204"/>
                <a:cs typeface="Arial" panose="020B0604020202020204"/>
              </a:rPr>
              <a:t>+ hồi quy</a:t>
            </a:r>
            <a:endParaRPr sz="1875" b="1">
              <a:solidFill>
                <a:srgbClr val="102A43"/>
              </a:solidFill>
              <a:latin typeface="Arial" panose="020B0604020202020204"/>
              <a:ea typeface="Arial" panose="020B0604020202020204"/>
              <a:cs typeface="Arial" panose="020B0604020202020204"/>
            </a:endParaRPr>
          </a:p>
        </p:txBody>
      </p:sp>
      <p:sp>
        <p:nvSpPr>
          <p:cNvPr id="12" name="Rounded Rectangle 11"/>
          <p:cNvSpPr>
            <a:spLocks noGrp="1"/>
          </p:cNvSpPr>
          <p:nvPr/>
        </p:nvSpPr>
        <p:spPr>
          <a:xfrm>
            <a:off x="7810500" y="2238375"/>
            <a:ext cx="2857500" cy="1809750"/>
          </a:xfrm>
          <a:prstGeom prst="roundRect">
            <a:avLst>
              <a:gd name="adj" fmla="val 3684"/>
            </a:avLst>
          </a:prstGeom>
          <a:solidFill>
            <a:srgbClr val="FCEDE8"/>
          </a:solidFill>
          <a:ln w="9525">
            <a:solidFill>
              <a:srgbClr val="E76F51"/>
            </a:solidFill>
            <a:prstDash val="solid"/>
          </a:ln>
        </p:spPr>
        <p:style>
          <a:lnRef idx="0">
            <a:srgbClr val="FFFFFF"/>
          </a:lnRef>
          <a:fillRef idx="0">
            <a:srgbClr val="FFFFFF"/>
          </a:fillRef>
          <a:effectRef idx="4">
            <a:srgbClr val="FFFFFF"/>
          </a:effectRef>
          <a:fontRef idx="major"/>
        </p:style>
      </p:sp>
      <p:sp>
        <p:nvSpPr>
          <p:cNvPr id="13" name="Rectangle 12"/>
          <p:cNvSpPr>
            <a:spLocks noGrp="1"/>
          </p:cNvSpPr>
          <p:nvPr/>
        </p:nvSpPr>
        <p:spPr>
          <a:xfrm>
            <a:off x="8020050" y="2447925"/>
            <a:ext cx="2438400" cy="266700"/>
          </a:xfrm>
          <a:prstGeom prst="rect">
            <a:avLst/>
          </a:prstGeom>
          <a:noFill/>
          <a:ln w="0">
            <a:noFill/>
            <a:prstDash val="solid"/>
          </a:ln>
        </p:spPr>
        <p:txBody>
          <a:bodyPr wrap="square" lIns="0" tIns="0" rIns="0" bIns="0" anchor="t">
            <a:normAutofit/>
          </a:bodyPr>
          <a:lstStyle/>
          <a:p>
            <a:pPr algn="l">
              <a:lnSpc>
                <a:spcPct val="100000"/>
              </a:lnSpc>
              <a:buNone/>
              <a:defRPr sz="1050" b="1">
                <a:solidFill>
                  <a:srgbClr val="E76F51"/>
                </a:solidFill>
                <a:latin typeface="Arial" panose="020B0604020202020204"/>
                <a:ea typeface="Arial" panose="020B0604020202020204"/>
                <a:cs typeface="Arial" panose="020B0604020202020204"/>
              </a:defRPr>
            </a:pPr>
            <a:r>
              <a:rPr sz="1050" b="1">
                <a:solidFill>
                  <a:srgbClr val="E76F51"/>
                </a:solidFill>
                <a:latin typeface="Arial" panose="020B0604020202020204"/>
                <a:ea typeface="Arial" panose="020B0604020202020204"/>
                <a:cs typeface="Arial" panose="020B0604020202020204"/>
              </a:rPr>
              <a:t>OUTPUT</a:t>
            </a:r>
            <a:endParaRPr sz="1050" b="1">
              <a:solidFill>
                <a:srgbClr val="E76F51"/>
              </a:solidFill>
              <a:latin typeface="Arial" panose="020B0604020202020204"/>
              <a:ea typeface="Arial" panose="020B0604020202020204"/>
              <a:cs typeface="Arial" panose="020B0604020202020204"/>
            </a:endParaRPr>
          </a:p>
        </p:txBody>
      </p:sp>
      <p:sp>
        <p:nvSpPr>
          <p:cNvPr id="14" name="Rectangle 13"/>
          <p:cNvSpPr>
            <a:spLocks noGrp="1"/>
          </p:cNvSpPr>
          <p:nvPr/>
        </p:nvSpPr>
        <p:spPr>
          <a:xfrm>
            <a:off x="8020050" y="2905125"/>
            <a:ext cx="2438400" cy="781050"/>
          </a:xfrm>
          <a:prstGeom prst="rect">
            <a:avLst/>
          </a:prstGeom>
          <a:noFill/>
          <a:ln w="0">
            <a:noFill/>
            <a:prstDash val="solid"/>
          </a:ln>
        </p:spPr>
        <p:txBody>
          <a:bodyPr wrap="square" lIns="0" tIns="0" rIns="0" bIns="0" anchor="ctr">
            <a:normAutofit/>
          </a:bodyPr>
          <a:lstStyle/>
          <a:p>
            <a:pPr algn="ctr">
              <a:lnSpc>
                <a:spcPct val="100000"/>
              </a:lnSpc>
              <a:buNone/>
              <a:defRPr sz="1875" b="1">
                <a:solidFill>
                  <a:srgbClr val="102A43"/>
                </a:solidFill>
                <a:latin typeface="Arial" panose="020B0604020202020204"/>
                <a:ea typeface="Arial" panose="020B0604020202020204"/>
                <a:cs typeface="Arial" panose="020B0604020202020204"/>
              </a:defRPr>
            </a:pPr>
            <a:r>
              <a:rPr sz="1875" b="1">
                <a:solidFill>
                  <a:srgbClr val="102A43"/>
                </a:solidFill>
                <a:latin typeface="Arial" panose="020B0604020202020204"/>
                <a:ea typeface="Arial" panose="020B0604020202020204"/>
                <a:cs typeface="Arial" panose="020B0604020202020204"/>
              </a:rPr>
              <a:t>Giá nhà dự đoán</a:t>
            </a:r>
            <a:endParaRPr sz="1875" b="1">
              <a:solidFill>
                <a:srgbClr val="102A43"/>
              </a:solidFill>
              <a:latin typeface="Arial" panose="020B0604020202020204"/>
              <a:ea typeface="Arial" panose="020B0604020202020204"/>
              <a:cs typeface="Arial" panose="020B0604020202020204"/>
            </a:endParaRPr>
          </a:p>
          <a:p>
            <a:pPr algn="ctr">
              <a:lnSpc>
                <a:spcPct val="100000"/>
              </a:lnSpc>
              <a:buNone/>
              <a:defRPr sz="1875" b="1">
                <a:solidFill>
                  <a:srgbClr val="102A43"/>
                </a:solidFill>
                <a:latin typeface="Arial" panose="020B0604020202020204"/>
                <a:ea typeface="Arial" panose="020B0604020202020204"/>
                <a:cs typeface="Arial" panose="020B0604020202020204"/>
              </a:defRPr>
            </a:pPr>
            <a:r>
              <a:rPr sz="1875" b="1">
                <a:solidFill>
                  <a:srgbClr val="102A43"/>
                </a:solidFill>
                <a:latin typeface="Arial" panose="020B0604020202020204"/>
                <a:ea typeface="Arial" panose="020B0604020202020204"/>
                <a:cs typeface="Arial" panose="020B0604020202020204"/>
              </a:rPr>
              <a:t>(USD)</a:t>
            </a:r>
            <a:endParaRPr sz="1875" b="1">
              <a:solidFill>
                <a:srgbClr val="102A43"/>
              </a:solidFill>
              <a:latin typeface="Arial" panose="020B0604020202020204"/>
              <a:ea typeface="Arial" panose="020B0604020202020204"/>
              <a:cs typeface="Arial" panose="020B0604020202020204"/>
            </a:endParaRPr>
          </a:p>
        </p:txBody>
      </p:sp>
      <p:sp>
        <p:nvSpPr>
          <p:cNvPr id="15" name="Right Arrow 14"/>
          <p:cNvSpPr>
            <a:spLocks noGrp="1"/>
          </p:cNvSpPr>
          <p:nvPr/>
        </p:nvSpPr>
        <p:spPr>
          <a:xfrm>
            <a:off x="3762375" y="2952750"/>
            <a:ext cx="361950" cy="304800"/>
          </a:xfrm>
          <a:prstGeom prst="rightArrow">
            <a:avLst/>
          </a:prstGeom>
          <a:solidFill>
            <a:srgbClr val="E9C46A"/>
          </a:solidFill>
          <a:ln w="9525">
            <a:solidFill>
              <a:srgbClr val="E9C46A"/>
            </a:solidFill>
            <a:prstDash val="solid"/>
          </a:ln>
        </p:spPr>
      </p:sp>
      <p:sp>
        <p:nvSpPr>
          <p:cNvPr id="16" name="Right Arrow 15"/>
          <p:cNvSpPr>
            <a:spLocks noGrp="1"/>
          </p:cNvSpPr>
          <p:nvPr/>
        </p:nvSpPr>
        <p:spPr>
          <a:xfrm>
            <a:off x="7286625" y="2952750"/>
            <a:ext cx="361950" cy="304800"/>
          </a:xfrm>
          <a:prstGeom prst="rightArrow">
            <a:avLst/>
          </a:prstGeom>
          <a:solidFill>
            <a:srgbClr val="E9C46A"/>
          </a:solidFill>
          <a:ln w="9525">
            <a:solidFill>
              <a:srgbClr val="E9C46A"/>
            </a:solidFill>
            <a:prstDash val="solid"/>
          </a:ln>
        </p:spPr>
      </p:sp>
      <p:sp>
        <p:nvSpPr>
          <p:cNvPr id="17" name="Rounded Rectangle 16"/>
          <p:cNvSpPr>
            <a:spLocks noGrp="1"/>
          </p:cNvSpPr>
          <p:nvPr/>
        </p:nvSpPr>
        <p:spPr>
          <a:xfrm>
            <a:off x="762000" y="4524375"/>
            <a:ext cx="9906000" cy="1238250"/>
          </a:xfrm>
          <a:prstGeom prst="roundRect">
            <a:avLst>
              <a:gd name="adj" fmla="val 5385"/>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18" name="Rectangle 17"/>
          <p:cNvSpPr>
            <a:spLocks noGrp="1"/>
          </p:cNvSpPr>
          <p:nvPr/>
        </p:nvSpPr>
        <p:spPr>
          <a:xfrm>
            <a:off x="1000125" y="4695825"/>
            <a:ext cx="2333625" cy="238125"/>
          </a:xfrm>
          <a:prstGeom prst="rect">
            <a:avLst/>
          </a:prstGeom>
          <a:noFill/>
          <a:ln w="0">
            <a:noFill/>
            <a:prstDash val="solid"/>
          </a:ln>
        </p:spPr>
        <p:txBody>
          <a:bodyPr wrap="square" lIns="0" tIns="0" rIns="0" bIns="0" anchor="t">
            <a:normAutofit/>
          </a:bodyPr>
          <a:lstStyle/>
          <a:p>
            <a:pPr algn="l">
              <a:lnSpc>
                <a:spcPct val="100000"/>
              </a:lnSpc>
              <a:buNone/>
              <a:defRPr sz="1050" b="1">
                <a:solidFill>
                  <a:srgbClr val="167D8D"/>
                </a:solidFill>
                <a:latin typeface="Arial" panose="020B0604020202020204"/>
                <a:ea typeface="Arial" panose="020B0604020202020204"/>
                <a:cs typeface="Arial" panose="020B0604020202020204"/>
              </a:defRPr>
            </a:pPr>
            <a:r>
              <a:rPr sz="1050" b="1">
                <a:solidFill>
                  <a:srgbClr val="167D8D"/>
                </a:solidFill>
                <a:latin typeface="Arial" panose="020B0604020202020204"/>
                <a:ea typeface="Arial" panose="020B0604020202020204"/>
                <a:cs typeface="Arial" panose="020B0604020202020204"/>
              </a:rPr>
              <a:t>TIÊU CHÍ ĐÁNH GIÁ</a:t>
            </a:r>
            <a:endParaRPr sz="1050" b="1">
              <a:solidFill>
                <a:srgbClr val="167D8D"/>
              </a:solidFill>
              <a:latin typeface="Arial" panose="020B0604020202020204"/>
              <a:ea typeface="Arial" panose="020B0604020202020204"/>
              <a:cs typeface="Arial" panose="020B0604020202020204"/>
            </a:endParaRPr>
          </a:p>
        </p:txBody>
      </p:sp>
      <p:sp>
        <p:nvSpPr>
          <p:cNvPr id="19" name="Rectangle 18"/>
          <p:cNvSpPr>
            <a:spLocks noGrp="1"/>
          </p:cNvSpPr>
          <p:nvPr/>
        </p:nvSpPr>
        <p:spPr>
          <a:xfrm>
            <a:off x="1000125" y="5105400"/>
            <a:ext cx="1333500" cy="381000"/>
          </a:xfrm>
          <a:prstGeom prst="rect">
            <a:avLst/>
          </a:prstGeom>
          <a:noFill/>
          <a:ln w="0">
            <a:noFill/>
            <a:prstDash val="solid"/>
          </a:ln>
        </p:spPr>
        <p:txBody>
          <a:bodyPr wrap="square" lIns="95250" tIns="57150" rIns="95250" bIns="57150" anchor="ctr">
            <a:normAutofit fontScale="83333"/>
          </a:bodyPr>
          <a:lstStyle/>
          <a:p>
            <a:pPr algn="ctr">
              <a:lnSpc>
                <a:spcPct val="100000"/>
              </a:lnSpc>
              <a:buNone/>
              <a:defRPr sz="2100" b="1">
                <a:solidFill>
                  <a:srgbClr val="102A43"/>
                </a:solidFill>
                <a:latin typeface="Arial" panose="020B0604020202020204"/>
                <a:ea typeface="Arial" panose="020B0604020202020204"/>
                <a:cs typeface="Arial" panose="020B0604020202020204"/>
              </a:defRPr>
            </a:pPr>
            <a:r>
              <a:rPr sz="2100" b="1">
                <a:solidFill>
                  <a:srgbClr val="102A43"/>
                </a:solidFill>
                <a:latin typeface="Arial" panose="020B0604020202020204"/>
                <a:ea typeface="Arial" panose="020B0604020202020204"/>
                <a:cs typeface="Arial" panose="020B0604020202020204"/>
              </a:rPr>
              <a:t>RMSE</a:t>
            </a:r>
            <a:endParaRPr sz="2100" b="1">
              <a:solidFill>
                <a:srgbClr val="102A43"/>
              </a:solidFill>
              <a:latin typeface="Arial" panose="020B0604020202020204"/>
              <a:ea typeface="Arial" panose="020B0604020202020204"/>
              <a:cs typeface="Arial" panose="020B0604020202020204"/>
            </a:endParaRPr>
          </a:p>
        </p:txBody>
      </p:sp>
      <p:sp>
        <p:nvSpPr>
          <p:cNvPr id="20" name="Rectangle 19"/>
          <p:cNvSpPr>
            <a:spLocks noGrp="1"/>
          </p:cNvSpPr>
          <p:nvPr/>
        </p:nvSpPr>
        <p:spPr>
          <a:xfrm>
            <a:off x="3143250" y="5105400"/>
            <a:ext cx="1333500" cy="381000"/>
          </a:xfrm>
          <a:prstGeom prst="rect">
            <a:avLst/>
          </a:prstGeom>
          <a:noFill/>
          <a:ln w="0">
            <a:noFill/>
            <a:prstDash val="solid"/>
          </a:ln>
        </p:spPr>
        <p:txBody>
          <a:bodyPr wrap="square" lIns="95250" tIns="57150" rIns="95250" bIns="57150" anchor="ctr">
            <a:normAutofit fontScale="83333"/>
          </a:bodyPr>
          <a:lstStyle/>
          <a:p>
            <a:pPr algn="ctr">
              <a:lnSpc>
                <a:spcPct val="100000"/>
              </a:lnSpc>
              <a:buNone/>
              <a:defRPr sz="2100" b="1">
                <a:solidFill>
                  <a:srgbClr val="102A43"/>
                </a:solidFill>
                <a:latin typeface="Arial" panose="020B0604020202020204"/>
                <a:ea typeface="Arial" panose="020B0604020202020204"/>
                <a:cs typeface="Arial" panose="020B0604020202020204"/>
              </a:defRPr>
            </a:pPr>
            <a:r>
              <a:rPr sz="2100" b="1">
                <a:solidFill>
                  <a:srgbClr val="102A43"/>
                </a:solidFill>
                <a:latin typeface="Arial" panose="020B0604020202020204"/>
                <a:ea typeface="Arial" panose="020B0604020202020204"/>
                <a:cs typeface="Arial" panose="020B0604020202020204"/>
              </a:rPr>
              <a:t>MAE</a:t>
            </a:r>
            <a:endParaRPr sz="2100" b="1">
              <a:solidFill>
                <a:srgbClr val="102A43"/>
              </a:solidFill>
              <a:latin typeface="Arial" panose="020B0604020202020204"/>
              <a:ea typeface="Arial" panose="020B0604020202020204"/>
              <a:cs typeface="Arial" panose="020B0604020202020204"/>
            </a:endParaRPr>
          </a:p>
        </p:txBody>
      </p:sp>
      <p:sp>
        <p:nvSpPr>
          <p:cNvPr id="21" name="Rectangle 20"/>
          <p:cNvSpPr>
            <a:spLocks noGrp="1"/>
          </p:cNvSpPr>
          <p:nvPr/>
        </p:nvSpPr>
        <p:spPr>
          <a:xfrm>
            <a:off x="5286375" y="5105400"/>
            <a:ext cx="1333500" cy="381000"/>
          </a:xfrm>
          <a:prstGeom prst="rect">
            <a:avLst/>
          </a:prstGeom>
          <a:noFill/>
          <a:ln w="0">
            <a:noFill/>
            <a:prstDash val="solid"/>
          </a:ln>
        </p:spPr>
        <p:txBody>
          <a:bodyPr wrap="square" lIns="95250" tIns="57150" rIns="95250" bIns="57150" anchor="ctr">
            <a:normAutofit fontScale="83333"/>
          </a:bodyPr>
          <a:lstStyle/>
          <a:p>
            <a:pPr algn="ctr">
              <a:lnSpc>
                <a:spcPct val="100000"/>
              </a:lnSpc>
              <a:buNone/>
              <a:defRPr sz="2100" b="1">
                <a:solidFill>
                  <a:srgbClr val="102A43"/>
                </a:solidFill>
                <a:latin typeface="Arial" panose="020B0604020202020204"/>
                <a:ea typeface="Arial" panose="020B0604020202020204"/>
                <a:cs typeface="Arial" panose="020B0604020202020204"/>
              </a:defRPr>
            </a:pPr>
            <a:r>
              <a:rPr sz="2100" b="1">
                <a:solidFill>
                  <a:srgbClr val="102A43"/>
                </a:solidFill>
                <a:latin typeface="Arial" panose="020B0604020202020204"/>
                <a:ea typeface="Arial" panose="020B0604020202020204"/>
                <a:cs typeface="Arial" panose="020B0604020202020204"/>
              </a:rPr>
              <a:t>R²</a:t>
            </a:r>
            <a:endParaRPr sz="2100" b="1">
              <a:solidFill>
                <a:srgbClr val="102A43"/>
              </a:solidFill>
              <a:latin typeface="Arial" panose="020B0604020202020204"/>
              <a:ea typeface="Arial" panose="020B0604020202020204"/>
              <a:cs typeface="Arial" panose="020B0604020202020204"/>
            </a:endParaRPr>
          </a:p>
        </p:txBody>
      </p:sp>
      <p:sp>
        <p:nvSpPr>
          <p:cNvPr id="22" name="Rectangle 21"/>
          <p:cNvSpPr>
            <a:spLocks noGrp="1"/>
          </p:cNvSpPr>
          <p:nvPr/>
        </p:nvSpPr>
        <p:spPr>
          <a:xfrm>
            <a:off x="7191375" y="5010150"/>
            <a:ext cx="3143250" cy="523875"/>
          </a:xfrm>
          <a:prstGeom prst="rect">
            <a:avLst/>
          </a:prstGeom>
          <a:noFill/>
          <a:ln w="0">
            <a:noFill/>
            <a:prstDash val="solid"/>
          </a:ln>
        </p:spPr>
        <p:txBody>
          <a:bodyPr wrap="square" lIns="95250" tIns="57150" rIns="95250" bIns="57150" anchor="ctr">
            <a:normAutofit/>
          </a:bodyPr>
          <a:lstStyle/>
          <a:p>
            <a:pPr algn="l">
              <a:lnSpc>
                <a:spcPct val="100000"/>
              </a:lnSpc>
              <a:buNone/>
              <a:defRPr sz="1275" b="0">
                <a:solidFill>
                  <a:srgbClr val="5F6C7B"/>
                </a:solidFill>
                <a:latin typeface="Arial" panose="020B0604020202020204"/>
                <a:ea typeface="Arial" panose="020B0604020202020204"/>
                <a:cs typeface="Arial" panose="020B0604020202020204"/>
              </a:defRPr>
            </a:pPr>
            <a:r>
              <a:rPr sz="1275" b="0">
                <a:solidFill>
                  <a:srgbClr val="5F6C7B"/>
                </a:solidFill>
                <a:latin typeface="Arial" panose="020B0604020202020204"/>
                <a:ea typeface="Arial" panose="020B0604020202020204"/>
                <a:cs typeface="Arial" panose="020B0604020202020204"/>
              </a:rPr>
              <a:t>Mục tiêu: sai số thấp và khả năng giải thích phương sai cao trên tập test.</a:t>
            </a:r>
            <a:endParaRPr sz="1275" b="0">
              <a:solidFill>
                <a:srgbClr val="5F6C7B"/>
              </a:solidFill>
              <a:latin typeface="Arial" panose="020B0604020202020204"/>
              <a:ea typeface="Arial" panose="020B0604020202020204"/>
              <a:cs typeface="Arial" panose="020B0604020202020204"/>
            </a:endParaRPr>
          </a:p>
        </p:txBody>
      </p:sp>
      <p:sp>
        <p:nvSpPr>
          <p:cNvPr id="23" name="Straight Connector 22"/>
          <p:cNvSpPr>
            <a:spLocks noGrp="1"/>
          </p:cNvSpPr>
          <p:nvPr/>
        </p:nvSpPr>
        <p:spPr>
          <a:xfrm>
            <a:off x="666750" y="6477000"/>
            <a:ext cx="10858500" cy="0"/>
          </a:xfrm>
          <a:prstGeom prst="line">
            <a:avLst/>
          </a:prstGeom>
          <a:noFill/>
          <a:ln w="9525">
            <a:solidFill>
              <a:srgbClr val="D7E0E8"/>
            </a:solidFill>
            <a:prstDash val="solid"/>
          </a:ln>
        </p:spPr>
      </p:sp>
      <p:sp>
        <p:nvSpPr>
          <p:cNvPr id="24" name="Rectangle 23"/>
          <p:cNvSpPr>
            <a:spLocks noGrp="1"/>
          </p:cNvSpPr>
          <p:nvPr/>
        </p:nvSpPr>
        <p:spPr>
          <a:xfrm>
            <a:off x="666750" y="6524625"/>
            <a:ext cx="10572750" cy="209550"/>
          </a:xfrm>
          <a:prstGeom prst="rect">
            <a:avLst/>
          </a:prstGeom>
          <a:noFill/>
          <a:ln w="0">
            <a:noFill/>
            <a:prstDash val="solid"/>
          </a:ln>
        </p:spPr>
        <p:txBody>
          <a:bodyPr wrap="square" lIns="0" tIns="0" rIns="0" bIns="0" anchor="t">
            <a:normAutofit/>
          </a:bodyPr>
          <a:lstStyle/>
          <a:p>
            <a:pPr algn="l">
              <a:lnSpc>
                <a:spcPct val="100000"/>
              </a:lnSpc>
              <a:buNone/>
              <a:defRPr sz="825" b="0">
                <a:solidFill>
                  <a:srgbClr val="5F6C7B"/>
                </a:solidFill>
                <a:latin typeface="Arial" panose="020B0604020202020204"/>
                <a:ea typeface="Arial" panose="020B0604020202020204"/>
                <a:cs typeface="Arial" panose="020B0604020202020204"/>
              </a:defRPr>
            </a:pPr>
            <a:r>
              <a:rPr sz="825" b="0">
                <a:solidFill>
                  <a:srgbClr val="5F6C7B"/>
                </a:solidFill>
                <a:latin typeface="Arial" panose="020B0604020202020204"/>
                <a:ea typeface="Arial" panose="020B0604020202020204"/>
                <a:cs typeface="Arial" panose="020B0604020202020204"/>
              </a:rPr>
              <a:t>Nguồn: ai-models/src/train.py; ai-service/app/schemas.py</a:t>
            </a:r>
            <a:endParaRPr sz="825" b="0">
              <a:solidFill>
                <a:srgbClr val="5F6C7B"/>
              </a:solidFill>
              <a:latin typeface="Arial" panose="020B0604020202020204"/>
              <a:ea typeface="Arial" panose="020B0604020202020204"/>
              <a:cs typeface="Arial" panose="020B060402020202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
        <p:cNvGrpSpPr/>
        <p:nvPr/>
      </p:nvGrpSpPr>
      <p:grpSpPr/>
      <p:sp>
        <p:nvSpPr>
          <p:cNvPr id="53" name="Rectangle 52"/>
          <p:cNvSpPr>
            <a:spLocks noGrp="1"/>
          </p:cNvSpPr>
          <p:nvPr/>
        </p:nvSpPr>
        <p:spPr>
          <a:xfrm>
            <a:off x="666750" y="323850"/>
            <a:ext cx="9525000" cy="228600"/>
          </a:xfrm>
          <a:prstGeom prst="rect">
            <a:avLst/>
          </a:prstGeom>
          <a:noFill/>
          <a:ln w="0">
            <a:noFill/>
            <a:prstDash val="solid"/>
          </a:ln>
        </p:spPr>
        <p:txBody>
          <a:bodyPr wrap="square" lIns="0" tIns="0" rIns="0" bIns="0" anchor="t">
            <a:normAutofit/>
          </a:bodyPr>
          <a:lstStyle/>
          <a:p>
            <a:pPr algn="l">
              <a:lnSpc>
                <a:spcPct val="100000"/>
              </a:lnSpc>
              <a:buNone/>
              <a:defRPr sz="975" b="1">
                <a:solidFill>
                  <a:srgbClr val="167D8D"/>
                </a:solidFill>
                <a:latin typeface="Arial" panose="020B0604020202020204"/>
                <a:ea typeface="Arial" panose="020B0604020202020204"/>
                <a:cs typeface="Arial" panose="020B0604020202020204"/>
              </a:defRPr>
            </a:pPr>
            <a:r>
              <a:rPr sz="975" b="1">
                <a:solidFill>
                  <a:srgbClr val="167D8D"/>
                </a:solidFill>
                <a:latin typeface="Arial" panose="020B0604020202020204"/>
                <a:ea typeface="Arial" panose="020B0604020202020204"/>
                <a:cs typeface="Arial" panose="020B0604020202020204"/>
              </a:rPr>
              <a:t>02 · DATA</a:t>
            </a:r>
            <a:endParaRPr sz="975" b="1">
              <a:solidFill>
                <a:srgbClr val="167D8D"/>
              </a:solidFill>
              <a:latin typeface="Arial" panose="020B0604020202020204"/>
              <a:ea typeface="Arial" panose="020B0604020202020204"/>
              <a:cs typeface="Arial" panose="020B0604020202020204"/>
            </a:endParaRPr>
          </a:p>
        </p:txBody>
      </p:sp>
      <p:sp>
        <p:nvSpPr>
          <p:cNvPr id="2" name="Rectangle 1"/>
          <p:cNvSpPr>
            <a:spLocks noGrp="1"/>
          </p:cNvSpPr>
          <p:nvPr/>
        </p:nvSpPr>
        <p:spPr>
          <a:xfrm>
            <a:off x="666750" y="571500"/>
            <a:ext cx="10287000" cy="523875"/>
          </a:xfrm>
          <a:prstGeom prst="rect">
            <a:avLst/>
          </a:prstGeom>
          <a:noFill/>
          <a:ln w="0">
            <a:noFill/>
            <a:prstDash val="solid"/>
          </a:ln>
        </p:spPr>
        <p:txBody>
          <a:bodyPr wrap="square" lIns="0" tIns="0" rIns="0" bIns="0" anchor="t">
            <a:normAutofit/>
          </a:bodyPr>
          <a:lstStyle/>
          <a:p>
            <a:pPr algn="l">
              <a:lnSpc>
                <a:spcPct val="100000"/>
              </a:lnSpc>
              <a:buNone/>
              <a:defRPr sz="2700" b="1">
                <a:solidFill>
                  <a:srgbClr val="102A43"/>
                </a:solidFill>
                <a:latin typeface="Arial" panose="020B0604020202020204"/>
                <a:ea typeface="Arial" panose="020B0604020202020204"/>
                <a:cs typeface="Arial" panose="020B0604020202020204"/>
              </a:defRPr>
            </a:pPr>
            <a:r>
              <a:rPr sz="2700" b="1">
                <a:solidFill>
                  <a:srgbClr val="102A43"/>
                </a:solidFill>
                <a:latin typeface="Arial" panose="020B0604020202020204"/>
                <a:ea typeface="Arial" panose="020B0604020202020204"/>
                <a:cs typeface="Arial" panose="020B0604020202020204"/>
              </a:rPr>
              <a:t>Dataset California Housing</a:t>
            </a:r>
            <a:endParaRPr sz="2700" b="1">
              <a:solidFill>
                <a:srgbClr val="102A43"/>
              </a:solidFill>
              <a:latin typeface="Arial" panose="020B0604020202020204"/>
              <a:ea typeface="Arial" panose="020B0604020202020204"/>
              <a:cs typeface="Arial" panose="020B0604020202020204"/>
            </a:endParaRPr>
          </a:p>
        </p:txBody>
      </p:sp>
      <p:sp>
        <p:nvSpPr>
          <p:cNvPr id="3" name="Rectangle 2"/>
          <p:cNvSpPr>
            <a:spLocks noGrp="1"/>
          </p:cNvSpPr>
          <p:nvPr/>
        </p:nvSpPr>
        <p:spPr>
          <a:xfrm>
            <a:off x="666750" y="1152525"/>
            <a:ext cx="714375" cy="47625"/>
          </a:xfrm>
          <a:prstGeom prst="rect">
            <a:avLst/>
          </a:prstGeom>
          <a:solidFill>
            <a:srgbClr val="E76F51"/>
          </a:solidFill>
          <a:ln w="0">
            <a:noFill/>
            <a:prstDash val="solid"/>
          </a:ln>
        </p:spPr>
      </p:sp>
      <p:sp>
        <p:nvSpPr>
          <p:cNvPr id="4" name="Rectangle 3"/>
          <p:cNvSpPr>
            <a:spLocks noGrp="1"/>
          </p:cNvSpPr>
          <p:nvPr/>
        </p:nvSpPr>
        <p:spPr>
          <a:xfrm>
            <a:off x="11191875" y="409575"/>
            <a:ext cx="381000" cy="247650"/>
          </a:xfrm>
          <a:prstGeom prst="rect">
            <a:avLst/>
          </a:prstGeom>
          <a:noFill/>
          <a:ln w="0">
            <a:noFill/>
            <a:prstDash val="solid"/>
          </a:ln>
        </p:spPr>
        <p:txBody>
          <a:bodyPr wrap="square" lIns="0" tIns="0" rIns="0" bIns="0" anchor="t">
            <a:normAutofit/>
          </a:bodyPr>
          <a:lstStyle/>
          <a:p>
            <a:pPr algn="r">
              <a:lnSpc>
                <a:spcPct val="100000"/>
              </a:lnSpc>
              <a:buNone/>
              <a:defRPr sz="1050" b="1">
                <a:solidFill>
                  <a:srgbClr val="5F6C7B"/>
                </a:solidFill>
                <a:latin typeface="Arial" panose="020B0604020202020204"/>
                <a:ea typeface="Arial" panose="020B0604020202020204"/>
                <a:cs typeface="Arial" panose="020B0604020202020204"/>
              </a:defRPr>
            </a:pPr>
            <a:r>
              <a:rPr sz="1050" b="1">
                <a:solidFill>
                  <a:srgbClr val="5F6C7B"/>
                </a:solidFill>
                <a:latin typeface="Arial" panose="020B0604020202020204"/>
                <a:ea typeface="Arial" panose="020B0604020202020204"/>
                <a:cs typeface="Arial" panose="020B0604020202020204"/>
              </a:rPr>
              <a:t>03</a:t>
            </a:r>
            <a:endParaRPr sz="1050" b="1">
              <a:solidFill>
                <a:srgbClr val="5F6C7B"/>
              </a:solidFill>
              <a:latin typeface="Arial" panose="020B0604020202020204"/>
              <a:ea typeface="Arial" panose="020B0604020202020204"/>
              <a:cs typeface="Arial" panose="020B0604020202020204"/>
            </a:endParaRPr>
          </a:p>
        </p:txBody>
      </p:sp>
      <p:sp>
        <p:nvSpPr>
          <p:cNvPr id="5" name="Rounded Rectangle 4"/>
          <p:cNvSpPr>
            <a:spLocks noGrp="1"/>
          </p:cNvSpPr>
          <p:nvPr/>
        </p:nvSpPr>
        <p:spPr>
          <a:xfrm>
            <a:off x="666750" y="1466850"/>
            <a:ext cx="2095500" cy="1123950"/>
          </a:xfrm>
          <a:prstGeom prst="roundRect">
            <a:avLst>
              <a:gd name="adj" fmla="val 5932"/>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6" name="Rectangle 5"/>
          <p:cNvSpPr>
            <a:spLocks noGrp="1"/>
          </p:cNvSpPr>
          <p:nvPr/>
        </p:nvSpPr>
        <p:spPr>
          <a:xfrm>
            <a:off x="666750" y="1466850"/>
            <a:ext cx="57150" cy="1123950"/>
          </a:xfrm>
          <a:prstGeom prst="rect">
            <a:avLst/>
          </a:prstGeom>
          <a:solidFill>
            <a:srgbClr val="167D8D"/>
          </a:solidFill>
          <a:ln w="0">
            <a:noFill/>
            <a:prstDash val="solid"/>
          </a:ln>
        </p:spPr>
      </p:sp>
      <p:sp>
        <p:nvSpPr>
          <p:cNvPr id="7" name="Rectangle 6"/>
          <p:cNvSpPr>
            <a:spLocks noGrp="1"/>
          </p:cNvSpPr>
          <p:nvPr/>
        </p:nvSpPr>
        <p:spPr>
          <a:xfrm>
            <a:off x="838200" y="1581150"/>
            <a:ext cx="1809750" cy="419100"/>
          </a:xfrm>
          <a:prstGeom prst="rect">
            <a:avLst/>
          </a:prstGeom>
          <a:noFill/>
          <a:ln w="0">
            <a:noFill/>
            <a:prstDash val="solid"/>
          </a:ln>
        </p:spPr>
        <p:txBody>
          <a:bodyPr wrap="square" lIns="0" tIns="0" rIns="0" bIns="0" anchor="t">
            <a:normAutofit/>
          </a:bodyPr>
          <a:lstStyle/>
          <a:p>
            <a:pPr algn="l">
              <a:lnSpc>
                <a:spcPct val="100000"/>
              </a:lnSpc>
              <a:buNone/>
              <a:defRPr sz="2250" b="1">
                <a:solidFill>
                  <a:srgbClr val="102A43"/>
                </a:solidFill>
                <a:latin typeface="Arial" panose="020B0604020202020204"/>
                <a:ea typeface="Arial" panose="020B0604020202020204"/>
                <a:cs typeface="Arial" panose="020B0604020202020204"/>
              </a:defRPr>
            </a:pPr>
            <a:r>
              <a:rPr sz="2250" b="1">
                <a:solidFill>
                  <a:srgbClr val="102A43"/>
                </a:solidFill>
                <a:latin typeface="Arial" panose="020B0604020202020204"/>
                <a:ea typeface="Arial" panose="020B0604020202020204"/>
                <a:cs typeface="Arial" panose="020B0604020202020204"/>
              </a:rPr>
              <a:t>20.640</a:t>
            </a:r>
            <a:endParaRPr sz="2250" b="1">
              <a:solidFill>
                <a:srgbClr val="102A43"/>
              </a:solidFill>
              <a:latin typeface="Arial" panose="020B0604020202020204"/>
              <a:ea typeface="Arial" panose="020B0604020202020204"/>
              <a:cs typeface="Arial" panose="020B0604020202020204"/>
            </a:endParaRPr>
          </a:p>
        </p:txBody>
      </p:sp>
      <p:sp>
        <p:nvSpPr>
          <p:cNvPr id="8" name="Rectangle 7"/>
          <p:cNvSpPr>
            <a:spLocks noGrp="1"/>
          </p:cNvSpPr>
          <p:nvPr/>
        </p:nvSpPr>
        <p:spPr>
          <a:xfrm>
            <a:off x="838200" y="2009775"/>
            <a:ext cx="1809750" cy="276225"/>
          </a:xfrm>
          <a:prstGeom prst="rect">
            <a:avLst/>
          </a:prstGeom>
          <a:noFill/>
          <a:ln w="0">
            <a:noFill/>
            <a:prstDash val="solid"/>
          </a:ln>
        </p:spPr>
        <p:txBody>
          <a:bodyPr wrap="square" lIns="0" tIns="0" rIns="0" bIns="0" anchor="t">
            <a:normAutofit/>
          </a:bodyPr>
          <a:lstStyle/>
          <a:p>
            <a:pPr algn="l">
              <a:lnSpc>
                <a:spcPct val="100000"/>
              </a:lnSpc>
              <a:buNone/>
              <a:defRPr sz="1125" b="1">
                <a:solidFill>
                  <a:srgbClr val="5F6C7B"/>
                </a:solidFill>
                <a:latin typeface="Arial" panose="020B0604020202020204"/>
                <a:ea typeface="Arial" panose="020B0604020202020204"/>
                <a:cs typeface="Arial" panose="020B0604020202020204"/>
              </a:defRPr>
            </a:pPr>
            <a:r>
              <a:rPr sz="1125" b="1">
                <a:solidFill>
                  <a:srgbClr val="5F6C7B"/>
                </a:solidFill>
                <a:latin typeface="Arial" panose="020B0604020202020204"/>
                <a:ea typeface="Arial" panose="020B0604020202020204"/>
                <a:cs typeface="Arial" panose="020B0604020202020204"/>
              </a:rPr>
              <a:t>Dòng dữ liệu</a:t>
            </a:r>
            <a:endParaRPr sz="1125" b="1">
              <a:solidFill>
                <a:srgbClr val="5F6C7B"/>
              </a:solidFill>
              <a:latin typeface="Arial" panose="020B0604020202020204"/>
              <a:ea typeface="Arial" panose="020B0604020202020204"/>
              <a:cs typeface="Arial" panose="020B0604020202020204"/>
            </a:endParaRPr>
          </a:p>
        </p:txBody>
      </p:sp>
      <p:sp>
        <p:nvSpPr>
          <p:cNvPr id="9" name="Rounded Rectangle 8"/>
          <p:cNvSpPr>
            <a:spLocks noGrp="1"/>
          </p:cNvSpPr>
          <p:nvPr/>
        </p:nvSpPr>
        <p:spPr>
          <a:xfrm>
            <a:off x="2952750" y="1466850"/>
            <a:ext cx="2095500" cy="1123950"/>
          </a:xfrm>
          <a:prstGeom prst="roundRect">
            <a:avLst>
              <a:gd name="adj" fmla="val 5932"/>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10" name="Rectangle 9"/>
          <p:cNvSpPr>
            <a:spLocks noGrp="1"/>
          </p:cNvSpPr>
          <p:nvPr/>
        </p:nvSpPr>
        <p:spPr>
          <a:xfrm>
            <a:off x="2952750" y="1466850"/>
            <a:ext cx="57150" cy="1123950"/>
          </a:xfrm>
          <a:prstGeom prst="rect">
            <a:avLst/>
          </a:prstGeom>
          <a:solidFill>
            <a:srgbClr val="173F5F"/>
          </a:solidFill>
          <a:ln w="0">
            <a:noFill/>
            <a:prstDash val="solid"/>
          </a:ln>
        </p:spPr>
      </p:sp>
      <p:sp>
        <p:nvSpPr>
          <p:cNvPr id="11" name="Rectangle 10"/>
          <p:cNvSpPr>
            <a:spLocks noGrp="1"/>
          </p:cNvSpPr>
          <p:nvPr/>
        </p:nvSpPr>
        <p:spPr>
          <a:xfrm>
            <a:off x="3124200" y="1581150"/>
            <a:ext cx="1809750" cy="419100"/>
          </a:xfrm>
          <a:prstGeom prst="rect">
            <a:avLst/>
          </a:prstGeom>
          <a:noFill/>
          <a:ln w="0">
            <a:noFill/>
            <a:prstDash val="solid"/>
          </a:ln>
        </p:spPr>
        <p:txBody>
          <a:bodyPr wrap="square" lIns="0" tIns="0" rIns="0" bIns="0" anchor="t">
            <a:normAutofit/>
          </a:bodyPr>
          <a:lstStyle/>
          <a:p>
            <a:pPr algn="l">
              <a:lnSpc>
                <a:spcPct val="100000"/>
              </a:lnSpc>
              <a:buNone/>
              <a:defRPr sz="2250" b="1">
                <a:solidFill>
                  <a:srgbClr val="102A43"/>
                </a:solidFill>
                <a:latin typeface="Arial" panose="020B0604020202020204"/>
                <a:ea typeface="Arial" panose="020B0604020202020204"/>
                <a:cs typeface="Arial" panose="020B0604020202020204"/>
              </a:defRPr>
            </a:pPr>
            <a:r>
              <a:rPr sz="2250" b="1">
                <a:solidFill>
                  <a:srgbClr val="102A43"/>
                </a:solidFill>
                <a:latin typeface="Arial" panose="020B0604020202020204"/>
                <a:ea typeface="Arial" panose="020B0604020202020204"/>
                <a:cs typeface="Arial" panose="020B0604020202020204"/>
              </a:rPr>
              <a:t>10</a:t>
            </a:r>
            <a:endParaRPr sz="2250" b="1">
              <a:solidFill>
                <a:srgbClr val="102A43"/>
              </a:solidFill>
              <a:latin typeface="Arial" panose="020B0604020202020204"/>
              <a:ea typeface="Arial" panose="020B0604020202020204"/>
              <a:cs typeface="Arial" panose="020B0604020202020204"/>
            </a:endParaRPr>
          </a:p>
        </p:txBody>
      </p:sp>
      <p:sp>
        <p:nvSpPr>
          <p:cNvPr id="12" name="Rectangle 11"/>
          <p:cNvSpPr>
            <a:spLocks noGrp="1"/>
          </p:cNvSpPr>
          <p:nvPr/>
        </p:nvSpPr>
        <p:spPr>
          <a:xfrm>
            <a:off x="3124200" y="2009775"/>
            <a:ext cx="1809750" cy="276225"/>
          </a:xfrm>
          <a:prstGeom prst="rect">
            <a:avLst/>
          </a:prstGeom>
          <a:noFill/>
          <a:ln w="0">
            <a:noFill/>
            <a:prstDash val="solid"/>
          </a:ln>
        </p:spPr>
        <p:txBody>
          <a:bodyPr wrap="square" lIns="0" tIns="0" rIns="0" bIns="0" anchor="t">
            <a:normAutofit/>
          </a:bodyPr>
          <a:lstStyle/>
          <a:p>
            <a:pPr algn="l">
              <a:lnSpc>
                <a:spcPct val="100000"/>
              </a:lnSpc>
              <a:buNone/>
              <a:defRPr sz="1125" b="1">
                <a:solidFill>
                  <a:srgbClr val="5F6C7B"/>
                </a:solidFill>
                <a:latin typeface="Arial" panose="020B0604020202020204"/>
                <a:ea typeface="Arial" panose="020B0604020202020204"/>
                <a:cs typeface="Arial" panose="020B0604020202020204"/>
              </a:defRPr>
            </a:pPr>
            <a:r>
              <a:rPr sz="1125" b="1">
                <a:solidFill>
                  <a:srgbClr val="5F6C7B"/>
                </a:solidFill>
                <a:latin typeface="Arial" panose="020B0604020202020204"/>
                <a:ea typeface="Arial" panose="020B0604020202020204"/>
                <a:cs typeface="Arial" panose="020B0604020202020204"/>
              </a:rPr>
              <a:t>Cột</a:t>
            </a:r>
            <a:endParaRPr sz="1125" b="1">
              <a:solidFill>
                <a:srgbClr val="5F6C7B"/>
              </a:solidFill>
              <a:latin typeface="Arial" panose="020B0604020202020204"/>
              <a:ea typeface="Arial" panose="020B0604020202020204"/>
              <a:cs typeface="Arial" panose="020B0604020202020204"/>
            </a:endParaRPr>
          </a:p>
        </p:txBody>
      </p:sp>
      <p:sp>
        <p:nvSpPr>
          <p:cNvPr id="13" name="Rounded Rectangle 12"/>
          <p:cNvSpPr>
            <a:spLocks noGrp="1"/>
          </p:cNvSpPr>
          <p:nvPr/>
        </p:nvSpPr>
        <p:spPr>
          <a:xfrm>
            <a:off x="5238750" y="1466850"/>
            <a:ext cx="2095500" cy="1123950"/>
          </a:xfrm>
          <a:prstGeom prst="roundRect">
            <a:avLst>
              <a:gd name="adj" fmla="val 5932"/>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14" name="Rectangle 13"/>
          <p:cNvSpPr>
            <a:spLocks noGrp="1"/>
          </p:cNvSpPr>
          <p:nvPr/>
        </p:nvSpPr>
        <p:spPr>
          <a:xfrm>
            <a:off x="5238750" y="1466850"/>
            <a:ext cx="57150" cy="1123950"/>
          </a:xfrm>
          <a:prstGeom prst="rect">
            <a:avLst/>
          </a:prstGeom>
          <a:solidFill>
            <a:srgbClr val="E76F51"/>
          </a:solidFill>
          <a:ln w="0">
            <a:noFill/>
            <a:prstDash val="solid"/>
          </a:ln>
        </p:spPr>
      </p:sp>
      <p:sp>
        <p:nvSpPr>
          <p:cNvPr id="15" name="Rectangle 14"/>
          <p:cNvSpPr>
            <a:spLocks noGrp="1"/>
          </p:cNvSpPr>
          <p:nvPr/>
        </p:nvSpPr>
        <p:spPr>
          <a:xfrm>
            <a:off x="5410200" y="1581150"/>
            <a:ext cx="1809750" cy="419100"/>
          </a:xfrm>
          <a:prstGeom prst="rect">
            <a:avLst/>
          </a:prstGeom>
          <a:noFill/>
          <a:ln w="0">
            <a:noFill/>
            <a:prstDash val="solid"/>
          </a:ln>
        </p:spPr>
        <p:txBody>
          <a:bodyPr wrap="square" lIns="0" tIns="0" rIns="0" bIns="0" anchor="t">
            <a:normAutofit/>
          </a:bodyPr>
          <a:lstStyle/>
          <a:p>
            <a:pPr algn="l">
              <a:lnSpc>
                <a:spcPct val="100000"/>
              </a:lnSpc>
              <a:buNone/>
              <a:defRPr sz="2250" b="1">
                <a:solidFill>
                  <a:srgbClr val="102A43"/>
                </a:solidFill>
                <a:latin typeface="Arial" panose="020B0604020202020204"/>
                <a:ea typeface="Arial" panose="020B0604020202020204"/>
                <a:cs typeface="Arial" panose="020B0604020202020204"/>
              </a:defRPr>
            </a:pPr>
            <a:r>
              <a:rPr sz="2250" b="1">
                <a:solidFill>
                  <a:srgbClr val="102A43"/>
                </a:solidFill>
                <a:latin typeface="Arial" panose="020B0604020202020204"/>
                <a:ea typeface="Arial" panose="020B0604020202020204"/>
                <a:cs typeface="Arial" panose="020B0604020202020204"/>
              </a:rPr>
              <a:t>207</a:t>
            </a:r>
            <a:endParaRPr sz="2250" b="1">
              <a:solidFill>
                <a:srgbClr val="102A43"/>
              </a:solidFill>
              <a:latin typeface="Arial" panose="020B0604020202020204"/>
              <a:ea typeface="Arial" panose="020B0604020202020204"/>
              <a:cs typeface="Arial" panose="020B0604020202020204"/>
            </a:endParaRPr>
          </a:p>
        </p:txBody>
      </p:sp>
      <p:sp>
        <p:nvSpPr>
          <p:cNvPr id="16" name="Rectangle 15"/>
          <p:cNvSpPr>
            <a:spLocks noGrp="1"/>
          </p:cNvSpPr>
          <p:nvPr/>
        </p:nvSpPr>
        <p:spPr>
          <a:xfrm>
            <a:off x="5410200" y="2009775"/>
            <a:ext cx="1809750" cy="276225"/>
          </a:xfrm>
          <a:prstGeom prst="rect">
            <a:avLst/>
          </a:prstGeom>
          <a:noFill/>
          <a:ln w="0">
            <a:noFill/>
            <a:prstDash val="solid"/>
          </a:ln>
        </p:spPr>
        <p:txBody>
          <a:bodyPr wrap="square" lIns="0" tIns="0" rIns="0" bIns="0" anchor="t">
            <a:normAutofit/>
          </a:bodyPr>
          <a:lstStyle/>
          <a:p>
            <a:pPr algn="l">
              <a:lnSpc>
                <a:spcPct val="100000"/>
              </a:lnSpc>
              <a:buNone/>
              <a:defRPr sz="1125" b="1">
                <a:solidFill>
                  <a:srgbClr val="5F6C7B"/>
                </a:solidFill>
                <a:latin typeface="Arial" panose="020B0604020202020204"/>
                <a:ea typeface="Arial" panose="020B0604020202020204"/>
                <a:cs typeface="Arial" panose="020B0604020202020204"/>
              </a:defRPr>
            </a:pPr>
            <a:r>
              <a:rPr sz="1125" b="1">
                <a:solidFill>
                  <a:srgbClr val="5F6C7B"/>
                </a:solidFill>
                <a:latin typeface="Arial" panose="020B0604020202020204"/>
                <a:ea typeface="Arial" panose="020B0604020202020204"/>
                <a:cs typeface="Arial" panose="020B0604020202020204"/>
              </a:rPr>
              <a:t>Giá trị thiếu</a:t>
            </a:r>
            <a:endParaRPr sz="1125" b="1">
              <a:solidFill>
                <a:srgbClr val="5F6C7B"/>
              </a:solidFill>
              <a:latin typeface="Arial" panose="020B0604020202020204"/>
              <a:ea typeface="Arial" panose="020B0604020202020204"/>
              <a:cs typeface="Arial" panose="020B0604020202020204"/>
            </a:endParaRPr>
          </a:p>
        </p:txBody>
      </p:sp>
      <p:sp>
        <p:nvSpPr>
          <p:cNvPr id="17" name="Rectangle 16"/>
          <p:cNvSpPr>
            <a:spLocks noGrp="1"/>
          </p:cNvSpPr>
          <p:nvPr/>
        </p:nvSpPr>
        <p:spPr>
          <a:xfrm>
            <a:off x="5410200" y="2295525"/>
            <a:ext cx="1809750" cy="209550"/>
          </a:xfrm>
          <a:prstGeom prst="rect">
            <a:avLst/>
          </a:prstGeom>
          <a:noFill/>
          <a:ln w="0">
            <a:noFill/>
            <a:prstDash val="solid"/>
          </a:ln>
        </p:spPr>
        <p:txBody>
          <a:bodyPr wrap="square" lIns="0" tIns="0" rIns="0" bIns="0" anchor="t">
            <a:normAutofit/>
          </a:bodyPr>
          <a:lstStyle/>
          <a:p>
            <a:pPr algn="l">
              <a:lnSpc>
                <a:spcPct val="100000"/>
              </a:lnSpc>
              <a:buNone/>
              <a:defRPr sz="900" b="0">
                <a:solidFill>
                  <a:srgbClr val="5F6C7B"/>
                </a:solidFill>
                <a:latin typeface="Arial" panose="020B0604020202020204"/>
                <a:ea typeface="Arial" panose="020B0604020202020204"/>
                <a:cs typeface="Arial" panose="020B0604020202020204"/>
              </a:defRPr>
            </a:pPr>
            <a:r>
              <a:rPr sz="900" b="0">
                <a:solidFill>
                  <a:srgbClr val="5F6C7B"/>
                </a:solidFill>
                <a:latin typeface="Arial" panose="020B0604020202020204"/>
                <a:ea typeface="Arial" panose="020B0604020202020204"/>
                <a:cs typeface="Arial" panose="020B0604020202020204"/>
              </a:rPr>
              <a:t>Chỉ ở total_bedrooms</a:t>
            </a:r>
            <a:endParaRPr sz="900" b="0">
              <a:solidFill>
                <a:srgbClr val="5F6C7B"/>
              </a:solidFill>
              <a:latin typeface="Arial" panose="020B0604020202020204"/>
              <a:ea typeface="Arial" panose="020B0604020202020204"/>
              <a:cs typeface="Arial" panose="020B0604020202020204"/>
            </a:endParaRPr>
          </a:p>
        </p:txBody>
      </p:sp>
      <p:sp>
        <p:nvSpPr>
          <p:cNvPr id="18" name="Rounded Rectangle 17"/>
          <p:cNvSpPr>
            <a:spLocks noGrp="1"/>
          </p:cNvSpPr>
          <p:nvPr/>
        </p:nvSpPr>
        <p:spPr>
          <a:xfrm>
            <a:off x="7524750" y="1466850"/>
            <a:ext cx="4000500" cy="1123950"/>
          </a:xfrm>
          <a:prstGeom prst="roundRect">
            <a:avLst>
              <a:gd name="adj" fmla="val 5932"/>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19" name="Rectangle 18"/>
          <p:cNvSpPr>
            <a:spLocks noGrp="1"/>
          </p:cNvSpPr>
          <p:nvPr/>
        </p:nvSpPr>
        <p:spPr>
          <a:xfrm>
            <a:off x="7524750" y="1466850"/>
            <a:ext cx="57150" cy="1123950"/>
          </a:xfrm>
          <a:prstGeom prst="rect">
            <a:avLst/>
          </a:prstGeom>
          <a:solidFill>
            <a:srgbClr val="E9C46A"/>
          </a:solidFill>
          <a:ln w="0">
            <a:noFill/>
            <a:prstDash val="solid"/>
          </a:ln>
        </p:spPr>
      </p:sp>
      <p:sp>
        <p:nvSpPr>
          <p:cNvPr id="20" name="Rectangle 19"/>
          <p:cNvSpPr>
            <a:spLocks noGrp="1"/>
          </p:cNvSpPr>
          <p:nvPr/>
        </p:nvSpPr>
        <p:spPr>
          <a:xfrm>
            <a:off x="7696200" y="1581150"/>
            <a:ext cx="3714750" cy="419100"/>
          </a:xfrm>
          <a:prstGeom prst="rect">
            <a:avLst/>
          </a:prstGeom>
          <a:noFill/>
          <a:ln w="0">
            <a:noFill/>
            <a:prstDash val="solid"/>
          </a:ln>
        </p:spPr>
        <p:txBody>
          <a:bodyPr wrap="square" lIns="0" tIns="0" rIns="0" bIns="0" anchor="t">
            <a:normAutofit/>
          </a:bodyPr>
          <a:lstStyle/>
          <a:p>
            <a:pPr algn="l">
              <a:lnSpc>
                <a:spcPct val="100000"/>
              </a:lnSpc>
              <a:buNone/>
              <a:defRPr sz="2250" b="1">
                <a:solidFill>
                  <a:srgbClr val="102A43"/>
                </a:solidFill>
                <a:latin typeface="Arial" panose="020B0604020202020204"/>
                <a:ea typeface="Arial" panose="020B0604020202020204"/>
                <a:cs typeface="Arial" panose="020B0604020202020204"/>
              </a:defRPr>
            </a:pPr>
            <a:r>
              <a:rPr sz="2250" b="1">
                <a:solidFill>
                  <a:srgbClr val="102A43"/>
                </a:solidFill>
                <a:latin typeface="Arial" panose="020B0604020202020204"/>
                <a:ea typeface="Arial" panose="020B0604020202020204"/>
                <a:cs typeface="Arial" panose="020B0604020202020204"/>
              </a:rPr>
              <a:t>median_house_value</a:t>
            </a:r>
            <a:endParaRPr sz="2250" b="1">
              <a:solidFill>
                <a:srgbClr val="102A43"/>
              </a:solidFill>
              <a:latin typeface="Arial" panose="020B0604020202020204"/>
              <a:ea typeface="Arial" panose="020B0604020202020204"/>
              <a:cs typeface="Arial" panose="020B0604020202020204"/>
            </a:endParaRPr>
          </a:p>
        </p:txBody>
      </p:sp>
      <p:sp>
        <p:nvSpPr>
          <p:cNvPr id="21" name="Rectangle 20"/>
          <p:cNvSpPr>
            <a:spLocks noGrp="1"/>
          </p:cNvSpPr>
          <p:nvPr/>
        </p:nvSpPr>
        <p:spPr>
          <a:xfrm>
            <a:off x="7696200" y="2009775"/>
            <a:ext cx="3714750" cy="276225"/>
          </a:xfrm>
          <a:prstGeom prst="rect">
            <a:avLst/>
          </a:prstGeom>
          <a:noFill/>
          <a:ln w="0">
            <a:noFill/>
            <a:prstDash val="solid"/>
          </a:ln>
        </p:spPr>
        <p:txBody>
          <a:bodyPr wrap="square" lIns="0" tIns="0" rIns="0" bIns="0" anchor="t">
            <a:normAutofit/>
          </a:bodyPr>
          <a:lstStyle/>
          <a:p>
            <a:pPr algn="l">
              <a:lnSpc>
                <a:spcPct val="100000"/>
              </a:lnSpc>
              <a:buNone/>
              <a:defRPr sz="1125" b="1">
                <a:solidFill>
                  <a:srgbClr val="5F6C7B"/>
                </a:solidFill>
                <a:latin typeface="Arial" panose="020B0604020202020204"/>
                <a:ea typeface="Arial" panose="020B0604020202020204"/>
                <a:cs typeface="Arial" panose="020B0604020202020204"/>
              </a:defRPr>
            </a:pPr>
            <a:r>
              <a:rPr sz="1125" b="1">
                <a:solidFill>
                  <a:srgbClr val="5F6C7B"/>
                </a:solidFill>
                <a:latin typeface="Arial" panose="020B0604020202020204"/>
                <a:ea typeface="Arial" panose="020B0604020202020204"/>
                <a:cs typeface="Arial" panose="020B0604020202020204"/>
              </a:rPr>
              <a:t>Biến mục tiêu</a:t>
            </a:r>
            <a:endParaRPr sz="1125" b="1">
              <a:solidFill>
                <a:srgbClr val="5F6C7B"/>
              </a:solidFill>
              <a:latin typeface="Arial" panose="020B0604020202020204"/>
              <a:ea typeface="Arial" panose="020B0604020202020204"/>
              <a:cs typeface="Arial" panose="020B0604020202020204"/>
            </a:endParaRPr>
          </a:p>
        </p:txBody>
      </p:sp>
      <p:sp>
        <p:nvSpPr>
          <p:cNvPr id="22" name="Rectangle 21"/>
          <p:cNvSpPr>
            <a:spLocks noGrp="1"/>
          </p:cNvSpPr>
          <p:nvPr/>
        </p:nvSpPr>
        <p:spPr>
          <a:xfrm>
            <a:off x="7696200" y="2295525"/>
            <a:ext cx="3714750" cy="209550"/>
          </a:xfrm>
          <a:prstGeom prst="rect">
            <a:avLst/>
          </a:prstGeom>
          <a:noFill/>
          <a:ln w="0">
            <a:noFill/>
            <a:prstDash val="solid"/>
          </a:ln>
        </p:spPr>
        <p:txBody>
          <a:bodyPr wrap="square" lIns="0" tIns="0" rIns="0" bIns="0" anchor="t">
            <a:normAutofit/>
          </a:bodyPr>
          <a:lstStyle/>
          <a:p>
            <a:pPr algn="l">
              <a:lnSpc>
                <a:spcPct val="100000"/>
              </a:lnSpc>
              <a:buNone/>
              <a:defRPr sz="900" b="0">
                <a:solidFill>
                  <a:srgbClr val="5F6C7B"/>
                </a:solidFill>
                <a:latin typeface="Arial" panose="020B0604020202020204"/>
                <a:ea typeface="Arial" panose="020B0604020202020204"/>
                <a:cs typeface="Arial" panose="020B0604020202020204"/>
              </a:defRPr>
            </a:pPr>
            <a:r>
              <a:rPr sz="900" b="0">
                <a:solidFill>
                  <a:srgbClr val="5F6C7B"/>
                </a:solidFill>
                <a:latin typeface="Arial" panose="020B0604020202020204"/>
                <a:ea typeface="Arial" panose="020B0604020202020204"/>
                <a:cs typeface="Arial" panose="020B0604020202020204"/>
              </a:rPr>
              <a:t>Min 14.999 · Median 179.700 · Max 500.001 USD</a:t>
            </a:r>
            <a:endParaRPr sz="900" b="0">
              <a:solidFill>
                <a:srgbClr val="5F6C7B"/>
              </a:solidFill>
              <a:latin typeface="Arial" panose="020B0604020202020204"/>
              <a:ea typeface="Arial" panose="020B0604020202020204"/>
              <a:cs typeface="Arial" panose="020B0604020202020204"/>
            </a:endParaRPr>
          </a:p>
        </p:txBody>
      </p:sp>
      <p:sp>
        <p:nvSpPr>
          <p:cNvPr id="23" name="Rectangle 22"/>
          <p:cNvSpPr>
            <a:spLocks noGrp="1"/>
          </p:cNvSpPr>
          <p:nvPr/>
        </p:nvSpPr>
        <p:spPr>
          <a:xfrm>
            <a:off x="666750" y="3028950"/>
            <a:ext cx="4000500" cy="333375"/>
          </a:xfrm>
          <a:prstGeom prst="rect">
            <a:avLst/>
          </a:prstGeom>
          <a:noFill/>
          <a:ln w="0">
            <a:noFill/>
            <a:prstDash val="solid"/>
          </a:ln>
        </p:spPr>
        <p:txBody>
          <a:bodyPr wrap="square" lIns="0" tIns="0" rIns="0" bIns="0" anchor="t">
            <a:normAutofit/>
          </a:bodyPr>
          <a:lstStyle/>
          <a:p>
            <a:pPr algn="l">
              <a:lnSpc>
                <a:spcPct val="100000"/>
              </a:lnSpc>
              <a:buNone/>
              <a:defRPr sz="1800" b="1">
                <a:solidFill>
                  <a:srgbClr val="102A43"/>
                </a:solidFill>
                <a:latin typeface="Arial" panose="020B0604020202020204"/>
                <a:ea typeface="Arial" panose="020B0604020202020204"/>
                <a:cs typeface="Arial" panose="020B0604020202020204"/>
              </a:defRPr>
            </a:pPr>
            <a:r>
              <a:rPr sz="1800" b="1">
                <a:solidFill>
                  <a:srgbClr val="102A43"/>
                </a:solidFill>
                <a:latin typeface="Arial" panose="020B0604020202020204"/>
                <a:ea typeface="Arial" panose="020B0604020202020204"/>
                <a:cs typeface="Arial" panose="020B0604020202020204"/>
              </a:rPr>
              <a:t>9 đặc trưng đầu vào</a:t>
            </a:r>
            <a:endParaRPr sz="1800" b="1">
              <a:solidFill>
                <a:srgbClr val="102A43"/>
              </a:solidFill>
              <a:latin typeface="Arial" panose="020B0604020202020204"/>
              <a:ea typeface="Arial" panose="020B0604020202020204"/>
              <a:cs typeface="Arial" panose="020B0604020202020204"/>
            </a:endParaRPr>
          </a:p>
        </p:txBody>
      </p:sp>
      <p:sp>
        <p:nvSpPr>
          <p:cNvPr id="24" name="Rectangle 23"/>
          <p:cNvSpPr>
            <a:spLocks noGrp="1"/>
          </p:cNvSpPr>
          <p:nvPr/>
        </p:nvSpPr>
        <p:spPr>
          <a:xfrm>
            <a:off x="666750" y="3476625"/>
            <a:ext cx="1428750" cy="381000"/>
          </a:xfrm>
          <a:prstGeom prst="rect">
            <a:avLst/>
          </a:prstGeom>
          <a:solidFill>
            <a:srgbClr val="102A43"/>
          </a:solidFill>
          <a:ln w="9525">
            <a:solidFill>
              <a:srgbClr val="D7E0E8"/>
            </a:solidFill>
            <a:prstDash val="solid"/>
          </a:ln>
        </p:spPr>
        <p:txBody>
          <a:bodyPr wrap="square" lIns="85725" tIns="38100" rIns="85725" bIns="38100" anchor="ctr">
            <a:normAutofit/>
          </a:bodyPr>
          <a:lstStyle/>
          <a:p>
            <a:pPr algn="l">
              <a:lnSpc>
                <a:spcPct val="100000"/>
              </a:lnSpc>
              <a:buNone/>
              <a:defRPr sz="975" b="1">
                <a:solidFill>
                  <a:srgbClr val="FFFFFF"/>
                </a:solidFill>
                <a:latin typeface="Arial" panose="020B0604020202020204"/>
                <a:ea typeface="Arial" panose="020B0604020202020204"/>
                <a:cs typeface="Arial" panose="020B0604020202020204"/>
              </a:defRPr>
            </a:pPr>
            <a:r>
              <a:rPr sz="975" b="1">
                <a:solidFill>
                  <a:srgbClr val="FFFFFF"/>
                </a:solidFill>
                <a:latin typeface="Arial" panose="020B0604020202020204"/>
                <a:ea typeface="Arial" panose="020B0604020202020204"/>
                <a:cs typeface="Arial" panose="020B0604020202020204"/>
              </a:rPr>
              <a:t>Nhóm</a:t>
            </a:r>
            <a:endParaRPr sz="975" b="1">
              <a:solidFill>
                <a:srgbClr val="FFFFFF"/>
              </a:solidFill>
              <a:latin typeface="Arial" panose="020B0604020202020204"/>
              <a:ea typeface="Arial" panose="020B0604020202020204"/>
              <a:cs typeface="Arial" panose="020B0604020202020204"/>
            </a:endParaRPr>
          </a:p>
        </p:txBody>
      </p:sp>
      <p:sp>
        <p:nvSpPr>
          <p:cNvPr id="25" name="Rectangle 24"/>
          <p:cNvSpPr>
            <a:spLocks noGrp="1"/>
          </p:cNvSpPr>
          <p:nvPr/>
        </p:nvSpPr>
        <p:spPr>
          <a:xfrm>
            <a:off x="2095500" y="3476625"/>
            <a:ext cx="3714750" cy="381000"/>
          </a:xfrm>
          <a:prstGeom prst="rect">
            <a:avLst/>
          </a:prstGeom>
          <a:solidFill>
            <a:srgbClr val="102A43"/>
          </a:solidFill>
          <a:ln w="9525">
            <a:solidFill>
              <a:srgbClr val="D7E0E8"/>
            </a:solidFill>
            <a:prstDash val="solid"/>
          </a:ln>
        </p:spPr>
        <p:txBody>
          <a:bodyPr wrap="square" lIns="85725" tIns="38100" rIns="85725" bIns="38100" anchor="ctr">
            <a:normAutofit/>
          </a:bodyPr>
          <a:lstStyle/>
          <a:p>
            <a:pPr algn="l">
              <a:lnSpc>
                <a:spcPct val="100000"/>
              </a:lnSpc>
              <a:buNone/>
              <a:defRPr sz="975" b="1">
                <a:solidFill>
                  <a:srgbClr val="FFFFFF"/>
                </a:solidFill>
                <a:latin typeface="Arial" panose="020B0604020202020204"/>
                <a:ea typeface="Arial" panose="020B0604020202020204"/>
                <a:cs typeface="Arial" panose="020B0604020202020204"/>
              </a:defRPr>
            </a:pPr>
            <a:r>
              <a:rPr sz="975" b="1">
                <a:solidFill>
                  <a:srgbClr val="FFFFFF"/>
                </a:solidFill>
                <a:latin typeface="Arial" panose="020B0604020202020204"/>
                <a:ea typeface="Arial" panose="020B0604020202020204"/>
                <a:cs typeface="Arial" panose="020B0604020202020204"/>
              </a:rPr>
              <a:t>Đặc trưng</a:t>
            </a:r>
            <a:endParaRPr sz="975" b="1">
              <a:solidFill>
                <a:srgbClr val="FFFFFF"/>
              </a:solidFill>
              <a:latin typeface="Arial" panose="020B0604020202020204"/>
              <a:ea typeface="Arial" panose="020B0604020202020204"/>
              <a:cs typeface="Arial" panose="020B0604020202020204"/>
            </a:endParaRPr>
          </a:p>
        </p:txBody>
      </p:sp>
      <p:sp>
        <p:nvSpPr>
          <p:cNvPr id="26" name="Rectangle 25"/>
          <p:cNvSpPr>
            <a:spLocks noGrp="1"/>
          </p:cNvSpPr>
          <p:nvPr/>
        </p:nvSpPr>
        <p:spPr>
          <a:xfrm>
            <a:off x="5810250" y="3476625"/>
            <a:ext cx="1238250" cy="381000"/>
          </a:xfrm>
          <a:prstGeom prst="rect">
            <a:avLst/>
          </a:prstGeom>
          <a:solidFill>
            <a:srgbClr val="102A43"/>
          </a:solidFill>
          <a:ln w="9525">
            <a:solidFill>
              <a:srgbClr val="D7E0E8"/>
            </a:solidFill>
            <a:prstDash val="solid"/>
          </a:ln>
        </p:spPr>
        <p:txBody>
          <a:bodyPr wrap="square" lIns="85725" tIns="38100" rIns="85725" bIns="38100" anchor="ctr">
            <a:normAutofit/>
          </a:bodyPr>
          <a:lstStyle/>
          <a:p>
            <a:pPr algn="l">
              <a:lnSpc>
                <a:spcPct val="100000"/>
              </a:lnSpc>
              <a:buNone/>
              <a:defRPr sz="975" b="1">
                <a:solidFill>
                  <a:srgbClr val="FFFFFF"/>
                </a:solidFill>
                <a:latin typeface="Arial" panose="020B0604020202020204"/>
                <a:ea typeface="Arial" panose="020B0604020202020204"/>
                <a:cs typeface="Arial" panose="020B0604020202020204"/>
              </a:defRPr>
            </a:pPr>
            <a:r>
              <a:rPr sz="975" b="1">
                <a:solidFill>
                  <a:srgbClr val="FFFFFF"/>
                </a:solidFill>
                <a:latin typeface="Arial" panose="020B0604020202020204"/>
                <a:ea typeface="Arial" panose="020B0604020202020204"/>
                <a:cs typeface="Arial" panose="020B0604020202020204"/>
              </a:rPr>
              <a:t>Kiểu</a:t>
            </a:r>
            <a:endParaRPr sz="975" b="1">
              <a:solidFill>
                <a:srgbClr val="FFFFFF"/>
              </a:solidFill>
              <a:latin typeface="Arial" panose="020B0604020202020204"/>
              <a:ea typeface="Arial" panose="020B0604020202020204"/>
              <a:cs typeface="Arial" panose="020B0604020202020204"/>
            </a:endParaRPr>
          </a:p>
        </p:txBody>
      </p:sp>
      <p:sp>
        <p:nvSpPr>
          <p:cNvPr id="27" name="Rectangle 26"/>
          <p:cNvSpPr>
            <a:spLocks noGrp="1"/>
          </p:cNvSpPr>
          <p:nvPr/>
        </p:nvSpPr>
        <p:spPr>
          <a:xfrm>
            <a:off x="666750" y="3857625"/>
            <a:ext cx="1428750" cy="381000"/>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l">
              <a:lnSpc>
                <a:spcPct val="100000"/>
              </a:lnSpc>
              <a:buNone/>
              <a:defRPr sz="975" b="1">
                <a:solidFill>
                  <a:srgbClr val="1D2939"/>
                </a:solidFill>
                <a:latin typeface="Arial" panose="020B0604020202020204"/>
                <a:ea typeface="Arial" panose="020B0604020202020204"/>
                <a:cs typeface="Arial" panose="020B0604020202020204"/>
              </a:defRPr>
            </a:pPr>
            <a:r>
              <a:rPr sz="975" b="1">
                <a:solidFill>
                  <a:srgbClr val="1D2939"/>
                </a:solidFill>
                <a:latin typeface="Arial" panose="020B0604020202020204"/>
                <a:ea typeface="Arial" panose="020B0604020202020204"/>
                <a:cs typeface="Arial" panose="020B0604020202020204"/>
              </a:rPr>
              <a:t>Vị trí</a:t>
            </a:r>
            <a:endParaRPr sz="975" b="1">
              <a:solidFill>
                <a:srgbClr val="1D2939"/>
              </a:solidFill>
              <a:latin typeface="Arial" panose="020B0604020202020204"/>
              <a:ea typeface="Arial" panose="020B0604020202020204"/>
              <a:cs typeface="Arial" panose="020B0604020202020204"/>
            </a:endParaRPr>
          </a:p>
        </p:txBody>
      </p:sp>
      <p:sp>
        <p:nvSpPr>
          <p:cNvPr id="28" name="Rectangle 27"/>
          <p:cNvSpPr>
            <a:spLocks noGrp="1"/>
          </p:cNvSpPr>
          <p:nvPr/>
        </p:nvSpPr>
        <p:spPr>
          <a:xfrm>
            <a:off x="2095500" y="3857625"/>
            <a:ext cx="3714750" cy="381000"/>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l">
              <a:lnSpc>
                <a:spcPct val="100000"/>
              </a:lnSpc>
              <a:buNone/>
              <a:defRPr sz="975" b="0">
                <a:solidFill>
                  <a:srgbClr val="1D2939"/>
                </a:solidFill>
                <a:latin typeface="Arial" panose="020B0604020202020204"/>
                <a:ea typeface="Arial" panose="020B0604020202020204"/>
                <a:cs typeface="Arial" panose="020B0604020202020204"/>
              </a:defRPr>
            </a:pPr>
            <a:r>
              <a:rPr sz="975" b="0">
                <a:solidFill>
                  <a:srgbClr val="1D2939"/>
                </a:solidFill>
                <a:latin typeface="Arial" panose="020B0604020202020204"/>
                <a:ea typeface="Arial" panose="020B0604020202020204"/>
                <a:cs typeface="Arial" panose="020B0604020202020204"/>
              </a:rPr>
              <a:t>longitude, latitude</a:t>
            </a:r>
            <a:endParaRPr sz="975" b="0">
              <a:solidFill>
                <a:srgbClr val="1D2939"/>
              </a:solidFill>
              <a:latin typeface="Arial" panose="020B0604020202020204"/>
              <a:ea typeface="Arial" panose="020B0604020202020204"/>
              <a:cs typeface="Arial" panose="020B0604020202020204"/>
            </a:endParaRPr>
          </a:p>
        </p:txBody>
      </p:sp>
      <p:sp>
        <p:nvSpPr>
          <p:cNvPr id="29" name="Rectangle 28"/>
          <p:cNvSpPr>
            <a:spLocks noGrp="1"/>
          </p:cNvSpPr>
          <p:nvPr/>
        </p:nvSpPr>
        <p:spPr>
          <a:xfrm>
            <a:off x="5810250" y="3857625"/>
            <a:ext cx="1238250" cy="381000"/>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l">
              <a:lnSpc>
                <a:spcPct val="100000"/>
              </a:lnSpc>
              <a:buNone/>
              <a:defRPr sz="975" b="0">
                <a:solidFill>
                  <a:srgbClr val="1D2939"/>
                </a:solidFill>
                <a:latin typeface="Arial" panose="020B0604020202020204"/>
                <a:ea typeface="Arial" panose="020B0604020202020204"/>
                <a:cs typeface="Arial" panose="020B0604020202020204"/>
              </a:defRPr>
            </a:pPr>
            <a:r>
              <a:rPr sz="975" b="0">
                <a:solidFill>
                  <a:srgbClr val="1D2939"/>
                </a:solidFill>
                <a:latin typeface="Arial" panose="020B0604020202020204"/>
                <a:ea typeface="Arial" panose="020B0604020202020204"/>
                <a:cs typeface="Arial" panose="020B0604020202020204"/>
              </a:rPr>
              <a:t>Số</a:t>
            </a:r>
            <a:endParaRPr sz="975" b="0">
              <a:solidFill>
                <a:srgbClr val="1D2939"/>
              </a:solidFill>
              <a:latin typeface="Arial" panose="020B0604020202020204"/>
              <a:ea typeface="Arial" panose="020B0604020202020204"/>
              <a:cs typeface="Arial" panose="020B0604020202020204"/>
            </a:endParaRPr>
          </a:p>
        </p:txBody>
      </p:sp>
      <p:sp>
        <p:nvSpPr>
          <p:cNvPr id="30" name="Rectangle 29"/>
          <p:cNvSpPr>
            <a:spLocks noGrp="1"/>
          </p:cNvSpPr>
          <p:nvPr/>
        </p:nvSpPr>
        <p:spPr>
          <a:xfrm>
            <a:off x="666750" y="4238625"/>
            <a:ext cx="1428750" cy="381000"/>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l">
              <a:lnSpc>
                <a:spcPct val="100000"/>
              </a:lnSpc>
              <a:buNone/>
              <a:defRPr sz="975" b="1">
                <a:solidFill>
                  <a:srgbClr val="1D2939"/>
                </a:solidFill>
                <a:latin typeface="Arial" panose="020B0604020202020204"/>
                <a:ea typeface="Arial" panose="020B0604020202020204"/>
                <a:cs typeface="Arial" panose="020B0604020202020204"/>
              </a:defRPr>
            </a:pPr>
            <a:r>
              <a:rPr sz="975" b="1">
                <a:solidFill>
                  <a:srgbClr val="1D2939"/>
                </a:solidFill>
                <a:latin typeface="Arial" panose="020B0604020202020204"/>
                <a:ea typeface="Arial" panose="020B0604020202020204"/>
                <a:cs typeface="Arial" panose="020B0604020202020204"/>
              </a:rPr>
              <a:t>Nhà ở</a:t>
            </a:r>
            <a:endParaRPr sz="975" b="1">
              <a:solidFill>
                <a:srgbClr val="1D2939"/>
              </a:solidFill>
              <a:latin typeface="Arial" panose="020B0604020202020204"/>
              <a:ea typeface="Arial" panose="020B0604020202020204"/>
              <a:cs typeface="Arial" panose="020B0604020202020204"/>
            </a:endParaRPr>
          </a:p>
        </p:txBody>
      </p:sp>
      <p:sp>
        <p:nvSpPr>
          <p:cNvPr id="31" name="Rectangle 30"/>
          <p:cNvSpPr>
            <a:spLocks noGrp="1"/>
          </p:cNvSpPr>
          <p:nvPr/>
        </p:nvSpPr>
        <p:spPr>
          <a:xfrm>
            <a:off x="2095500" y="4238625"/>
            <a:ext cx="3714750" cy="381000"/>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l">
              <a:lnSpc>
                <a:spcPct val="100000"/>
              </a:lnSpc>
              <a:buNone/>
              <a:defRPr sz="975" b="0">
                <a:solidFill>
                  <a:srgbClr val="1D2939"/>
                </a:solidFill>
                <a:latin typeface="Arial" panose="020B0604020202020204"/>
                <a:ea typeface="Arial" panose="020B0604020202020204"/>
                <a:cs typeface="Arial" panose="020B0604020202020204"/>
              </a:defRPr>
            </a:pPr>
            <a:r>
              <a:rPr sz="975" b="0">
                <a:solidFill>
                  <a:srgbClr val="1D2939"/>
                </a:solidFill>
                <a:latin typeface="Arial" panose="020B0604020202020204"/>
                <a:ea typeface="Arial" panose="020B0604020202020204"/>
                <a:cs typeface="Arial" panose="020B0604020202020204"/>
              </a:rPr>
              <a:t>housing_median_age</a:t>
            </a:r>
            <a:endParaRPr sz="975" b="0">
              <a:solidFill>
                <a:srgbClr val="1D2939"/>
              </a:solidFill>
              <a:latin typeface="Arial" panose="020B0604020202020204"/>
              <a:ea typeface="Arial" panose="020B0604020202020204"/>
              <a:cs typeface="Arial" panose="020B0604020202020204"/>
            </a:endParaRPr>
          </a:p>
        </p:txBody>
      </p:sp>
      <p:sp>
        <p:nvSpPr>
          <p:cNvPr id="32" name="Rectangle 31"/>
          <p:cNvSpPr>
            <a:spLocks noGrp="1"/>
          </p:cNvSpPr>
          <p:nvPr/>
        </p:nvSpPr>
        <p:spPr>
          <a:xfrm>
            <a:off x="5810250" y="4238625"/>
            <a:ext cx="1238250" cy="381000"/>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l">
              <a:lnSpc>
                <a:spcPct val="100000"/>
              </a:lnSpc>
              <a:buNone/>
              <a:defRPr sz="975" b="0">
                <a:solidFill>
                  <a:srgbClr val="1D2939"/>
                </a:solidFill>
                <a:latin typeface="Arial" panose="020B0604020202020204"/>
                <a:ea typeface="Arial" panose="020B0604020202020204"/>
                <a:cs typeface="Arial" panose="020B0604020202020204"/>
              </a:defRPr>
            </a:pPr>
            <a:r>
              <a:rPr sz="975" b="0">
                <a:solidFill>
                  <a:srgbClr val="1D2939"/>
                </a:solidFill>
                <a:latin typeface="Arial" panose="020B0604020202020204"/>
                <a:ea typeface="Arial" panose="020B0604020202020204"/>
                <a:cs typeface="Arial" panose="020B0604020202020204"/>
              </a:rPr>
              <a:t>Số</a:t>
            </a:r>
            <a:endParaRPr sz="975" b="0">
              <a:solidFill>
                <a:srgbClr val="1D2939"/>
              </a:solidFill>
              <a:latin typeface="Arial" panose="020B0604020202020204"/>
              <a:ea typeface="Arial" panose="020B0604020202020204"/>
              <a:cs typeface="Arial" panose="020B0604020202020204"/>
            </a:endParaRPr>
          </a:p>
        </p:txBody>
      </p:sp>
      <p:sp>
        <p:nvSpPr>
          <p:cNvPr id="33" name="Rectangle 32"/>
          <p:cNvSpPr>
            <a:spLocks noGrp="1"/>
          </p:cNvSpPr>
          <p:nvPr/>
        </p:nvSpPr>
        <p:spPr>
          <a:xfrm>
            <a:off x="666750" y="4619625"/>
            <a:ext cx="1428750" cy="381000"/>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l">
              <a:lnSpc>
                <a:spcPct val="100000"/>
              </a:lnSpc>
              <a:buNone/>
              <a:defRPr sz="975" b="1">
                <a:solidFill>
                  <a:srgbClr val="1D2939"/>
                </a:solidFill>
                <a:latin typeface="Arial" panose="020B0604020202020204"/>
                <a:ea typeface="Arial" panose="020B0604020202020204"/>
                <a:cs typeface="Arial" panose="020B0604020202020204"/>
              </a:defRPr>
            </a:pPr>
            <a:r>
              <a:rPr sz="975" b="1">
                <a:solidFill>
                  <a:srgbClr val="1D2939"/>
                </a:solidFill>
                <a:latin typeface="Arial" panose="020B0604020202020204"/>
                <a:ea typeface="Arial" panose="020B0604020202020204"/>
                <a:cs typeface="Arial" panose="020B0604020202020204"/>
              </a:rPr>
              <a:t>Quy mô</a:t>
            </a:r>
            <a:endParaRPr sz="975" b="1">
              <a:solidFill>
                <a:srgbClr val="1D2939"/>
              </a:solidFill>
              <a:latin typeface="Arial" panose="020B0604020202020204"/>
              <a:ea typeface="Arial" panose="020B0604020202020204"/>
              <a:cs typeface="Arial" panose="020B0604020202020204"/>
            </a:endParaRPr>
          </a:p>
        </p:txBody>
      </p:sp>
      <p:sp>
        <p:nvSpPr>
          <p:cNvPr id="34" name="Rectangle 33"/>
          <p:cNvSpPr>
            <a:spLocks noGrp="1"/>
          </p:cNvSpPr>
          <p:nvPr/>
        </p:nvSpPr>
        <p:spPr>
          <a:xfrm>
            <a:off x="2095500" y="4619625"/>
            <a:ext cx="3714750" cy="381000"/>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l">
              <a:lnSpc>
                <a:spcPct val="100000"/>
              </a:lnSpc>
              <a:buNone/>
              <a:defRPr sz="975" b="0">
                <a:solidFill>
                  <a:srgbClr val="1D2939"/>
                </a:solidFill>
                <a:latin typeface="Arial" panose="020B0604020202020204"/>
                <a:ea typeface="Arial" panose="020B0604020202020204"/>
                <a:cs typeface="Arial" panose="020B0604020202020204"/>
              </a:defRPr>
            </a:pPr>
            <a:r>
              <a:rPr sz="975" b="0">
                <a:solidFill>
                  <a:srgbClr val="1D2939"/>
                </a:solidFill>
                <a:latin typeface="Arial" panose="020B0604020202020204"/>
                <a:ea typeface="Arial" panose="020B0604020202020204"/>
                <a:cs typeface="Arial" panose="020B0604020202020204"/>
              </a:rPr>
              <a:t>total_rooms, total_bedrooms</a:t>
            </a:r>
            <a:endParaRPr sz="975" b="0">
              <a:solidFill>
                <a:srgbClr val="1D2939"/>
              </a:solidFill>
              <a:latin typeface="Arial" panose="020B0604020202020204"/>
              <a:ea typeface="Arial" panose="020B0604020202020204"/>
              <a:cs typeface="Arial" panose="020B0604020202020204"/>
            </a:endParaRPr>
          </a:p>
        </p:txBody>
      </p:sp>
      <p:sp>
        <p:nvSpPr>
          <p:cNvPr id="35" name="Rectangle 34"/>
          <p:cNvSpPr>
            <a:spLocks noGrp="1"/>
          </p:cNvSpPr>
          <p:nvPr/>
        </p:nvSpPr>
        <p:spPr>
          <a:xfrm>
            <a:off x="5810250" y="4619625"/>
            <a:ext cx="1238250" cy="381000"/>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l">
              <a:lnSpc>
                <a:spcPct val="100000"/>
              </a:lnSpc>
              <a:buNone/>
              <a:defRPr sz="975" b="0">
                <a:solidFill>
                  <a:srgbClr val="1D2939"/>
                </a:solidFill>
                <a:latin typeface="Arial" panose="020B0604020202020204"/>
                <a:ea typeface="Arial" panose="020B0604020202020204"/>
                <a:cs typeface="Arial" panose="020B0604020202020204"/>
              </a:defRPr>
            </a:pPr>
            <a:r>
              <a:rPr sz="975" b="0">
                <a:solidFill>
                  <a:srgbClr val="1D2939"/>
                </a:solidFill>
                <a:latin typeface="Arial" panose="020B0604020202020204"/>
                <a:ea typeface="Arial" panose="020B0604020202020204"/>
                <a:cs typeface="Arial" panose="020B0604020202020204"/>
              </a:rPr>
              <a:t>Số</a:t>
            </a:r>
            <a:endParaRPr sz="975" b="0">
              <a:solidFill>
                <a:srgbClr val="1D2939"/>
              </a:solidFill>
              <a:latin typeface="Arial" panose="020B0604020202020204"/>
              <a:ea typeface="Arial" panose="020B0604020202020204"/>
              <a:cs typeface="Arial" panose="020B0604020202020204"/>
            </a:endParaRPr>
          </a:p>
        </p:txBody>
      </p:sp>
      <p:sp>
        <p:nvSpPr>
          <p:cNvPr id="36" name="Rectangle 35"/>
          <p:cNvSpPr>
            <a:spLocks noGrp="1"/>
          </p:cNvSpPr>
          <p:nvPr/>
        </p:nvSpPr>
        <p:spPr>
          <a:xfrm>
            <a:off x="666750" y="5000625"/>
            <a:ext cx="1428750" cy="381000"/>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l">
              <a:lnSpc>
                <a:spcPct val="100000"/>
              </a:lnSpc>
              <a:buNone/>
              <a:defRPr sz="975" b="1">
                <a:solidFill>
                  <a:srgbClr val="1D2939"/>
                </a:solidFill>
                <a:latin typeface="Arial" panose="020B0604020202020204"/>
                <a:ea typeface="Arial" panose="020B0604020202020204"/>
                <a:cs typeface="Arial" panose="020B0604020202020204"/>
              </a:defRPr>
            </a:pPr>
            <a:r>
              <a:rPr sz="975" b="1">
                <a:solidFill>
                  <a:srgbClr val="1D2939"/>
                </a:solidFill>
                <a:latin typeface="Arial" panose="020B0604020202020204"/>
                <a:ea typeface="Arial" panose="020B0604020202020204"/>
                <a:cs typeface="Arial" panose="020B0604020202020204"/>
              </a:rPr>
              <a:t>Dân cư</a:t>
            </a:r>
            <a:endParaRPr sz="975" b="1">
              <a:solidFill>
                <a:srgbClr val="1D2939"/>
              </a:solidFill>
              <a:latin typeface="Arial" panose="020B0604020202020204"/>
              <a:ea typeface="Arial" panose="020B0604020202020204"/>
              <a:cs typeface="Arial" panose="020B0604020202020204"/>
            </a:endParaRPr>
          </a:p>
        </p:txBody>
      </p:sp>
      <p:sp>
        <p:nvSpPr>
          <p:cNvPr id="37" name="Rectangle 36"/>
          <p:cNvSpPr>
            <a:spLocks noGrp="1"/>
          </p:cNvSpPr>
          <p:nvPr/>
        </p:nvSpPr>
        <p:spPr>
          <a:xfrm>
            <a:off x="2095500" y="5000625"/>
            <a:ext cx="3714750" cy="381000"/>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l">
              <a:lnSpc>
                <a:spcPct val="100000"/>
              </a:lnSpc>
              <a:buNone/>
              <a:defRPr sz="975" b="0">
                <a:solidFill>
                  <a:srgbClr val="1D2939"/>
                </a:solidFill>
                <a:latin typeface="Arial" panose="020B0604020202020204"/>
                <a:ea typeface="Arial" panose="020B0604020202020204"/>
                <a:cs typeface="Arial" panose="020B0604020202020204"/>
              </a:defRPr>
            </a:pPr>
            <a:r>
              <a:rPr sz="975" b="0">
                <a:solidFill>
                  <a:srgbClr val="1D2939"/>
                </a:solidFill>
                <a:latin typeface="Arial" panose="020B0604020202020204"/>
                <a:ea typeface="Arial" panose="020B0604020202020204"/>
                <a:cs typeface="Arial" panose="020B0604020202020204"/>
              </a:rPr>
              <a:t>population, households</a:t>
            </a:r>
            <a:endParaRPr sz="975" b="0">
              <a:solidFill>
                <a:srgbClr val="1D2939"/>
              </a:solidFill>
              <a:latin typeface="Arial" panose="020B0604020202020204"/>
              <a:ea typeface="Arial" panose="020B0604020202020204"/>
              <a:cs typeface="Arial" panose="020B0604020202020204"/>
            </a:endParaRPr>
          </a:p>
        </p:txBody>
      </p:sp>
      <p:sp>
        <p:nvSpPr>
          <p:cNvPr id="38" name="Rectangle 37"/>
          <p:cNvSpPr>
            <a:spLocks noGrp="1"/>
          </p:cNvSpPr>
          <p:nvPr/>
        </p:nvSpPr>
        <p:spPr>
          <a:xfrm>
            <a:off x="5810250" y="5000625"/>
            <a:ext cx="1238250" cy="381000"/>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l">
              <a:lnSpc>
                <a:spcPct val="100000"/>
              </a:lnSpc>
              <a:buNone/>
              <a:defRPr sz="975" b="0">
                <a:solidFill>
                  <a:srgbClr val="1D2939"/>
                </a:solidFill>
                <a:latin typeface="Arial" panose="020B0604020202020204"/>
                <a:ea typeface="Arial" panose="020B0604020202020204"/>
                <a:cs typeface="Arial" panose="020B0604020202020204"/>
              </a:defRPr>
            </a:pPr>
            <a:r>
              <a:rPr sz="975" b="0">
                <a:solidFill>
                  <a:srgbClr val="1D2939"/>
                </a:solidFill>
                <a:latin typeface="Arial" panose="020B0604020202020204"/>
                <a:ea typeface="Arial" panose="020B0604020202020204"/>
                <a:cs typeface="Arial" panose="020B0604020202020204"/>
              </a:rPr>
              <a:t>Số</a:t>
            </a:r>
            <a:endParaRPr sz="975" b="0">
              <a:solidFill>
                <a:srgbClr val="1D2939"/>
              </a:solidFill>
              <a:latin typeface="Arial" panose="020B0604020202020204"/>
              <a:ea typeface="Arial" panose="020B0604020202020204"/>
              <a:cs typeface="Arial" panose="020B0604020202020204"/>
            </a:endParaRPr>
          </a:p>
        </p:txBody>
      </p:sp>
      <p:sp>
        <p:nvSpPr>
          <p:cNvPr id="39" name="Rectangle 38"/>
          <p:cNvSpPr>
            <a:spLocks noGrp="1"/>
          </p:cNvSpPr>
          <p:nvPr/>
        </p:nvSpPr>
        <p:spPr>
          <a:xfrm>
            <a:off x="666750" y="5381625"/>
            <a:ext cx="1428750" cy="381000"/>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l">
              <a:lnSpc>
                <a:spcPct val="100000"/>
              </a:lnSpc>
              <a:buNone/>
              <a:defRPr sz="975" b="1">
                <a:solidFill>
                  <a:srgbClr val="1D2939"/>
                </a:solidFill>
                <a:latin typeface="Arial" panose="020B0604020202020204"/>
                <a:ea typeface="Arial" panose="020B0604020202020204"/>
                <a:cs typeface="Arial" panose="020B0604020202020204"/>
              </a:defRPr>
            </a:pPr>
            <a:r>
              <a:rPr sz="975" b="1">
                <a:solidFill>
                  <a:srgbClr val="1D2939"/>
                </a:solidFill>
                <a:latin typeface="Arial" panose="020B0604020202020204"/>
                <a:ea typeface="Arial" panose="020B0604020202020204"/>
                <a:cs typeface="Arial" panose="020B0604020202020204"/>
              </a:rPr>
              <a:t>Kinh tế</a:t>
            </a:r>
            <a:endParaRPr sz="975" b="1">
              <a:solidFill>
                <a:srgbClr val="1D2939"/>
              </a:solidFill>
              <a:latin typeface="Arial" panose="020B0604020202020204"/>
              <a:ea typeface="Arial" panose="020B0604020202020204"/>
              <a:cs typeface="Arial" panose="020B0604020202020204"/>
            </a:endParaRPr>
          </a:p>
        </p:txBody>
      </p:sp>
      <p:sp>
        <p:nvSpPr>
          <p:cNvPr id="40" name="Rectangle 39"/>
          <p:cNvSpPr>
            <a:spLocks noGrp="1"/>
          </p:cNvSpPr>
          <p:nvPr/>
        </p:nvSpPr>
        <p:spPr>
          <a:xfrm>
            <a:off x="2095500" y="5381625"/>
            <a:ext cx="3714750" cy="381000"/>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l">
              <a:lnSpc>
                <a:spcPct val="100000"/>
              </a:lnSpc>
              <a:buNone/>
              <a:defRPr sz="975" b="0">
                <a:solidFill>
                  <a:srgbClr val="1D2939"/>
                </a:solidFill>
                <a:latin typeface="Arial" panose="020B0604020202020204"/>
                <a:ea typeface="Arial" panose="020B0604020202020204"/>
                <a:cs typeface="Arial" panose="020B0604020202020204"/>
              </a:defRPr>
            </a:pPr>
            <a:r>
              <a:rPr sz="975" b="0">
                <a:solidFill>
                  <a:srgbClr val="1D2939"/>
                </a:solidFill>
                <a:latin typeface="Arial" panose="020B0604020202020204"/>
                <a:ea typeface="Arial" panose="020B0604020202020204"/>
                <a:cs typeface="Arial" panose="020B0604020202020204"/>
              </a:rPr>
              <a:t>median_income</a:t>
            </a:r>
            <a:endParaRPr sz="975" b="0">
              <a:solidFill>
                <a:srgbClr val="1D2939"/>
              </a:solidFill>
              <a:latin typeface="Arial" panose="020B0604020202020204"/>
              <a:ea typeface="Arial" panose="020B0604020202020204"/>
              <a:cs typeface="Arial" panose="020B0604020202020204"/>
            </a:endParaRPr>
          </a:p>
        </p:txBody>
      </p:sp>
      <p:sp>
        <p:nvSpPr>
          <p:cNvPr id="41" name="Rectangle 40"/>
          <p:cNvSpPr>
            <a:spLocks noGrp="1"/>
          </p:cNvSpPr>
          <p:nvPr/>
        </p:nvSpPr>
        <p:spPr>
          <a:xfrm>
            <a:off x="5810250" y="5381625"/>
            <a:ext cx="1238250" cy="381000"/>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l">
              <a:lnSpc>
                <a:spcPct val="100000"/>
              </a:lnSpc>
              <a:buNone/>
              <a:defRPr sz="975" b="0">
                <a:solidFill>
                  <a:srgbClr val="1D2939"/>
                </a:solidFill>
                <a:latin typeface="Arial" panose="020B0604020202020204"/>
                <a:ea typeface="Arial" panose="020B0604020202020204"/>
                <a:cs typeface="Arial" panose="020B0604020202020204"/>
              </a:defRPr>
            </a:pPr>
            <a:r>
              <a:rPr sz="975" b="0">
                <a:solidFill>
                  <a:srgbClr val="1D2939"/>
                </a:solidFill>
                <a:latin typeface="Arial" panose="020B0604020202020204"/>
                <a:ea typeface="Arial" panose="020B0604020202020204"/>
                <a:cs typeface="Arial" panose="020B0604020202020204"/>
              </a:rPr>
              <a:t>Số</a:t>
            </a:r>
            <a:endParaRPr sz="975" b="0">
              <a:solidFill>
                <a:srgbClr val="1D2939"/>
              </a:solidFill>
              <a:latin typeface="Arial" panose="020B0604020202020204"/>
              <a:ea typeface="Arial" panose="020B0604020202020204"/>
              <a:cs typeface="Arial" panose="020B0604020202020204"/>
            </a:endParaRPr>
          </a:p>
        </p:txBody>
      </p:sp>
      <p:sp>
        <p:nvSpPr>
          <p:cNvPr id="42" name="Rectangle 41"/>
          <p:cNvSpPr>
            <a:spLocks noGrp="1"/>
          </p:cNvSpPr>
          <p:nvPr/>
        </p:nvSpPr>
        <p:spPr>
          <a:xfrm>
            <a:off x="666750" y="5762625"/>
            <a:ext cx="1428750" cy="381000"/>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l">
              <a:lnSpc>
                <a:spcPct val="100000"/>
              </a:lnSpc>
              <a:buNone/>
              <a:defRPr sz="975" b="1">
                <a:solidFill>
                  <a:srgbClr val="1D2939"/>
                </a:solidFill>
                <a:latin typeface="Arial" panose="020B0604020202020204"/>
                <a:ea typeface="Arial" panose="020B0604020202020204"/>
                <a:cs typeface="Arial" panose="020B0604020202020204"/>
              </a:defRPr>
            </a:pPr>
            <a:r>
              <a:rPr sz="975" b="1">
                <a:solidFill>
                  <a:srgbClr val="1D2939"/>
                </a:solidFill>
                <a:latin typeface="Arial" panose="020B0604020202020204"/>
                <a:ea typeface="Arial" panose="020B0604020202020204"/>
                <a:cs typeface="Arial" panose="020B0604020202020204"/>
              </a:rPr>
              <a:t>Địa lý</a:t>
            </a:r>
            <a:endParaRPr sz="975" b="1">
              <a:solidFill>
                <a:srgbClr val="1D2939"/>
              </a:solidFill>
              <a:latin typeface="Arial" panose="020B0604020202020204"/>
              <a:ea typeface="Arial" panose="020B0604020202020204"/>
              <a:cs typeface="Arial" panose="020B0604020202020204"/>
            </a:endParaRPr>
          </a:p>
        </p:txBody>
      </p:sp>
      <p:sp>
        <p:nvSpPr>
          <p:cNvPr id="43" name="Rectangle 42"/>
          <p:cNvSpPr>
            <a:spLocks noGrp="1"/>
          </p:cNvSpPr>
          <p:nvPr/>
        </p:nvSpPr>
        <p:spPr>
          <a:xfrm>
            <a:off x="2095500" y="5762625"/>
            <a:ext cx="3714750" cy="381000"/>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l">
              <a:lnSpc>
                <a:spcPct val="100000"/>
              </a:lnSpc>
              <a:buNone/>
              <a:defRPr sz="975" b="0">
                <a:solidFill>
                  <a:srgbClr val="1D2939"/>
                </a:solidFill>
                <a:latin typeface="Arial" panose="020B0604020202020204"/>
                <a:ea typeface="Arial" panose="020B0604020202020204"/>
                <a:cs typeface="Arial" panose="020B0604020202020204"/>
              </a:defRPr>
            </a:pPr>
            <a:r>
              <a:rPr sz="975" b="0">
                <a:solidFill>
                  <a:srgbClr val="1D2939"/>
                </a:solidFill>
                <a:latin typeface="Arial" panose="020B0604020202020204"/>
                <a:ea typeface="Arial" panose="020B0604020202020204"/>
                <a:cs typeface="Arial" panose="020B0604020202020204"/>
              </a:rPr>
              <a:t>ocean_proximity</a:t>
            </a:r>
            <a:endParaRPr sz="975" b="0">
              <a:solidFill>
                <a:srgbClr val="1D2939"/>
              </a:solidFill>
              <a:latin typeface="Arial" panose="020B0604020202020204"/>
              <a:ea typeface="Arial" panose="020B0604020202020204"/>
              <a:cs typeface="Arial" panose="020B0604020202020204"/>
            </a:endParaRPr>
          </a:p>
        </p:txBody>
      </p:sp>
      <p:sp>
        <p:nvSpPr>
          <p:cNvPr id="44" name="Rectangle 43"/>
          <p:cNvSpPr>
            <a:spLocks noGrp="1"/>
          </p:cNvSpPr>
          <p:nvPr/>
        </p:nvSpPr>
        <p:spPr>
          <a:xfrm>
            <a:off x="5810250" y="5762625"/>
            <a:ext cx="1238250" cy="381000"/>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l">
              <a:lnSpc>
                <a:spcPct val="100000"/>
              </a:lnSpc>
              <a:buNone/>
              <a:defRPr sz="975" b="0">
                <a:solidFill>
                  <a:srgbClr val="1D2939"/>
                </a:solidFill>
                <a:latin typeface="Arial" panose="020B0604020202020204"/>
                <a:ea typeface="Arial" panose="020B0604020202020204"/>
                <a:cs typeface="Arial" panose="020B0604020202020204"/>
              </a:defRPr>
            </a:pPr>
            <a:r>
              <a:rPr sz="975" b="0">
                <a:solidFill>
                  <a:srgbClr val="1D2939"/>
                </a:solidFill>
                <a:latin typeface="Arial" panose="020B0604020202020204"/>
                <a:ea typeface="Arial" panose="020B0604020202020204"/>
                <a:cs typeface="Arial" panose="020B0604020202020204"/>
              </a:rPr>
              <a:t>Phân loại</a:t>
            </a:r>
            <a:endParaRPr sz="975" b="0">
              <a:solidFill>
                <a:srgbClr val="1D2939"/>
              </a:solidFill>
              <a:latin typeface="Arial" panose="020B0604020202020204"/>
              <a:ea typeface="Arial" panose="020B0604020202020204"/>
              <a:cs typeface="Arial" panose="020B0604020202020204"/>
            </a:endParaRPr>
          </a:p>
        </p:txBody>
      </p:sp>
      <p:sp>
        <p:nvSpPr>
          <p:cNvPr id="45" name="Rounded Rectangle 44"/>
          <p:cNvSpPr>
            <a:spLocks noGrp="1"/>
          </p:cNvSpPr>
          <p:nvPr/>
        </p:nvSpPr>
        <p:spPr>
          <a:xfrm>
            <a:off x="7381875" y="3143250"/>
            <a:ext cx="4143375" cy="2809875"/>
          </a:xfrm>
          <a:prstGeom prst="roundRect">
            <a:avLst>
              <a:gd name="adj" fmla="val 2373"/>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46" name="Rectangle 45"/>
          <p:cNvSpPr>
            <a:spLocks noGrp="1"/>
          </p:cNvSpPr>
          <p:nvPr/>
        </p:nvSpPr>
        <p:spPr>
          <a:xfrm>
            <a:off x="7620000" y="3381375"/>
            <a:ext cx="3619500" cy="304800"/>
          </a:xfrm>
          <a:prstGeom prst="rect">
            <a:avLst/>
          </a:prstGeom>
          <a:noFill/>
          <a:ln w="0">
            <a:noFill/>
            <a:prstDash val="solid"/>
          </a:ln>
        </p:spPr>
        <p:txBody>
          <a:bodyPr wrap="square" lIns="0" tIns="0" rIns="0" bIns="0" anchor="t">
            <a:normAutofit/>
          </a:bodyPr>
          <a:lstStyle/>
          <a:p>
            <a:pPr algn="l">
              <a:lnSpc>
                <a:spcPct val="100000"/>
              </a:lnSpc>
              <a:buNone/>
              <a:defRPr sz="1650" b="1">
                <a:solidFill>
                  <a:srgbClr val="102A43"/>
                </a:solidFill>
                <a:latin typeface="Arial" panose="020B0604020202020204"/>
                <a:ea typeface="Arial" panose="020B0604020202020204"/>
                <a:cs typeface="Arial" panose="020B0604020202020204"/>
              </a:defRPr>
            </a:pPr>
            <a:r>
              <a:rPr sz="1650" b="1">
                <a:solidFill>
                  <a:srgbClr val="102A43"/>
                </a:solidFill>
                <a:latin typeface="Arial" panose="020B0604020202020204"/>
                <a:ea typeface="Arial" panose="020B0604020202020204"/>
                <a:cs typeface="Arial" panose="020B0604020202020204"/>
              </a:rPr>
              <a:t>Điểm cần lưu ý</a:t>
            </a:r>
            <a:endParaRPr sz="1650" b="1">
              <a:solidFill>
                <a:srgbClr val="102A43"/>
              </a:solidFill>
              <a:latin typeface="Arial" panose="020B0604020202020204"/>
              <a:ea typeface="Arial" panose="020B0604020202020204"/>
              <a:cs typeface="Arial" panose="020B0604020202020204"/>
            </a:endParaRPr>
          </a:p>
        </p:txBody>
      </p:sp>
      <p:sp>
        <p:nvSpPr>
          <p:cNvPr id="47" name="Rectangle 46"/>
          <p:cNvSpPr>
            <a:spLocks noGrp="1"/>
          </p:cNvSpPr>
          <p:nvPr/>
        </p:nvSpPr>
        <p:spPr>
          <a:xfrm>
            <a:off x="7572375" y="3857625"/>
            <a:ext cx="3714750" cy="1714500"/>
          </a:xfrm>
          <a:prstGeom prst="rect">
            <a:avLst/>
          </a:prstGeom>
          <a:noFill/>
          <a:ln w="0">
            <a:noFill/>
            <a:prstDash val="solid"/>
          </a:ln>
        </p:spPr>
        <p:txBody>
          <a:bodyPr wrap="square" lIns="114300" tIns="76200" rIns="114300" bIns="76200" anchor="t">
            <a:normAutofit fontScale="89636"/>
          </a:bodyPr>
          <a:lstStyle/>
          <a:p>
            <a:pPr marL="254000" indent="-127000" algn="l">
              <a:lnSpc>
                <a:spcPct val="100000"/>
              </a:lnSpc>
              <a:spcAft>
                <a:spcPts val="900"/>
              </a:spcAft>
              <a:buNone/>
              <a:defRPr sz="1275">
                <a:solidFill>
                  <a:srgbClr val="1D2939"/>
                </a:solidFill>
                <a:latin typeface="Arial" panose="020B0604020202020204"/>
                <a:ea typeface="Arial" panose="020B0604020202020204"/>
                <a:cs typeface="Arial" panose="020B0604020202020204"/>
              </a:defRPr>
            </a:pPr>
            <a:r>
              <a:rPr sz="1275">
                <a:solidFill>
                  <a:srgbClr val="1D2939"/>
                </a:solidFill>
                <a:latin typeface="Arial" panose="020B0604020202020204"/>
                <a:ea typeface="Arial" panose="020B0604020202020204"/>
                <a:cs typeface="Arial" panose="020B0604020202020204"/>
              </a:rPr>
              <a:t>Nguồn dữ liệu được mô tả là Kaggle California Housing.</a:t>
            </a:r>
            <a:endParaRPr sz="1275">
              <a:solidFill>
                <a:srgbClr val="1D2939"/>
              </a:solidFill>
              <a:latin typeface="Arial" panose="020B0604020202020204"/>
              <a:ea typeface="Arial" panose="020B0604020202020204"/>
              <a:cs typeface="Arial" panose="020B0604020202020204"/>
            </a:endParaRPr>
          </a:p>
          <a:p>
            <a:pPr marL="254000" indent="-127000" algn="l">
              <a:lnSpc>
                <a:spcPct val="100000"/>
              </a:lnSpc>
              <a:spcAft>
                <a:spcPts val="900"/>
              </a:spcAft>
              <a:buNone/>
              <a:defRPr sz="1275">
                <a:solidFill>
                  <a:srgbClr val="1D2939"/>
                </a:solidFill>
                <a:latin typeface="Arial" panose="020B0604020202020204"/>
                <a:ea typeface="Arial" panose="020B0604020202020204"/>
                <a:cs typeface="Arial" panose="020B0604020202020204"/>
              </a:defRPr>
            </a:pPr>
            <a:r>
              <a:rPr sz="1275">
                <a:solidFill>
                  <a:srgbClr val="1D2939"/>
                </a:solidFill>
                <a:latin typeface="Arial" panose="020B0604020202020204"/>
                <a:ea typeface="Arial" panose="020B0604020202020204"/>
                <a:cs typeface="Arial" panose="020B0604020202020204"/>
              </a:rPr>
              <a:t>ocean_proximity là biến phân loại duy nhất.</a:t>
            </a:r>
            <a:endParaRPr sz="1275">
              <a:solidFill>
                <a:srgbClr val="1D2939"/>
              </a:solidFill>
              <a:latin typeface="Arial" panose="020B0604020202020204"/>
              <a:ea typeface="Arial" panose="020B0604020202020204"/>
              <a:cs typeface="Arial" panose="020B0604020202020204"/>
            </a:endParaRPr>
          </a:p>
          <a:p>
            <a:pPr marL="254000" indent="-127000" algn="l">
              <a:lnSpc>
                <a:spcPct val="100000"/>
              </a:lnSpc>
              <a:spcAft>
                <a:spcPts val="900"/>
              </a:spcAft>
              <a:buNone/>
              <a:defRPr sz="1275">
                <a:solidFill>
                  <a:srgbClr val="1D2939"/>
                </a:solidFill>
                <a:latin typeface="Arial" panose="020B0604020202020204"/>
                <a:ea typeface="Arial" panose="020B0604020202020204"/>
                <a:cs typeface="Arial" panose="020B0604020202020204"/>
              </a:defRPr>
            </a:pPr>
            <a:r>
              <a:rPr sz="1275">
                <a:solidFill>
                  <a:srgbClr val="1D2939"/>
                </a:solidFill>
                <a:latin typeface="Arial" panose="020B0604020202020204"/>
                <a:ea typeface="Arial" panose="020B0604020202020204"/>
                <a:cs typeface="Arial" panose="020B0604020202020204"/>
              </a:rPr>
              <a:t>median_house_value có trần quan sát 500.001 USD.</a:t>
            </a:r>
            <a:endParaRPr sz="1275">
              <a:solidFill>
                <a:srgbClr val="1D2939"/>
              </a:solidFill>
              <a:latin typeface="Arial" panose="020B0604020202020204"/>
              <a:ea typeface="Arial" panose="020B0604020202020204"/>
              <a:cs typeface="Arial" panose="020B0604020202020204"/>
            </a:endParaRPr>
          </a:p>
          <a:p>
            <a:pPr marL="254000" indent="-127000" algn="l">
              <a:lnSpc>
                <a:spcPct val="100000"/>
              </a:lnSpc>
              <a:spcAft>
                <a:spcPts val="900"/>
              </a:spcAft>
              <a:buNone/>
              <a:defRPr sz="1275">
                <a:solidFill>
                  <a:srgbClr val="1D2939"/>
                </a:solidFill>
                <a:latin typeface="Arial" panose="020B0604020202020204"/>
                <a:ea typeface="Arial" panose="020B0604020202020204"/>
                <a:cs typeface="Arial" panose="020B0604020202020204"/>
              </a:defRPr>
            </a:pPr>
            <a:r>
              <a:rPr sz="1275">
                <a:solidFill>
                  <a:srgbClr val="1D2939"/>
                </a:solidFill>
                <a:latin typeface="Arial" panose="020B0604020202020204"/>
                <a:ea typeface="Arial" panose="020B0604020202020204"/>
                <a:cs typeface="Arial" panose="020B0604020202020204"/>
              </a:rPr>
              <a:t>Thiếu 207 giá trị total_bedrooms cần xử lý trước huấn luyện.</a:t>
            </a:r>
            <a:endParaRPr sz="1275">
              <a:solidFill>
                <a:srgbClr val="1D2939"/>
              </a:solidFill>
              <a:latin typeface="Arial" panose="020B0604020202020204"/>
              <a:ea typeface="Arial" panose="020B0604020202020204"/>
              <a:cs typeface="Arial" panose="020B0604020202020204"/>
            </a:endParaRPr>
          </a:p>
        </p:txBody>
      </p:sp>
      <p:sp>
        <p:nvSpPr>
          <p:cNvPr id="48" name="Rounded Rectangle 47"/>
          <p:cNvSpPr>
            <a:spLocks noGrp="1"/>
          </p:cNvSpPr>
          <p:nvPr/>
        </p:nvSpPr>
        <p:spPr>
          <a:xfrm>
            <a:off x="7620000" y="5572125"/>
            <a:ext cx="1047750" cy="266700"/>
          </a:xfrm>
          <a:prstGeom prst="roundRect">
            <a:avLst>
              <a:gd name="adj" fmla="val 50000"/>
            </a:avLst>
          </a:prstGeom>
          <a:solidFill>
            <a:srgbClr val="EAF6F5"/>
          </a:solidFill>
          <a:ln w="9525">
            <a:solidFill>
              <a:srgbClr val="EAF6F5"/>
            </a:solidFill>
            <a:prstDash val="solid"/>
          </a:ln>
        </p:spPr>
        <p:txBody>
          <a:bodyPr wrap="square" lIns="76200" tIns="19050" rIns="76200" bIns="19050" anchor="ctr">
            <a:normAutofit/>
          </a:bodyPr>
          <a:lstStyle/>
          <a:p>
            <a:pPr algn="ctr">
              <a:lnSpc>
                <a:spcPct val="100000"/>
              </a:lnSpc>
              <a:buNone/>
              <a:defRPr sz="900" b="1">
                <a:solidFill>
                  <a:srgbClr val="167D8D"/>
                </a:solidFill>
                <a:latin typeface="Arial" panose="020B0604020202020204"/>
                <a:ea typeface="Arial" panose="020B0604020202020204"/>
                <a:cs typeface="Arial" panose="020B0604020202020204"/>
              </a:defRPr>
            </a:pPr>
            <a:r>
              <a:rPr sz="900" b="1">
                <a:solidFill>
                  <a:srgbClr val="167D8D"/>
                </a:solidFill>
                <a:latin typeface="Arial" panose="020B0604020202020204"/>
                <a:ea typeface="Arial" panose="020B0604020202020204"/>
                <a:cs typeface="Arial" panose="020B0604020202020204"/>
              </a:rPr>
              <a:t>Regression</a:t>
            </a:r>
            <a:endParaRPr sz="900" b="1">
              <a:solidFill>
                <a:srgbClr val="167D8D"/>
              </a:solidFill>
              <a:latin typeface="Arial" panose="020B0604020202020204"/>
              <a:ea typeface="Arial" panose="020B0604020202020204"/>
              <a:cs typeface="Arial" panose="020B0604020202020204"/>
            </a:endParaRPr>
          </a:p>
        </p:txBody>
      </p:sp>
      <p:sp>
        <p:nvSpPr>
          <p:cNvPr id="49" name="Rounded Rectangle 48"/>
          <p:cNvSpPr>
            <a:spLocks noGrp="1"/>
          </p:cNvSpPr>
          <p:nvPr/>
        </p:nvSpPr>
        <p:spPr>
          <a:xfrm>
            <a:off x="8810625" y="5572125"/>
            <a:ext cx="857250" cy="266700"/>
          </a:xfrm>
          <a:prstGeom prst="roundRect">
            <a:avLst>
              <a:gd name="adj" fmla="val 50000"/>
            </a:avLst>
          </a:prstGeom>
          <a:solidFill>
            <a:srgbClr val="EAF1F8"/>
          </a:solidFill>
          <a:ln w="9525">
            <a:solidFill>
              <a:srgbClr val="EAF1F8"/>
            </a:solidFill>
            <a:prstDash val="solid"/>
          </a:ln>
        </p:spPr>
        <p:txBody>
          <a:bodyPr wrap="square" lIns="76200" tIns="19050" rIns="76200" bIns="19050" anchor="ctr">
            <a:normAutofit/>
          </a:bodyPr>
          <a:lstStyle/>
          <a:p>
            <a:pPr algn="ctr">
              <a:lnSpc>
                <a:spcPct val="100000"/>
              </a:lnSpc>
              <a:buNone/>
              <a:defRPr sz="900" b="1">
                <a:solidFill>
                  <a:srgbClr val="173F5F"/>
                </a:solidFill>
                <a:latin typeface="Arial" panose="020B0604020202020204"/>
                <a:ea typeface="Arial" panose="020B0604020202020204"/>
                <a:cs typeface="Arial" panose="020B0604020202020204"/>
              </a:defRPr>
            </a:pPr>
            <a:r>
              <a:rPr sz="900" b="1">
                <a:solidFill>
                  <a:srgbClr val="173F5F"/>
                </a:solidFill>
                <a:latin typeface="Arial" panose="020B0604020202020204"/>
                <a:ea typeface="Arial" panose="020B0604020202020204"/>
                <a:cs typeface="Arial" panose="020B0604020202020204"/>
              </a:rPr>
              <a:t>Kaggle</a:t>
            </a:r>
            <a:endParaRPr sz="900" b="1">
              <a:solidFill>
                <a:srgbClr val="173F5F"/>
              </a:solidFill>
              <a:latin typeface="Arial" panose="020B0604020202020204"/>
              <a:ea typeface="Arial" panose="020B0604020202020204"/>
              <a:cs typeface="Arial" panose="020B0604020202020204"/>
            </a:endParaRPr>
          </a:p>
        </p:txBody>
      </p:sp>
      <p:sp>
        <p:nvSpPr>
          <p:cNvPr id="50" name="Rounded Rectangle 49"/>
          <p:cNvSpPr>
            <a:spLocks noGrp="1"/>
          </p:cNvSpPr>
          <p:nvPr/>
        </p:nvSpPr>
        <p:spPr>
          <a:xfrm>
            <a:off x="9810750" y="5572125"/>
            <a:ext cx="952500" cy="266700"/>
          </a:xfrm>
          <a:prstGeom prst="roundRect">
            <a:avLst>
              <a:gd name="adj" fmla="val 50000"/>
            </a:avLst>
          </a:prstGeom>
          <a:solidFill>
            <a:srgbClr val="FCEDE8"/>
          </a:solidFill>
          <a:ln w="9525">
            <a:solidFill>
              <a:srgbClr val="FCEDE8"/>
            </a:solidFill>
            <a:prstDash val="solid"/>
          </a:ln>
        </p:spPr>
        <p:txBody>
          <a:bodyPr wrap="square" lIns="76200" tIns="19050" rIns="76200" bIns="19050" anchor="ctr">
            <a:normAutofit/>
          </a:bodyPr>
          <a:lstStyle/>
          <a:p>
            <a:pPr algn="ctr">
              <a:lnSpc>
                <a:spcPct val="100000"/>
              </a:lnSpc>
              <a:buNone/>
              <a:defRPr sz="900" b="1">
                <a:solidFill>
                  <a:srgbClr val="E76F51"/>
                </a:solidFill>
                <a:latin typeface="Arial" panose="020B0604020202020204"/>
                <a:ea typeface="Arial" panose="020B0604020202020204"/>
                <a:cs typeface="Arial" panose="020B0604020202020204"/>
              </a:defRPr>
            </a:pPr>
            <a:r>
              <a:rPr sz="900" b="1">
                <a:solidFill>
                  <a:srgbClr val="E76F51"/>
                </a:solidFill>
                <a:latin typeface="Arial" panose="020B0604020202020204"/>
                <a:ea typeface="Arial" panose="020B0604020202020204"/>
                <a:cs typeface="Arial" panose="020B0604020202020204"/>
              </a:rPr>
              <a:t>CSV ZIP</a:t>
            </a:r>
            <a:endParaRPr sz="900" b="1">
              <a:solidFill>
                <a:srgbClr val="E76F51"/>
              </a:solidFill>
              <a:latin typeface="Arial" panose="020B0604020202020204"/>
              <a:ea typeface="Arial" panose="020B0604020202020204"/>
              <a:cs typeface="Arial" panose="020B0604020202020204"/>
            </a:endParaRPr>
          </a:p>
        </p:txBody>
      </p:sp>
      <p:sp>
        <p:nvSpPr>
          <p:cNvPr id="51" name="Straight Connector 50"/>
          <p:cNvSpPr>
            <a:spLocks noGrp="1"/>
          </p:cNvSpPr>
          <p:nvPr/>
        </p:nvSpPr>
        <p:spPr>
          <a:xfrm>
            <a:off x="666750" y="6477000"/>
            <a:ext cx="10858500" cy="0"/>
          </a:xfrm>
          <a:prstGeom prst="line">
            <a:avLst/>
          </a:prstGeom>
          <a:noFill/>
          <a:ln w="9525">
            <a:solidFill>
              <a:srgbClr val="D7E0E8"/>
            </a:solidFill>
            <a:prstDash val="solid"/>
          </a:ln>
        </p:spPr>
      </p:sp>
      <p:sp>
        <p:nvSpPr>
          <p:cNvPr id="52" name="Rectangle 51"/>
          <p:cNvSpPr>
            <a:spLocks noGrp="1"/>
          </p:cNvSpPr>
          <p:nvPr/>
        </p:nvSpPr>
        <p:spPr>
          <a:xfrm>
            <a:off x="666750" y="6524625"/>
            <a:ext cx="10572750" cy="209550"/>
          </a:xfrm>
          <a:prstGeom prst="rect">
            <a:avLst/>
          </a:prstGeom>
          <a:noFill/>
          <a:ln w="0">
            <a:noFill/>
            <a:prstDash val="solid"/>
          </a:ln>
        </p:spPr>
        <p:txBody>
          <a:bodyPr wrap="square" lIns="0" tIns="0" rIns="0" bIns="0" anchor="t">
            <a:normAutofit/>
          </a:bodyPr>
          <a:lstStyle/>
          <a:p>
            <a:pPr algn="l">
              <a:lnSpc>
                <a:spcPct val="100000"/>
              </a:lnSpc>
              <a:buNone/>
              <a:defRPr sz="825" b="0">
                <a:solidFill>
                  <a:srgbClr val="5F6C7B"/>
                </a:solidFill>
                <a:latin typeface="Arial" panose="020B0604020202020204"/>
                <a:ea typeface="Arial" panose="020B0604020202020204"/>
                <a:cs typeface="Arial" panose="020B0604020202020204"/>
              </a:defRPr>
            </a:pPr>
            <a:r>
              <a:rPr sz="825" b="0">
                <a:solidFill>
                  <a:srgbClr val="5F6C7B"/>
                </a:solidFill>
                <a:latin typeface="Arial" panose="020B0604020202020204"/>
                <a:ea typeface="Arial" panose="020B0604020202020204"/>
                <a:cs typeface="Arial" panose="020B0604020202020204"/>
              </a:rPr>
              <a:t>Nguồn: ai-models/data/housing.csv.zip; ai-models/notebooks/01_eda.ipynb</a:t>
            </a:r>
            <a:endParaRPr sz="825" b="0">
              <a:solidFill>
                <a:srgbClr val="5F6C7B"/>
              </a:solidFill>
              <a:latin typeface="Arial" panose="020B0604020202020204"/>
              <a:ea typeface="Arial" panose="020B0604020202020204"/>
              <a:cs typeface="Arial" panose="020B0604020202020204"/>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
        <p:cNvGrpSpPr/>
        <p:nvPr/>
      </p:nvGrpSpPr>
      <p:grpSpPr/>
      <p:sp>
        <p:nvSpPr>
          <p:cNvPr id="19" name="Rectangle 18"/>
          <p:cNvSpPr>
            <a:spLocks noGrp="1"/>
          </p:cNvSpPr>
          <p:nvPr/>
        </p:nvSpPr>
        <p:spPr>
          <a:xfrm>
            <a:off x="666750" y="323850"/>
            <a:ext cx="9525000" cy="228600"/>
          </a:xfrm>
          <a:prstGeom prst="rect">
            <a:avLst/>
          </a:prstGeom>
          <a:noFill/>
          <a:ln w="0">
            <a:noFill/>
            <a:prstDash val="solid"/>
          </a:ln>
        </p:spPr>
        <p:txBody>
          <a:bodyPr wrap="square" lIns="0" tIns="0" rIns="0" bIns="0" anchor="t">
            <a:normAutofit/>
          </a:bodyPr>
          <a:lstStyle/>
          <a:p>
            <a:pPr algn="l">
              <a:lnSpc>
                <a:spcPct val="100000"/>
              </a:lnSpc>
              <a:buNone/>
              <a:defRPr sz="975" b="1">
                <a:solidFill>
                  <a:srgbClr val="167D8D"/>
                </a:solidFill>
                <a:latin typeface="Arial" panose="020B0604020202020204"/>
                <a:ea typeface="Arial" panose="020B0604020202020204"/>
                <a:cs typeface="Arial" panose="020B0604020202020204"/>
              </a:defRPr>
            </a:pPr>
            <a:r>
              <a:rPr sz="975" b="1">
                <a:solidFill>
                  <a:srgbClr val="167D8D"/>
                </a:solidFill>
                <a:latin typeface="Arial" panose="020B0604020202020204"/>
                <a:ea typeface="Arial" panose="020B0604020202020204"/>
                <a:cs typeface="Arial" panose="020B0604020202020204"/>
              </a:rPr>
              <a:t>03 · EXPLORATORY DATA ANALYSIS</a:t>
            </a:r>
            <a:endParaRPr sz="975" b="1">
              <a:solidFill>
                <a:srgbClr val="167D8D"/>
              </a:solidFill>
              <a:latin typeface="Arial" panose="020B0604020202020204"/>
              <a:ea typeface="Arial" panose="020B0604020202020204"/>
              <a:cs typeface="Arial" panose="020B0604020202020204"/>
            </a:endParaRPr>
          </a:p>
        </p:txBody>
      </p:sp>
      <p:sp>
        <p:nvSpPr>
          <p:cNvPr id="2" name="Rectangle 1"/>
          <p:cNvSpPr>
            <a:spLocks noGrp="1"/>
          </p:cNvSpPr>
          <p:nvPr/>
        </p:nvSpPr>
        <p:spPr>
          <a:xfrm>
            <a:off x="666750" y="571500"/>
            <a:ext cx="10287000" cy="523875"/>
          </a:xfrm>
          <a:prstGeom prst="rect">
            <a:avLst/>
          </a:prstGeom>
          <a:noFill/>
          <a:ln w="0">
            <a:noFill/>
            <a:prstDash val="solid"/>
          </a:ln>
        </p:spPr>
        <p:txBody>
          <a:bodyPr wrap="square" lIns="0" tIns="0" rIns="0" bIns="0" anchor="t">
            <a:normAutofit/>
          </a:bodyPr>
          <a:lstStyle/>
          <a:p>
            <a:pPr algn="l">
              <a:lnSpc>
                <a:spcPct val="100000"/>
              </a:lnSpc>
              <a:buNone/>
              <a:defRPr sz="2700" b="1">
                <a:solidFill>
                  <a:srgbClr val="102A43"/>
                </a:solidFill>
                <a:latin typeface="Arial" panose="020B0604020202020204"/>
                <a:ea typeface="Arial" panose="020B0604020202020204"/>
                <a:cs typeface="Arial" panose="020B0604020202020204"/>
              </a:defRPr>
            </a:pPr>
            <a:r>
              <a:rPr sz="2700" b="1">
                <a:solidFill>
                  <a:srgbClr val="102A43"/>
                </a:solidFill>
                <a:latin typeface="Arial" panose="020B0604020202020204"/>
                <a:ea typeface="Arial" panose="020B0604020202020204"/>
                <a:cs typeface="Arial" panose="020B0604020202020204"/>
              </a:rPr>
              <a:t>EDA: phân phối và chất lượng dữ liệu</a:t>
            </a:r>
            <a:endParaRPr sz="2700" b="1">
              <a:solidFill>
                <a:srgbClr val="102A43"/>
              </a:solidFill>
              <a:latin typeface="Arial" panose="020B0604020202020204"/>
              <a:ea typeface="Arial" panose="020B0604020202020204"/>
              <a:cs typeface="Arial" panose="020B0604020202020204"/>
            </a:endParaRPr>
          </a:p>
        </p:txBody>
      </p:sp>
      <p:sp>
        <p:nvSpPr>
          <p:cNvPr id="3" name="Rectangle 2"/>
          <p:cNvSpPr>
            <a:spLocks noGrp="1"/>
          </p:cNvSpPr>
          <p:nvPr/>
        </p:nvSpPr>
        <p:spPr>
          <a:xfrm>
            <a:off x="666750" y="1152525"/>
            <a:ext cx="714375" cy="47625"/>
          </a:xfrm>
          <a:prstGeom prst="rect">
            <a:avLst/>
          </a:prstGeom>
          <a:solidFill>
            <a:srgbClr val="E76F51"/>
          </a:solidFill>
          <a:ln w="0">
            <a:noFill/>
            <a:prstDash val="solid"/>
          </a:ln>
        </p:spPr>
      </p:sp>
      <p:sp>
        <p:nvSpPr>
          <p:cNvPr id="4" name="Rectangle 3"/>
          <p:cNvSpPr>
            <a:spLocks noGrp="1"/>
          </p:cNvSpPr>
          <p:nvPr/>
        </p:nvSpPr>
        <p:spPr>
          <a:xfrm>
            <a:off x="11191875" y="409575"/>
            <a:ext cx="381000" cy="247650"/>
          </a:xfrm>
          <a:prstGeom prst="rect">
            <a:avLst/>
          </a:prstGeom>
          <a:noFill/>
          <a:ln w="0">
            <a:noFill/>
            <a:prstDash val="solid"/>
          </a:ln>
        </p:spPr>
        <p:txBody>
          <a:bodyPr wrap="square" lIns="0" tIns="0" rIns="0" bIns="0" anchor="t">
            <a:normAutofit/>
          </a:bodyPr>
          <a:lstStyle/>
          <a:p>
            <a:pPr algn="r">
              <a:lnSpc>
                <a:spcPct val="100000"/>
              </a:lnSpc>
              <a:buNone/>
              <a:defRPr sz="1050" b="1">
                <a:solidFill>
                  <a:srgbClr val="5F6C7B"/>
                </a:solidFill>
                <a:latin typeface="Arial" panose="020B0604020202020204"/>
                <a:ea typeface="Arial" panose="020B0604020202020204"/>
                <a:cs typeface="Arial" panose="020B0604020202020204"/>
              </a:defRPr>
            </a:pPr>
            <a:r>
              <a:rPr sz="1050" b="1">
                <a:solidFill>
                  <a:srgbClr val="5F6C7B"/>
                </a:solidFill>
                <a:latin typeface="Arial" panose="020B0604020202020204"/>
                <a:ea typeface="Arial" panose="020B0604020202020204"/>
                <a:cs typeface="Arial" panose="020B0604020202020204"/>
              </a:rPr>
              <a:t>04</a:t>
            </a:r>
            <a:endParaRPr sz="1050" b="1">
              <a:solidFill>
                <a:srgbClr val="5F6C7B"/>
              </a:solidFill>
              <a:latin typeface="Arial" panose="020B0604020202020204"/>
              <a:ea typeface="Arial" panose="020B0604020202020204"/>
              <a:cs typeface="Arial" panose="020B0604020202020204"/>
            </a:endParaRPr>
          </a:p>
        </p:txBody>
      </p:sp>
      <p:sp>
        <p:nvSpPr>
          <p:cNvPr id="5" name="Rounded Rectangle 4"/>
          <p:cNvSpPr>
            <a:spLocks noGrp="1"/>
          </p:cNvSpPr>
          <p:nvPr/>
        </p:nvSpPr>
        <p:spPr>
          <a:xfrm>
            <a:off x="523875" y="1476375"/>
            <a:ext cx="3333750" cy="4333875"/>
          </a:xfrm>
          <a:prstGeom prst="roundRect">
            <a:avLst>
              <a:gd name="adj" fmla="val 2000"/>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6" name="Rectangle 5"/>
          <p:cNvSpPr>
            <a:spLocks noGrp="1"/>
          </p:cNvSpPr>
          <p:nvPr/>
        </p:nvSpPr>
        <p:spPr>
          <a:xfrm>
            <a:off x="695325" y="1619250"/>
            <a:ext cx="2990850" cy="323850"/>
          </a:xfrm>
          <a:prstGeom prst="rect">
            <a:avLst/>
          </a:prstGeom>
          <a:noFill/>
          <a:ln w="0">
            <a:noFill/>
            <a:prstDash val="solid"/>
          </a:ln>
        </p:spPr>
        <p:txBody>
          <a:bodyPr wrap="square" lIns="0" tIns="0" rIns="0" bIns="0" anchor="t">
            <a:normAutofit/>
          </a:bodyPr>
          <a:lstStyle/>
          <a:p>
            <a:pPr algn="l">
              <a:lnSpc>
                <a:spcPct val="100000"/>
              </a:lnSpc>
              <a:buNone/>
              <a:defRPr sz="1425" b="1">
                <a:solidFill>
                  <a:srgbClr val="102A43"/>
                </a:solidFill>
                <a:latin typeface="Arial" panose="020B0604020202020204"/>
                <a:ea typeface="Arial" panose="020B0604020202020204"/>
                <a:cs typeface="Arial" panose="020B0604020202020204"/>
              </a:defRPr>
            </a:pPr>
            <a:r>
              <a:rPr sz="1425" b="1">
                <a:solidFill>
                  <a:srgbClr val="102A43"/>
                </a:solidFill>
                <a:latin typeface="Arial" panose="020B0604020202020204"/>
                <a:ea typeface="Arial" panose="020B0604020202020204"/>
                <a:cs typeface="Arial" panose="020B0604020202020204"/>
              </a:rPr>
              <a:t>Phân phối biến mục tiêu</a:t>
            </a:r>
            <a:endParaRPr sz="1425" b="1">
              <a:solidFill>
                <a:srgbClr val="102A43"/>
              </a:solidFill>
              <a:latin typeface="Arial" panose="020B0604020202020204"/>
              <a:ea typeface="Arial" panose="020B0604020202020204"/>
              <a:cs typeface="Arial" panose="020B0604020202020204"/>
            </a:endParaRPr>
          </a:p>
        </p:txBody>
      </p:sp>
      <p:pic>
        <p:nvPicPr>
          <p:cNvPr id="25" name="Picture 24"/>
          <p:cNvPicPr>
            <a:picLocks noChangeAspect="1"/>
          </p:cNvPicPr>
          <p:nvPr/>
        </p:nvPicPr>
        <p:blipFill>
          <a:blip r:embed="rId1"/>
          <a:stretch>
            <a:fillRect/>
          </a:stretch>
        </p:blipFill>
        <p:spPr>
          <a:xfrm>
            <a:off x="676275" y="2406375"/>
            <a:ext cx="3028950" cy="1940475"/>
          </a:xfrm>
          <a:prstGeom prst="roundRect">
            <a:avLst>
              <a:gd name="adj" fmla="val 2105"/>
            </a:avLst>
          </a:prstGeom>
        </p:spPr>
      </p:pic>
      <p:sp>
        <p:nvSpPr>
          <p:cNvPr id="8" name="Rectangle 7"/>
          <p:cNvSpPr>
            <a:spLocks noGrp="1"/>
          </p:cNvSpPr>
          <p:nvPr/>
        </p:nvSpPr>
        <p:spPr>
          <a:xfrm>
            <a:off x="695325" y="4905375"/>
            <a:ext cx="2990850" cy="685800"/>
          </a:xfrm>
          <a:prstGeom prst="rect">
            <a:avLst/>
          </a:prstGeom>
          <a:noFill/>
          <a:ln w="0">
            <a:noFill/>
            <a:prstDash val="solid"/>
          </a:ln>
        </p:spPr>
        <p:txBody>
          <a:bodyPr wrap="square" lIns="38100" tIns="19050" rIns="38100" bIns="19050" anchor="ctr">
            <a:normAutofit/>
          </a:bodyPr>
          <a:lstStyle/>
          <a:p>
            <a:pPr algn="l">
              <a:lnSpc>
                <a:spcPct val="100000"/>
              </a:lnSpc>
              <a:buNone/>
              <a:defRPr sz="1050" b="0">
                <a:solidFill>
                  <a:srgbClr val="5F6C7B"/>
                </a:solidFill>
                <a:latin typeface="Arial" panose="020B0604020202020204"/>
                <a:ea typeface="Arial" panose="020B0604020202020204"/>
                <a:cs typeface="Arial" panose="020B0604020202020204"/>
              </a:defRPr>
            </a:pPr>
            <a:r>
              <a:rPr sz="1050" b="0">
                <a:solidFill>
                  <a:srgbClr val="5F6C7B"/>
                </a:solidFill>
                <a:latin typeface="Arial" panose="020B0604020202020204"/>
                <a:ea typeface="Arial" panose="020B0604020202020204"/>
                <a:cs typeface="Arial" panose="020B0604020202020204"/>
              </a:rPr>
              <a:t>Giá nhà lệch phải; có cụm lớn tại mức trần 500.001 USD.</a:t>
            </a:r>
            <a:endParaRPr sz="1050" b="0">
              <a:solidFill>
                <a:srgbClr val="5F6C7B"/>
              </a:solidFill>
              <a:latin typeface="Arial" panose="020B0604020202020204"/>
              <a:ea typeface="Arial" panose="020B0604020202020204"/>
              <a:cs typeface="Arial" panose="020B0604020202020204"/>
            </a:endParaRPr>
          </a:p>
        </p:txBody>
      </p:sp>
      <p:sp>
        <p:nvSpPr>
          <p:cNvPr id="9" name="Rounded Rectangle 8"/>
          <p:cNvSpPr>
            <a:spLocks noGrp="1"/>
          </p:cNvSpPr>
          <p:nvPr/>
        </p:nvSpPr>
        <p:spPr>
          <a:xfrm>
            <a:off x="4429125" y="1476375"/>
            <a:ext cx="3333750" cy="4333875"/>
          </a:xfrm>
          <a:prstGeom prst="roundRect">
            <a:avLst>
              <a:gd name="adj" fmla="val 2000"/>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10" name="Rectangle 9"/>
          <p:cNvSpPr>
            <a:spLocks noGrp="1"/>
          </p:cNvSpPr>
          <p:nvPr/>
        </p:nvSpPr>
        <p:spPr>
          <a:xfrm>
            <a:off x="4600575" y="1619250"/>
            <a:ext cx="2990850" cy="323850"/>
          </a:xfrm>
          <a:prstGeom prst="rect">
            <a:avLst/>
          </a:prstGeom>
          <a:noFill/>
          <a:ln w="0">
            <a:noFill/>
            <a:prstDash val="solid"/>
          </a:ln>
        </p:spPr>
        <p:txBody>
          <a:bodyPr wrap="square" lIns="0" tIns="0" rIns="0" bIns="0" anchor="t">
            <a:normAutofit/>
          </a:bodyPr>
          <a:lstStyle/>
          <a:p>
            <a:pPr algn="l">
              <a:lnSpc>
                <a:spcPct val="100000"/>
              </a:lnSpc>
              <a:buNone/>
              <a:defRPr sz="1425" b="1">
                <a:solidFill>
                  <a:srgbClr val="102A43"/>
                </a:solidFill>
                <a:latin typeface="Arial" panose="020B0604020202020204"/>
                <a:ea typeface="Arial" panose="020B0604020202020204"/>
                <a:cs typeface="Arial" panose="020B0604020202020204"/>
              </a:defRPr>
            </a:pPr>
            <a:r>
              <a:rPr sz="1425" b="1">
                <a:solidFill>
                  <a:srgbClr val="102A43"/>
                </a:solidFill>
                <a:latin typeface="Arial" panose="020B0604020202020204"/>
                <a:ea typeface="Arial" panose="020B0604020202020204"/>
                <a:cs typeface="Arial" panose="020B0604020202020204"/>
              </a:rPr>
              <a:t>Hai biến số quan trọng</a:t>
            </a:r>
            <a:endParaRPr sz="1425" b="1">
              <a:solidFill>
                <a:srgbClr val="102A43"/>
              </a:solidFill>
              <a:latin typeface="Arial" panose="020B0604020202020204"/>
              <a:ea typeface="Arial" panose="020B0604020202020204"/>
              <a:cs typeface="Arial" panose="020B0604020202020204"/>
            </a:endParaRPr>
          </a:p>
        </p:txBody>
      </p:sp>
      <p:pic>
        <p:nvPicPr>
          <p:cNvPr id="29" name="Picture 28"/>
          <p:cNvPicPr>
            <a:picLocks noChangeAspect="1"/>
          </p:cNvPicPr>
          <p:nvPr/>
        </p:nvPicPr>
        <p:blipFill>
          <a:blip r:embed="rId2"/>
          <a:stretch>
            <a:fillRect/>
          </a:stretch>
        </p:blipFill>
        <p:spPr>
          <a:xfrm>
            <a:off x="4581525" y="2880843"/>
            <a:ext cx="3028950" cy="991540"/>
          </a:xfrm>
          <a:prstGeom prst="roundRect">
            <a:avLst>
              <a:gd name="adj" fmla="val 2105"/>
            </a:avLst>
          </a:prstGeom>
        </p:spPr>
      </p:pic>
      <p:sp>
        <p:nvSpPr>
          <p:cNvPr id="12" name="Rectangle 11"/>
          <p:cNvSpPr>
            <a:spLocks noGrp="1"/>
          </p:cNvSpPr>
          <p:nvPr/>
        </p:nvSpPr>
        <p:spPr>
          <a:xfrm>
            <a:off x="4600575" y="4905375"/>
            <a:ext cx="2990850" cy="685800"/>
          </a:xfrm>
          <a:prstGeom prst="rect">
            <a:avLst/>
          </a:prstGeom>
          <a:noFill/>
          <a:ln w="0">
            <a:noFill/>
            <a:prstDash val="solid"/>
          </a:ln>
        </p:spPr>
        <p:txBody>
          <a:bodyPr wrap="square" lIns="38100" tIns="19050" rIns="38100" bIns="19050" anchor="ctr">
            <a:normAutofit/>
          </a:bodyPr>
          <a:lstStyle/>
          <a:p>
            <a:pPr algn="l">
              <a:lnSpc>
                <a:spcPct val="100000"/>
              </a:lnSpc>
              <a:buNone/>
              <a:defRPr sz="1050" b="0">
                <a:solidFill>
                  <a:srgbClr val="5F6C7B"/>
                </a:solidFill>
                <a:latin typeface="Arial" panose="020B0604020202020204"/>
                <a:ea typeface="Arial" panose="020B0604020202020204"/>
                <a:cs typeface="Arial" panose="020B0604020202020204"/>
              </a:defRPr>
            </a:pPr>
            <a:r>
              <a:rPr sz="1050" b="0">
                <a:solidFill>
                  <a:srgbClr val="5F6C7B"/>
                </a:solidFill>
                <a:latin typeface="Arial" panose="020B0604020202020204"/>
                <a:ea typeface="Arial" panose="020B0604020202020204"/>
                <a:cs typeface="Arial" panose="020B0604020202020204"/>
              </a:rPr>
              <a:t>median_income và housing_median_age có phân phối không đồng đều.</a:t>
            </a:r>
            <a:endParaRPr sz="1050" b="0">
              <a:solidFill>
                <a:srgbClr val="5F6C7B"/>
              </a:solidFill>
              <a:latin typeface="Arial" panose="020B0604020202020204"/>
              <a:ea typeface="Arial" panose="020B0604020202020204"/>
              <a:cs typeface="Arial" panose="020B0604020202020204"/>
            </a:endParaRPr>
          </a:p>
        </p:txBody>
      </p:sp>
      <p:sp>
        <p:nvSpPr>
          <p:cNvPr id="13" name="Rounded Rectangle 12"/>
          <p:cNvSpPr>
            <a:spLocks noGrp="1"/>
          </p:cNvSpPr>
          <p:nvPr/>
        </p:nvSpPr>
        <p:spPr>
          <a:xfrm>
            <a:off x="8334375" y="1476375"/>
            <a:ext cx="3333750" cy="4333875"/>
          </a:xfrm>
          <a:prstGeom prst="roundRect">
            <a:avLst>
              <a:gd name="adj" fmla="val 2000"/>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14" name="Rectangle 13"/>
          <p:cNvSpPr>
            <a:spLocks noGrp="1"/>
          </p:cNvSpPr>
          <p:nvPr/>
        </p:nvSpPr>
        <p:spPr>
          <a:xfrm>
            <a:off x="8505825" y="1619250"/>
            <a:ext cx="2990850" cy="323850"/>
          </a:xfrm>
          <a:prstGeom prst="rect">
            <a:avLst/>
          </a:prstGeom>
          <a:noFill/>
          <a:ln w="0">
            <a:noFill/>
            <a:prstDash val="solid"/>
          </a:ln>
        </p:spPr>
        <p:txBody>
          <a:bodyPr wrap="square" lIns="0" tIns="0" rIns="0" bIns="0" anchor="t">
            <a:normAutofit/>
          </a:bodyPr>
          <a:lstStyle/>
          <a:p>
            <a:pPr algn="l">
              <a:lnSpc>
                <a:spcPct val="100000"/>
              </a:lnSpc>
              <a:buNone/>
              <a:defRPr sz="1425" b="1">
                <a:solidFill>
                  <a:srgbClr val="102A43"/>
                </a:solidFill>
                <a:latin typeface="Arial" panose="020B0604020202020204"/>
                <a:ea typeface="Arial" panose="020B0604020202020204"/>
                <a:cs typeface="Arial" panose="020B0604020202020204"/>
              </a:defRPr>
            </a:pPr>
            <a:r>
              <a:rPr sz="1425" b="1">
                <a:solidFill>
                  <a:srgbClr val="102A43"/>
                </a:solidFill>
                <a:latin typeface="Arial" panose="020B0604020202020204"/>
                <a:ea typeface="Arial" panose="020B0604020202020204"/>
                <a:cs typeface="Arial" panose="020B0604020202020204"/>
              </a:rPr>
              <a:t>Bản đồ giá trị thiếu</a:t>
            </a:r>
            <a:endParaRPr sz="1425" b="1">
              <a:solidFill>
                <a:srgbClr val="102A43"/>
              </a:solidFill>
              <a:latin typeface="Arial" panose="020B0604020202020204"/>
              <a:ea typeface="Arial" panose="020B0604020202020204"/>
              <a:cs typeface="Arial" panose="020B0604020202020204"/>
            </a:endParaRPr>
          </a:p>
        </p:txBody>
      </p:sp>
      <p:pic>
        <p:nvPicPr>
          <p:cNvPr id="33" name="Picture 32"/>
          <p:cNvPicPr>
            <a:picLocks noChangeAspect="1"/>
          </p:cNvPicPr>
          <p:nvPr/>
        </p:nvPicPr>
        <p:blipFill>
          <a:blip r:embed="rId3"/>
          <a:stretch>
            <a:fillRect/>
          </a:stretch>
        </p:blipFill>
        <p:spPr>
          <a:xfrm>
            <a:off x="8486775" y="2121135"/>
            <a:ext cx="3028950" cy="2510956"/>
          </a:xfrm>
          <a:prstGeom prst="roundRect">
            <a:avLst>
              <a:gd name="adj" fmla="val 2105"/>
            </a:avLst>
          </a:prstGeom>
        </p:spPr>
      </p:pic>
      <p:sp>
        <p:nvSpPr>
          <p:cNvPr id="16" name="Rectangle 15"/>
          <p:cNvSpPr>
            <a:spLocks noGrp="1"/>
          </p:cNvSpPr>
          <p:nvPr/>
        </p:nvSpPr>
        <p:spPr>
          <a:xfrm>
            <a:off x="8505825" y="4905375"/>
            <a:ext cx="2990850" cy="685800"/>
          </a:xfrm>
          <a:prstGeom prst="rect">
            <a:avLst/>
          </a:prstGeom>
          <a:noFill/>
          <a:ln w="0">
            <a:noFill/>
            <a:prstDash val="solid"/>
          </a:ln>
        </p:spPr>
        <p:txBody>
          <a:bodyPr wrap="square" lIns="38100" tIns="19050" rIns="38100" bIns="19050" anchor="ctr">
            <a:normAutofit/>
          </a:bodyPr>
          <a:lstStyle/>
          <a:p>
            <a:pPr algn="l">
              <a:lnSpc>
                <a:spcPct val="100000"/>
              </a:lnSpc>
              <a:buNone/>
              <a:defRPr sz="1050" b="0">
                <a:solidFill>
                  <a:srgbClr val="5F6C7B"/>
                </a:solidFill>
                <a:latin typeface="Arial" panose="020B0604020202020204"/>
                <a:ea typeface="Arial" panose="020B0604020202020204"/>
                <a:cs typeface="Arial" panose="020B0604020202020204"/>
              </a:defRPr>
            </a:pPr>
            <a:r>
              <a:rPr sz="1050" b="0">
                <a:solidFill>
                  <a:srgbClr val="5F6C7B"/>
                </a:solidFill>
                <a:latin typeface="Arial" panose="020B0604020202020204"/>
                <a:ea typeface="Arial" panose="020B0604020202020204"/>
                <a:cs typeface="Arial" panose="020B0604020202020204"/>
              </a:rPr>
              <a:t>Thiếu dữ liệu tập trung ở total_bedrooms: 207 giá trị.</a:t>
            </a:r>
            <a:endParaRPr sz="1050" b="0">
              <a:solidFill>
                <a:srgbClr val="5F6C7B"/>
              </a:solidFill>
              <a:latin typeface="Arial" panose="020B0604020202020204"/>
              <a:ea typeface="Arial" panose="020B0604020202020204"/>
              <a:cs typeface="Arial" panose="020B0604020202020204"/>
            </a:endParaRPr>
          </a:p>
        </p:txBody>
      </p:sp>
      <p:sp>
        <p:nvSpPr>
          <p:cNvPr id="17" name="Straight Connector 16"/>
          <p:cNvSpPr>
            <a:spLocks noGrp="1"/>
          </p:cNvSpPr>
          <p:nvPr/>
        </p:nvSpPr>
        <p:spPr>
          <a:xfrm>
            <a:off x="666750" y="6477000"/>
            <a:ext cx="10858500" cy="0"/>
          </a:xfrm>
          <a:prstGeom prst="line">
            <a:avLst/>
          </a:prstGeom>
          <a:noFill/>
          <a:ln w="9525">
            <a:solidFill>
              <a:srgbClr val="D7E0E8"/>
            </a:solidFill>
            <a:prstDash val="solid"/>
          </a:ln>
        </p:spPr>
      </p:sp>
      <p:sp>
        <p:nvSpPr>
          <p:cNvPr id="18" name="Rectangle 17"/>
          <p:cNvSpPr>
            <a:spLocks noGrp="1"/>
          </p:cNvSpPr>
          <p:nvPr/>
        </p:nvSpPr>
        <p:spPr>
          <a:xfrm>
            <a:off x="666750" y="6524625"/>
            <a:ext cx="10572750" cy="209550"/>
          </a:xfrm>
          <a:prstGeom prst="rect">
            <a:avLst/>
          </a:prstGeom>
          <a:noFill/>
          <a:ln w="0">
            <a:noFill/>
            <a:prstDash val="solid"/>
          </a:ln>
        </p:spPr>
        <p:txBody>
          <a:bodyPr wrap="square" lIns="0" tIns="0" rIns="0" bIns="0" anchor="t">
            <a:normAutofit/>
          </a:bodyPr>
          <a:lstStyle/>
          <a:p>
            <a:pPr algn="l">
              <a:lnSpc>
                <a:spcPct val="100000"/>
              </a:lnSpc>
              <a:buNone/>
              <a:defRPr sz="825" b="0">
                <a:solidFill>
                  <a:srgbClr val="5F6C7B"/>
                </a:solidFill>
                <a:latin typeface="Arial" panose="020B0604020202020204"/>
                <a:ea typeface="Arial" panose="020B0604020202020204"/>
                <a:cs typeface="Arial" panose="020B0604020202020204"/>
              </a:defRPr>
            </a:pPr>
            <a:r>
              <a:rPr sz="825" b="0">
                <a:solidFill>
                  <a:srgbClr val="5F6C7B"/>
                </a:solidFill>
                <a:latin typeface="Arial" panose="020B0604020202020204"/>
                <a:ea typeface="Arial" panose="020B0604020202020204"/>
                <a:cs typeface="Arial" panose="020B0604020202020204"/>
              </a:rPr>
              <a:t>Nguồn hình: ai-models/notebooks/ML_Project.ipynb (output thực tế)</a:t>
            </a:r>
            <a:endParaRPr sz="825" b="0">
              <a:solidFill>
                <a:srgbClr val="5F6C7B"/>
              </a:solidFill>
              <a:latin typeface="Arial" panose="020B0604020202020204"/>
              <a:ea typeface="Arial" panose="020B0604020202020204"/>
              <a:cs typeface="Arial" panose="020B0604020202020204"/>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
        <p:cNvGrpSpPr/>
        <p:nvPr/>
      </p:nvGrpSpPr>
      <p:grpSpPr/>
      <p:sp>
        <p:nvSpPr>
          <p:cNvPr id="19" name="Rectangle 18"/>
          <p:cNvSpPr>
            <a:spLocks noGrp="1"/>
          </p:cNvSpPr>
          <p:nvPr/>
        </p:nvSpPr>
        <p:spPr>
          <a:xfrm>
            <a:off x="666750" y="323850"/>
            <a:ext cx="9525000" cy="228600"/>
          </a:xfrm>
          <a:prstGeom prst="rect">
            <a:avLst/>
          </a:prstGeom>
          <a:noFill/>
          <a:ln w="0">
            <a:noFill/>
            <a:prstDash val="solid"/>
          </a:ln>
        </p:spPr>
        <p:txBody>
          <a:bodyPr wrap="square" lIns="0" tIns="0" rIns="0" bIns="0" anchor="t">
            <a:normAutofit/>
          </a:bodyPr>
          <a:lstStyle/>
          <a:p>
            <a:pPr algn="l">
              <a:lnSpc>
                <a:spcPct val="100000"/>
              </a:lnSpc>
              <a:buNone/>
              <a:defRPr sz="975" b="1">
                <a:solidFill>
                  <a:srgbClr val="167D8D"/>
                </a:solidFill>
                <a:latin typeface="Arial" panose="020B0604020202020204"/>
                <a:ea typeface="Arial" panose="020B0604020202020204"/>
                <a:cs typeface="Arial" panose="020B0604020202020204"/>
              </a:defRPr>
            </a:pPr>
            <a:r>
              <a:rPr sz="975" b="1">
                <a:solidFill>
                  <a:srgbClr val="167D8D"/>
                </a:solidFill>
                <a:latin typeface="Arial" panose="020B0604020202020204"/>
                <a:ea typeface="Arial" panose="020B0604020202020204"/>
                <a:cs typeface="Arial" panose="020B0604020202020204"/>
              </a:rPr>
              <a:t>03 · EXPLORATORY DATA ANALYSIS</a:t>
            </a:r>
            <a:endParaRPr sz="975" b="1">
              <a:solidFill>
                <a:srgbClr val="167D8D"/>
              </a:solidFill>
              <a:latin typeface="Arial" panose="020B0604020202020204"/>
              <a:ea typeface="Arial" panose="020B0604020202020204"/>
              <a:cs typeface="Arial" panose="020B0604020202020204"/>
            </a:endParaRPr>
          </a:p>
        </p:txBody>
      </p:sp>
      <p:sp>
        <p:nvSpPr>
          <p:cNvPr id="2" name="Rectangle 1"/>
          <p:cNvSpPr>
            <a:spLocks noGrp="1"/>
          </p:cNvSpPr>
          <p:nvPr/>
        </p:nvSpPr>
        <p:spPr>
          <a:xfrm>
            <a:off x="666750" y="571500"/>
            <a:ext cx="10287000" cy="523875"/>
          </a:xfrm>
          <a:prstGeom prst="rect">
            <a:avLst/>
          </a:prstGeom>
          <a:noFill/>
          <a:ln w="0">
            <a:noFill/>
            <a:prstDash val="solid"/>
          </a:ln>
        </p:spPr>
        <p:txBody>
          <a:bodyPr wrap="square" lIns="0" tIns="0" rIns="0" bIns="0" anchor="t">
            <a:normAutofit/>
          </a:bodyPr>
          <a:lstStyle/>
          <a:p>
            <a:pPr algn="l">
              <a:lnSpc>
                <a:spcPct val="100000"/>
              </a:lnSpc>
              <a:buNone/>
              <a:defRPr sz="2700" b="1">
                <a:solidFill>
                  <a:srgbClr val="102A43"/>
                </a:solidFill>
                <a:latin typeface="Arial" panose="020B0604020202020204"/>
                <a:ea typeface="Arial" panose="020B0604020202020204"/>
                <a:cs typeface="Arial" panose="020B0604020202020204"/>
              </a:defRPr>
            </a:pPr>
            <a:r>
              <a:rPr sz="2700" b="1">
                <a:solidFill>
                  <a:srgbClr val="102A43"/>
                </a:solidFill>
                <a:latin typeface="Arial" panose="020B0604020202020204"/>
                <a:ea typeface="Arial" panose="020B0604020202020204"/>
                <a:cs typeface="Arial" panose="020B0604020202020204"/>
              </a:rPr>
              <a:t>EDA: mối quan hệ đặc trưng</a:t>
            </a:r>
            <a:endParaRPr sz="2700" b="1">
              <a:solidFill>
                <a:srgbClr val="102A43"/>
              </a:solidFill>
              <a:latin typeface="Arial" panose="020B0604020202020204"/>
              <a:ea typeface="Arial" panose="020B0604020202020204"/>
              <a:cs typeface="Arial" panose="020B0604020202020204"/>
            </a:endParaRPr>
          </a:p>
        </p:txBody>
      </p:sp>
      <p:sp>
        <p:nvSpPr>
          <p:cNvPr id="3" name="Rectangle 2"/>
          <p:cNvSpPr>
            <a:spLocks noGrp="1"/>
          </p:cNvSpPr>
          <p:nvPr/>
        </p:nvSpPr>
        <p:spPr>
          <a:xfrm>
            <a:off x="666750" y="1152525"/>
            <a:ext cx="714375" cy="47625"/>
          </a:xfrm>
          <a:prstGeom prst="rect">
            <a:avLst/>
          </a:prstGeom>
          <a:solidFill>
            <a:srgbClr val="E76F51"/>
          </a:solidFill>
          <a:ln w="0">
            <a:noFill/>
            <a:prstDash val="solid"/>
          </a:ln>
        </p:spPr>
      </p:sp>
      <p:sp>
        <p:nvSpPr>
          <p:cNvPr id="4" name="Rectangle 3"/>
          <p:cNvSpPr>
            <a:spLocks noGrp="1"/>
          </p:cNvSpPr>
          <p:nvPr/>
        </p:nvSpPr>
        <p:spPr>
          <a:xfrm>
            <a:off x="11191875" y="409575"/>
            <a:ext cx="381000" cy="247650"/>
          </a:xfrm>
          <a:prstGeom prst="rect">
            <a:avLst/>
          </a:prstGeom>
          <a:noFill/>
          <a:ln w="0">
            <a:noFill/>
            <a:prstDash val="solid"/>
          </a:ln>
        </p:spPr>
        <p:txBody>
          <a:bodyPr wrap="square" lIns="0" tIns="0" rIns="0" bIns="0" anchor="t">
            <a:normAutofit/>
          </a:bodyPr>
          <a:lstStyle/>
          <a:p>
            <a:pPr algn="r">
              <a:lnSpc>
                <a:spcPct val="100000"/>
              </a:lnSpc>
              <a:buNone/>
              <a:defRPr sz="1050" b="1">
                <a:solidFill>
                  <a:srgbClr val="5F6C7B"/>
                </a:solidFill>
                <a:latin typeface="Arial" panose="020B0604020202020204"/>
                <a:ea typeface="Arial" panose="020B0604020202020204"/>
                <a:cs typeface="Arial" panose="020B0604020202020204"/>
              </a:defRPr>
            </a:pPr>
            <a:r>
              <a:rPr sz="1050" b="1">
                <a:solidFill>
                  <a:srgbClr val="5F6C7B"/>
                </a:solidFill>
                <a:latin typeface="Arial" panose="020B0604020202020204"/>
                <a:ea typeface="Arial" panose="020B0604020202020204"/>
                <a:cs typeface="Arial" panose="020B0604020202020204"/>
              </a:rPr>
              <a:t>05</a:t>
            </a:r>
            <a:endParaRPr sz="1050" b="1">
              <a:solidFill>
                <a:srgbClr val="5F6C7B"/>
              </a:solidFill>
              <a:latin typeface="Arial" panose="020B0604020202020204"/>
              <a:ea typeface="Arial" panose="020B0604020202020204"/>
              <a:cs typeface="Arial" panose="020B0604020202020204"/>
            </a:endParaRPr>
          </a:p>
        </p:txBody>
      </p:sp>
      <p:sp>
        <p:nvSpPr>
          <p:cNvPr id="5" name="Rounded Rectangle 4"/>
          <p:cNvSpPr>
            <a:spLocks noGrp="1"/>
          </p:cNvSpPr>
          <p:nvPr/>
        </p:nvSpPr>
        <p:spPr>
          <a:xfrm>
            <a:off x="523875" y="1428750"/>
            <a:ext cx="3524250" cy="4333875"/>
          </a:xfrm>
          <a:prstGeom prst="roundRect">
            <a:avLst>
              <a:gd name="adj" fmla="val 1892"/>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6" name="Rounded Rectangle 5"/>
          <p:cNvSpPr>
            <a:spLocks noGrp="1"/>
          </p:cNvSpPr>
          <p:nvPr/>
        </p:nvSpPr>
        <p:spPr>
          <a:xfrm>
            <a:off x="4333875" y="1428750"/>
            <a:ext cx="3524250" cy="4333875"/>
          </a:xfrm>
          <a:prstGeom prst="roundRect">
            <a:avLst>
              <a:gd name="adj" fmla="val 1892"/>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7" name="Rounded Rectangle 6"/>
          <p:cNvSpPr>
            <a:spLocks noGrp="1"/>
          </p:cNvSpPr>
          <p:nvPr/>
        </p:nvSpPr>
        <p:spPr>
          <a:xfrm>
            <a:off x="8143875" y="1428750"/>
            <a:ext cx="3524250" cy="4333875"/>
          </a:xfrm>
          <a:prstGeom prst="roundRect">
            <a:avLst>
              <a:gd name="adj" fmla="val 1892"/>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8" name="Rectangle 7"/>
          <p:cNvSpPr>
            <a:spLocks noGrp="1"/>
          </p:cNvSpPr>
          <p:nvPr/>
        </p:nvSpPr>
        <p:spPr>
          <a:xfrm>
            <a:off x="714375" y="1600200"/>
            <a:ext cx="3143250" cy="285750"/>
          </a:xfrm>
          <a:prstGeom prst="rect">
            <a:avLst/>
          </a:prstGeom>
          <a:noFill/>
          <a:ln w="0">
            <a:noFill/>
            <a:prstDash val="solid"/>
          </a:ln>
        </p:spPr>
        <p:txBody>
          <a:bodyPr wrap="square" lIns="0" tIns="0" rIns="0" bIns="0" anchor="t">
            <a:normAutofit/>
          </a:bodyPr>
          <a:lstStyle/>
          <a:p>
            <a:pPr algn="l">
              <a:lnSpc>
                <a:spcPct val="100000"/>
              </a:lnSpc>
              <a:buNone/>
              <a:defRPr sz="1425" b="1">
                <a:solidFill>
                  <a:srgbClr val="102A43"/>
                </a:solidFill>
                <a:latin typeface="Arial" panose="020B0604020202020204"/>
                <a:ea typeface="Arial" panose="020B0604020202020204"/>
                <a:cs typeface="Arial" panose="020B0604020202020204"/>
              </a:defRPr>
            </a:pPr>
            <a:r>
              <a:rPr sz="1425" b="1">
                <a:solidFill>
                  <a:srgbClr val="102A43"/>
                </a:solidFill>
                <a:latin typeface="Arial" panose="020B0604020202020204"/>
                <a:ea typeface="Arial" panose="020B0604020202020204"/>
                <a:cs typeface="Arial" panose="020B0604020202020204"/>
              </a:rPr>
              <a:t>Ma trận tương quan</a:t>
            </a:r>
            <a:endParaRPr sz="1425" b="1">
              <a:solidFill>
                <a:srgbClr val="102A43"/>
              </a:solidFill>
              <a:latin typeface="Arial" panose="020B0604020202020204"/>
              <a:ea typeface="Arial" panose="020B0604020202020204"/>
              <a:cs typeface="Arial" panose="020B0604020202020204"/>
            </a:endParaRPr>
          </a:p>
        </p:txBody>
      </p:sp>
      <p:sp>
        <p:nvSpPr>
          <p:cNvPr id="9" name="Rectangle 8"/>
          <p:cNvSpPr>
            <a:spLocks noGrp="1"/>
          </p:cNvSpPr>
          <p:nvPr/>
        </p:nvSpPr>
        <p:spPr>
          <a:xfrm>
            <a:off x="4524375" y="1600200"/>
            <a:ext cx="3143250" cy="285750"/>
          </a:xfrm>
          <a:prstGeom prst="rect">
            <a:avLst/>
          </a:prstGeom>
          <a:noFill/>
          <a:ln w="0">
            <a:noFill/>
            <a:prstDash val="solid"/>
          </a:ln>
        </p:spPr>
        <p:txBody>
          <a:bodyPr wrap="square" lIns="0" tIns="0" rIns="0" bIns="0" anchor="t">
            <a:normAutofit/>
          </a:bodyPr>
          <a:lstStyle/>
          <a:p>
            <a:pPr algn="l">
              <a:lnSpc>
                <a:spcPct val="100000"/>
              </a:lnSpc>
              <a:buNone/>
              <a:defRPr sz="1425" b="1">
                <a:solidFill>
                  <a:srgbClr val="102A43"/>
                </a:solidFill>
                <a:latin typeface="Arial" panose="020B0604020202020204"/>
                <a:ea typeface="Arial" panose="020B0604020202020204"/>
                <a:cs typeface="Arial" panose="020B0604020202020204"/>
              </a:defRPr>
            </a:pPr>
            <a:r>
              <a:rPr sz="1425" b="1">
                <a:solidFill>
                  <a:srgbClr val="102A43"/>
                </a:solidFill>
                <a:latin typeface="Arial" panose="020B0604020202020204"/>
                <a:ea typeface="Arial" panose="020B0604020202020204"/>
                <a:cs typeface="Arial" panose="020B0604020202020204"/>
              </a:rPr>
              <a:t>Income và giá nhà</a:t>
            </a:r>
            <a:endParaRPr sz="1425" b="1">
              <a:solidFill>
                <a:srgbClr val="102A43"/>
              </a:solidFill>
              <a:latin typeface="Arial" panose="020B0604020202020204"/>
              <a:ea typeface="Arial" panose="020B0604020202020204"/>
              <a:cs typeface="Arial" panose="020B0604020202020204"/>
            </a:endParaRPr>
          </a:p>
        </p:txBody>
      </p:sp>
      <p:sp>
        <p:nvSpPr>
          <p:cNvPr id="10" name="Rectangle 9"/>
          <p:cNvSpPr>
            <a:spLocks noGrp="1"/>
          </p:cNvSpPr>
          <p:nvPr/>
        </p:nvSpPr>
        <p:spPr>
          <a:xfrm>
            <a:off x="8334375" y="1600200"/>
            <a:ext cx="3143250" cy="285750"/>
          </a:xfrm>
          <a:prstGeom prst="rect">
            <a:avLst/>
          </a:prstGeom>
          <a:noFill/>
          <a:ln w="0">
            <a:noFill/>
            <a:prstDash val="solid"/>
          </a:ln>
        </p:spPr>
        <p:txBody>
          <a:bodyPr wrap="square" lIns="0" tIns="0" rIns="0" bIns="0" anchor="t">
            <a:normAutofit/>
          </a:bodyPr>
          <a:lstStyle/>
          <a:p>
            <a:pPr algn="l">
              <a:lnSpc>
                <a:spcPct val="100000"/>
              </a:lnSpc>
              <a:buNone/>
              <a:defRPr sz="1425" b="1">
                <a:solidFill>
                  <a:srgbClr val="102A43"/>
                </a:solidFill>
                <a:latin typeface="Arial" panose="020B0604020202020204"/>
                <a:ea typeface="Arial" panose="020B0604020202020204"/>
                <a:cs typeface="Arial" panose="020B0604020202020204"/>
              </a:defRPr>
            </a:pPr>
            <a:r>
              <a:rPr sz="1425" b="1">
                <a:solidFill>
                  <a:srgbClr val="102A43"/>
                </a:solidFill>
                <a:latin typeface="Arial" panose="020B0604020202020204"/>
                <a:ea typeface="Arial" panose="020B0604020202020204"/>
                <a:cs typeface="Arial" panose="020B0604020202020204"/>
              </a:rPr>
              <a:t>Pairplot các biến chính</a:t>
            </a:r>
            <a:endParaRPr sz="1425" b="1">
              <a:solidFill>
                <a:srgbClr val="102A43"/>
              </a:solidFill>
              <a:latin typeface="Arial" panose="020B0604020202020204"/>
              <a:ea typeface="Arial" panose="020B0604020202020204"/>
              <a:cs typeface="Arial" panose="020B0604020202020204"/>
            </a:endParaRPr>
          </a:p>
        </p:txBody>
      </p:sp>
      <p:pic>
        <p:nvPicPr>
          <p:cNvPr id="29" name="Picture 28"/>
          <p:cNvPicPr>
            <a:picLocks noChangeAspect="1"/>
          </p:cNvPicPr>
          <p:nvPr/>
        </p:nvPicPr>
        <p:blipFill>
          <a:blip r:embed="rId1"/>
          <a:stretch>
            <a:fillRect/>
          </a:stretch>
        </p:blipFill>
        <p:spPr>
          <a:xfrm>
            <a:off x="719870" y="1952625"/>
            <a:ext cx="3132260" cy="2857500"/>
          </a:xfrm>
          <a:prstGeom prst="roundRect">
            <a:avLst>
              <a:gd name="adj" fmla="val 2000"/>
            </a:avLst>
          </a:prstGeom>
        </p:spPr>
      </p:pic>
      <p:pic>
        <p:nvPicPr>
          <p:cNvPr id="30" name="Picture 29"/>
          <p:cNvPicPr>
            <a:picLocks noChangeAspect="1"/>
          </p:cNvPicPr>
          <p:nvPr/>
        </p:nvPicPr>
        <p:blipFill>
          <a:blip r:embed="rId2"/>
          <a:stretch>
            <a:fillRect/>
          </a:stretch>
        </p:blipFill>
        <p:spPr>
          <a:xfrm>
            <a:off x="4495800" y="2291095"/>
            <a:ext cx="3200400" cy="2180560"/>
          </a:xfrm>
          <a:prstGeom prst="roundRect">
            <a:avLst>
              <a:gd name="adj" fmla="val 2000"/>
            </a:avLst>
          </a:prstGeom>
        </p:spPr>
      </p:pic>
      <p:pic>
        <p:nvPicPr>
          <p:cNvPr id="31" name="Picture 30"/>
          <p:cNvPicPr>
            <a:picLocks noChangeAspect="1"/>
          </p:cNvPicPr>
          <p:nvPr/>
        </p:nvPicPr>
        <p:blipFill>
          <a:blip r:embed="rId3"/>
          <a:stretch>
            <a:fillRect/>
          </a:stretch>
        </p:blipFill>
        <p:spPr>
          <a:xfrm>
            <a:off x="8530426" y="1952625"/>
            <a:ext cx="2751148" cy="2857500"/>
          </a:xfrm>
          <a:prstGeom prst="roundRect">
            <a:avLst>
              <a:gd name="adj" fmla="val 2000"/>
            </a:avLst>
          </a:prstGeom>
        </p:spPr>
      </p:pic>
      <p:sp>
        <p:nvSpPr>
          <p:cNvPr id="14" name="Rectangle 13"/>
          <p:cNvSpPr>
            <a:spLocks noGrp="1"/>
          </p:cNvSpPr>
          <p:nvPr/>
        </p:nvSpPr>
        <p:spPr>
          <a:xfrm>
            <a:off x="714375" y="4972050"/>
            <a:ext cx="3143250" cy="571500"/>
          </a:xfrm>
          <a:prstGeom prst="rect">
            <a:avLst/>
          </a:prstGeom>
          <a:noFill/>
          <a:ln w="0">
            <a:noFill/>
            <a:prstDash val="solid"/>
          </a:ln>
        </p:spPr>
        <p:txBody>
          <a:bodyPr wrap="square" lIns="95250" tIns="57150" rIns="95250" bIns="57150" anchor="ctr">
            <a:normAutofit/>
          </a:bodyPr>
          <a:lstStyle/>
          <a:p>
            <a:pPr algn="l">
              <a:lnSpc>
                <a:spcPct val="100000"/>
              </a:lnSpc>
              <a:buNone/>
              <a:defRPr sz="1125" b="0">
                <a:solidFill>
                  <a:srgbClr val="5F6C7B"/>
                </a:solidFill>
                <a:latin typeface="Arial" panose="020B0604020202020204"/>
                <a:ea typeface="Arial" panose="020B0604020202020204"/>
                <a:cs typeface="Arial" panose="020B0604020202020204"/>
              </a:defRPr>
            </a:pPr>
            <a:r>
              <a:rPr sz="1125" b="0">
                <a:solidFill>
                  <a:srgbClr val="5F6C7B"/>
                </a:solidFill>
                <a:latin typeface="Arial" panose="020B0604020202020204"/>
                <a:ea typeface="Arial" panose="020B0604020202020204"/>
                <a:cs typeface="Arial" panose="020B0604020202020204"/>
              </a:rPr>
              <a:t>median_income có tương quan dương mạnh nhất với target: 0,688.</a:t>
            </a:r>
            <a:endParaRPr sz="1125" b="0">
              <a:solidFill>
                <a:srgbClr val="5F6C7B"/>
              </a:solidFill>
              <a:latin typeface="Arial" panose="020B0604020202020204"/>
              <a:ea typeface="Arial" panose="020B0604020202020204"/>
              <a:cs typeface="Arial" panose="020B0604020202020204"/>
            </a:endParaRPr>
          </a:p>
        </p:txBody>
      </p:sp>
      <p:sp>
        <p:nvSpPr>
          <p:cNvPr id="15" name="Rectangle 14"/>
          <p:cNvSpPr>
            <a:spLocks noGrp="1"/>
          </p:cNvSpPr>
          <p:nvPr/>
        </p:nvSpPr>
        <p:spPr>
          <a:xfrm>
            <a:off x="4524375" y="4972050"/>
            <a:ext cx="3143250" cy="571500"/>
          </a:xfrm>
          <a:prstGeom prst="rect">
            <a:avLst/>
          </a:prstGeom>
          <a:noFill/>
          <a:ln w="0">
            <a:noFill/>
            <a:prstDash val="solid"/>
          </a:ln>
        </p:spPr>
        <p:txBody>
          <a:bodyPr wrap="square" lIns="95250" tIns="57150" rIns="95250" bIns="57150" anchor="ctr">
            <a:normAutofit/>
          </a:bodyPr>
          <a:lstStyle/>
          <a:p>
            <a:pPr algn="l">
              <a:lnSpc>
                <a:spcPct val="100000"/>
              </a:lnSpc>
              <a:buNone/>
              <a:defRPr sz="1125" b="0">
                <a:solidFill>
                  <a:srgbClr val="5F6C7B"/>
                </a:solidFill>
                <a:latin typeface="Arial" panose="020B0604020202020204"/>
                <a:ea typeface="Arial" panose="020B0604020202020204"/>
                <a:cs typeface="Arial" panose="020B0604020202020204"/>
              </a:defRPr>
            </a:pPr>
            <a:r>
              <a:rPr sz="1125" b="0">
                <a:solidFill>
                  <a:srgbClr val="5F6C7B"/>
                </a:solidFill>
                <a:latin typeface="Arial" panose="020B0604020202020204"/>
                <a:ea typeface="Arial" panose="020B0604020202020204"/>
                <a:cs typeface="Arial" panose="020B0604020202020204"/>
              </a:rPr>
              <a:t>Quan hệ tăng rõ, đồng thời xuất hiện dải trần tại 500.001 USD.</a:t>
            </a:r>
            <a:endParaRPr sz="1125" b="0">
              <a:solidFill>
                <a:srgbClr val="5F6C7B"/>
              </a:solidFill>
              <a:latin typeface="Arial" panose="020B0604020202020204"/>
              <a:ea typeface="Arial" panose="020B0604020202020204"/>
              <a:cs typeface="Arial" panose="020B0604020202020204"/>
            </a:endParaRPr>
          </a:p>
        </p:txBody>
      </p:sp>
      <p:sp>
        <p:nvSpPr>
          <p:cNvPr id="16" name="Rectangle 15"/>
          <p:cNvSpPr>
            <a:spLocks noGrp="1"/>
          </p:cNvSpPr>
          <p:nvPr/>
        </p:nvSpPr>
        <p:spPr>
          <a:xfrm>
            <a:off x="8334375" y="4972050"/>
            <a:ext cx="3143250" cy="571500"/>
          </a:xfrm>
          <a:prstGeom prst="rect">
            <a:avLst/>
          </a:prstGeom>
          <a:noFill/>
          <a:ln w="0">
            <a:noFill/>
            <a:prstDash val="solid"/>
          </a:ln>
        </p:spPr>
        <p:txBody>
          <a:bodyPr wrap="square" lIns="95250" tIns="57150" rIns="95250" bIns="57150" anchor="ctr">
            <a:normAutofit/>
          </a:bodyPr>
          <a:lstStyle/>
          <a:p>
            <a:pPr algn="l">
              <a:lnSpc>
                <a:spcPct val="100000"/>
              </a:lnSpc>
              <a:buNone/>
              <a:defRPr sz="1125" b="0">
                <a:solidFill>
                  <a:srgbClr val="5F6C7B"/>
                </a:solidFill>
                <a:latin typeface="Arial" panose="020B0604020202020204"/>
                <a:ea typeface="Arial" panose="020B0604020202020204"/>
                <a:cs typeface="Arial" panose="020B0604020202020204"/>
              </a:defRPr>
            </a:pPr>
            <a:r>
              <a:rPr sz="1125" b="0">
                <a:solidFill>
                  <a:srgbClr val="5F6C7B"/>
                </a:solidFill>
                <a:latin typeface="Arial" panose="020B0604020202020204"/>
                <a:ea typeface="Arial" panose="020B0604020202020204"/>
                <a:cs typeface="Arial" panose="020B0604020202020204"/>
              </a:rPr>
              <a:t>Các quan hệ phi tuyến gợi ý model cây có tiềm năng hơn tuyến tính.</a:t>
            </a:r>
            <a:endParaRPr sz="1125" b="0">
              <a:solidFill>
                <a:srgbClr val="5F6C7B"/>
              </a:solidFill>
              <a:latin typeface="Arial" panose="020B0604020202020204"/>
              <a:ea typeface="Arial" panose="020B0604020202020204"/>
              <a:cs typeface="Arial" panose="020B0604020202020204"/>
            </a:endParaRPr>
          </a:p>
        </p:txBody>
      </p:sp>
      <p:sp>
        <p:nvSpPr>
          <p:cNvPr id="17" name="Straight Connector 16"/>
          <p:cNvSpPr>
            <a:spLocks noGrp="1"/>
          </p:cNvSpPr>
          <p:nvPr/>
        </p:nvSpPr>
        <p:spPr>
          <a:xfrm>
            <a:off x="666750" y="6477000"/>
            <a:ext cx="10858500" cy="0"/>
          </a:xfrm>
          <a:prstGeom prst="line">
            <a:avLst/>
          </a:prstGeom>
          <a:noFill/>
          <a:ln w="9525">
            <a:solidFill>
              <a:srgbClr val="D7E0E8"/>
            </a:solidFill>
            <a:prstDash val="solid"/>
          </a:ln>
        </p:spPr>
      </p:sp>
      <p:sp>
        <p:nvSpPr>
          <p:cNvPr id="18" name="Rectangle 17"/>
          <p:cNvSpPr>
            <a:spLocks noGrp="1"/>
          </p:cNvSpPr>
          <p:nvPr/>
        </p:nvSpPr>
        <p:spPr>
          <a:xfrm>
            <a:off x="666750" y="6524625"/>
            <a:ext cx="10572750" cy="209550"/>
          </a:xfrm>
          <a:prstGeom prst="rect">
            <a:avLst/>
          </a:prstGeom>
          <a:noFill/>
          <a:ln w="0">
            <a:noFill/>
            <a:prstDash val="solid"/>
          </a:ln>
        </p:spPr>
        <p:txBody>
          <a:bodyPr wrap="square" lIns="0" tIns="0" rIns="0" bIns="0" anchor="t">
            <a:normAutofit/>
          </a:bodyPr>
          <a:lstStyle/>
          <a:p>
            <a:pPr algn="l">
              <a:lnSpc>
                <a:spcPct val="100000"/>
              </a:lnSpc>
              <a:buNone/>
              <a:defRPr sz="825" b="0">
                <a:solidFill>
                  <a:srgbClr val="5F6C7B"/>
                </a:solidFill>
                <a:latin typeface="Arial" panose="020B0604020202020204"/>
                <a:ea typeface="Arial" panose="020B0604020202020204"/>
                <a:cs typeface="Arial" panose="020B0604020202020204"/>
              </a:defRPr>
            </a:pPr>
            <a:r>
              <a:rPr sz="825" b="0">
                <a:solidFill>
                  <a:srgbClr val="5F6C7B"/>
                </a:solidFill>
                <a:latin typeface="Arial" panose="020B0604020202020204"/>
                <a:ea typeface="Arial" panose="020B0604020202020204"/>
                <a:cs typeface="Arial" panose="020B0604020202020204"/>
              </a:rPr>
              <a:t>Nguồn hình: ai-models/notebooks/ML_Project.ipynb; hệ số tính từ housing.csv.zip</a:t>
            </a:r>
            <a:endParaRPr sz="825" b="0">
              <a:solidFill>
                <a:srgbClr val="5F6C7B"/>
              </a:solidFill>
              <a:latin typeface="Arial" panose="020B0604020202020204"/>
              <a:ea typeface="Arial" panose="020B0604020202020204"/>
              <a:cs typeface="Arial" panose="020B0604020202020204"/>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
        <p:cNvGrpSpPr/>
        <p:nvPr/>
      </p:nvGrpSpPr>
      <p:grpSpPr/>
      <p:sp>
        <p:nvSpPr>
          <p:cNvPr id="34" name="Rectangle 33"/>
          <p:cNvSpPr>
            <a:spLocks noGrp="1"/>
          </p:cNvSpPr>
          <p:nvPr/>
        </p:nvSpPr>
        <p:spPr>
          <a:xfrm>
            <a:off x="666750" y="323850"/>
            <a:ext cx="9525000" cy="228600"/>
          </a:xfrm>
          <a:prstGeom prst="rect">
            <a:avLst/>
          </a:prstGeom>
          <a:noFill/>
          <a:ln w="0">
            <a:noFill/>
            <a:prstDash val="solid"/>
          </a:ln>
        </p:spPr>
        <p:txBody>
          <a:bodyPr wrap="square" lIns="0" tIns="0" rIns="0" bIns="0" anchor="t">
            <a:normAutofit/>
          </a:bodyPr>
          <a:lstStyle/>
          <a:p>
            <a:pPr algn="l">
              <a:lnSpc>
                <a:spcPct val="100000"/>
              </a:lnSpc>
              <a:buNone/>
              <a:defRPr sz="975" b="1">
                <a:solidFill>
                  <a:srgbClr val="167D8D"/>
                </a:solidFill>
                <a:latin typeface="Arial" panose="020B0604020202020204"/>
                <a:ea typeface="Arial" panose="020B0604020202020204"/>
                <a:cs typeface="Arial" panose="020B0604020202020204"/>
              </a:defRPr>
            </a:pPr>
            <a:r>
              <a:rPr sz="975" b="1">
                <a:solidFill>
                  <a:srgbClr val="167D8D"/>
                </a:solidFill>
                <a:latin typeface="Arial" panose="020B0604020202020204"/>
                <a:ea typeface="Arial" panose="020B0604020202020204"/>
                <a:cs typeface="Arial" panose="020B0604020202020204"/>
              </a:rPr>
              <a:t>04 · FEATURE PIPELINE</a:t>
            </a:r>
            <a:endParaRPr sz="975" b="1">
              <a:solidFill>
                <a:srgbClr val="167D8D"/>
              </a:solidFill>
              <a:latin typeface="Arial" panose="020B0604020202020204"/>
              <a:ea typeface="Arial" panose="020B0604020202020204"/>
              <a:cs typeface="Arial" panose="020B0604020202020204"/>
            </a:endParaRPr>
          </a:p>
        </p:txBody>
      </p:sp>
      <p:sp>
        <p:nvSpPr>
          <p:cNvPr id="2" name="Rectangle 1"/>
          <p:cNvSpPr>
            <a:spLocks noGrp="1"/>
          </p:cNvSpPr>
          <p:nvPr/>
        </p:nvSpPr>
        <p:spPr>
          <a:xfrm>
            <a:off x="666750" y="571500"/>
            <a:ext cx="10287000" cy="523875"/>
          </a:xfrm>
          <a:prstGeom prst="rect">
            <a:avLst/>
          </a:prstGeom>
          <a:noFill/>
          <a:ln w="0">
            <a:noFill/>
            <a:prstDash val="solid"/>
          </a:ln>
        </p:spPr>
        <p:txBody>
          <a:bodyPr wrap="square" lIns="0" tIns="0" rIns="0" bIns="0" anchor="t">
            <a:normAutofit/>
          </a:bodyPr>
          <a:lstStyle/>
          <a:p>
            <a:pPr algn="l">
              <a:lnSpc>
                <a:spcPct val="100000"/>
              </a:lnSpc>
              <a:buNone/>
              <a:defRPr sz="2700" b="1">
                <a:solidFill>
                  <a:srgbClr val="102A43"/>
                </a:solidFill>
                <a:latin typeface="Arial" panose="020B0604020202020204"/>
                <a:ea typeface="Arial" panose="020B0604020202020204"/>
                <a:cs typeface="Arial" panose="020B0604020202020204"/>
              </a:defRPr>
            </a:pPr>
            <a:r>
              <a:rPr sz="2700" b="1">
                <a:solidFill>
                  <a:srgbClr val="102A43"/>
                </a:solidFill>
                <a:latin typeface="Arial" panose="020B0604020202020204"/>
                <a:ea typeface="Arial" panose="020B0604020202020204"/>
                <a:cs typeface="Arial" panose="020B0604020202020204"/>
              </a:rPr>
              <a:t>Tiền xử lý dữ liệu</a:t>
            </a:r>
            <a:endParaRPr sz="2700" b="1">
              <a:solidFill>
                <a:srgbClr val="102A43"/>
              </a:solidFill>
              <a:latin typeface="Arial" panose="020B0604020202020204"/>
              <a:ea typeface="Arial" panose="020B0604020202020204"/>
              <a:cs typeface="Arial" panose="020B0604020202020204"/>
            </a:endParaRPr>
          </a:p>
        </p:txBody>
      </p:sp>
      <p:sp>
        <p:nvSpPr>
          <p:cNvPr id="3" name="Rectangle 2"/>
          <p:cNvSpPr>
            <a:spLocks noGrp="1"/>
          </p:cNvSpPr>
          <p:nvPr/>
        </p:nvSpPr>
        <p:spPr>
          <a:xfrm>
            <a:off x="666750" y="1152525"/>
            <a:ext cx="714375" cy="47625"/>
          </a:xfrm>
          <a:prstGeom prst="rect">
            <a:avLst/>
          </a:prstGeom>
          <a:solidFill>
            <a:srgbClr val="E76F51"/>
          </a:solidFill>
          <a:ln w="0">
            <a:noFill/>
            <a:prstDash val="solid"/>
          </a:ln>
        </p:spPr>
      </p:sp>
      <p:sp>
        <p:nvSpPr>
          <p:cNvPr id="4" name="Rectangle 3"/>
          <p:cNvSpPr>
            <a:spLocks noGrp="1"/>
          </p:cNvSpPr>
          <p:nvPr/>
        </p:nvSpPr>
        <p:spPr>
          <a:xfrm>
            <a:off x="11191875" y="409575"/>
            <a:ext cx="381000" cy="247650"/>
          </a:xfrm>
          <a:prstGeom prst="rect">
            <a:avLst/>
          </a:prstGeom>
          <a:noFill/>
          <a:ln w="0">
            <a:noFill/>
            <a:prstDash val="solid"/>
          </a:ln>
        </p:spPr>
        <p:txBody>
          <a:bodyPr wrap="square" lIns="0" tIns="0" rIns="0" bIns="0" anchor="t">
            <a:normAutofit/>
          </a:bodyPr>
          <a:lstStyle/>
          <a:p>
            <a:pPr algn="r">
              <a:lnSpc>
                <a:spcPct val="100000"/>
              </a:lnSpc>
              <a:buNone/>
              <a:defRPr sz="1050" b="1">
                <a:solidFill>
                  <a:srgbClr val="5F6C7B"/>
                </a:solidFill>
                <a:latin typeface="Arial" panose="020B0604020202020204"/>
                <a:ea typeface="Arial" panose="020B0604020202020204"/>
                <a:cs typeface="Arial" panose="020B0604020202020204"/>
              </a:defRPr>
            </a:pPr>
            <a:r>
              <a:rPr sz="1050" b="1">
                <a:solidFill>
                  <a:srgbClr val="5F6C7B"/>
                </a:solidFill>
                <a:latin typeface="Arial" panose="020B0604020202020204"/>
                <a:ea typeface="Arial" panose="020B0604020202020204"/>
                <a:cs typeface="Arial" panose="020B0604020202020204"/>
              </a:rPr>
              <a:t>06</a:t>
            </a:r>
            <a:endParaRPr sz="1050" b="1">
              <a:solidFill>
                <a:srgbClr val="5F6C7B"/>
              </a:solidFill>
              <a:latin typeface="Arial" panose="020B0604020202020204"/>
              <a:ea typeface="Arial" panose="020B0604020202020204"/>
              <a:cs typeface="Arial" panose="020B0604020202020204"/>
            </a:endParaRPr>
          </a:p>
        </p:txBody>
      </p:sp>
      <p:sp>
        <p:nvSpPr>
          <p:cNvPr id="5" name="Rounded Rectangle 4"/>
          <p:cNvSpPr>
            <a:spLocks noGrp="1"/>
          </p:cNvSpPr>
          <p:nvPr/>
        </p:nvSpPr>
        <p:spPr>
          <a:xfrm>
            <a:off x="523875" y="1952625"/>
            <a:ext cx="1952625" cy="2333625"/>
          </a:xfrm>
          <a:prstGeom prst="roundRect">
            <a:avLst>
              <a:gd name="adj" fmla="val 3415"/>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6" name="Rounded Rectangle 5"/>
          <p:cNvSpPr>
            <a:spLocks noGrp="1"/>
          </p:cNvSpPr>
          <p:nvPr/>
        </p:nvSpPr>
        <p:spPr>
          <a:xfrm>
            <a:off x="695325" y="2095500"/>
            <a:ext cx="457200" cy="457200"/>
          </a:xfrm>
          <a:prstGeom prst="roundRect">
            <a:avLst>
              <a:gd name="adj" fmla="val 50000"/>
            </a:avLst>
          </a:prstGeom>
          <a:solidFill>
            <a:srgbClr val="167D8D"/>
          </a:solidFill>
          <a:ln w="9525">
            <a:solidFill>
              <a:srgbClr val="167D8D"/>
            </a:solidFill>
            <a:prstDash val="solid"/>
          </a:ln>
        </p:spPr>
        <p:txBody>
          <a:bodyPr wrap="square" lIns="0" tIns="0" rIns="0" bIns="0" anchor="ctr">
            <a:normAutofit/>
          </a:bodyPr>
          <a:lstStyle/>
          <a:p>
            <a:pPr algn="ctr">
              <a:lnSpc>
                <a:spcPct val="100000"/>
              </a:lnSpc>
              <a:buNone/>
              <a:defRPr sz="1350" b="1">
                <a:solidFill>
                  <a:srgbClr val="FFFFFF"/>
                </a:solidFill>
                <a:latin typeface="Arial" panose="020B0604020202020204"/>
                <a:ea typeface="Arial" panose="020B0604020202020204"/>
                <a:cs typeface="Arial" panose="020B0604020202020204"/>
              </a:defRPr>
            </a:pPr>
            <a:r>
              <a:rPr sz="1350" b="1">
                <a:solidFill>
                  <a:srgbClr val="FFFFFF"/>
                </a:solidFill>
                <a:latin typeface="Arial" panose="020B0604020202020204"/>
                <a:ea typeface="Arial" panose="020B0604020202020204"/>
                <a:cs typeface="Arial" panose="020B0604020202020204"/>
              </a:rPr>
              <a:t>01</a:t>
            </a:r>
            <a:endParaRPr sz="1350" b="1">
              <a:solidFill>
                <a:srgbClr val="FFFFFF"/>
              </a:solidFill>
              <a:latin typeface="Arial" panose="020B0604020202020204"/>
              <a:ea typeface="Arial" panose="020B0604020202020204"/>
              <a:cs typeface="Arial" panose="020B0604020202020204"/>
            </a:endParaRPr>
          </a:p>
        </p:txBody>
      </p:sp>
      <p:sp>
        <p:nvSpPr>
          <p:cNvPr id="7" name="Rectangle 6"/>
          <p:cNvSpPr>
            <a:spLocks noGrp="1"/>
          </p:cNvSpPr>
          <p:nvPr/>
        </p:nvSpPr>
        <p:spPr>
          <a:xfrm>
            <a:off x="695325" y="2781300"/>
            <a:ext cx="1609725" cy="523875"/>
          </a:xfrm>
          <a:prstGeom prst="rect">
            <a:avLst/>
          </a:prstGeom>
          <a:noFill/>
          <a:ln w="0">
            <a:noFill/>
            <a:prstDash val="solid"/>
          </a:ln>
        </p:spPr>
        <p:txBody>
          <a:bodyPr wrap="square" lIns="95250" tIns="57150" rIns="95250" bIns="57150" anchor="ctr">
            <a:normAutofit/>
          </a:bodyPr>
          <a:lstStyle/>
          <a:p>
            <a:pPr algn="ctr">
              <a:lnSpc>
                <a:spcPct val="100000"/>
              </a:lnSpc>
              <a:buNone/>
              <a:defRPr sz="1575" b="1">
                <a:solidFill>
                  <a:srgbClr val="102A43"/>
                </a:solidFill>
                <a:latin typeface="Arial" panose="020B0604020202020204"/>
                <a:ea typeface="Arial" panose="020B0604020202020204"/>
                <a:cs typeface="Arial" panose="020B0604020202020204"/>
              </a:defRPr>
            </a:pPr>
            <a:r>
              <a:rPr sz="1575" b="1">
                <a:solidFill>
                  <a:srgbClr val="102A43"/>
                </a:solidFill>
                <a:latin typeface="Arial" panose="020B0604020202020204"/>
                <a:ea typeface="Arial" panose="020B0604020202020204"/>
                <a:cs typeface="Arial" panose="020B0604020202020204"/>
              </a:rPr>
              <a:t>Chia dữ liệu</a:t>
            </a:r>
            <a:endParaRPr sz="1575" b="1">
              <a:solidFill>
                <a:srgbClr val="102A43"/>
              </a:solidFill>
              <a:latin typeface="Arial" panose="020B0604020202020204"/>
              <a:ea typeface="Arial" panose="020B0604020202020204"/>
              <a:cs typeface="Arial" panose="020B0604020202020204"/>
            </a:endParaRPr>
          </a:p>
        </p:txBody>
      </p:sp>
      <p:sp>
        <p:nvSpPr>
          <p:cNvPr id="8" name="Rectangle 7"/>
          <p:cNvSpPr>
            <a:spLocks noGrp="1"/>
          </p:cNvSpPr>
          <p:nvPr/>
        </p:nvSpPr>
        <p:spPr>
          <a:xfrm>
            <a:off x="695325" y="3400425"/>
            <a:ext cx="1609725" cy="590550"/>
          </a:xfrm>
          <a:prstGeom prst="rect">
            <a:avLst/>
          </a:prstGeom>
          <a:noFill/>
          <a:ln w="0">
            <a:noFill/>
            <a:prstDash val="solid"/>
          </a:ln>
        </p:spPr>
        <p:txBody>
          <a:bodyPr wrap="square" lIns="95250" tIns="57150" rIns="95250" bIns="57150" anchor="ctr">
            <a:normAutofit/>
          </a:bodyPr>
          <a:lstStyle/>
          <a:p>
            <a:pPr algn="ctr">
              <a:lnSpc>
                <a:spcPct val="100000"/>
              </a:lnSpc>
              <a:buNone/>
              <a:defRPr sz="1200" b="0">
                <a:solidFill>
                  <a:srgbClr val="5F6C7B"/>
                </a:solidFill>
                <a:latin typeface="Arial" panose="020B0604020202020204"/>
                <a:ea typeface="Arial" panose="020B0604020202020204"/>
                <a:cs typeface="Arial" panose="020B0604020202020204"/>
              </a:defRPr>
            </a:pPr>
            <a:r>
              <a:rPr sz="1200" b="0">
                <a:solidFill>
                  <a:srgbClr val="5F6C7B"/>
                </a:solidFill>
                <a:latin typeface="Arial" panose="020B0604020202020204"/>
                <a:ea typeface="Arial" panose="020B0604020202020204"/>
                <a:cs typeface="Arial" panose="020B0604020202020204"/>
              </a:rPr>
              <a:t>80% train · 20% test</a:t>
            </a:r>
            <a:endParaRPr sz="1200" b="0">
              <a:solidFill>
                <a:srgbClr val="5F6C7B"/>
              </a:solidFill>
              <a:latin typeface="Arial" panose="020B0604020202020204"/>
              <a:ea typeface="Arial" panose="020B0604020202020204"/>
              <a:cs typeface="Arial" panose="020B0604020202020204"/>
            </a:endParaRPr>
          </a:p>
          <a:p>
            <a:pPr algn="ctr">
              <a:lnSpc>
                <a:spcPct val="100000"/>
              </a:lnSpc>
              <a:buNone/>
              <a:defRPr sz="1200" b="0">
                <a:solidFill>
                  <a:srgbClr val="5F6C7B"/>
                </a:solidFill>
                <a:latin typeface="Arial" panose="020B0604020202020204"/>
                <a:ea typeface="Arial" panose="020B0604020202020204"/>
                <a:cs typeface="Arial" panose="020B0604020202020204"/>
              </a:defRPr>
            </a:pPr>
            <a:r>
              <a:rPr sz="1200" b="0">
                <a:solidFill>
                  <a:srgbClr val="5F6C7B"/>
                </a:solidFill>
                <a:latin typeface="Arial" panose="020B0604020202020204"/>
                <a:ea typeface="Arial" panose="020B0604020202020204"/>
                <a:cs typeface="Arial" panose="020B0604020202020204"/>
              </a:rPr>
              <a:t>random_state = 42</a:t>
            </a:r>
            <a:endParaRPr sz="1200" b="0">
              <a:solidFill>
                <a:srgbClr val="5F6C7B"/>
              </a:solidFill>
              <a:latin typeface="Arial" panose="020B0604020202020204"/>
              <a:ea typeface="Arial" panose="020B0604020202020204"/>
              <a:cs typeface="Arial" panose="020B0604020202020204"/>
            </a:endParaRPr>
          </a:p>
        </p:txBody>
      </p:sp>
      <p:sp>
        <p:nvSpPr>
          <p:cNvPr id="9" name="Right Arrow 8"/>
          <p:cNvSpPr>
            <a:spLocks noGrp="1"/>
          </p:cNvSpPr>
          <p:nvPr/>
        </p:nvSpPr>
        <p:spPr>
          <a:xfrm>
            <a:off x="2524125" y="2952750"/>
            <a:ext cx="266700" cy="247650"/>
          </a:xfrm>
          <a:prstGeom prst="rightArrow">
            <a:avLst/>
          </a:prstGeom>
          <a:solidFill>
            <a:srgbClr val="D7E0E8"/>
          </a:solidFill>
          <a:ln w="9525">
            <a:solidFill>
              <a:srgbClr val="D7E0E8"/>
            </a:solidFill>
            <a:prstDash val="solid"/>
          </a:ln>
        </p:spPr>
      </p:sp>
      <p:sp>
        <p:nvSpPr>
          <p:cNvPr id="10" name="Rounded Rectangle 9"/>
          <p:cNvSpPr>
            <a:spLocks noGrp="1"/>
          </p:cNvSpPr>
          <p:nvPr/>
        </p:nvSpPr>
        <p:spPr>
          <a:xfrm>
            <a:off x="2828925" y="1952625"/>
            <a:ext cx="1952625" cy="2333625"/>
          </a:xfrm>
          <a:prstGeom prst="roundRect">
            <a:avLst>
              <a:gd name="adj" fmla="val 3415"/>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11" name="Rounded Rectangle 10"/>
          <p:cNvSpPr>
            <a:spLocks noGrp="1"/>
          </p:cNvSpPr>
          <p:nvPr/>
        </p:nvSpPr>
        <p:spPr>
          <a:xfrm>
            <a:off x="3000375" y="2095500"/>
            <a:ext cx="457200" cy="457200"/>
          </a:xfrm>
          <a:prstGeom prst="roundRect">
            <a:avLst>
              <a:gd name="adj" fmla="val 50000"/>
            </a:avLst>
          </a:prstGeom>
          <a:solidFill>
            <a:srgbClr val="E76F51"/>
          </a:solidFill>
          <a:ln w="9525">
            <a:solidFill>
              <a:srgbClr val="E76F51"/>
            </a:solidFill>
            <a:prstDash val="solid"/>
          </a:ln>
        </p:spPr>
        <p:txBody>
          <a:bodyPr wrap="square" lIns="0" tIns="0" rIns="0" bIns="0" anchor="ctr">
            <a:normAutofit/>
          </a:bodyPr>
          <a:lstStyle/>
          <a:p>
            <a:pPr algn="ctr">
              <a:lnSpc>
                <a:spcPct val="100000"/>
              </a:lnSpc>
              <a:buNone/>
              <a:defRPr sz="1350" b="1">
                <a:solidFill>
                  <a:srgbClr val="FFFFFF"/>
                </a:solidFill>
                <a:latin typeface="Arial" panose="020B0604020202020204"/>
                <a:ea typeface="Arial" panose="020B0604020202020204"/>
                <a:cs typeface="Arial" panose="020B0604020202020204"/>
              </a:defRPr>
            </a:pPr>
            <a:r>
              <a:rPr sz="1350" b="1">
                <a:solidFill>
                  <a:srgbClr val="FFFFFF"/>
                </a:solidFill>
                <a:latin typeface="Arial" panose="020B0604020202020204"/>
                <a:ea typeface="Arial" panose="020B0604020202020204"/>
                <a:cs typeface="Arial" panose="020B0604020202020204"/>
              </a:rPr>
              <a:t>02</a:t>
            </a:r>
            <a:endParaRPr sz="1350" b="1">
              <a:solidFill>
                <a:srgbClr val="FFFFFF"/>
              </a:solidFill>
              <a:latin typeface="Arial" panose="020B0604020202020204"/>
              <a:ea typeface="Arial" panose="020B0604020202020204"/>
              <a:cs typeface="Arial" panose="020B0604020202020204"/>
            </a:endParaRPr>
          </a:p>
        </p:txBody>
      </p:sp>
      <p:sp>
        <p:nvSpPr>
          <p:cNvPr id="12" name="Rectangle 11"/>
          <p:cNvSpPr>
            <a:spLocks noGrp="1"/>
          </p:cNvSpPr>
          <p:nvPr/>
        </p:nvSpPr>
        <p:spPr>
          <a:xfrm>
            <a:off x="3000375" y="2781300"/>
            <a:ext cx="1609725" cy="523875"/>
          </a:xfrm>
          <a:prstGeom prst="rect">
            <a:avLst/>
          </a:prstGeom>
          <a:noFill/>
          <a:ln w="0">
            <a:noFill/>
            <a:prstDash val="solid"/>
          </a:ln>
        </p:spPr>
        <p:txBody>
          <a:bodyPr wrap="square" lIns="95250" tIns="57150" rIns="95250" bIns="57150" anchor="ctr">
            <a:normAutofit/>
          </a:bodyPr>
          <a:lstStyle/>
          <a:p>
            <a:pPr algn="ctr">
              <a:lnSpc>
                <a:spcPct val="100000"/>
              </a:lnSpc>
              <a:buNone/>
              <a:defRPr sz="1575" b="1">
                <a:solidFill>
                  <a:srgbClr val="102A43"/>
                </a:solidFill>
                <a:latin typeface="Arial" panose="020B0604020202020204"/>
                <a:ea typeface="Arial" panose="020B0604020202020204"/>
                <a:cs typeface="Arial" panose="020B0604020202020204"/>
              </a:defRPr>
            </a:pPr>
            <a:r>
              <a:rPr sz="1575" b="1">
                <a:solidFill>
                  <a:srgbClr val="102A43"/>
                </a:solidFill>
                <a:latin typeface="Arial" panose="020B0604020202020204"/>
                <a:ea typeface="Arial" panose="020B0604020202020204"/>
                <a:cs typeface="Arial" panose="020B0604020202020204"/>
              </a:rPr>
              <a:t>Điền khuyết</a:t>
            </a:r>
            <a:endParaRPr sz="1575" b="1">
              <a:solidFill>
                <a:srgbClr val="102A43"/>
              </a:solidFill>
              <a:latin typeface="Arial" panose="020B0604020202020204"/>
              <a:ea typeface="Arial" panose="020B0604020202020204"/>
              <a:cs typeface="Arial" panose="020B0604020202020204"/>
            </a:endParaRPr>
          </a:p>
        </p:txBody>
      </p:sp>
      <p:sp>
        <p:nvSpPr>
          <p:cNvPr id="13" name="Rectangle 12"/>
          <p:cNvSpPr>
            <a:spLocks noGrp="1"/>
          </p:cNvSpPr>
          <p:nvPr/>
        </p:nvSpPr>
        <p:spPr>
          <a:xfrm>
            <a:off x="3000375" y="3400425"/>
            <a:ext cx="1609725" cy="590550"/>
          </a:xfrm>
          <a:prstGeom prst="rect">
            <a:avLst/>
          </a:prstGeom>
          <a:noFill/>
          <a:ln w="0">
            <a:noFill/>
            <a:prstDash val="solid"/>
          </a:ln>
        </p:spPr>
        <p:txBody>
          <a:bodyPr wrap="square" lIns="95250" tIns="57150" rIns="95250" bIns="57150" anchor="ctr">
            <a:normAutofit/>
          </a:bodyPr>
          <a:lstStyle/>
          <a:p>
            <a:pPr algn="ctr">
              <a:lnSpc>
                <a:spcPct val="100000"/>
              </a:lnSpc>
              <a:buNone/>
              <a:defRPr sz="1200" b="0">
                <a:solidFill>
                  <a:srgbClr val="5F6C7B"/>
                </a:solidFill>
                <a:latin typeface="Arial" panose="020B0604020202020204"/>
                <a:ea typeface="Arial" panose="020B0604020202020204"/>
                <a:cs typeface="Arial" panose="020B0604020202020204"/>
              </a:defRPr>
            </a:pPr>
            <a:r>
              <a:rPr sz="1200" b="0">
                <a:solidFill>
                  <a:srgbClr val="5F6C7B"/>
                </a:solidFill>
                <a:latin typeface="Arial" panose="020B0604020202020204"/>
                <a:ea typeface="Arial" panose="020B0604020202020204"/>
                <a:cs typeface="Arial" panose="020B0604020202020204"/>
              </a:rPr>
              <a:t>Median cho</a:t>
            </a:r>
            <a:endParaRPr sz="1200" b="0">
              <a:solidFill>
                <a:srgbClr val="5F6C7B"/>
              </a:solidFill>
              <a:latin typeface="Arial" panose="020B0604020202020204"/>
              <a:ea typeface="Arial" panose="020B0604020202020204"/>
              <a:cs typeface="Arial" panose="020B0604020202020204"/>
            </a:endParaRPr>
          </a:p>
          <a:p>
            <a:pPr algn="ctr">
              <a:lnSpc>
                <a:spcPct val="100000"/>
              </a:lnSpc>
              <a:buNone/>
              <a:defRPr sz="1200" b="0">
                <a:solidFill>
                  <a:srgbClr val="5F6C7B"/>
                </a:solidFill>
                <a:latin typeface="Arial" panose="020B0604020202020204"/>
                <a:ea typeface="Arial" panose="020B0604020202020204"/>
                <a:cs typeface="Arial" panose="020B0604020202020204"/>
              </a:defRPr>
            </a:pPr>
            <a:r>
              <a:rPr sz="1200" b="0">
                <a:solidFill>
                  <a:srgbClr val="5F6C7B"/>
                </a:solidFill>
                <a:latin typeface="Arial" panose="020B0604020202020204"/>
                <a:ea typeface="Arial" panose="020B0604020202020204"/>
                <a:cs typeface="Arial" panose="020B0604020202020204"/>
              </a:rPr>
              <a:t>total_bedrooms</a:t>
            </a:r>
            <a:endParaRPr sz="1200" b="0">
              <a:solidFill>
                <a:srgbClr val="5F6C7B"/>
              </a:solidFill>
              <a:latin typeface="Arial" panose="020B0604020202020204"/>
              <a:ea typeface="Arial" panose="020B0604020202020204"/>
              <a:cs typeface="Arial" panose="020B0604020202020204"/>
            </a:endParaRPr>
          </a:p>
        </p:txBody>
      </p:sp>
      <p:sp>
        <p:nvSpPr>
          <p:cNvPr id="14" name="Right Arrow 13"/>
          <p:cNvSpPr>
            <a:spLocks noGrp="1"/>
          </p:cNvSpPr>
          <p:nvPr/>
        </p:nvSpPr>
        <p:spPr>
          <a:xfrm>
            <a:off x="4829175" y="2952750"/>
            <a:ext cx="266700" cy="247650"/>
          </a:xfrm>
          <a:prstGeom prst="rightArrow">
            <a:avLst/>
          </a:prstGeom>
          <a:solidFill>
            <a:srgbClr val="D7E0E8"/>
          </a:solidFill>
          <a:ln w="9525">
            <a:solidFill>
              <a:srgbClr val="D7E0E8"/>
            </a:solidFill>
            <a:prstDash val="solid"/>
          </a:ln>
        </p:spPr>
      </p:sp>
      <p:sp>
        <p:nvSpPr>
          <p:cNvPr id="15" name="Rounded Rectangle 14"/>
          <p:cNvSpPr>
            <a:spLocks noGrp="1"/>
          </p:cNvSpPr>
          <p:nvPr/>
        </p:nvSpPr>
        <p:spPr>
          <a:xfrm>
            <a:off x="5133975" y="1952625"/>
            <a:ext cx="1952625" cy="2333625"/>
          </a:xfrm>
          <a:prstGeom prst="roundRect">
            <a:avLst>
              <a:gd name="adj" fmla="val 3415"/>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16" name="Rounded Rectangle 15"/>
          <p:cNvSpPr>
            <a:spLocks noGrp="1"/>
          </p:cNvSpPr>
          <p:nvPr/>
        </p:nvSpPr>
        <p:spPr>
          <a:xfrm>
            <a:off x="5305425" y="2095500"/>
            <a:ext cx="457200" cy="457200"/>
          </a:xfrm>
          <a:prstGeom prst="roundRect">
            <a:avLst>
              <a:gd name="adj" fmla="val 50000"/>
            </a:avLst>
          </a:prstGeom>
          <a:solidFill>
            <a:srgbClr val="E9C46A"/>
          </a:solidFill>
          <a:ln w="9525">
            <a:solidFill>
              <a:srgbClr val="E9C46A"/>
            </a:solidFill>
            <a:prstDash val="solid"/>
          </a:ln>
        </p:spPr>
        <p:txBody>
          <a:bodyPr wrap="square" lIns="0" tIns="0" rIns="0" bIns="0" anchor="ctr">
            <a:normAutofit/>
          </a:bodyPr>
          <a:lstStyle/>
          <a:p>
            <a:pPr algn="ctr">
              <a:lnSpc>
                <a:spcPct val="100000"/>
              </a:lnSpc>
              <a:buNone/>
              <a:defRPr sz="1350" b="1">
                <a:solidFill>
                  <a:srgbClr val="FFFFFF"/>
                </a:solidFill>
                <a:latin typeface="Arial" panose="020B0604020202020204"/>
                <a:ea typeface="Arial" panose="020B0604020202020204"/>
                <a:cs typeface="Arial" panose="020B0604020202020204"/>
              </a:defRPr>
            </a:pPr>
            <a:r>
              <a:rPr sz="1350" b="1">
                <a:solidFill>
                  <a:srgbClr val="FFFFFF"/>
                </a:solidFill>
                <a:latin typeface="Arial" panose="020B0604020202020204"/>
                <a:ea typeface="Arial" panose="020B0604020202020204"/>
                <a:cs typeface="Arial" panose="020B0604020202020204"/>
              </a:rPr>
              <a:t>03</a:t>
            </a:r>
            <a:endParaRPr sz="1350" b="1">
              <a:solidFill>
                <a:srgbClr val="FFFFFF"/>
              </a:solidFill>
              <a:latin typeface="Arial" panose="020B0604020202020204"/>
              <a:ea typeface="Arial" panose="020B0604020202020204"/>
              <a:cs typeface="Arial" panose="020B0604020202020204"/>
            </a:endParaRPr>
          </a:p>
        </p:txBody>
      </p:sp>
      <p:sp>
        <p:nvSpPr>
          <p:cNvPr id="17" name="Rectangle 16"/>
          <p:cNvSpPr>
            <a:spLocks noGrp="1"/>
          </p:cNvSpPr>
          <p:nvPr/>
        </p:nvSpPr>
        <p:spPr>
          <a:xfrm>
            <a:off x="5305425" y="2781300"/>
            <a:ext cx="1609725" cy="523875"/>
          </a:xfrm>
          <a:prstGeom prst="rect">
            <a:avLst/>
          </a:prstGeom>
          <a:noFill/>
          <a:ln w="0">
            <a:noFill/>
            <a:prstDash val="solid"/>
          </a:ln>
        </p:spPr>
        <p:txBody>
          <a:bodyPr wrap="square" lIns="95250" tIns="57150" rIns="95250" bIns="57150" anchor="ctr">
            <a:normAutofit/>
          </a:bodyPr>
          <a:lstStyle/>
          <a:p>
            <a:pPr algn="ctr">
              <a:lnSpc>
                <a:spcPct val="100000"/>
              </a:lnSpc>
              <a:buNone/>
              <a:defRPr sz="1575" b="1">
                <a:solidFill>
                  <a:srgbClr val="102A43"/>
                </a:solidFill>
                <a:latin typeface="Arial" panose="020B0604020202020204"/>
                <a:ea typeface="Arial" panose="020B0604020202020204"/>
                <a:cs typeface="Arial" panose="020B0604020202020204"/>
              </a:defRPr>
            </a:pPr>
            <a:r>
              <a:rPr sz="1575" b="1">
                <a:solidFill>
                  <a:srgbClr val="102A43"/>
                </a:solidFill>
                <a:latin typeface="Arial" panose="020B0604020202020204"/>
                <a:ea typeface="Arial" panose="020B0604020202020204"/>
                <a:cs typeface="Arial" panose="020B0604020202020204"/>
              </a:rPr>
              <a:t>Tạo đặc trưng</a:t>
            </a:r>
            <a:endParaRPr sz="1575" b="1">
              <a:solidFill>
                <a:srgbClr val="102A43"/>
              </a:solidFill>
              <a:latin typeface="Arial" panose="020B0604020202020204"/>
              <a:ea typeface="Arial" panose="020B0604020202020204"/>
              <a:cs typeface="Arial" panose="020B0604020202020204"/>
            </a:endParaRPr>
          </a:p>
        </p:txBody>
      </p:sp>
      <p:sp>
        <p:nvSpPr>
          <p:cNvPr id="18" name="Rectangle 17"/>
          <p:cNvSpPr>
            <a:spLocks noGrp="1"/>
          </p:cNvSpPr>
          <p:nvPr/>
        </p:nvSpPr>
        <p:spPr>
          <a:xfrm>
            <a:off x="5305425" y="3400425"/>
            <a:ext cx="1609725" cy="590550"/>
          </a:xfrm>
          <a:prstGeom prst="rect">
            <a:avLst/>
          </a:prstGeom>
          <a:noFill/>
          <a:ln w="0">
            <a:noFill/>
            <a:prstDash val="solid"/>
          </a:ln>
        </p:spPr>
        <p:txBody>
          <a:bodyPr wrap="square" lIns="95250" tIns="57150" rIns="95250" bIns="57150" anchor="ctr">
            <a:normAutofit/>
          </a:bodyPr>
          <a:lstStyle/>
          <a:p>
            <a:pPr algn="ctr">
              <a:lnSpc>
                <a:spcPct val="100000"/>
              </a:lnSpc>
              <a:buNone/>
              <a:defRPr sz="1200" b="0">
                <a:solidFill>
                  <a:srgbClr val="5F6C7B"/>
                </a:solidFill>
                <a:latin typeface="Arial" panose="020B0604020202020204"/>
                <a:ea typeface="Arial" panose="020B0604020202020204"/>
                <a:cs typeface="Arial" panose="020B0604020202020204"/>
              </a:defRPr>
            </a:pPr>
            <a:r>
              <a:rPr sz="1200" b="0">
                <a:solidFill>
                  <a:srgbClr val="5F6C7B"/>
                </a:solidFill>
                <a:latin typeface="Arial" panose="020B0604020202020204"/>
                <a:ea typeface="Arial" panose="020B0604020202020204"/>
                <a:cs typeface="Arial" panose="020B0604020202020204"/>
              </a:rPr>
              <a:t>3 tỷ lệ</a:t>
            </a:r>
            <a:endParaRPr sz="1200" b="0">
              <a:solidFill>
                <a:srgbClr val="5F6C7B"/>
              </a:solidFill>
              <a:latin typeface="Arial" panose="020B0604020202020204"/>
              <a:ea typeface="Arial" panose="020B0604020202020204"/>
              <a:cs typeface="Arial" panose="020B0604020202020204"/>
            </a:endParaRPr>
          </a:p>
          <a:p>
            <a:pPr algn="ctr">
              <a:lnSpc>
                <a:spcPct val="100000"/>
              </a:lnSpc>
              <a:buNone/>
              <a:defRPr sz="1200" b="0">
                <a:solidFill>
                  <a:srgbClr val="5F6C7B"/>
                </a:solidFill>
                <a:latin typeface="Arial" panose="020B0604020202020204"/>
                <a:ea typeface="Arial" panose="020B0604020202020204"/>
                <a:cs typeface="Arial" panose="020B0604020202020204"/>
              </a:defRPr>
            </a:pPr>
            <a:r>
              <a:rPr sz="1200" b="0">
                <a:solidFill>
                  <a:srgbClr val="5F6C7B"/>
                </a:solidFill>
                <a:latin typeface="Arial" panose="020B0604020202020204"/>
                <a:ea typeface="Arial" panose="020B0604020202020204"/>
                <a:cs typeface="Arial" panose="020B0604020202020204"/>
              </a:rPr>
              <a:t>nhà ở / hộ dân</a:t>
            </a:r>
            <a:endParaRPr sz="1200" b="0">
              <a:solidFill>
                <a:srgbClr val="5F6C7B"/>
              </a:solidFill>
              <a:latin typeface="Arial" panose="020B0604020202020204"/>
              <a:ea typeface="Arial" panose="020B0604020202020204"/>
              <a:cs typeface="Arial" panose="020B0604020202020204"/>
            </a:endParaRPr>
          </a:p>
        </p:txBody>
      </p:sp>
      <p:sp>
        <p:nvSpPr>
          <p:cNvPr id="19" name="Right Arrow 18"/>
          <p:cNvSpPr>
            <a:spLocks noGrp="1"/>
          </p:cNvSpPr>
          <p:nvPr/>
        </p:nvSpPr>
        <p:spPr>
          <a:xfrm>
            <a:off x="7134225" y="2952750"/>
            <a:ext cx="266700" cy="247650"/>
          </a:xfrm>
          <a:prstGeom prst="rightArrow">
            <a:avLst/>
          </a:prstGeom>
          <a:solidFill>
            <a:srgbClr val="D7E0E8"/>
          </a:solidFill>
          <a:ln w="9525">
            <a:solidFill>
              <a:srgbClr val="D7E0E8"/>
            </a:solidFill>
            <a:prstDash val="solid"/>
          </a:ln>
        </p:spPr>
      </p:sp>
      <p:sp>
        <p:nvSpPr>
          <p:cNvPr id="20" name="Rounded Rectangle 19"/>
          <p:cNvSpPr>
            <a:spLocks noGrp="1"/>
          </p:cNvSpPr>
          <p:nvPr/>
        </p:nvSpPr>
        <p:spPr>
          <a:xfrm>
            <a:off x="7439025" y="1952625"/>
            <a:ext cx="1952625" cy="2333625"/>
          </a:xfrm>
          <a:prstGeom prst="roundRect">
            <a:avLst>
              <a:gd name="adj" fmla="val 3415"/>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21" name="Rounded Rectangle 20"/>
          <p:cNvSpPr>
            <a:spLocks noGrp="1"/>
          </p:cNvSpPr>
          <p:nvPr/>
        </p:nvSpPr>
        <p:spPr>
          <a:xfrm>
            <a:off x="7610475" y="2095500"/>
            <a:ext cx="457200" cy="457200"/>
          </a:xfrm>
          <a:prstGeom prst="roundRect">
            <a:avLst>
              <a:gd name="adj" fmla="val 50000"/>
            </a:avLst>
          </a:prstGeom>
          <a:solidFill>
            <a:srgbClr val="173F5F"/>
          </a:solidFill>
          <a:ln w="9525">
            <a:solidFill>
              <a:srgbClr val="173F5F"/>
            </a:solidFill>
            <a:prstDash val="solid"/>
          </a:ln>
        </p:spPr>
        <p:txBody>
          <a:bodyPr wrap="square" lIns="0" tIns="0" rIns="0" bIns="0" anchor="ctr">
            <a:normAutofit/>
          </a:bodyPr>
          <a:lstStyle/>
          <a:p>
            <a:pPr algn="ctr">
              <a:lnSpc>
                <a:spcPct val="100000"/>
              </a:lnSpc>
              <a:buNone/>
              <a:defRPr sz="1350" b="1">
                <a:solidFill>
                  <a:srgbClr val="FFFFFF"/>
                </a:solidFill>
                <a:latin typeface="Arial" panose="020B0604020202020204"/>
                <a:ea typeface="Arial" panose="020B0604020202020204"/>
                <a:cs typeface="Arial" panose="020B0604020202020204"/>
              </a:defRPr>
            </a:pPr>
            <a:r>
              <a:rPr sz="1350" b="1">
                <a:solidFill>
                  <a:srgbClr val="FFFFFF"/>
                </a:solidFill>
                <a:latin typeface="Arial" panose="020B0604020202020204"/>
                <a:ea typeface="Arial" panose="020B0604020202020204"/>
                <a:cs typeface="Arial" panose="020B0604020202020204"/>
              </a:rPr>
              <a:t>04</a:t>
            </a:r>
            <a:endParaRPr sz="1350" b="1">
              <a:solidFill>
                <a:srgbClr val="FFFFFF"/>
              </a:solidFill>
              <a:latin typeface="Arial" panose="020B0604020202020204"/>
              <a:ea typeface="Arial" panose="020B0604020202020204"/>
              <a:cs typeface="Arial" panose="020B0604020202020204"/>
            </a:endParaRPr>
          </a:p>
        </p:txBody>
      </p:sp>
      <p:sp>
        <p:nvSpPr>
          <p:cNvPr id="22" name="Rectangle 21"/>
          <p:cNvSpPr>
            <a:spLocks noGrp="1"/>
          </p:cNvSpPr>
          <p:nvPr/>
        </p:nvSpPr>
        <p:spPr>
          <a:xfrm>
            <a:off x="7610475" y="2781300"/>
            <a:ext cx="1609725" cy="523875"/>
          </a:xfrm>
          <a:prstGeom prst="rect">
            <a:avLst/>
          </a:prstGeom>
          <a:noFill/>
          <a:ln w="0">
            <a:noFill/>
            <a:prstDash val="solid"/>
          </a:ln>
        </p:spPr>
        <p:txBody>
          <a:bodyPr wrap="square" lIns="95250" tIns="57150" rIns="95250" bIns="57150" anchor="ctr">
            <a:normAutofit/>
          </a:bodyPr>
          <a:lstStyle/>
          <a:p>
            <a:pPr algn="ctr">
              <a:lnSpc>
                <a:spcPct val="100000"/>
              </a:lnSpc>
              <a:buNone/>
              <a:defRPr sz="1575" b="1">
                <a:solidFill>
                  <a:srgbClr val="102A43"/>
                </a:solidFill>
                <a:latin typeface="Arial" panose="020B0604020202020204"/>
                <a:ea typeface="Arial" panose="020B0604020202020204"/>
                <a:cs typeface="Arial" panose="020B0604020202020204"/>
              </a:defRPr>
            </a:pPr>
            <a:r>
              <a:rPr sz="1575" b="1">
                <a:solidFill>
                  <a:srgbClr val="102A43"/>
                </a:solidFill>
                <a:latin typeface="Arial" panose="020B0604020202020204"/>
                <a:ea typeface="Arial" panose="020B0604020202020204"/>
                <a:cs typeface="Arial" panose="020B0604020202020204"/>
              </a:rPr>
              <a:t>Biến đổi</a:t>
            </a:r>
            <a:endParaRPr sz="1575" b="1">
              <a:solidFill>
                <a:srgbClr val="102A43"/>
              </a:solidFill>
              <a:latin typeface="Arial" panose="020B0604020202020204"/>
              <a:ea typeface="Arial" panose="020B0604020202020204"/>
              <a:cs typeface="Arial" panose="020B0604020202020204"/>
            </a:endParaRPr>
          </a:p>
        </p:txBody>
      </p:sp>
      <p:sp>
        <p:nvSpPr>
          <p:cNvPr id="23" name="Rectangle 22"/>
          <p:cNvSpPr>
            <a:spLocks noGrp="1"/>
          </p:cNvSpPr>
          <p:nvPr/>
        </p:nvSpPr>
        <p:spPr>
          <a:xfrm>
            <a:off x="7610475" y="3400425"/>
            <a:ext cx="1609725" cy="590550"/>
          </a:xfrm>
          <a:prstGeom prst="rect">
            <a:avLst/>
          </a:prstGeom>
          <a:noFill/>
          <a:ln w="0">
            <a:noFill/>
            <a:prstDash val="solid"/>
          </a:ln>
        </p:spPr>
        <p:txBody>
          <a:bodyPr wrap="square" lIns="95250" tIns="57150" rIns="95250" bIns="57150" anchor="ctr">
            <a:normAutofit/>
          </a:bodyPr>
          <a:lstStyle/>
          <a:p>
            <a:pPr algn="ctr">
              <a:lnSpc>
                <a:spcPct val="100000"/>
              </a:lnSpc>
              <a:buNone/>
              <a:defRPr sz="1200" b="0">
                <a:solidFill>
                  <a:srgbClr val="5F6C7B"/>
                </a:solidFill>
                <a:latin typeface="Arial" panose="020B0604020202020204"/>
                <a:ea typeface="Arial" panose="020B0604020202020204"/>
                <a:cs typeface="Arial" panose="020B0604020202020204"/>
              </a:defRPr>
            </a:pPr>
            <a:r>
              <a:rPr sz="1200" b="0">
                <a:solidFill>
                  <a:srgbClr val="5F6C7B"/>
                </a:solidFill>
                <a:latin typeface="Arial" panose="020B0604020202020204"/>
                <a:ea typeface="Arial" panose="020B0604020202020204"/>
                <a:cs typeface="Arial" panose="020B0604020202020204"/>
              </a:rPr>
              <a:t>StandardScaler</a:t>
            </a:r>
            <a:endParaRPr sz="1200" b="0">
              <a:solidFill>
                <a:srgbClr val="5F6C7B"/>
              </a:solidFill>
              <a:latin typeface="Arial" panose="020B0604020202020204"/>
              <a:ea typeface="Arial" panose="020B0604020202020204"/>
              <a:cs typeface="Arial" panose="020B0604020202020204"/>
            </a:endParaRPr>
          </a:p>
          <a:p>
            <a:pPr algn="ctr">
              <a:lnSpc>
                <a:spcPct val="100000"/>
              </a:lnSpc>
              <a:buNone/>
              <a:defRPr sz="1200" b="0">
                <a:solidFill>
                  <a:srgbClr val="5F6C7B"/>
                </a:solidFill>
                <a:latin typeface="Arial" panose="020B0604020202020204"/>
                <a:ea typeface="Arial" panose="020B0604020202020204"/>
                <a:cs typeface="Arial" panose="020B0604020202020204"/>
              </a:defRPr>
            </a:pPr>
            <a:r>
              <a:rPr sz="1200" b="0">
                <a:solidFill>
                  <a:srgbClr val="5F6C7B"/>
                </a:solidFill>
                <a:latin typeface="Arial" panose="020B0604020202020204"/>
                <a:ea typeface="Arial" panose="020B0604020202020204"/>
                <a:cs typeface="Arial" panose="020B0604020202020204"/>
              </a:rPr>
              <a:t>OneHotEncoder</a:t>
            </a:r>
            <a:endParaRPr sz="1200" b="0">
              <a:solidFill>
                <a:srgbClr val="5F6C7B"/>
              </a:solidFill>
              <a:latin typeface="Arial" panose="020B0604020202020204"/>
              <a:ea typeface="Arial" panose="020B0604020202020204"/>
              <a:cs typeface="Arial" panose="020B0604020202020204"/>
            </a:endParaRPr>
          </a:p>
        </p:txBody>
      </p:sp>
      <p:sp>
        <p:nvSpPr>
          <p:cNvPr id="24" name="Right Arrow 23"/>
          <p:cNvSpPr>
            <a:spLocks noGrp="1"/>
          </p:cNvSpPr>
          <p:nvPr/>
        </p:nvSpPr>
        <p:spPr>
          <a:xfrm>
            <a:off x="9439275" y="2952750"/>
            <a:ext cx="266700" cy="247650"/>
          </a:xfrm>
          <a:prstGeom prst="rightArrow">
            <a:avLst/>
          </a:prstGeom>
          <a:solidFill>
            <a:srgbClr val="D7E0E8"/>
          </a:solidFill>
          <a:ln w="9525">
            <a:solidFill>
              <a:srgbClr val="D7E0E8"/>
            </a:solidFill>
            <a:prstDash val="solid"/>
          </a:ln>
        </p:spPr>
      </p:sp>
      <p:sp>
        <p:nvSpPr>
          <p:cNvPr id="25" name="Rounded Rectangle 24"/>
          <p:cNvSpPr>
            <a:spLocks noGrp="1"/>
          </p:cNvSpPr>
          <p:nvPr/>
        </p:nvSpPr>
        <p:spPr>
          <a:xfrm>
            <a:off x="9744075" y="1952625"/>
            <a:ext cx="1952625" cy="2333625"/>
          </a:xfrm>
          <a:prstGeom prst="roundRect">
            <a:avLst>
              <a:gd name="adj" fmla="val 3415"/>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26" name="Rounded Rectangle 25"/>
          <p:cNvSpPr>
            <a:spLocks noGrp="1"/>
          </p:cNvSpPr>
          <p:nvPr/>
        </p:nvSpPr>
        <p:spPr>
          <a:xfrm>
            <a:off x="9915525" y="2095500"/>
            <a:ext cx="457200" cy="457200"/>
          </a:xfrm>
          <a:prstGeom prst="roundRect">
            <a:avLst>
              <a:gd name="adj" fmla="val 50000"/>
            </a:avLst>
          </a:prstGeom>
          <a:solidFill>
            <a:srgbClr val="2A9D8F"/>
          </a:solidFill>
          <a:ln w="9525">
            <a:solidFill>
              <a:srgbClr val="2A9D8F"/>
            </a:solidFill>
            <a:prstDash val="solid"/>
          </a:ln>
        </p:spPr>
        <p:txBody>
          <a:bodyPr wrap="square" lIns="0" tIns="0" rIns="0" bIns="0" anchor="ctr">
            <a:normAutofit/>
          </a:bodyPr>
          <a:lstStyle/>
          <a:p>
            <a:pPr algn="ctr">
              <a:lnSpc>
                <a:spcPct val="100000"/>
              </a:lnSpc>
              <a:buNone/>
              <a:defRPr sz="1350" b="1">
                <a:solidFill>
                  <a:srgbClr val="FFFFFF"/>
                </a:solidFill>
                <a:latin typeface="Arial" panose="020B0604020202020204"/>
                <a:ea typeface="Arial" panose="020B0604020202020204"/>
                <a:cs typeface="Arial" panose="020B0604020202020204"/>
              </a:defRPr>
            </a:pPr>
            <a:r>
              <a:rPr sz="1350" b="1">
                <a:solidFill>
                  <a:srgbClr val="FFFFFF"/>
                </a:solidFill>
                <a:latin typeface="Arial" panose="020B0604020202020204"/>
                <a:ea typeface="Arial" panose="020B0604020202020204"/>
                <a:cs typeface="Arial" panose="020B0604020202020204"/>
              </a:rPr>
              <a:t>05</a:t>
            </a:r>
            <a:endParaRPr sz="1350" b="1">
              <a:solidFill>
                <a:srgbClr val="FFFFFF"/>
              </a:solidFill>
              <a:latin typeface="Arial" panose="020B0604020202020204"/>
              <a:ea typeface="Arial" panose="020B0604020202020204"/>
              <a:cs typeface="Arial" panose="020B0604020202020204"/>
            </a:endParaRPr>
          </a:p>
        </p:txBody>
      </p:sp>
      <p:sp>
        <p:nvSpPr>
          <p:cNvPr id="27" name="Rectangle 26"/>
          <p:cNvSpPr>
            <a:spLocks noGrp="1"/>
          </p:cNvSpPr>
          <p:nvPr/>
        </p:nvSpPr>
        <p:spPr>
          <a:xfrm>
            <a:off x="9915525" y="2781300"/>
            <a:ext cx="1609725" cy="523875"/>
          </a:xfrm>
          <a:prstGeom prst="rect">
            <a:avLst/>
          </a:prstGeom>
          <a:noFill/>
          <a:ln w="0">
            <a:noFill/>
            <a:prstDash val="solid"/>
          </a:ln>
        </p:spPr>
        <p:txBody>
          <a:bodyPr wrap="square" lIns="95250" tIns="57150" rIns="95250" bIns="57150" anchor="ctr">
            <a:normAutofit/>
          </a:bodyPr>
          <a:lstStyle/>
          <a:p>
            <a:pPr algn="ctr">
              <a:lnSpc>
                <a:spcPct val="100000"/>
              </a:lnSpc>
              <a:buNone/>
              <a:defRPr sz="1575" b="1">
                <a:solidFill>
                  <a:srgbClr val="102A43"/>
                </a:solidFill>
                <a:latin typeface="Arial" panose="020B0604020202020204"/>
                <a:ea typeface="Arial" panose="020B0604020202020204"/>
                <a:cs typeface="Arial" panose="020B0604020202020204"/>
              </a:defRPr>
            </a:pPr>
            <a:r>
              <a:rPr sz="1575" b="1">
                <a:solidFill>
                  <a:srgbClr val="102A43"/>
                </a:solidFill>
                <a:latin typeface="Arial" panose="020B0604020202020204"/>
                <a:ea typeface="Arial" panose="020B0604020202020204"/>
                <a:cs typeface="Arial" panose="020B0604020202020204"/>
              </a:rPr>
              <a:t>Pipeline</a:t>
            </a:r>
            <a:endParaRPr sz="1575" b="1">
              <a:solidFill>
                <a:srgbClr val="102A43"/>
              </a:solidFill>
              <a:latin typeface="Arial" panose="020B0604020202020204"/>
              <a:ea typeface="Arial" panose="020B0604020202020204"/>
              <a:cs typeface="Arial" panose="020B0604020202020204"/>
            </a:endParaRPr>
          </a:p>
        </p:txBody>
      </p:sp>
      <p:sp>
        <p:nvSpPr>
          <p:cNvPr id="28" name="Rectangle 27"/>
          <p:cNvSpPr>
            <a:spLocks noGrp="1"/>
          </p:cNvSpPr>
          <p:nvPr/>
        </p:nvSpPr>
        <p:spPr>
          <a:xfrm>
            <a:off x="9915525" y="3400425"/>
            <a:ext cx="1609725" cy="590550"/>
          </a:xfrm>
          <a:prstGeom prst="rect">
            <a:avLst/>
          </a:prstGeom>
          <a:noFill/>
          <a:ln w="0">
            <a:noFill/>
            <a:prstDash val="solid"/>
          </a:ln>
        </p:spPr>
        <p:txBody>
          <a:bodyPr wrap="square" lIns="95250" tIns="57150" rIns="95250" bIns="57150" anchor="ctr">
            <a:normAutofit/>
          </a:bodyPr>
          <a:lstStyle/>
          <a:p>
            <a:pPr algn="ctr">
              <a:lnSpc>
                <a:spcPct val="100000"/>
              </a:lnSpc>
              <a:buNone/>
              <a:defRPr sz="1200" b="0">
                <a:solidFill>
                  <a:srgbClr val="5F6C7B"/>
                </a:solidFill>
                <a:latin typeface="Arial" panose="020B0604020202020204"/>
                <a:ea typeface="Arial" panose="020B0604020202020204"/>
                <a:cs typeface="Arial" panose="020B0604020202020204"/>
              </a:defRPr>
            </a:pPr>
            <a:r>
              <a:rPr sz="1200" b="0">
                <a:solidFill>
                  <a:srgbClr val="5F6C7B"/>
                </a:solidFill>
                <a:latin typeface="Arial" panose="020B0604020202020204"/>
                <a:ea typeface="Arial" panose="020B0604020202020204"/>
                <a:cs typeface="Arial" panose="020B0604020202020204"/>
              </a:rPr>
              <a:t>preprocessor</a:t>
            </a:r>
            <a:endParaRPr sz="1200" b="0">
              <a:solidFill>
                <a:srgbClr val="5F6C7B"/>
              </a:solidFill>
              <a:latin typeface="Arial" panose="020B0604020202020204"/>
              <a:ea typeface="Arial" panose="020B0604020202020204"/>
              <a:cs typeface="Arial" panose="020B0604020202020204"/>
            </a:endParaRPr>
          </a:p>
          <a:p>
            <a:pPr algn="ctr">
              <a:lnSpc>
                <a:spcPct val="100000"/>
              </a:lnSpc>
              <a:buNone/>
              <a:defRPr sz="1200" b="0">
                <a:solidFill>
                  <a:srgbClr val="5F6C7B"/>
                </a:solidFill>
                <a:latin typeface="Arial" panose="020B0604020202020204"/>
                <a:ea typeface="Arial" panose="020B0604020202020204"/>
                <a:cs typeface="Arial" panose="020B0604020202020204"/>
              </a:defRPr>
            </a:pPr>
            <a:r>
              <a:rPr sz="1200" b="0">
                <a:solidFill>
                  <a:srgbClr val="5F6C7B"/>
                </a:solidFill>
                <a:latin typeface="Arial" panose="020B0604020202020204"/>
                <a:ea typeface="Arial" panose="020B0604020202020204"/>
                <a:cs typeface="Arial" panose="020B0604020202020204"/>
              </a:rPr>
              <a:t>+ model</a:t>
            </a:r>
            <a:endParaRPr sz="1200" b="0">
              <a:solidFill>
                <a:srgbClr val="5F6C7B"/>
              </a:solidFill>
              <a:latin typeface="Arial" panose="020B0604020202020204"/>
              <a:ea typeface="Arial" panose="020B0604020202020204"/>
              <a:cs typeface="Arial" panose="020B0604020202020204"/>
            </a:endParaRPr>
          </a:p>
        </p:txBody>
      </p:sp>
      <p:sp>
        <p:nvSpPr>
          <p:cNvPr id="29" name="Rounded Rectangle 28"/>
          <p:cNvSpPr>
            <a:spLocks noGrp="1"/>
          </p:cNvSpPr>
          <p:nvPr/>
        </p:nvSpPr>
        <p:spPr>
          <a:xfrm>
            <a:off x="857250" y="4762500"/>
            <a:ext cx="10477500" cy="1047750"/>
          </a:xfrm>
          <a:prstGeom prst="roundRect">
            <a:avLst>
              <a:gd name="adj" fmla="val 6364"/>
            </a:avLst>
          </a:prstGeom>
          <a:solidFill>
            <a:srgbClr val="FFF7DF"/>
          </a:solidFill>
          <a:ln w="9525">
            <a:solidFill>
              <a:srgbClr val="E9C46A"/>
            </a:solidFill>
            <a:prstDash val="solid"/>
          </a:ln>
        </p:spPr>
        <p:style>
          <a:lnRef idx="0">
            <a:srgbClr val="FFFFFF"/>
          </a:lnRef>
          <a:fillRef idx="0">
            <a:srgbClr val="FFFFFF"/>
          </a:fillRef>
          <a:effectRef idx="4">
            <a:srgbClr val="FFFFFF"/>
          </a:effectRef>
          <a:fontRef idx="major"/>
        </p:style>
      </p:sp>
      <p:sp>
        <p:nvSpPr>
          <p:cNvPr id="30" name="Rectangle 29"/>
          <p:cNvSpPr>
            <a:spLocks noGrp="1"/>
          </p:cNvSpPr>
          <p:nvPr/>
        </p:nvSpPr>
        <p:spPr>
          <a:xfrm>
            <a:off x="1066800" y="4933950"/>
            <a:ext cx="1809750" cy="257175"/>
          </a:xfrm>
          <a:prstGeom prst="rect">
            <a:avLst/>
          </a:prstGeom>
          <a:noFill/>
          <a:ln w="0">
            <a:noFill/>
            <a:prstDash val="solid"/>
          </a:ln>
        </p:spPr>
        <p:txBody>
          <a:bodyPr wrap="square" lIns="0" tIns="0" rIns="0" bIns="0" anchor="t">
            <a:normAutofit/>
          </a:bodyPr>
          <a:lstStyle/>
          <a:p>
            <a:pPr algn="l">
              <a:lnSpc>
                <a:spcPct val="100000"/>
              </a:lnSpc>
              <a:buNone/>
              <a:defRPr sz="1275" b="1">
                <a:solidFill>
                  <a:srgbClr val="102A43"/>
                </a:solidFill>
                <a:latin typeface="Arial" panose="020B0604020202020204"/>
                <a:ea typeface="Arial" panose="020B0604020202020204"/>
                <a:cs typeface="Arial" panose="020B0604020202020204"/>
              </a:defRPr>
            </a:pPr>
            <a:r>
              <a:rPr sz="1275" b="1">
                <a:solidFill>
                  <a:srgbClr val="102A43"/>
                </a:solidFill>
                <a:latin typeface="Arial" panose="020B0604020202020204"/>
                <a:ea typeface="Arial" panose="020B0604020202020204"/>
                <a:cs typeface="Arial" panose="020B0604020202020204"/>
              </a:rPr>
              <a:t>Lưu ý triển khai</a:t>
            </a:r>
            <a:endParaRPr sz="1275" b="1">
              <a:solidFill>
                <a:srgbClr val="102A43"/>
              </a:solidFill>
              <a:latin typeface="Arial" panose="020B0604020202020204"/>
              <a:ea typeface="Arial" panose="020B0604020202020204"/>
              <a:cs typeface="Arial" panose="020B0604020202020204"/>
            </a:endParaRPr>
          </a:p>
        </p:txBody>
      </p:sp>
      <p:sp>
        <p:nvSpPr>
          <p:cNvPr id="31" name="Rectangle 30"/>
          <p:cNvSpPr>
            <a:spLocks noGrp="1"/>
          </p:cNvSpPr>
          <p:nvPr/>
        </p:nvSpPr>
        <p:spPr>
          <a:xfrm>
            <a:off x="3000375" y="4857750"/>
            <a:ext cx="8001000" cy="685800"/>
          </a:xfrm>
          <a:prstGeom prst="rect">
            <a:avLst/>
          </a:prstGeom>
          <a:noFill/>
          <a:ln w="0">
            <a:noFill/>
            <a:prstDash val="solid"/>
          </a:ln>
        </p:spPr>
        <p:txBody>
          <a:bodyPr wrap="square" lIns="95250" tIns="57150" rIns="95250" bIns="57150" anchor="ctr">
            <a:normAutofit/>
          </a:bodyPr>
          <a:lstStyle/>
          <a:p>
            <a:pPr algn="l">
              <a:lnSpc>
                <a:spcPct val="100000"/>
              </a:lnSpc>
              <a:buNone/>
              <a:defRPr sz="1275" b="0">
                <a:solidFill>
                  <a:srgbClr val="1D2939"/>
                </a:solidFill>
                <a:latin typeface="Arial" panose="020B0604020202020204"/>
                <a:ea typeface="Arial" panose="020B0604020202020204"/>
                <a:cs typeface="Arial" panose="020B0604020202020204"/>
              </a:defRPr>
            </a:pPr>
            <a:r>
              <a:rPr sz="1275" b="0">
                <a:solidFill>
                  <a:srgbClr val="1D2939"/>
                </a:solidFill>
                <a:latin typeface="Arial" panose="020B0604020202020204"/>
                <a:ea typeface="Arial" panose="020B0604020202020204"/>
                <a:cs typeface="Arial" panose="020B0604020202020204"/>
              </a:rPr>
              <a:t>Bản model lưu gồm preprocessor + model. Median imputer được fit trước pipeline khi train; phía API yêu cầu input đầy đủ và tự tính 3 tỷ lệ trước khi dự đoán.</a:t>
            </a:r>
            <a:endParaRPr sz="1275" b="0">
              <a:solidFill>
                <a:srgbClr val="1D2939"/>
              </a:solidFill>
              <a:latin typeface="Arial" panose="020B0604020202020204"/>
              <a:ea typeface="Arial" panose="020B0604020202020204"/>
              <a:cs typeface="Arial" panose="020B0604020202020204"/>
            </a:endParaRPr>
          </a:p>
        </p:txBody>
      </p:sp>
      <p:sp>
        <p:nvSpPr>
          <p:cNvPr id="32" name="Straight Connector 31"/>
          <p:cNvSpPr>
            <a:spLocks noGrp="1"/>
          </p:cNvSpPr>
          <p:nvPr/>
        </p:nvSpPr>
        <p:spPr>
          <a:xfrm>
            <a:off x="666750" y="6477000"/>
            <a:ext cx="10858500" cy="0"/>
          </a:xfrm>
          <a:prstGeom prst="line">
            <a:avLst/>
          </a:prstGeom>
          <a:noFill/>
          <a:ln w="9525">
            <a:solidFill>
              <a:srgbClr val="D7E0E8"/>
            </a:solidFill>
            <a:prstDash val="solid"/>
          </a:ln>
        </p:spPr>
      </p:sp>
      <p:sp>
        <p:nvSpPr>
          <p:cNvPr id="33" name="Rectangle 32"/>
          <p:cNvSpPr>
            <a:spLocks noGrp="1"/>
          </p:cNvSpPr>
          <p:nvPr/>
        </p:nvSpPr>
        <p:spPr>
          <a:xfrm>
            <a:off x="666750" y="6524625"/>
            <a:ext cx="10572750" cy="209550"/>
          </a:xfrm>
          <a:prstGeom prst="rect">
            <a:avLst/>
          </a:prstGeom>
          <a:noFill/>
          <a:ln w="0">
            <a:noFill/>
            <a:prstDash val="solid"/>
          </a:ln>
        </p:spPr>
        <p:txBody>
          <a:bodyPr wrap="square" lIns="0" tIns="0" rIns="0" bIns="0" anchor="t">
            <a:normAutofit/>
          </a:bodyPr>
          <a:lstStyle/>
          <a:p>
            <a:pPr algn="l">
              <a:lnSpc>
                <a:spcPct val="100000"/>
              </a:lnSpc>
              <a:buNone/>
              <a:defRPr sz="825" b="0">
                <a:solidFill>
                  <a:srgbClr val="5F6C7B"/>
                </a:solidFill>
                <a:latin typeface="Arial" panose="020B0604020202020204"/>
                <a:ea typeface="Arial" panose="020B0604020202020204"/>
                <a:cs typeface="Arial" panose="020B0604020202020204"/>
              </a:defRPr>
            </a:pPr>
            <a:r>
              <a:rPr sz="825" b="0">
                <a:solidFill>
                  <a:srgbClr val="5F6C7B"/>
                </a:solidFill>
                <a:latin typeface="Arial" panose="020B0604020202020204"/>
                <a:ea typeface="Arial" panose="020B0604020202020204"/>
                <a:cs typeface="Arial" panose="020B0604020202020204"/>
              </a:rPr>
              <a:t>Nguồn: ai-models/src/preprocess.py; ai-models/src/train.py; ai-service/app/model.py</a:t>
            </a:r>
            <a:endParaRPr sz="825" b="0">
              <a:solidFill>
                <a:srgbClr val="5F6C7B"/>
              </a:solidFill>
              <a:latin typeface="Arial" panose="020B0604020202020204"/>
              <a:ea typeface="Arial" panose="020B0604020202020204"/>
              <a:cs typeface="Arial" panose="020B060402020202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
        <p:cNvGrpSpPr/>
        <p:nvPr/>
      </p:nvGrpSpPr>
      <p:grpSpPr/>
      <p:sp>
        <p:nvSpPr>
          <p:cNvPr id="27" name="Rectangle 26"/>
          <p:cNvSpPr>
            <a:spLocks noGrp="1"/>
          </p:cNvSpPr>
          <p:nvPr/>
        </p:nvSpPr>
        <p:spPr>
          <a:xfrm>
            <a:off x="666750" y="323850"/>
            <a:ext cx="9525000" cy="228600"/>
          </a:xfrm>
          <a:prstGeom prst="rect">
            <a:avLst/>
          </a:prstGeom>
          <a:noFill/>
          <a:ln w="0">
            <a:noFill/>
            <a:prstDash val="solid"/>
          </a:ln>
        </p:spPr>
        <p:txBody>
          <a:bodyPr wrap="square" lIns="0" tIns="0" rIns="0" bIns="0" anchor="t">
            <a:normAutofit/>
          </a:bodyPr>
          <a:lstStyle/>
          <a:p>
            <a:pPr algn="l">
              <a:lnSpc>
                <a:spcPct val="100000"/>
              </a:lnSpc>
              <a:buNone/>
              <a:defRPr sz="975" b="1">
                <a:solidFill>
                  <a:srgbClr val="167D8D"/>
                </a:solidFill>
                <a:latin typeface="Arial" panose="020B0604020202020204"/>
                <a:ea typeface="Arial" panose="020B0604020202020204"/>
                <a:cs typeface="Arial" panose="020B0604020202020204"/>
              </a:defRPr>
            </a:pPr>
            <a:r>
              <a:rPr sz="975" b="1">
                <a:solidFill>
                  <a:srgbClr val="167D8D"/>
                </a:solidFill>
                <a:latin typeface="Arial" panose="020B0604020202020204"/>
                <a:ea typeface="Arial" panose="020B0604020202020204"/>
                <a:cs typeface="Arial" panose="020B0604020202020204"/>
              </a:rPr>
              <a:t>05 · MODELING</a:t>
            </a:r>
            <a:endParaRPr sz="975" b="1">
              <a:solidFill>
                <a:srgbClr val="167D8D"/>
              </a:solidFill>
              <a:latin typeface="Arial" panose="020B0604020202020204"/>
              <a:ea typeface="Arial" panose="020B0604020202020204"/>
              <a:cs typeface="Arial" panose="020B0604020202020204"/>
            </a:endParaRPr>
          </a:p>
        </p:txBody>
      </p:sp>
      <p:sp>
        <p:nvSpPr>
          <p:cNvPr id="2" name="Rectangle 1"/>
          <p:cNvSpPr>
            <a:spLocks noGrp="1"/>
          </p:cNvSpPr>
          <p:nvPr/>
        </p:nvSpPr>
        <p:spPr>
          <a:xfrm>
            <a:off x="666750" y="571500"/>
            <a:ext cx="10287000" cy="523875"/>
          </a:xfrm>
          <a:prstGeom prst="rect">
            <a:avLst/>
          </a:prstGeom>
          <a:noFill/>
          <a:ln w="0">
            <a:noFill/>
            <a:prstDash val="solid"/>
          </a:ln>
        </p:spPr>
        <p:txBody>
          <a:bodyPr wrap="square" lIns="0" tIns="0" rIns="0" bIns="0" anchor="t">
            <a:normAutofit/>
          </a:bodyPr>
          <a:lstStyle/>
          <a:p>
            <a:pPr algn="l">
              <a:lnSpc>
                <a:spcPct val="100000"/>
              </a:lnSpc>
              <a:buNone/>
              <a:defRPr sz="2700" b="1">
                <a:solidFill>
                  <a:srgbClr val="102A43"/>
                </a:solidFill>
                <a:latin typeface="Arial" panose="020B0604020202020204"/>
                <a:ea typeface="Arial" panose="020B0604020202020204"/>
                <a:cs typeface="Arial" panose="020B0604020202020204"/>
              </a:defRPr>
            </a:pPr>
            <a:r>
              <a:rPr sz="2700" b="1">
                <a:solidFill>
                  <a:srgbClr val="102A43"/>
                </a:solidFill>
                <a:latin typeface="Arial" panose="020B0604020202020204"/>
                <a:ea typeface="Arial" panose="020B0604020202020204"/>
                <a:cs typeface="Arial" panose="020B0604020202020204"/>
              </a:rPr>
              <a:t>Các model được huấn luyện</a:t>
            </a:r>
            <a:endParaRPr sz="2700" b="1">
              <a:solidFill>
                <a:srgbClr val="102A43"/>
              </a:solidFill>
              <a:latin typeface="Arial" panose="020B0604020202020204"/>
              <a:ea typeface="Arial" panose="020B0604020202020204"/>
              <a:cs typeface="Arial" panose="020B0604020202020204"/>
            </a:endParaRPr>
          </a:p>
        </p:txBody>
      </p:sp>
      <p:sp>
        <p:nvSpPr>
          <p:cNvPr id="3" name="Rectangle 2"/>
          <p:cNvSpPr>
            <a:spLocks noGrp="1"/>
          </p:cNvSpPr>
          <p:nvPr/>
        </p:nvSpPr>
        <p:spPr>
          <a:xfrm>
            <a:off x="666750" y="1152525"/>
            <a:ext cx="714375" cy="47625"/>
          </a:xfrm>
          <a:prstGeom prst="rect">
            <a:avLst/>
          </a:prstGeom>
          <a:solidFill>
            <a:srgbClr val="E76F51"/>
          </a:solidFill>
          <a:ln w="0">
            <a:noFill/>
            <a:prstDash val="solid"/>
          </a:ln>
        </p:spPr>
      </p:sp>
      <p:sp>
        <p:nvSpPr>
          <p:cNvPr id="4" name="Rectangle 3"/>
          <p:cNvSpPr>
            <a:spLocks noGrp="1"/>
          </p:cNvSpPr>
          <p:nvPr/>
        </p:nvSpPr>
        <p:spPr>
          <a:xfrm>
            <a:off x="11191875" y="409575"/>
            <a:ext cx="381000" cy="247650"/>
          </a:xfrm>
          <a:prstGeom prst="rect">
            <a:avLst/>
          </a:prstGeom>
          <a:noFill/>
          <a:ln w="0">
            <a:noFill/>
            <a:prstDash val="solid"/>
          </a:ln>
        </p:spPr>
        <p:txBody>
          <a:bodyPr wrap="square" lIns="0" tIns="0" rIns="0" bIns="0" anchor="t">
            <a:normAutofit/>
          </a:bodyPr>
          <a:lstStyle/>
          <a:p>
            <a:pPr algn="r">
              <a:lnSpc>
                <a:spcPct val="100000"/>
              </a:lnSpc>
              <a:buNone/>
              <a:defRPr sz="1050" b="1">
                <a:solidFill>
                  <a:srgbClr val="5F6C7B"/>
                </a:solidFill>
                <a:latin typeface="Arial" panose="020B0604020202020204"/>
                <a:ea typeface="Arial" panose="020B0604020202020204"/>
                <a:cs typeface="Arial" panose="020B0604020202020204"/>
              </a:defRPr>
            </a:pPr>
            <a:r>
              <a:rPr sz="1050" b="1">
                <a:solidFill>
                  <a:srgbClr val="5F6C7B"/>
                </a:solidFill>
                <a:latin typeface="Arial" panose="020B0604020202020204"/>
                <a:ea typeface="Arial" panose="020B0604020202020204"/>
                <a:cs typeface="Arial" panose="020B0604020202020204"/>
              </a:rPr>
              <a:t>07</a:t>
            </a:r>
            <a:endParaRPr sz="1050" b="1">
              <a:solidFill>
                <a:srgbClr val="5F6C7B"/>
              </a:solidFill>
              <a:latin typeface="Arial" panose="020B0604020202020204"/>
              <a:ea typeface="Arial" panose="020B0604020202020204"/>
              <a:cs typeface="Arial" panose="020B0604020202020204"/>
            </a:endParaRPr>
          </a:p>
        </p:txBody>
      </p:sp>
      <p:sp>
        <p:nvSpPr>
          <p:cNvPr id="5" name="Rounded Rectangle 4"/>
          <p:cNvSpPr>
            <a:spLocks noGrp="1"/>
          </p:cNvSpPr>
          <p:nvPr/>
        </p:nvSpPr>
        <p:spPr>
          <a:xfrm>
            <a:off x="666750" y="1524000"/>
            <a:ext cx="5334000" cy="1762125"/>
          </a:xfrm>
          <a:prstGeom prst="roundRect">
            <a:avLst>
              <a:gd name="adj" fmla="val 3784"/>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6" name="Rectangle 5"/>
          <p:cNvSpPr>
            <a:spLocks noGrp="1"/>
          </p:cNvSpPr>
          <p:nvPr/>
        </p:nvSpPr>
        <p:spPr>
          <a:xfrm>
            <a:off x="666750" y="1524000"/>
            <a:ext cx="85725" cy="1762125"/>
          </a:xfrm>
          <a:prstGeom prst="rect">
            <a:avLst/>
          </a:prstGeom>
          <a:solidFill>
            <a:srgbClr val="173F5F"/>
          </a:solidFill>
          <a:ln w="0">
            <a:noFill/>
            <a:prstDash val="solid"/>
          </a:ln>
        </p:spPr>
      </p:sp>
      <p:sp>
        <p:nvSpPr>
          <p:cNvPr id="7" name="Rounded Rectangle 6"/>
          <p:cNvSpPr>
            <a:spLocks noGrp="1"/>
          </p:cNvSpPr>
          <p:nvPr/>
        </p:nvSpPr>
        <p:spPr>
          <a:xfrm>
            <a:off x="952500" y="1733550"/>
            <a:ext cx="1285875" cy="266700"/>
          </a:xfrm>
          <a:prstGeom prst="roundRect">
            <a:avLst>
              <a:gd name="adj" fmla="val 50000"/>
            </a:avLst>
          </a:prstGeom>
          <a:solidFill>
            <a:srgbClr val="EAF1F8"/>
          </a:solidFill>
          <a:ln w="9525">
            <a:solidFill>
              <a:srgbClr val="EAF1F8"/>
            </a:solidFill>
            <a:prstDash val="solid"/>
          </a:ln>
        </p:spPr>
        <p:txBody>
          <a:bodyPr wrap="square" lIns="76200" tIns="19050" rIns="76200" bIns="19050" anchor="ctr">
            <a:normAutofit/>
          </a:bodyPr>
          <a:lstStyle/>
          <a:p>
            <a:pPr algn="ctr">
              <a:lnSpc>
                <a:spcPct val="100000"/>
              </a:lnSpc>
              <a:buNone/>
              <a:defRPr sz="900" b="1">
                <a:solidFill>
                  <a:srgbClr val="173F5F"/>
                </a:solidFill>
                <a:latin typeface="Arial" panose="020B0604020202020204"/>
                <a:ea typeface="Arial" panose="020B0604020202020204"/>
                <a:cs typeface="Arial" panose="020B0604020202020204"/>
              </a:defRPr>
            </a:pPr>
            <a:r>
              <a:rPr sz="900" b="1">
                <a:solidFill>
                  <a:srgbClr val="173F5F"/>
                </a:solidFill>
                <a:latin typeface="Arial" panose="020B0604020202020204"/>
                <a:ea typeface="Arial" panose="020B0604020202020204"/>
                <a:cs typeface="Arial" panose="020B0604020202020204"/>
              </a:rPr>
              <a:t>Baseline</a:t>
            </a:r>
            <a:endParaRPr sz="900" b="1">
              <a:solidFill>
                <a:srgbClr val="173F5F"/>
              </a:solidFill>
              <a:latin typeface="Arial" panose="020B0604020202020204"/>
              <a:ea typeface="Arial" panose="020B0604020202020204"/>
              <a:cs typeface="Arial" panose="020B0604020202020204"/>
            </a:endParaRPr>
          </a:p>
        </p:txBody>
      </p:sp>
      <p:sp>
        <p:nvSpPr>
          <p:cNvPr id="8" name="Rectangle 7"/>
          <p:cNvSpPr>
            <a:spLocks noGrp="1"/>
          </p:cNvSpPr>
          <p:nvPr/>
        </p:nvSpPr>
        <p:spPr>
          <a:xfrm>
            <a:off x="952500" y="2133600"/>
            <a:ext cx="4667250" cy="428625"/>
          </a:xfrm>
          <a:prstGeom prst="rect">
            <a:avLst/>
          </a:prstGeom>
          <a:noFill/>
          <a:ln w="0">
            <a:noFill/>
            <a:prstDash val="solid"/>
          </a:ln>
        </p:spPr>
        <p:txBody>
          <a:bodyPr wrap="square" lIns="0" tIns="0" rIns="0" bIns="0" anchor="t">
            <a:normAutofit/>
          </a:bodyPr>
          <a:lstStyle/>
          <a:p>
            <a:pPr algn="l">
              <a:lnSpc>
                <a:spcPct val="100000"/>
              </a:lnSpc>
              <a:buNone/>
              <a:defRPr sz="2025" b="1">
                <a:solidFill>
                  <a:srgbClr val="102A43"/>
                </a:solidFill>
                <a:latin typeface="Arial" panose="020B0604020202020204"/>
                <a:ea typeface="Arial" panose="020B0604020202020204"/>
                <a:cs typeface="Arial" panose="020B0604020202020204"/>
              </a:defRPr>
            </a:pPr>
            <a:r>
              <a:rPr sz="2025" b="1">
                <a:solidFill>
                  <a:srgbClr val="102A43"/>
                </a:solidFill>
                <a:latin typeface="Arial" panose="020B0604020202020204"/>
                <a:ea typeface="Arial" panose="020B0604020202020204"/>
                <a:cs typeface="Arial" panose="020B0604020202020204"/>
              </a:rPr>
              <a:t>Linear Regression</a:t>
            </a:r>
            <a:endParaRPr sz="2025" b="1">
              <a:solidFill>
                <a:srgbClr val="102A43"/>
              </a:solidFill>
              <a:latin typeface="Arial" panose="020B0604020202020204"/>
              <a:ea typeface="Arial" panose="020B0604020202020204"/>
              <a:cs typeface="Arial" panose="020B0604020202020204"/>
            </a:endParaRPr>
          </a:p>
        </p:txBody>
      </p:sp>
      <p:sp>
        <p:nvSpPr>
          <p:cNvPr id="9" name="Rectangle 8"/>
          <p:cNvSpPr>
            <a:spLocks noGrp="1"/>
          </p:cNvSpPr>
          <p:nvPr/>
        </p:nvSpPr>
        <p:spPr>
          <a:xfrm>
            <a:off x="952500" y="2628900"/>
            <a:ext cx="4667250" cy="485775"/>
          </a:xfrm>
          <a:prstGeom prst="rect">
            <a:avLst/>
          </a:prstGeom>
          <a:noFill/>
          <a:ln w="0">
            <a:noFill/>
            <a:prstDash val="solid"/>
          </a:ln>
        </p:spPr>
        <p:txBody>
          <a:bodyPr wrap="square" lIns="0" tIns="0" rIns="0" bIns="0" anchor="ctr">
            <a:normAutofit/>
          </a:bodyPr>
          <a:lstStyle/>
          <a:p>
            <a:pPr algn="l">
              <a:lnSpc>
                <a:spcPct val="100000"/>
              </a:lnSpc>
              <a:buNone/>
              <a:defRPr sz="1200" b="0">
                <a:solidFill>
                  <a:srgbClr val="5F6C7B"/>
                </a:solidFill>
                <a:latin typeface="Arial" panose="020B0604020202020204"/>
                <a:ea typeface="Arial" panose="020B0604020202020204"/>
                <a:cs typeface="Arial" panose="020B0604020202020204"/>
              </a:defRPr>
            </a:pPr>
            <a:r>
              <a:rPr sz="1200" b="0">
                <a:solidFill>
                  <a:srgbClr val="5F6C7B"/>
                </a:solidFill>
                <a:latin typeface="Arial" panose="020B0604020202020204"/>
                <a:ea typeface="Arial" panose="020B0604020202020204"/>
                <a:cs typeface="Arial" panose="020B0604020202020204"/>
              </a:rPr>
              <a:t>Mốc tham chiếu tuyến tính, nhanh và dễ giải thích.</a:t>
            </a:r>
            <a:endParaRPr sz="1200" b="0">
              <a:solidFill>
                <a:srgbClr val="5F6C7B"/>
              </a:solidFill>
              <a:latin typeface="Arial" panose="020B0604020202020204"/>
              <a:ea typeface="Arial" panose="020B0604020202020204"/>
              <a:cs typeface="Arial" panose="020B0604020202020204"/>
            </a:endParaRPr>
          </a:p>
        </p:txBody>
      </p:sp>
      <p:sp>
        <p:nvSpPr>
          <p:cNvPr id="10" name="Rounded Rectangle 9"/>
          <p:cNvSpPr>
            <a:spLocks noGrp="1"/>
          </p:cNvSpPr>
          <p:nvPr/>
        </p:nvSpPr>
        <p:spPr>
          <a:xfrm>
            <a:off x="6191250" y="1524000"/>
            <a:ext cx="5334000" cy="1762125"/>
          </a:xfrm>
          <a:prstGeom prst="roundRect">
            <a:avLst>
              <a:gd name="adj" fmla="val 3784"/>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11" name="Rectangle 10"/>
          <p:cNvSpPr>
            <a:spLocks noGrp="1"/>
          </p:cNvSpPr>
          <p:nvPr/>
        </p:nvSpPr>
        <p:spPr>
          <a:xfrm>
            <a:off x="6191250" y="1524000"/>
            <a:ext cx="85725" cy="1762125"/>
          </a:xfrm>
          <a:prstGeom prst="rect">
            <a:avLst/>
          </a:prstGeom>
          <a:solidFill>
            <a:srgbClr val="E76F51"/>
          </a:solidFill>
          <a:ln w="0">
            <a:noFill/>
            <a:prstDash val="solid"/>
          </a:ln>
        </p:spPr>
      </p:sp>
      <p:sp>
        <p:nvSpPr>
          <p:cNvPr id="12" name="Rounded Rectangle 11"/>
          <p:cNvSpPr>
            <a:spLocks noGrp="1"/>
          </p:cNvSpPr>
          <p:nvPr/>
        </p:nvSpPr>
        <p:spPr>
          <a:xfrm>
            <a:off x="6477000" y="1733550"/>
            <a:ext cx="1285875" cy="266700"/>
          </a:xfrm>
          <a:prstGeom prst="roundRect">
            <a:avLst>
              <a:gd name="adj" fmla="val 50000"/>
            </a:avLst>
          </a:prstGeom>
          <a:solidFill>
            <a:srgbClr val="FCEDE8"/>
          </a:solidFill>
          <a:ln w="9525">
            <a:solidFill>
              <a:srgbClr val="FCEDE8"/>
            </a:solidFill>
            <a:prstDash val="solid"/>
          </a:ln>
        </p:spPr>
        <p:txBody>
          <a:bodyPr wrap="square" lIns="76200" tIns="19050" rIns="76200" bIns="19050" anchor="ctr">
            <a:normAutofit/>
          </a:bodyPr>
          <a:lstStyle/>
          <a:p>
            <a:pPr algn="ctr">
              <a:lnSpc>
                <a:spcPct val="100000"/>
              </a:lnSpc>
              <a:buNone/>
              <a:defRPr sz="900" b="1">
                <a:solidFill>
                  <a:srgbClr val="E76F51"/>
                </a:solidFill>
                <a:latin typeface="Arial" panose="020B0604020202020204"/>
                <a:ea typeface="Arial" panose="020B0604020202020204"/>
                <a:cs typeface="Arial" panose="020B0604020202020204"/>
              </a:defRPr>
            </a:pPr>
            <a:r>
              <a:rPr sz="900" b="1">
                <a:solidFill>
                  <a:srgbClr val="E76F51"/>
                </a:solidFill>
                <a:latin typeface="Arial" panose="020B0604020202020204"/>
                <a:ea typeface="Arial" panose="020B0604020202020204"/>
                <a:cs typeface="Arial" panose="020B0604020202020204"/>
              </a:rPr>
              <a:t>Tree</a:t>
            </a:r>
            <a:endParaRPr sz="900" b="1">
              <a:solidFill>
                <a:srgbClr val="E76F51"/>
              </a:solidFill>
              <a:latin typeface="Arial" panose="020B0604020202020204"/>
              <a:ea typeface="Arial" panose="020B0604020202020204"/>
              <a:cs typeface="Arial" panose="020B0604020202020204"/>
            </a:endParaRPr>
          </a:p>
        </p:txBody>
      </p:sp>
      <p:sp>
        <p:nvSpPr>
          <p:cNvPr id="13" name="Rectangle 12"/>
          <p:cNvSpPr>
            <a:spLocks noGrp="1"/>
          </p:cNvSpPr>
          <p:nvPr/>
        </p:nvSpPr>
        <p:spPr>
          <a:xfrm>
            <a:off x="6477000" y="2133600"/>
            <a:ext cx="4667250" cy="428625"/>
          </a:xfrm>
          <a:prstGeom prst="rect">
            <a:avLst/>
          </a:prstGeom>
          <a:noFill/>
          <a:ln w="0">
            <a:noFill/>
            <a:prstDash val="solid"/>
          </a:ln>
        </p:spPr>
        <p:txBody>
          <a:bodyPr wrap="square" lIns="0" tIns="0" rIns="0" bIns="0" anchor="t">
            <a:normAutofit/>
          </a:bodyPr>
          <a:lstStyle/>
          <a:p>
            <a:pPr algn="l">
              <a:lnSpc>
                <a:spcPct val="100000"/>
              </a:lnSpc>
              <a:buNone/>
              <a:defRPr sz="2025" b="1">
                <a:solidFill>
                  <a:srgbClr val="102A43"/>
                </a:solidFill>
                <a:latin typeface="Arial" panose="020B0604020202020204"/>
                <a:ea typeface="Arial" panose="020B0604020202020204"/>
                <a:cs typeface="Arial" panose="020B0604020202020204"/>
              </a:defRPr>
            </a:pPr>
            <a:r>
              <a:rPr sz="2025" b="1">
                <a:solidFill>
                  <a:srgbClr val="102A43"/>
                </a:solidFill>
                <a:latin typeface="Arial" panose="020B0604020202020204"/>
                <a:ea typeface="Arial" panose="020B0604020202020204"/>
                <a:cs typeface="Arial" panose="020B0604020202020204"/>
              </a:rPr>
              <a:t>Decision Tree</a:t>
            </a:r>
            <a:endParaRPr sz="2025" b="1">
              <a:solidFill>
                <a:srgbClr val="102A43"/>
              </a:solidFill>
              <a:latin typeface="Arial" panose="020B0604020202020204"/>
              <a:ea typeface="Arial" panose="020B0604020202020204"/>
              <a:cs typeface="Arial" panose="020B0604020202020204"/>
            </a:endParaRPr>
          </a:p>
        </p:txBody>
      </p:sp>
      <p:sp>
        <p:nvSpPr>
          <p:cNvPr id="14" name="Rectangle 13"/>
          <p:cNvSpPr>
            <a:spLocks noGrp="1"/>
          </p:cNvSpPr>
          <p:nvPr/>
        </p:nvSpPr>
        <p:spPr>
          <a:xfrm>
            <a:off x="6477000" y="2628900"/>
            <a:ext cx="4667250" cy="485775"/>
          </a:xfrm>
          <a:prstGeom prst="rect">
            <a:avLst/>
          </a:prstGeom>
          <a:noFill/>
          <a:ln w="0">
            <a:noFill/>
            <a:prstDash val="solid"/>
          </a:ln>
        </p:spPr>
        <p:txBody>
          <a:bodyPr wrap="square" lIns="0" tIns="0" rIns="0" bIns="0" anchor="ctr">
            <a:normAutofit/>
          </a:bodyPr>
          <a:lstStyle/>
          <a:p>
            <a:pPr algn="l">
              <a:lnSpc>
                <a:spcPct val="100000"/>
              </a:lnSpc>
              <a:buNone/>
              <a:defRPr sz="1200" b="0">
                <a:solidFill>
                  <a:srgbClr val="5F6C7B"/>
                </a:solidFill>
                <a:latin typeface="Arial" panose="020B0604020202020204"/>
                <a:ea typeface="Arial" panose="020B0604020202020204"/>
                <a:cs typeface="Arial" panose="020B0604020202020204"/>
              </a:defRPr>
            </a:pPr>
            <a:r>
              <a:rPr sz="1200" b="0">
                <a:solidFill>
                  <a:srgbClr val="5F6C7B"/>
                </a:solidFill>
                <a:latin typeface="Arial" panose="020B0604020202020204"/>
                <a:ea typeface="Arial" panose="020B0604020202020204"/>
                <a:cs typeface="Arial" panose="020B0604020202020204"/>
              </a:rPr>
              <a:t>Mô hình hóa quan hệ phi tuyến; GridSearchCV cho max_depth và min_samples_split.</a:t>
            </a:r>
            <a:endParaRPr sz="1200" b="0">
              <a:solidFill>
                <a:srgbClr val="5F6C7B"/>
              </a:solidFill>
              <a:latin typeface="Arial" panose="020B0604020202020204"/>
              <a:ea typeface="Arial" panose="020B0604020202020204"/>
              <a:cs typeface="Arial" panose="020B0604020202020204"/>
            </a:endParaRPr>
          </a:p>
        </p:txBody>
      </p:sp>
      <p:sp>
        <p:nvSpPr>
          <p:cNvPr id="15" name="Rounded Rectangle 14"/>
          <p:cNvSpPr>
            <a:spLocks noGrp="1"/>
          </p:cNvSpPr>
          <p:nvPr/>
        </p:nvSpPr>
        <p:spPr>
          <a:xfrm>
            <a:off x="666750" y="3714750"/>
            <a:ext cx="5334000" cy="1762125"/>
          </a:xfrm>
          <a:prstGeom prst="roundRect">
            <a:avLst>
              <a:gd name="adj" fmla="val 3784"/>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16" name="Rectangle 15"/>
          <p:cNvSpPr>
            <a:spLocks noGrp="1"/>
          </p:cNvSpPr>
          <p:nvPr/>
        </p:nvSpPr>
        <p:spPr>
          <a:xfrm>
            <a:off x="666750" y="3714750"/>
            <a:ext cx="85725" cy="1762125"/>
          </a:xfrm>
          <a:prstGeom prst="rect">
            <a:avLst/>
          </a:prstGeom>
          <a:solidFill>
            <a:srgbClr val="167D8D"/>
          </a:solidFill>
          <a:ln w="0">
            <a:noFill/>
            <a:prstDash val="solid"/>
          </a:ln>
        </p:spPr>
      </p:sp>
      <p:sp>
        <p:nvSpPr>
          <p:cNvPr id="17" name="Rounded Rectangle 16"/>
          <p:cNvSpPr>
            <a:spLocks noGrp="1"/>
          </p:cNvSpPr>
          <p:nvPr/>
        </p:nvSpPr>
        <p:spPr>
          <a:xfrm>
            <a:off x="952500" y="3924300"/>
            <a:ext cx="1285875" cy="266700"/>
          </a:xfrm>
          <a:prstGeom prst="roundRect">
            <a:avLst>
              <a:gd name="adj" fmla="val 50000"/>
            </a:avLst>
          </a:prstGeom>
          <a:solidFill>
            <a:srgbClr val="EAF6F5"/>
          </a:solidFill>
          <a:ln w="9525">
            <a:solidFill>
              <a:srgbClr val="EAF6F5"/>
            </a:solidFill>
            <a:prstDash val="solid"/>
          </a:ln>
        </p:spPr>
        <p:txBody>
          <a:bodyPr wrap="square" lIns="76200" tIns="19050" rIns="76200" bIns="19050" anchor="ctr">
            <a:normAutofit/>
          </a:bodyPr>
          <a:lstStyle/>
          <a:p>
            <a:pPr algn="ctr">
              <a:lnSpc>
                <a:spcPct val="100000"/>
              </a:lnSpc>
              <a:buNone/>
              <a:defRPr sz="900" b="1">
                <a:solidFill>
                  <a:srgbClr val="167D8D"/>
                </a:solidFill>
                <a:latin typeface="Arial" panose="020B0604020202020204"/>
                <a:ea typeface="Arial" panose="020B0604020202020204"/>
                <a:cs typeface="Arial" panose="020B0604020202020204"/>
              </a:defRPr>
            </a:pPr>
            <a:r>
              <a:rPr sz="900" b="1">
                <a:solidFill>
                  <a:srgbClr val="167D8D"/>
                </a:solidFill>
                <a:latin typeface="Arial" panose="020B0604020202020204"/>
                <a:ea typeface="Arial" panose="020B0604020202020204"/>
                <a:cs typeface="Arial" panose="020B0604020202020204"/>
              </a:rPr>
              <a:t>Ensemble</a:t>
            </a:r>
            <a:endParaRPr sz="900" b="1">
              <a:solidFill>
                <a:srgbClr val="167D8D"/>
              </a:solidFill>
              <a:latin typeface="Arial" panose="020B0604020202020204"/>
              <a:ea typeface="Arial" panose="020B0604020202020204"/>
              <a:cs typeface="Arial" panose="020B0604020202020204"/>
            </a:endParaRPr>
          </a:p>
        </p:txBody>
      </p:sp>
      <p:sp>
        <p:nvSpPr>
          <p:cNvPr id="18" name="Rectangle 17"/>
          <p:cNvSpPr>
            <a:spLocks noGrp="1"/>
          </p:cNvSpPr>
          <p:nvPr/>
        </p:nvSpPr>
        <p:spPr>
          <a:xfrm>
            <a:off x="952500" y="4324350"/>
            <a:ext cx="4667250" cy="428625"/>
          </a:xfrm>
          <a:prstGeom prst="rect">
            <a:avLst/>
          </a:prstGeom>
          <a:noFill/>
          <a:ln w="0">
            <a:noFill/>
            <a:prstDash val="solid"/>
          </a:ln>
        </p:spPr>
        <p:txBody>
          <a:bodyPr wrap="square" lIns="0" tIns="0" rIns="0" bIns="0" anchor="t">
            <a:normAutofit/>
          </a:bodyPr>
          <a:lstStyle/>
          <a:p>
            <a:pPr algn="l">
              <a:lnSpc>
                <a:spcPct val="100000"/>
              </a:lnSpc>
              <a:buNone/>
              <a:defRPr sz="2025" b="1">
                <a:solidFill>
                  <a:srgbClr val="102A43"/>
                </a:solidFill>
                <a:latin typeface="Arial" panose="020B0604020202020204"/>
                <a:ea typeface="Arial" panose="020B0604020202020204"/>
                <a:cs typeface="Arial" panose="020B0604020202020204"/>
              </a:defRPr>
            </a:pPr>
            <a:r>
              <a:rPr sz="2025" b="1">
                <a:solidFill>
                  <a:srgbClr val="102A43"/>
                </a:solidFill>
                <a:latin typeface="Arial" panose="020B0604020202020204"/>
                <a:ea typeface="Arial" panose="020B0604020202020204"/>
                <a:cs typeface="Arial" panose="020B0604020202020204"/>
              </a:rPr>
              <a:t>Random Forest</a:t>
            </a:r>
            <a:endParaRPr sz="2025" b="1">
              <a:solidFill>
                <a:srgbClr val="102A43"/>
              </a:solidFill>
              <a:latin typeface="Arial" panose="020B0604020202020204"/>
              <a:ea typeface="Arial" panose="020B0604020202020204"/>
              <a:cs typeface="Arial" panose="020B0604020202020204"/>
            </a:endParaRPr>
          </a:p>
        </p:txBody>
      </p:sp>
      <p:sp>
        <p:nvSpPr>
          <p:cNvPr id="19" name="Rectangle 18"/>
          <p:cNvSpPr>
            <a:spLocks noGrp="1"/>
          </p:cNvSpPr>
          <p:nvPr/>
        </p:nvSpPr>
        <p:spPr>
          <a:xfrm>
            <a:off x="952500" y="4819650"/>
            <a:ext cx="4667250" cy="485775"/>
          </a:xfrm>
          <a:prstGeom prst="rect">
            <a:avLst/>
          </a:prstGeom>
          <a:noFill/>
          <a:ln w="0">
            <a:noFill/>
            <a:prstDash val="solid"/>
          </a:ln>
        </p:spPr>
        <p:txBody>
          <a:bodyPr wrap="square" lIns="0" tIns="0" rIns="0" bIns="0" anchor="ctr">
            <a:normAutofit/>
          </a:bodyPr>
          <a:lstStyle/>
          <a:p>
            <a:pPr algn="l">
              <a:lnSpc>
                <a:spcPct val="100000"/>
              </a:lnSpc>
              <a:buNone/>
              <a:defRPr sz="1200" b="0">
                <a:solidFill>
                  <a:srgbClr val="5F6C7B"/>
                </a:solidFill>
                <a:latin typeface="Arial" panose="020B0604020202020204"/>
                <a:ea typeface="Arial" panose="020B0604020202020204"/>
                <a:cs typeface="Arial" panose="020B0604020202020204"/>
              </a:defRPr>
            </a:pPr>
            <a:r>
              <a:rPr sz="1200" b="0">
                <a:solidFill>
                  <a:srgbClr val="5F6C7B"/>
                </a:solidFill>
                <a:latin typeface="Arial" panose="020B0604020202020204"/>
                <a:ea typeface="Arial" panose="020B0604020202020204"/>
                <a:cs typeface="Arial" panose="020B0604020202020204"/>
              </a:rPr>
              <a:t>Bagging nhiều cây; RandomizedSearchCV cho độ sâu, số cây và mức chia.</a:t>
            </a:r>
            <a:endParaRPr sz="1200" b="0">
              <a:solidFill>
                <a:srgbClr val="5F6C7B"/>
              </a:solidFill>
              <a:latin typeface="Arial" panose="020B0604020202020204"/>
              <a:ea typeface="Arial" panose="020B0604020202020204"/>
              <a:cs typeface="Arial" panose="020B0604020202020204"/>
            </a:endParaRPr>
          </a:p>
        </p:txBody>
      </p:sp>
      <p:sp>
        <p:nvSpPr>
          <p:cNvPr id="20" name="Rounded Rectangle 19"/>
          <p:cNvSpPr>
            <a:spLocks noGrp="1"/>
          </p:cNvSpPr>
          <p:nvPr/>
        </p:nvSpPr>
        <p:spPr>
          <a:xfrm>
            <a:off x="6191250" y="3714750"/>
            <a:ext cx="5334000" cy="1762125"/>
          </a:xfrm>
          <a:prstGeom prst="roundRect">
            <a:avLst>
              <a:gd name="adj" fmla="val 3784"/>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21" name="Rectangle 20"/>
          <p:cNvSpPr>
            <a:spLocks noGrp="1"/>
          </p:cNvSpPr>
          <p:nvPr/>
        </p:nvSpPr>
        <p:spPr>
          <a:xfrm>
            <a:off x="6191250" y="3714750"/>
            <a:ext cx="85725" cy="1762125"/>
          </a:xfrm>
          <a:prstGeom prst="rect">
            <a:avLst/>
          </a:prstGeom>
          <a:solidFill>
            <a:srgbClr val="E9C46A"/>
          </a:solidFill>
          <a:ln w="0">
            <a:noFill/>
            <a:prstDash val="solid"/>
          </a:ln>
        </p:spPr>
      </p:sp>
      <p:sp>
        <p:nvSpPr>
          <p:cNvPr id="22" name="Rounded Rectangle 21"/>
          <p:cNvSpPr>
            <a:spLocks noGrp="1"/>
          </p:cNvSpPr>
          <p:nvPr/>
        </p:nvSpPr>
        <p:spPr>
          <a:xfrm>
            <a:off x="6477000" y="3924300"/>
            <a:ext cx="1285875" cy="266700"/>
          </a:xfrm>
          <a:prstGeom prst="roundRect">
            <a:avLst>
              <a:gd name="adj" fmla="val 50000"/>
            </a:avLst>
          </a:prstGeom>
          <a:solidFill>
            <a:srgbClr val="FFF7DF"/>
          </a:solidFill>
          <a:ln w="9525">
            <a:solidFill>
              <a:srgbClr val="FFF7DF"/>
            </a:solidFill>
            <a:prstDash val="solid"/>
          </a:ln>
        </p:spPr>
        <p:txBody>
          <a:bodyPr wrap="square" lIns="76200" tIns="19050" rIns="76200" bIns="19050" anchor="ctr">
            <a:normAutofit/>
          </a:bodyPr>
          <a:lstStyle/>
          <a:p>
            <a:pPr algn="ctr">
              <a:lnSpc>
                <a:spcPct val="100000"/>
              </a:lnSpc>
              <a:buNone/>
              <a:defRPr sz="900" b="1">
                <a:solidFill>
                  <a:srgbClr val="E9C46A"/>
                </a:solidFill>
                <a:latin typeface="Arial" panose="020B0604020202020204"/>
                <a:ea typeface="Arial" panose="020B0604020202020204"/>
                <a:cs typeface="Arial" panose="020B0604020202020204"/>
              </a:defRPr>
            </a:pPr>
            <a:r>
              <a:rPr sz="900" b="1">
                <a:solidFill>
                  <a:srgbClr val="E9C46A"/>
                </a:solidFill>
                <a:latin typeface="Arial" panose="020B0604020202020204"/>
                <a:ea typeface="Arial" panose="020B0604020202020204"/>
                <a:cs typeface="Arial" panose="020B0604020202020204"/>
              </a:rPr>
              <a:t>Final candidate</a:t>
            </a:r>
            <a:endParaRPr sz="900" b="1">
              <a:solidFill>
                <a:srgbClr val="E9C46A"/>
              </a:solidFill>
              <a:latin typeface="Arial" panose="020B0604020202020204"/>
              <a:ea typeface="Arial" panose="020B0604020202020204"/>
              <a:cs typeface="Arial" panose="020B0604020202020204"/>
            </a:endParaRPr>
          </a:p>
        </p:txBody>
      </p:sp>
      <p:sp>
        <p:nvSpPr>
          <p:cNvPr id="23" name="Rectangle 22"/>
          <p:cNvSpPr>
            <a:spLocks noGrp="1"/>
          </p:cNvSpPr>
          <p:nvPr/>
        </p:nvSpPr>
        <p:spPr>
          <a:xfrm>
            <a:off x="6477000" y="4324350"/>
            <a:ext cx="4667250" cy="428625"/>
          </a:xfrm>
          <a:prstGeom prst="rect">
            <a:avLst/>
          </a:prstGeom>
          <a:noFill/>
          <a:ln w="0">
            <a:noFill/>
            <a:prstDash val="solid"/>
          </a:ln>
        </p:spPr>
        <p:txBody>
          <a:bodyPr wrap="square" lIns="0" tIns="0" rIns="0" bIns="0" anchor="t">
            <a:normAutofit/>
          </a:bodyPr>
          <a:lstStyle/>
          <a:p>
            <a:pPr algn="l">
              <a:lnSpc>
                <a:spcPct val="100000"/>
              </a:lnSpc>
              <a:buNone/>
              <a:defRPr sz="2025" b="1">
                <a:solidFill>
                  <a:srgbClr val="102A43"/>
                </a:solidFill>
                <a:latin typeface="Arial" panose="020B0604020202020204"/>
                <a:ea typeface="Arial" panose="020B0604020202020204"/>
                <a:cs typeface="Arial" panose="020B0604020202020204"/>
              </a:defRPr>
            </a:pPr>
            <a:r>
              <a:rPr sz="2025" b="1">
                <a:solidFill>
                  <a:srgbClr val="102A43"/>
                </a:solidFill>
                <a:latin typeface="Arial" panose="020B0604020202020204"/>
                <a:ea typeface="Arial" panose="020B0604020202020204"/>
                <a:cs typeface="Arial" panose="020B0604020202020204"/>
              </a:rPr>
              <a:t>Gradient Boosting</a:t>
            </a:r>
            <a:endParaRPr sz="2025" b="1">
              <a:solidFill>
                <a:srgbClr val="102A43"/>
              </a:solidFill>
              <a:latin typeface="Arial" panose="020B0604020202020204"/>
              <a:ea typeface="Arial" panose="020B0604020202020204"/>
              <a:cs typeface="Arial" panose="020B0604020202020204"/>
            </a:endParaRPr>
          </a:p>
        </p:txBody>
      </p:sp>
      <p:sp>
        <p:nvSpPr>
          <p:cNvPr id="24" name="Rectangle 23"/>
          <p:cNvSpPr>
            <a:spLocks noGrp="1"/>
          </p:cNvSpPr>
          <p:nvPr/>
        </p:nvSpPr>
        <p:spPr>
          <a:xfrm>
            <a:off x="6477000" y="4819650"/>
            <a:ext cx="4667250" cy="485775"/>
          </a:xfrm>
          <a:prstGeom prst="rect">
            <a:avLst/>
          </a:prstGeom>
          <a:noFill/>
          <a:ln w="0">
            <a:noFill/>
            <a:prstDash val="solid"/>
          </a:ln>
        </p:spPr>
        <p:txBody>
          <a:bodyPr wrap="square" lIns="0" tIns="0" rIns="0" bIns="0" anchor="ctr">
            <a:normAutofit/>
          </a:bodyPr>
          <a:lstStyle/>
          <a:p>
            <a:pPr algn="l">
              <a:lnSpc>
                <a:spcPct val="100000"/>
              </a:lnSpc>
              <a:buNone/>
              <a:defRPr sz="1200" b="0">
                <a:solidFill>
                  <a:srgbClr val="5F6C7B"/>
                </a:solidFill>
                <a:latin typeface="Arial" panose="020B0604020202020204"/>
                <a:ea typeface="Arial" panose="020B0604020202020204"/>
                <a:cs typeface="Arial" panose="020B0604020202020204"/>
              </a:defRPr>
            </a:pPr>
            <a:r>
              <a:rPr sz="1200" b="0">
                <a:solidFill>
                  <a:srgbClr val="5F6C7B"/>
                </a:solidFill>
                <a:latin typeface="Arial" panose="020B0604020202020204"/>
                <a:ea typeface="Arial" panose="020B0604020202020204"/>
                <a:cs typeface="Arial" panose="020B0604020202020204"/>
              </a:rPr>
              <a:t>Boosting tuần tự; tìm learning_rate, max_depth và n_estimators.</a:t>
            </a:r>
            <a:endParaRPr sz="1200" b="0">
              <a:solidFill>
                <a:srgbClr val="5F6C7B"/>
              </a:solidFill>
              <a:latin typeface="Arial" panose="020B0604020202020204"/>
              <a:ea typeface="Arial" panose="020B0604020202020204"/>
              <a:cs typeface="Arial" panose="020B0604020202020204"/>
            </a:endParaRPr>
          </a:p>
        </p:txBody>
      </p:sp>
      <p:sp>
        <p:nvSpPr>
          <p:cNvPr id="25" name="Straight Connector 24"/>
          <p:cNvSpPr>
            <a:spLocks noGrp="1"/>
          </p:cNvSpPr>
          <p:nvPr/>
        </p:nvSpPr>
        <p:spPr>
          <a:xfrm>
            <a:off x="666750" y="6477000"/>
            <a:ext cx="10858500" cy="0"/>
          </a:xfrm>
          <a:prstGeom prst="line">
            <a:avLst/>
          </a:prstGeom>
          <a:noFill/>
          <a:ln w="9525">
            <a:solidFill>
              <a:srgbClr val="D7E0E8"/>
            </a:solidFill>
            <a:prstDash val="solid"/>
          </a:ln>
        </p:spPr>
      </p:sp>
      <p:sp>
        <p:nvSpPr>
          <p:cNvPr id="26" name="Rectangle 25"/>
          <p:cNvSpPr>
            <a:spLocks noGrp="1"/>
          </p:cNvSpPr>
          <p:nvPr/>
        </p:nvSpPr>
        <p:spPr>
          <a:xfrm>
            <a:off x="666750" y="6524625"/>
            <a:ext cx="10572750" cy="209550"/>
          </a:xfrm>
          <a:prstGeom prst="rect">
            <a:avLst/>
          </a:prstGeom>
          <a:noFill/>
          <a:ln w="0">
            <a:noFill/>
            <a:prstDash val="solid"/>
          </a:ln>
        </p:spPr>
        <p:txBody>
          <a:bodyPr wrap="square" lIns="0" tIns="0" rIns="0" bIns="0" anchor="t">
            <a:normAutofit/>
          </a:bodyPr>
          <a:lstStyle/>
          <a:p>
            <a:pPr algn="l">
              <a:lnSpc>
                <a:spcPct val="100000"/>
              </a:lnSpc>
              <a:buNone/>
              <a:defRPr sz="825" b="0">
                <a:solidFill>
                  <a:srgbClr val="5F6C7B"/>
                </a:solidFill>
                <a:latin typeface="Arial" panose="020B0604020202020204"/>
                <a:ea typeface="Arial" panose="020B0604020202020204"/>
                <a:cs typeface="Arial" panose="020B0604020202020204"/>
              </a:defRPr>
            </a:pPr>
            <a:r>
              <a:rPr sz="825" b="0">
                <a:solidFill>
                  <a:srgbClr val="5F6C7B"/>
                </a:solidFill>
                <a:latin typeface="Arial" panose="020B0604020202020204"/>
                <a:ea typeface="Arial" panose="020B0604020202020204"/>
                <a:cs typeface="Arial" panose="020B0604020202020204"/>
              </a:rPr>
              <a:t>Nguồn: ai-models/src/train.py</a:t>
            </a:r>
            <a:endParaRPr sz="825" b="0">
              <a:solidFill>
                <a:srgbClr val="5F6C7B"/>
              </a:solidFill>
              <a:latin typeface="Arial" panose="020B0604020202020204"/>
              <a:ea typeface="Arial" panose="020B0604020202020204"/>
              <a:cs typeface="Arial" panose="020B06040202020202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
        <p:cNvGrpSpPr/>
        <p:nvPr/>
      </p:nvGrpSpPr>
      <p:grpSpPr/>
      <p:sp>
        <p:nvSpPr>
          <p:cNvPr id="39" name="Rectangle 38"/>
          <p:cNvSpPr>
            <a:spLocks noGrp="1"/>
          </p:cNvSpPr>
          <p:nvPr/>
        </p:nvSpPr>
        <p:spPr>
          <a:xfrm>
            <a:off x="666750" y="323850"/>
            <a:ext cx="9525000" cy="228600"/>
          </a:xfrm>
          <a:prstGeom prst="rect">
            <a:avLst/>
          </a:prstGeom>
          <a:noFill/>
          <a:ln w="0">
            <a:noFill/>
            <a:prstDash val="solid"/>
          </a:ln>
        </p:spPr>
        <p:txBody>
          <a:bodyPr wrap="square" lIns="0" tIns="0" rIns="0" bIns="0" anchor="t">
            <a:normAutofit/>
          </a:bodyPr>
          <a:lstStyle/>
          <a:p>
            <a:pPr algn="l">
              <a:lnSpc>
                <a:spcPct val="100000"/>
              </a:lnSpc>
              <a:buNone/>
              <a:defRPr sz="975" b="1">
                <a:solidFill>
                  <a:srgbClr val="167D8D"/>
                </a:solidFill>
                <a:latin typeface="Arial" panose="020B0604020202020204"/>
                <a:ea typeface="Arial" panose="020B0604020202020204"/>
                <a:cs typeface="Arial" panose="020B0604020202020204"/>
              </a:defRPr>
            </a:pPr>
            <a:r>
              <a:rPr sz="975" b="1">
                <a:solidFill>
                  <a:srgbClr val="167D8D"/>
                </a:solidFill>
                <a:latin typeface="Arial" panose="020B0604020202020204"/>
                <a:ea typeface="Arial" panose="020B0604020202020204"/>
                <a:cs typeface="Arial" panose="020B0604020202020204"/>
              </a:rPr>
              <a:t>06 · TRAINING WORKFLOW</a:t>
            </a:r>
            <a:endParaRPr sz="975" b="1">
              <a:solidFill>
                <a:srgbClr val="167D8D"/>
              </a:solidFill>
              <a:latin typeface="Arial" panose="020B0604020202020204"/>
              <a:ea typeface="Arial" panose="020B0604020202020204"/>
              <a:cs typeface="Arial" panose="020B0604020202020204"/>
            </a:endParaRPr>
          </a:p>
        </p:txBody>
      </p:sp>
      <p:sp>
        <p:nvSpPr>
          <p:cNvPr id="2" name="Rectangle 1"/>
          <p:cNvSpPr>
            <a:spLocks noGrp="1"/>
          </p:cNvSpPr>
          <p:nvPr/>
        </p:nvSpPr>
        <p:spPr>
          <a:xfrm>
            <a:off x="666750" y="571500"/>
            <a:ext cx="10287000" cy="523875"/>
          </a:xfrm>
          <a:prstGeom prst="rect">
            <a:avLst/>
          </a:prstGeom>
          <a:noFill/>
          <a:ln w="0">
            <a:noFill/>
            <a:prstDash val="solid"/>
          </a:ln>
        </p:spPr>
        <p:txBody>
          <a:bodyPr wrap="square" lIns="0" tIns="0" rIns="0" bIns="0" anchor="t">
            <a:normAutofit/>
          </a:bodyPr>
          <a:lstStyle/>
          <a:p>
            <a:pPr algn="l">
              <a:lnSpc>
                <a:spcPct val="100000"/>
              </a:lnSpc>
              <a:buNone/>
              <a:defRPr sz="2700" b="1">
                <a:solidFill>
                  <a:srgbClr val="102A43"/>
                </a:solidFill>
                <a:latin typeface="Arial" panose="020B0604020202020204"/>
                <a:ea typeface="Arial" panose="020B0604020202020204"/>
                <a:cs typeface="Arial" panose="020B0604020202020204"/>
              </a:defRPr>
            </a:pPr>
            <a:r>
              <a:rPr sz="2700" b="1">
                <a:solidFill>
                  <a:srgbClr val="102A43"/>
                </a:solidFill>
                <a:latin typeface="Arial" panose="020B0604020202020204"/>
                <a:ea typeface="Arial" panose="020B0604020202020204"/>
                <a:cs typeface="Arial" panose="020B0604020202020204"/>
              </a:rPr>
              <a:t>Quy trình huấn luyện</a:t>
            </a:r>
            <a:endParaRPr sz="2700" b="1">
              <a:solidFill>
                <a:srgbClr val="102A43"/>
              </a:solidFill>
              <a:latin typeface="Arial" panose="020B0604020202020204"/>
              <a:ea typeface="Arial" panose="020B0604020202020204"/>
              <a:cs typeface="Arial" panose="020B0604020202020204"/>
            </a:endParaRPr>
          </a:p>
        </p:txBody>
      </p:sp>
      <p:sp>
        <p:nvSpPr>
          <p:cNvPr id="3" name="Rectangle 2"/>
          <p:cNvSpPr>
            <a:spLocks noGrp="1"/>
          </p:cNvSpPr>
          <p:nvPr/>
        </p:nvSpPr>
        <p:spPr>
          <a:xfrm>
            <a:off x="666750" y="1152525"/>
            <a:ext cx="714375" cy="47625"/>
          </a:xfrm>
          <a:prstGeom prst="rect">
            <a:avLst/>
          </a:prstGeom>
          <a:solidFill>
            <a:srgbClr val="E76F51"/>
          </a:solidFill>
          <a:ln w="0">
            <a:noFill/>
            <a:prstDash val="solid"/>
          </a:ln>
        </p:spPr>
      </p:sp>
      <p:sp>
        <p:nvSpPr>
          <p:cNvPr id="4" name="Rectangle 3"/>
          <p:cNvSpPr>
            <a:spLocks noGrp="1"/>
          </p:cNvSpPr>
          <p:nvPr/>
        </p:nvSpPr>
        <p:spPr>
          <a:xfrm>
            <a:off x="11191875" y="409575"/>
            <a:ext cx="381000" cy="247650"/>
          </a:xfrm>
          <a:prstGeom prst="rect">
            <a:avLst/>
          </a:prstGeom>
          <a:noFill/>
          <a:ln w="0">
            <a:noFill/>
            <a:prstDash val="solid"/>
          </a:ln>
        </p:spPr>
        <p:txBody>
          <a:bodyPr wrap="square" lIns="0" tIns="0" rIns="0" bIns="0" anchor="t">
            <a:normAutofit/>
          </a:bodyPr>
          <a:lstStyle/>
          <a:p>
            <a:pPr algn="r">
              <a:lnSpc>
                <a:spcPct val="100000"/>
              </a:lnSpc>
              <a:buNone/>
              <a:defRPr sz="1050" b="1">
                <a:solidFill>
                  <a:srgbClr val="5F6C7B"/>
                </a:solidFill>
                <a:latin typeface="Arial" panose="020B0604020202020204"/>
                <a:ea typeface="Arial" panose="020B0604020202020204"/>
                <a:cs typeface="Arial" panose="020B0604020202020204"/>
              </a:defRPr>
            </a:pPr>
            <a:r>
              <a:rPr sz="1050" b="1">
                <a:solidFill>
                  <a:srgbClr val="5F6C7B"/>
                </a:solidFill>
                <a:latin typeface="Arial" panose="020B0604020202020204"/>
                <a:ea typeface="Arial" panose="020B0604020202020204"/>
                <a:cs typeface="Arial" panose="020B0604020202020204"/>
              </a:rPr>
              <a:t>08</a:t>
            </a:r>
            <a:endParaRPr sz="1050" b="1">
              <a:solidFill>
                <a:srgbClr val="5F6C7B"/>
              </a:solidFill>
              <a:latin typeface="Arial" panose="020B0604020202020204"/>
              <a:ea typeface="Arial" panose="020B0604020202020204"/>
              <a:cs typeface="Arial" panose="020B0604020202020204"/>
            </a:endParaRPr>
          </a:p>
        </p:txBody>
      </p:sp>
      <p:sp>
        <p:nvSpPr>
          <p:cNvPr id="5" name="Rounded Rectangle 4"/>
          <p:cNvSpPr>
            <a:spLocks noGrp="1"/>
          </p:cNvSpPr>
          <p:nvPr/>
        </p:nvSpPr>
        <p:spPr>
          <a:xfrm>
            <a:off x="619125" y="2286000"/>
            <a:ext cx="1714500" cy="1047750"/>
          </a:xfrm>
          <a:prstGeom prst="roundRect">
            <a:avLst>
              <a:gd name="adj" fmla="val 6364"/>
            </a:avLst>
          </a:prstGeom>
          <a:solidFill>
            <a:srgbClr val="FFFFFF"/>
          </a:solidFill>
          <a:ln w="9525">
            <a:solidFill>
              <a:srgbClr val="173F5F"/>
            </a:solidFill>
            <a:prstDash val="solid"/>
          </a:ln>
        </p:spPr>
        <p:style>
          <a:lnRef idx="0">
            <a:srgbClr val="FFFFFF"/>
          </a:lnRef>
          <a:fillRef idx="0">
            <a:srgbClr val="FFFFFF"/>
          </a:fillRef>
          <a:effectRef idx="4">
            <a:srgbClr val="FFFFFF"/>
          </a:effectRef>
          <a:fontRef idx="major"/>
        </p:style>
      </p:sp>
      <p:sp>
        <p:nvSpPr>
          <p:cNvPr id="6" name="Rectangle 5"/>
          <p:cNvSpPr>
            <a:spLocks noGrp="1"/>
          </p:cNvSpPr>
          <p:nvPr/>
        </p:nvSpPr>
        <p:spPr>
          <a:xfrm>
            <a:off x="619125" y="2286000"/>
            <a:ext cx="1714500" cy="66675"/>
          </a:xfrm>
          <a:prstGeom prst="rect">
            <a:avLst/>
          </a:prstGeom>
          <a:solidFill>
            <a:srgbClr val="173F5F"/>
          </a:solidFill>
          <a:ln w="0">
            <a:noFill/>
            <a:prstDash val="solid"/>
          </a:ln>
        </p:spPr>
      </p:sp>
      <p:sp>
        <p:nvSpPr>
          <p:cNvPr id="7" name="Rectangle 6"/>
          <p:cNvSpPr>
            <a:spLocks noGrp="1"/>
          </p:cNvSpPr>
          <p:nvPr/>
        </p:nvSpPr>
        <p:spPr>
          <a:xfrm>
            <a:off x="733425" y="2476500"/>
            <a:ext cx="1485900" cy="323850"/>
          </a:xfrm>
          <a:prstGeom prst="rect">
            <a:avLst/>
          </a:prstGeom>
          <a:noFill/>
          <a:ln w="0">
            <a:noFill/>
            <a:prstDash val="solid"/>
          </a:ln>
        </p:spPr>
        <p:txBody>
          <a:bodyPr wrap="square" lIns="95250" tIns="57150" rIns="95250" bIns="57150" anchor="ctr">
            <a:normAutofit fontScale="96491"/>
          </a:bodyPr>
          <a:lstStyle/>
          <a:p>
            <a:pPr algn="ctr">
              <a:lnSpc>
                <a:spcPct val="100000"/>
              </a:lnSpc>
              <a:buNone/>
              <a:defRPr sz="1425" b="1">
                <a:solidFill>
                  <a:srgbClr val="102A43"/>
                </a:solidFill>
                <a:latin typeface="Arial" panose="020B0604020202020204"/>
                <a:ea typeface="Arial" panose="020B0604020202020204"/>
                <a:cs typeface="Arial" panose="020B0604020202020204"/>
              </a:defRPr>
            </a:pPr>
            <a:r>
              <a:rPr sz="1425" b="1">
                <a:solidFill>
                  <a:srgbClr val="102A43"/>
                </a:solidFill>
                <a:latin typeface="Arial" panose="020B0604020202020204"/>
                <a:ea typeface="Arial" panose="020B0604020202020204"/>
                <a:cs typeface="Arial" panose="020B0604020202020204"/>
              </a:rPr>
              <a:t>housing.csv</a:t>
            </a:r>
            <a:endParaRPr sz="1425" b="1">
              <a:solidFill>
                <a:srgbClr val="102A43"/>
              </a:solidFill>
              <a:latin typeface="Arial" panose="020B0604020202020204"/>
              <a:ea typeface="Arial" panose="020B0604020202020204"/>
              <a:cs typeface="Arial" panose="020B0604020202020204"/>
            </a:endParaRPr>
          </a:p>
        </p:txBody>
      </p:sp>
      <p:sp>
        <p:nvSpPr>
          <p:cNvPr id="8" name="Rectangle 7"/>
          <p:cNvSpPr>
            <a:spLocks noGrp="1"/>
          </p:cNvSpPr>
          <p:nvPr/>
        </p:nvSpPr>
        <p:spPr>
          <a:xfrm>
            <a:off x="733425" y="2847975"/>
            <a:ext cx="1485900" cy="333375"/>
          </a:xfrm>
          <a:prstGeom prst="rect">
            <a:avLst/>
          </a:prstGeom>
          <a:noFill/>
          <a:ln w="0">
            <a:noFill/>
            <a:prstDash val="solid"/>
          </a:ln>
        </p:spPr>
        <p:txBody>
          <a:bodyPr wrap="square" lIns="95250" tIns="57150" rIns="95250" bIns="57150" anchor="ctr">
            <a:normAutofit/>
          </a:bodyPr>
          <a:lstStyle/>
          <a:p>
            <a:pPr algn="ctr">
              <a:lnSpc>
                <a:spcPct val="100000"/>
              </a:lnSpc>
              <a:buNone/>
              <a:defRPr sz="975" b="0">
                <a:solidFill>
                  <a:srgbClr val="5F6C7B"/>
                </a:solidFill>
                <a:latin typeface="Arial" panose="020B0604020202020204"/>
                <a:ea typeface="Arial" panose="020B0604020202020204"/>
                <a:cs typeface="Arial" panose="020B0604020202020204"/>
              </a:defRPr>
            </a:pPr>
            <a:r>
              <a:rPr sz="975" b="0">
                <a:solidFill>
                  <a:srgbClr val="5F6C7B"/>
                </a:solidFill>
                <a:latin typeface="Arial" panose="020B0604020202020204"/>
                <a:ea typeface="Arial" panose="020B0604020202020204"/>
                <a:cs typeface="Arial" panose="020B0604020202020204"/>
              </a:rPr>
              <a:t>20.640 dòng</a:t>
            </a:r>
            <a:endParaRPr sz="975" b="0">
              <a:solidFill>
                <a:srgbClr val="5F6C7B"/>
              </a:solidFill>
              <a:latin typeface="Arial" panose="020B0604020202020204"/>
              <a:ea typeface="Arial" panose="020B0604020202020204"/>
              <a:cs typeface="Arial" panose="020B0604020202020204"/>
            </a:endParaRPr>
          </a:p>
        </p:txBody>
      </p:sp>
      <p:sp>
        <p:nvSpPr>
          <p:cNvPr id="9" name="Rounded Rectangle 8"/>
          <p:cNvSpPr>
            <a:spLocks noGrp="1"/>
          </p:cNvSpPr>
          <p:nvPr/>
        </p:nvSpPr>
        <p:spPr>
          <a:xfrm>
            <a:off x="2762250" y="1619250"/>
            <a:ext cx="1809750" cy="1047750"/>
          </a:xfrm>
          <a:prstGeom prst="roundRect">
            <a:avLst>
              <a:gd name="adj" fmla="val 6364"/>
            </a:avLst>
          </a:prstGeom>
          <a:solidFill>
            <a:srgbClr val="FFFFFF"/>
          </a:solidFill>
          <a:ln w="9525">
            <a:solidFill>
              <a:srgbClr val="167D8D"/>
            </a:solidFill>
            <a:prstDash val="solid"/>
          </a:ln>
        </p:spPr>
        <p:style>
          <a:lnRef idx="0">
            <a:srgbClr val="FFFFFF"/>
          </a:lnRef>
          <a:fillRef idx="0">
            <a:srgbClr val="FFFFFF"/>
          </a:fillRef>
          <a:effectRef idx="4">
            <a:srgbClr val="FFFFFF"/>
          </a:effectRef>
          <a:fontRef idx="major"/>
        </p:style>
      </p:sp>
      <p:sp>
        <p:nvSpPr>
          <p:cNvPr id="10" name="Rectangle 9"/>
          <p:cNvSpPr>
            <a:spLocks noGrp="1"/>
          </p:cNvSpPr>
          <p:nvPr/>
        </p:nvSpPr>
        <p:spPr>
          <a:xfrm>
            <a:off x="2762250" y="1619250"/>
            <a:ext cx="1809750" cy="66675"/>
          </a:xfrm>
          <a:prstGeom prst="rect">
            <a:avLst/>
          </a:prstGeom>
          <a:solidFill>
            <a:srgbClr val="167D8D"/>
          </a:solidFill>
          <a:ln w="0">
            <a:noFill/>
            <a:prstDash val="solid"/>
          </a:ln>
        </p:spPr>
      </p:sp>
      <p:sp>
        <p:nvSpPr>
          <p:cNvPr id="11" name="Rectangle 10"/>
          <p:cNvSpPr>
            <a:spLocks noGrp="1"/>
          </p:cNvSpPr>
          <p:nvPr/>
        </p:nvSpPr>
        <p:spPr>
          <a:xfrm>
            <a:off x="2876550" y="1809750"/>
            <a:ext cx="1581150" cy="323850"/>
          </a:xfrm>
          <a:prstGeom prst="rect">
            <a:avLst/>
          </a:prstGeom>
          <a:noFill/>
          <a:ln w="0">
            <a:noFill/>
            <a:prstDash val="solid"/>
          </a:ln>
        </p:spPr>
        <p:txBody>
          <a:bodyPr wrap="square" lIns="95250" tIns="57150" rIns="95250" bIns="57150" anchor="ctr">
            <a:normAutofit fontScale="96491"/>
          </a:bodyPr>
          <a:lstStyle/>
          <a:p>
            <a:pPr algn="ctr">
              <a:lnSpc>
                <a:spcPct val="100000"/>
              </a:lnSpc>
              <a:buNone/>
              <a:defRPr sz="1425" b="1">
                <a:solidFill>
                  <a:srgbClr val="102A43"/>
                </a:solidFill>
                <a:latin typeface="Arial" panose="020B0604020202020204"/>
                <a:ea typeface="Arial" panose="020B0604020202020204"/>
                <a:cs typeface="Arial" panose="020B0604020202020204"/>
              </a:defRPr>
            </a:pPr>
            <a:r>
              <a:rPr sz="1425" b="1">
                <a:solidFill>
                  <a:srgbClr val="102A43"/>
                </a:solidFill>
                <a:latin typeface="Arial" panose="020B0604020202020204"/>
                <a:ea typeface="Arial" panose="020B0604020202020204"/>
                <a:cs typeface="Arial" panose="020B0604020202020204"/>
              </a:rPr>
              <a:t>Train 80%</a:t>
            </a:r>
            <a:endParaRPr sz="1425" b="1">
              <a:solidFill>
                <a:srgbClr val="102A43"/>
              </a:solidFill>
              <a:latin typeface="Arial" panose="020B0604020202020204"/>
              <a:ea typeface="Arial" panose="020B0604020202020204"/>
              <a:cs typeface="Arial" panose="020B0604020202020204"/>
            </a:endParaRPr>
          </a:p>
        </p:txBody>
      </p:sp>
      <p:sp>
        <p:nvSpPr>
          <p:cNvPr id="12" name="Rectangle 11"/>
          <p:cNvSpPr>
            <a:spLocks noGrp="1"/>
          </p:cNvSpPr>
          <p:nvPr/>
        </p:nvSpPr>
        <p:spPr>
          <a:xfrm>
            <a:off x="2876550" y="2181225"/>
            <a:ext cx="1581150" cy="333375"/>
          </a:xfrm>
          <a:prstGeom prst="rect">
            <a:avLst/>
          </a:prstGeom>
          <a:noFill/>
          <a:ln w="0">
            <a:noFill/>
            <a:prstDash val="solid"/>
          </a:ln>
        </p:spPr>
        <p:txBody>
          <a:bodyPr wrap="square" lIns="95250" tIns="57150" rIns="95250" bIns="57150" anchor="ctr">
            <a:normAutofit/>
          </a:bodyPr>
          <a:lstStyle/>
          <a:p>
            <a:pPr algn="ctr">
              <a:lnSpc>
                <a:spcPct val="100000"/>
              </a:lnSpc>
              <a:buNone/>
              <a:defRPr sz="975" b="0">
                <a:solidFill>
                  <a:srgbClr val="5F6C7B"/>
                </a:solidFill>
                <a:latin typeface="Arial" panose="020B0604020202020204"/>
                <a:ea typeface="Arial" panose="020B0604020202020204"/>
                <a:cs typeface="Arial" panose="020B0604020202020204"/>
              </a:defRPr>
            </a:pPr>
            <a:r>
              <a:rPr sz="975" b="0">
                <a:solidFill>
                  <a:srgbClr val="5F6C7B"/>
                </a:solidFill>
                <a:latin typeface="Arial" panose="020B0604020202020204"/>
                <a:ea typeface="Arial" panose="020B0604020202020204"/>
                <a:cs typeface="Arial" panose="020B0604020202020204"/>
              </a:rPr>
              <a:t>Fit imputer + pipeline</a:t>
            </a:r>
            <a:endParaRPr sz="975" b="0">
              <a:solidFill>
                <a:srgbClr val="5F6C7B"/>
              </a:solidFill>
              <a:latin typeface="Arial" panose="020B0604020202020204"/>
              <a:ea typeface="Arial" panose="020B0604020202020204"/>
              <a:cs typeface="Arial" panose="020B0604020202020204"/>
            </a:endParaRPr>
          </a:p>
        </p:txBody>
      </p:sp>
      <p:sp>
        <p:nvSpPr>
          <p:cNvPr id="13" name="Rounded Rectangle 12"/>
          <p:cNvSpPr>
            <a:spLocks noGrp="1"/>
          </p:cNvSpPr>
          <p:nvPr/>
        </p:nvSpPr>
        <p:spPr>
          <a:xfrm>
            <a:off x="2762250" y="3143250"/>
            <a:ext cx="1809750" cy="1047750"/>
          </a:xfrm>
          <a:prstGeom prst="roundRect">
            <a:avLst>
              <a:gd name="adj" fmla="val 6364"/>
            </a:avLst>
          </a:prstGeom>
          <a:solidFill>
            <a:srgbClr val="FFFFFF"/>
          </a:solidFill>
          <a:ln w="9525">
            <a:solidFill>
              <a:srgbClr val="E76F51"/>
            </a:solidFill>
            <a:prstDash val="solid"/>
          </a:ln>
        </p:spPr>
        <p:style>
          <a:lnRef idx="0">
            <a:srgbClr val="FFFFFF"/>
          </a:lnRef>
          <a:fillRef idx="0">
            <a:srgbClr val="FFFFFF"/>
          </a:fillRef>
          <a:effectRef idx="4">
            <a:srgbClr val="FFFFFF"/>
          </a:effectRef>
          <a:fontRef idx="major"/>
        </p:style>
      </p:sp>
      <p:sp>
        <p:nvSpPr>
          <p:cNvPr id="14" name="Rectangle 13"/>
          <p:cNvSpPr>
            <a:spLocks noGrp="1"/>
          </p:cNvSpPr>
          <p:nvPr/>
        </p:nvSpPr>
        <p:spPr>
          <a:xfrm>
            <a:off x="2762250" y="3143250"/>
            <a:ext cx="1809750" cy="66675"/>
          </a:xfrm>
          <a:prstGeom prst="rect">
            <a:avLst/>
          </a:prstGeom>
          <a:solidFill>
            <a:srgbClr val="E76F51"/>
          </a:solidFill>
          <a:ln w="0">
            <a:noFill/>
            <a:prstDash val="solid"/>
          </a:ln>
        </p:spPr>
      </p:sp>
      <p:sp>
        <p:nvSpPr>
          <p:cNvPr id="15" name="Rectangle 14"/>
          <p:cNvSpPr>
            <a:spLocks noGrp="1"/>
          </p:cNvSpPr>
          <p:nvPr/>
        </p:nvSpPr>
        <p:spPr>
          <a:xfrm>
            <a:off x="2876550" y="3333750"/>
            <a:ext cx="1581150" cy="323850"/>
          </a:xfrm>
          <a:prstGeom prst="rect">
            <a:avLst/>
          </a:prstGeom>
          <a:noFill/>
          <a:ln w="0">
            <a:noFill/>
            <a:prstDash val="solid"/>
          </a:ln>
        </p:spPr>
        <p:txBody>
          <a:bodyPr wrap="square" lIns="95250" tIns="57150" rIns="95250" bIns="57150" anchor="ctr">
            <a:normAutofit fontScale="96491"/>
          </a:bodyPr>
          <a:lstStyle/>
          <a:p>
            <a:pPr algn="ctr">
              <a:lnSpc>
                <a:spcPct val="100000"/>
              </a:lnSpc>
              <a:buNone/>
              <a:defRPr sz="1425" b="1">
                <a:solidFill>
                  <a:srgbClr val="102A43"/>
                </a:solidFill>
                <a:latin typeface="Arial" panose="020B0604020202020204"/>
                <a:ea typeface="Arial" panose="020B0604020202020204"/>
                <a:cs typeface="Arial" panose="020B0604020202020204"/>
              </a:defRPr>
            </a:pPr>
            <a:r>
              <a:rPr sz="1425" b="1">
                <a:solidFill>
                  <a:srgbClr val="102A43"/>
                </a:solidFill>
                <a:latin typeface="Arial" panose="020B0604020202020204"/>
                <a:ea typeface="Arial" panose="020B0604020202020204"/>
                <a:cs typeface="Arial" panose="020B0604020202020204"/>
              </a:rPr>
              <a:t>Test 20%</a:t>
            </a:r>
            <a:endParaRPr sz="1425" b="1">
              <a:solidFill>
                <a:srgbClr val="102A43"/>
              </a:solidFill>
              <a:latin typeface="Arial" panose="020B0604020202020204"/>
              <a:ea typeface="Arial" panose="020B0604020202020204"/>
              <a:cs typeface="Arial" panose="020B0604020202020204"/>
            </a:endParaRPr>
          </a:p>
        </p:txBody>
      </p:sp>
      <p:sp>
        <p:nvSpPr>
          <p:cNvPr id="16" name="Rectangle 15"/>
          <p:cNvSpPr>
            <a:spLocks noGrp="1"/>
          </p:cNvSpPr>
          <p:nvPr/>
        </p:nvSpPr>
        <p:spPr>
          <a:xfrm>
            <a:off x="2876550" y="3705225"/>
            <a:ext cx="1581150" cy="333375"/>
          </a:xfrm>
          <a:prstGeom prst="rect">
            <a:avLst/>
          </a:prstGeom>
          <a:noFill/>
          <a:ln w="0">
            <a:noFill/>
            <a:prstDash val="solid"/>
          </a:ln>
        </p:spPr>
        <p:txBody>
          <a:bodyPr wrap="square" lIns="95250" tIns="57150" rIns="95250" bIns="57150" anchor="ctr">
            <a:normAutofit/>
          </a:bodyPr>
          <a:lstStyle/>
          <a:p>
            <a:pPr algn="ctr">
              <a:lnSpc>
                <a:spcPct val="100000"/>
              </a:lnSpc>
              <a:buNone/>
              <a:defRPr sz="975" b="0">
                <a:solidFill>
                  <a:srgbClr val="5F6C7B"/>
                </a:solidFill>
                <a:latin typeface="Arial" panose="020B0604020202020204"/>
                <a:ea typeface="Arial" panose="020B0604020202020204"/>
                <a:cs typeface="Arial" panose="020B0604020202020204"/>
              </a:defRPr>
            </a:pPr>
            <a:r>
              <a:rPr sz="975" b="0">
                <a:solidFill>
                  <a:srgbClr val="5F6C7B"/>
                </a:solidFill>
                <a:latin typeface="Arial" panose="020B0604020202020204"/>
                <a:ea typeface="Arial" panose="020B0604020202020204"/>
                <a:cs typeface="Arial" panose="020B0604020202020204"/>
              </a:rPr>
              <a:t>Giữ riêng để đánh giá</a:t>
            </a:r>
            <a:endParaRPr sz="975" b="0">
              <a:solidFill>
                <a:srgbClr val="5F6C7B"/>
              </a:solidFill>
              <a:latin typeface="Arial" panose="020B0604020202020204"/>
              <a:ea typeface="Arial" panose="020B0604020202020204"/>
              <a:cs typeface="Arial" panose="020B0604020202020204"/>
            </a:endParaRPr>
          </a:p>
        </p:txBody>
      </p:sp>
      <p:sp>
        <p:nvSpPr>
          <p:cNvPr id="17" name="Rounded Rectangle 16"/>
          <p:cNvSpPr>
            <a:spLocks noGrp="1"/>
          </p:cNvSpPr>
          <p:nvPr/>
        </p:nvSpPr>
        <p:spPr>
          <a:xfrm>
            <a:off x="5095875" y="1619250"/>
            <a:ext cx="2000250" cy="1047750"/>
          </a:xfrm>
          <a:prstGeom prst="roundRect">
            <a:avLst>
              <a:gd name="adj" fmla="val 6364"/>
            </a:avLst>
          </a:prstGeom>
          <a:solidFill>
            <a:srgbClr val="FFFFFF"/>
          </a:solidFill>
          <a:ln w="9525">
            <a:solidFill>
              <a:srgbClr val="E9C46A"/>
            </a:solidFill>
            <a:prstDash val="solid"/>
          </a:ln>
        </p:spPr>
        <p:style>
          <a:lnRef idx="0">
            <a:srgbClr val="FFFFFF"/>
          </a:lnRef>
          <a:fillRef idx="0">
            <a:srgbClr val="FFFFFF"/>
          </a:fillRef>
          <a:effectRef idx="4">
            <a:srgbClr val="FFFFFF"/>
          </a:effectRef>
          <a:fontRef idx="major"/>
        </p:style>
      </p:sp>
      <p:sp>
        <p:nvSpPr>
          <p:cNvPr id="18" name="Rectangle 17"/>
          <p:cNvSpPr>
            <a:spLocks noGrp="1"/>
          </p:cNvSpPr>
          <p:nvPr/>
        </p:nvSpPr>
        <p:spPr>
          <a:xfrm>
            <a:off x="5095875" y="1619250"/>
            <a:ext cx="2000250" cy="66675"/>
          </a:xfrm>
          <a:prstGeom prst="rect">
            <a:avLst/>
          </a:prstGeom>
          <a:solidFill>
            <a:srgbClr val="E9C46A"/>
          </a:solidFill>
          <a:ln w="0">
            <a:noFill/>
            <a:prstDash val="solid"/>
          </a:ln>
        </p:spPr>
      </p:sp>
      <p:sp>
        <p:nvSpPr>
          <p:cNvPr id="19" name="Rectangle 18"/>
          <p:cNvSpPr>
            <a:spLocks noGrp="1"/>
          </p:cNvSpPr>
          <p:nvPr/>
        </p:nvSpPr>
        <p:spPr>
          <a:xfrm>
            <a:off x="5210175" y="1809750"/>
            <a:ext cx="1771650" cy="323850"/>
          </a:xfrm>
          <a:prstGeom prst="rect">
            <a:avLst/>
          </a:prstGeom>
          <a:noFill/>
          <a:ln w="0">
            <a:noFill/>
            <a:prstDash val="solid"/>
          </a:ln>
        </p:spPr>
        <p:txBody>
          <a:bodyPr wrap="square" lIns="95250" tIns="57150" rIns="95250" bIns="57150" anchor="ctr">
            <a:normAutofit fontScale="96491"/>
          </a:bodyPr>
          <a:lstStyle/>
          <a:p>
            <a:pPr algn="ctr">
              <a:lnSpc>
                <a:spcPct val="100000"/>
              </a:lnSpc>
              <a:buNone/>
              <a:defRPr sz="1425" b="1">
                <a:solidFill>
                  <a:srgbClr val="102A43"/>
                </a:solidFill>
                <a:latin typeface="Arial" panose="020B0604020202020204"/>
                <a:ea typeface="Arial" panose="020B0604020202020204"/>
                <a:cs typeface="Arial" panose="020B0604020202020204"/>
              </a:defRPr>
            </a:pPr>
            <a:r>
              <a:rPr sz="1425" b="1">
                <a:solidFill>
                  <a:srgbClr val="102A43"/>
                </a:solidFill>
                <a:latin typeface="Arial" panose="020B0604020202020204"/>
                <a:ea typeface="Arial" panose="020B0604020202020204"/>
                <a:cs typeface="Arial" panose="020B0604020202020204"/>
              </a:rPr>
              <a:t>Search + CV</a:t>
            </a:r>
            <a:endParaRPr sz="1425" b="1">
              <a:solidFill>
                <a:srgbClr val="102A43"/>
              </a:solidFill>
              <a:latin typeface="Arial" panose="020B0604020202020204"/>
              <a:ea typeface="Arial" panose="020B0604020202020204"/>
              <a:cs typeface="Arial" panose="020B0604020202020204"/>
            </a:endParaRPr>
          </a:p>
        </p:txBody>
      </p:sp>
      <p:sp>
        <p:nvSpPr>
          <p:cNvPr id="20" name="Rectangle 19"/>
          <p:cNvSpPr>
            <a:spLocks noGrp="1"/>
          </p:cNvSpPr>
          <p:nvPr/>
        </p:nvSpPr>
        <p:spPr>
          <a:xfrm>
            <a:off x="5210175" y="2181225"/>
            <a:ext cx="1771650" cy="333375"/>
          </a:xfrm>
          <a:prstGeom prst="rect">
            <a:avLst/>
          </a:prstGeom>
          <a:noFill/>
          <a:ln w="0">
            <a:noFill/>
            <a:prstDash val="solid"/>
          </a:ln>
        </p:spPr>
        <p:txBody>
          <a:bodyPr wrap="square" lIns="95250" tIns="57150" rIns="95250" bIns="57150" anchor="ctr">
            <a:normAutofit/>
          </a:bodyPr>
          <a:lstStyle/>
          <a:p>
            <a:pPr algn="ctr">
              <a:lnSpc>
                <a:spcPct val="100000"/>
              </a:lnSpc>
              <a:buNone/>
              <a:defRPr sz="975" b="0">
                <a:solidFill>
                  <a:srgbClr val="5F6C7B"/>
                </a:solidFill>
                <a:latin typeface="Arial" panose="020B0604020202020204"/>
                <a:ea typeface="Arial" panose="020B0604020202020204"/>
                <a:cs typeface="Arial" panose="020B0604020202020204"/>
              </a:defRPr>
            </a:pPr>
            <a:r>
              <a:rPr sz="975" b="0">
                <a:solidFill>
                  <a:srgbClr val="5F6C7B"/>
                </a:solidFill>
                <a:latin typeface="Arial" panose="020B0604020202020204"/>
                <a:ea typeface="Arial" panose="020B0604020202020204"/>
                <a:cs typeface="Arial" panose="020B0604020202020204"/>
              </a:rPr>
              <a:t>5-fold · neg MSE</a:t>
            </a:r>
            <a:endParaRPr sz="975" b="0">
              <a:solidFill>
                <a:srgbClr val="5F6C7B"/>
              </a:solidFill>
              <a:latin typeface="Arial" panose="020B0604020202020204"/>
              <a:ea typeface="Arial" panose="020B0604020202020204"/>
              <a:cs typeface="Arial" panose="020B0604020202020204"/>
            </a:endParaRPr>
          </a:p>
        </p:txBody>
      </p:sp>
      <p:sp>
        <p:nvSpPr>
          <p:cNvPr id="21" name="Rounded Rectangle 20"/>
          <p:cNvSpPr>
            <a:spLocks noGrp="1"/>
          </p:cNvSpPr>
          <p:nvPr/>
        </p:nvSpPr>
        <p:spPr>
          <a:xfrm>
            <a:off x="7620000" y="1619250"/>
            <a:ext cx="1762125" cy="1047750"/>
          </a:xfrm>
          <a:prstGeom prst="roundRect">
            <a:avLst>
              <a:gd name="adj" fmla="val 6364"/>
            </a:avLst>
          </a:prstGeom>
          <a:solidFill>
            <a:srgbClr val="FFFFFF"/>
          </a:solidFill>
          <a:ln w="9525">
            <a:solidFill>
              <a:srgbClr val="2A9D8F"/>
            </a:solidFill>
            <a:prstDash val="solid"/>
          </a:ln>
        </p:spPr>
        <p:style>
          <a:lnRef idx="0">
            <a:srgbClr val="FFFFFF"/>
          </a:lnRef>
          <a:fillRef idx="0">
            <a:srgbClr val="FFFFFF"/>
          </a:fillRef>
          <a:effectRef idx="4">
            <a:srgbClr val="FFFFFF"/>
          </a:effectRef>
          <a:fontRef idx="major"/>
        </p:style>
      </p:sp>
      <p:sp>
        <p:nvSpPr>
          <p:cNvPr id="22" name="Rectangle 21"/>
          <p:cNvSpPr>
            <a:spLocks noGrp="1"/>
          </p:cNvSpPr>
          <p:nvPr/>
        </p:nvSpPr>
        <p:spPr>
          <a:xfrm>
            <a:off x="7620000" y="1619250"/>
            <a:ext cx="1762125" cy="66675"/>
          </a:xfrm>
          <a:prstGeom prst="rect">
            <a:avLst/>
          </a:prstGeom>
          <a:solidFill>
            <a:srgbClr val="2A9D8F"/>
          </a:solidFill>
          <a:ln w="0">
            <a:noFill/>
            <a:prstDash val="solid"/>
          </a:ln>
        </p:spPr>
      </p:sp>
      <p:sp>
        <p:nvSpPr>
          <p:cNvPr id="23" name="Rectangle 22"/>
          <p:cNvSpPr>
            <a:spLocks noGrp="1"/>
          </p:cNvSpPr>
          <p:nvPr/>
        </p:nvSpPr>
        <p:spPr>
          <a:xfrm>
            <a:off x="7734300" y="1809750"/>
            <a:ext cx="1533525" cy="323850"/>
          </a:xfrm>
          <a:prstGeom prst="rect">
            <a:avLst/>
          </a:prstGeom>
          <a:noFill/>
          <a:ln w="0">
            <a:noFill/>
            <a:prstDash val="solid"/>
          </a:ln>
        </p:spPr>
        <p:txBody>
          <a:bodyPr wrap="square" lIns="95250" tIns="57150" rIns="95250" bIns="57150" anchor="ctr">
            <a:normAutofit fontScale="96491"/>
          </a:bodyPr>
          <a:lstStyle/>
          <a:p>
            <a:pPr algn="ctr">
              <a:lnSpc>
                <a:spcPct val="100000"/>
              </a:lnSpc>
              <a:buNone/>
              <a:defRPr sz="1425" b="1">
                <a:solidFill>
                  <a:srgbClr val="102A43"/>
                </a:solidFill>
                <a:latin typeface="Arial" panose="020B0604020202020204"/>
                <a:ea typeface="Arial" panose="020B0604020202020204"/>
                <a:cs typeface="Arial" panose="020B0604020202020204"/>
              </a:defRPr>
            </a:pPr>
            <a:r>
              <a:rPr sz="1425" b="1">
                <a:solidFill>
                  <a:srgbClr val="102A43"/>
                </a:solidFill>
                <a:latin typeface="Arial" panose="020B0604020202020204"/>
                <a:ea typeface="Arial" panose="020B0604020202020204"/>
                <a:cs typeface="Arial" panose="020B0604020202020204"/>
              </a:rPr>
              <a:t>Fit tốt nhất</a:t>
            </a:r>
            <a:endParaRPr sz="1425" b="1">
              <a:solidFill>
                <a:srgbClr val="102A43"/>
              </a:solidFill>
              <a:latin typeface="Arial" panose="020B0604020202020204"/>
              <a:ea typeface="Arial" panose="020B0604020202020204"/>
              <a:cs typeface="Arial" panose="020B0604020202020204"/>
            </a:endParaRPr>
          </a:p>
        </p:txBody>
      </p:sp>
      <p:sp>
        <p:nvSpPr>
          <p:cNvPr id="24" name="Rectangle 23"/>
          <p:cNvSpPr>
            <a:spLocks noGrp="1"/>
          </p:cNvSpPr>
          <p:nvPr/>
        </p:nvSpPr>
        <p:spPr>
          <a:xfrm>
            <a:off x="7734300" y="2181225"/>
            <a:ext cx="1533525" cy="333375"/>
          </a:xfrm>
          <a:prstGeom prst="rect">
            <a:avLst/>
          </a:prstGeom>
          <a:noFill/>
          <a:ln w="0">
            <a:noFill/>
            <a:prstDash val="solid"/>
          </a:ln>
        </p:spPr>
        <p:txBody>
          <a:bodyPr wrap="square" lIns="95250" tIns="57150" rIns="95250" bIns="57150" anchor="ctr">
            <a:normAutofit/>
          </a:bodyPr>
          <a:lstStyle/>
          <a:p>
            <a:pPr algn="ctr">
              <a:lnSpc>
                <a:spcPct val="100000"/>
              </a:lnSpc>
              <a:buNone/>
              <a:defRPr sz="975" b="0">
                <a:solidFill>
                  <a:srgbClr val="5F6C7B"/>
                </a:solidFill>
                <a:latin typeface="Arial" panose="020B0604020202020204"/>
                <a:ea typeface="Arial" panose="020B0604020202020204"/>
                <a:cs typeface="Arial" panose="020B0604020202020204"/>
              </a:defRPr>
            </a:pPr>
            <a:r>
              <a:rPr sz="975" b="0">
                <a:solidFill>
                  <a:srgbClr val="5F6C7B"/>
                </a:solidFill>
                <a:latin typeface="Arial" panose="020B0604020202020204"/>
                <a:ea typeface="Arial" panose="020B0604020202020204"/>
                <a:cs typeface="Arial" panose="020B0604020202020204"/>
              </a:rPr>
              <a:t>Theo CV RMSE</a:t>
            </a:r>
            <a:endParaRPr sz="975" b="0">
              <a:solidFill>
                <a:srgbClr val="5F6C7B"/>
              </a:solidFill>
              <a:latin typeface="Arial" panose="020B0604020202020204"/>
              <a:ea typeface="Arial" panose="020B0604020202020204"/>
              <a:cs typeface="Arial" panose="020B0604020202020204"/>
            </a:endParaRPr>
          </a:p>
        </p:txBody>
      </p:sp>
      <p:sp>
        <p:nvSpPr>
          <p:cNvPr id="25" name="Rounded Rectangle 24"/>
          <p:cNvSpPr>
            <a:spLocks noGrp="1"/>
          </p:cNvSpPr>
          <p:nvPr/>
        </p:nvSpPr>
        <p:spPr>
          <a:xfrm>
            <a:off x="9906000" y="2286000"/>
            <a:ext cx="1714500" cy="1047750"/>
          </a:xfrm>
          <a:prstGeom prst="roundRect">
            <a:avLst>
              <a:gd name="adj" fmla="val 6364"/>
            </a:avLst>
          </a:prstGeom>
          <a:solidFill>
            <a:srgbClr val="FFFFFF"/>
          </a:solidFill>
          <a:ln w="9525">
            <a:solidFill>
              <a:srgbClr val="173F5F"/>
            </a:solidFill>
            <a:prstDash val="solid"/>
          </a:ln>
        </p:spPr>
        <p:style>
          <a:lnRef idx="0">
            <a:srgbClr val="FFFFFF"/>
          </a:lnRef>
          <a:fillRef idx="0">
            <a:srgbClr val="FFFFFF"/>
          </a:fillRef>
          <a:effectRef idx="4">
            <a:srgbClr val="FFFFFF"/>
          </a:effectRef>
          <a:fontRef idx="major"/>
        </p:style>
      </p:sp>
      <p:sp>
        <p:nvSpPr>
          <p:cNvPr id="26" name="Rectangle 25"/>
          <p:cNvSpPr>
            <a:spLocks noGrp="1"/>
          </p:cNvSpPr>
          <p:nvPr/>
        </p:nvSpPr>
        <p:spPr>
          <a:xfrm>
            <a:off x="9906000" y="2286000"/>
            <a:ext cx="1714500" cy="66675"/>
          </a:xfrm>
          <a:prstGeom prst="rect">
            <a:avLst/>
          </a:prstGeom>
          <a:solidFill>
            <a:srgbClr val="173F5F"/>
          </a:solidFill>
          <a:ln w="0">
            <a:noFill/>
            <a:prstDash val="solid"/>
          </a:ln>
        </p:spPr>
      </p:sp>
      <p:sp>
        <p:nvSpPr>
          <p:cNvPr id="27" name="Rectangle 26"/>
          <p:cNvSpPr>
            <a:spLocks noGrp="1"/>
          </p:cNvSpPr>
          <p:nvPr/>
        </p:nvSpPr>
        <p:spPr>
          <a:xfrm>
            <a:off x="10020300" y="2476500"/>
            <a:ext cx="1485900" cy="323850"/>
          </a:xfrm>
          <a:prstGeom prst="rect">
            <a:avLst/>
          </a:prstGeom>
          <a:noFill/>
          <a:ln w="0">
            <a:noFill/>
            <a:prstDash val="solid"/>
          </a:ln>
        </p:spPr>
        <p:txBody>
          <a:bodyPr wrap="square" lIns="95250" tIns="57150" rIns="95250" bIns="57150" anchor="ctr">
            <a:normAutofit fontScale="96491"/>
          </a:bodyPr>
          <a:lstStyle/>
          <a:p>
            <a:pPr algn="ctr">
              <a:lnSpc>
                <a:spcPct val="100000"/>
              </a:lnSpc>
              <a:buNone/>
              <a:defRPr sz="1425" b="1">
                <a:solidFill>
                  <a:srgbClr val="102A43"/>
                </a:solidFill>
                <a:latin typeface="Arial" panose="020B0604020202020204"/>
                <a:ea typeface="Arial" panose="020B0604020202020204"/>
                <a:cs typeface="Arial" panose="020B0604020202020204"/>
              </a:defRPr>
            </a:pPr>
            <a:r>
              <a:rPr sz="1425" b="1">
                <a:solidFill>
                  <a:srgbClr val="102A43"/>
                </a:solidFill>
                <a:latin typeface="Arial" panose="020B0604020202020204"/>
                <a:ea typeface="Arial" panose="020B0604020202020204"/>
                <a:cs typeface="Arial" panose="020B0604020202020204"/>
              </a:rPr>
              <a:t>Đánh giá</a:t>
            </a:r>
            <a:endParaRPr sz="1425" b="1">
              <a:solidFill>
                <a:srgbClr val="102A43"/>
              </a:solidFill>
              <a:latin typeface="Arial" panose="020B0604020202020204"/>
              <a:ea typeface="Arial" panose="020B0604020202020204"/>
              <a:cs typeface="Arial" panose="020B0604020202020204"/>
            </a:endParaRPr>
          </a:p>
        </p:txBody>
      </p:sp>
      <p:sp>
        <p:nvSpPr>
          <p:cNvPr id="28" name="Rectangle 27"/>
          <p:cNvSpPr>
            <a:spLocks noGrp="1"/>
          </p:cNvSpPr>
          <p:nvPr/>
        </p:nvSpPr>
        <p:spPr>
          <a:xfrm>
            <a:off x="10020300" y="2847975"/>
            <a:ext cx="1485900" cy="333375"/>
          </a:xfrm>
          <a:prstGeom prst="rect">
            <a:avLst/>
          </a:prstGeom>
          <a:noFill/>
          <a:ln w="0">
            <a:noFill/>
            <a:prstDash val="solid"/>
          </a:ln>
        </p:spPr>
        <p:txBody>
          <a:bodyPr wrap="square" lIns="95250" tIns="57150" rIns="95250" bIns="57150" anchor="ctr">
            <a:normAutofit/>
          </a:bodyPr>
          <a:lstStyle/>
          <a:p>
            <a:pPr algn="ctr">
              <a:lnSpc>
                <a:spcPct val="100000"/>
              </a:lnSpc>
              <a:buNone/>
              <a:defRPr sz="975" b="0">
                <a:solidFill>
                  <a:srgbClr val="5F6C7B"/>
                </a:solidFill>
                <a:latin typeface="Arial" panose="020B0604020202020204"/>
                <a:ea typeface="Arial" panose="020B0604020202020204"/>
                <a:cs typeface="Arial" panose="020B0604020202020204"/>
              </a:defRPr>
            </a:pPr>
            <a:r>
              <a:rPr sz="975" b="0">
                <a:solidFill>
                  <a:srgbClr val="5F6C7B"/>
                </a:solidFill>
                <a:latin typeface="Arial" panose="020B0604020202020204"/>
                <a:ea typeface="Arial" panose="020B0604020202020204"/>
                <a:cs typeface="Arial" panose="020B0604020202020204"/>
              </a:rPr>
              <a:t>RMSE · MAE · R²</a:t>
            </a:r>
            <a:endParaRPr sz="975" b="0">
              <a:solidFill>
                <a:srgbClr val="5F6C7B"/>
              </a:solidFill>
              <a:latin typeface="Arial" panose="020B0604020202020204"/>
              <a:ea typeface="Arial" panose="020B0604020202020204"/>
              <a:cs typeface="Arial" panose="020B0604020202020204"/>
            </a:endParaRPr>
          </a:p>
        </p:txBody>
      </p:sp>
      <p:sp>
        <p:nvSpPr>
          <p:cNvPr id="29" name="Right Arrow 28"/>
          <p:cNvSpPr>
            <a:spLocks noGrp="1"/>
          </p:cNvSpPr>
          <p:nvPr/>
        </p:nvSpPr>
        <p:spPr>
          <a:xfrm>
            <a:off x="2362200" y="2552700"/>
            <a:ext cx="304800" cy="228600"/>
          </a:xfrm>
          <a:prstGeom prst="rightArrow">
            <a:avLst/>
          </a:prstGeom>
          <a:solidFill>
            <a:srgbClr val="D7E0E8"/>
          </a:solidFill>
          <a:ln w="9525">
            <a:solidFill>
              <a:srgbClr val="D7E0E8"/>
            </a:solidFill>
            <a:prstDash val="solid"/>
          </a:ln>
        </p:spPr>
      </p:sp>
      <p:sp>
        <p:nvSpPr>
          <p:cNvPr id="30" name="Right Arrow 29"/>
          <p:cNvSpPr>
            <a:spLocks noGrp="1"/>
          </p:cNvSpPr>
          <p:nvPr/>
        </p:nvSpPr>
        <p:spPr>
          <a:xfrm>
            <a:off x="4572000" y="2047875"/>
            <a:ext cx="428625" cy="228600"/>
          </a:xfrm>
          <a:prstGeom prst="rightArrow">
            <a:avLst/>
          </a:prstGeom>
          <a:solidFill>
            <a:srgbClr val="D7E0E8"/>
          </a:solidFill>
          <a:ln w="9525">
            <a:solidFill>
              <a:srgbClr val="D7E0E8"/>
            </a:solidFill>
            <a:prstDash val="solid"/>
          </a:ln>
        </p:spPr>
      </p:sp>
      <p:sp>
        <p:nvSpPr>
          <p:cNvPr id="31" name="Right Arrow 30"/>
          <p:cNvSpPr>
            <a:spLocks noGrp="1"/>
          </p:cNvSpPr>
          <p:nvPr/>
        </p:nvSpPr>
        <p:spPr>
          <a:xfrm>
            <a:off x="7143750" y="2047875"/>
            <a:ext cx="381000" cy="228600"/>
          </a:xfrm>
          <a:prstGeom prst="rightArrow">
            <a:avLst/>
          </a:prstGeom>
          <a:solidFill>
            <a:srgbClr val="D7E0E8"/>
          </a:solidFill>
          <a:ln w="9525">
            <a:solidFill>
              <a:srgbClr val="D7E0E8"/>
            </a:solidFill>
            <a:prstDash val="solid"/>
          </a:ln>
        </p:spPr>
      </p:sp>
      <p:sp>
        <p:nvSpPr>
          <p:cNvPr id="32" name="Right Arrow 31"/>
          <p:cNvSpPr>
            <a:spLocks noGrp="1"/>
          </p:cNvSpPr>
          <p:nvPr/>
        </p:nvSpPr>
        <p:spPr>
          <a:xfrm>
            <a:off x="9429750" y="2552700"/>
            <a:ext cx="381000" cy="228600"/>
          </a:xfrm>
          <a:prstGeom prst="rightArrow">
            <a:avLst/>
          </a:prstGeom>
          <a:solidFill>
            <a:srgbClr val="D7E0E8"/>
          </a:solidFill>
          <a:ln w="9525">
            <a:solidFill>
              <a:srgbClr val="D7E0E8"/>
            </a:solidFill>
            <a:prstDash val="solid"/>
          </a:ln>
        </p:spPr>
      </p:sp>
      <p:sp>
        <p:nvSpPr>
          <p:cNvPr id="33" name="Straight Connector 32"/>
          <p:cNvSpPr>
            <a:spLocks noGrp="1"/>
          </p:cNvSpPr>
          <p:nvPr/>
        </p:nvSpPr>
        <p:spPr>
          <a:xfrm>
            <a:off x="2428875" y="2800350"/>
            <a:ext cx="333375" cy="819150"/>
          </a:xfrm>
          <a:prstGeom prst="line">
            <a:avLst/>
          </a:prstGeom>
          <a:noFill/>
          <a:ln w="28575">
            <a:solidFill>
              <a:srgbClr val="D7E0E8"/>
            </a:solidFill>
            <a:prstDash val="solid"/>
          </a:ln>
        </p:spPr>
      </p:sp>
      <p:sp>
        <p:nvSpPr>
          <p:cNvPr id="34" name="Rounded Rectangle 33"/>
          <p:cNvSpPr>
            <a:spLocks noGrp="1"/>
          </p:cNvSpPr>
          <p:nvPr/>
        </p:nvSpPr>
        <p:spPr>
          <a:xfrm>
            <a:off x="904875" y="4905375"/>
            <a:ext cx="10382250" cy="876300"/>
          </a:xfrm>
          <a:prstGeom prst="roundRect">
            <a:avLst>
              <a:gd name="adj" fmla="val 7609"/>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35" name="Rectangle 34"/>
          <p:cNvSpPr>
            <a:spLocks noGrp="1"/>
          </p:cNvSpPr>
          <p:nvPr/>
        </p:nvSpPr>
        <p:spPr>
          <a:xfrm>
            <a:off x="1123950" y="5095875"/>
            <a:ext cx="1809750" cy="257175"/>
          </a:xfrm>
          <a:prstGeom prst="rect">
            <a:avLst/>
          </a:prstGeom>
          <a:noFill/>
          <a:ln w="0">
            <a:noFill/>
            <a:prstDash val="solid"/>
          </a:ln>
        </p:spPr>
        <p:txBody>
          <a:bodyPr wrap="square" lIns="0" tIns="0" rIns="0" bIns="0" anchor="t">
            <a:normAutofit/>
          </a:bodyPr>
          <a:lstStyle/>
          <a:p>
            <a:pPr algn="l">
              <a:lnSpc>
                <a:spcPct val="100000"/>
              </a:lnSpc>
              <a:buNone/>
              <a:defRPr sz="1275" b="1">
                <a:solidFill>
                  <a:srgbClr val="167D8D"/>
                </a:solidFill>
                <a:latin typeface="Arial" panose="020B0604020202020204"/>
                <a:ea typeface="Arial" panose="020B0604020202020204"/>
                <a:cs typeface="Arial" panose="020B0604020202020204"/>
              </a:defRPr>
            </a:pPr>
            <a:r>
              <a:rPr sz="1275" b="1">
                <a:solidFill>
                  <a:srgbClr val="167D8D"/>
                </a:solidFill>
                <a:latin typeface="Arial" panose="020B0604020202020204"/>
                <a:ea typeface="Arial" panose="020B0604020202020204"/>
                <a:cs typeface="Arial" panose="020B0604020202020204"/>
              </a:rPr>
              <a:t>Kết quả chạy lại</a:t>
            </a:r>
            <a:endParaRPr sz="1275" b="1">
              <a:solidFill>
                <a:srgbClr val="167D8D"/>
              </a:solidFill>
              <a:latin typeface="Arial" panose="020B0604020202020204"/>
              <a:ea typeface="Arial" panose="020B0604020202020204"/>
              <a:cs typeface="Arial" panose="020B0604020202020204"/>
            </a:endParaRPr>
          </a:p>
        </p:txBody>
      </p:sp>
      <p:sp>
        <p:nvSpPr>
          <p:cNvPr id="36" name="Rectangle 35"/>
          <p:cNvSpPr>
            <a:spLocks noGrp="1"/>
          </p:cNvSpPr>
          <p:nvPr/>
        </p:nvSpPr>
        <p:spPr>
          <a:xfrm>
            <a:off x="3000375" y="5010150"/>
            <a:ext cx="7953375" cy="476250"/>
          </a:xfrm>
          <a:prstGeom prst="rect">
            <a:avLst/>
          </a:prstGeom>
          <a:noFill/>
          <a:ln w="0">
            <a:noFill/>
            <a:prstDash val="solid"/>
          </a:ln>
        </p:spPr>
        <p:txBody>
          <a:bodyPr wrap="square" lIns="95250" tIns="57150" rIns="95250" bIns="57150" anchor="ctr">
            <a:normAutofit fontScale="90729"/>
          </a:bodyPr>
          <a:lstStyle/>
          <a:p>
            <a:pPr algn="l">
              <a:lnSpc>
                <a:spcPct val="100000"/>
              </a:lnSpc>
              <a:buNone/>
              <a:defRPr sz="1425" b="1">
                <a:solidFill>
                  <a:srgbClr val="102A43"/>
                </a:solidFill>
                <a:latin typeface="Arial" panose="020B0604020202020204"/>
                <a:ea typeface="Arial" panose="020B0604020202020204"/>
                <a:cs typeface="Arial" panose="020B0604020202020204"/>
              </a:defRPr>
            </a:pPr>
            <a:r>
              <a:rPr sz="1425" b="1">
                <a:solidFill>
                  <a:srgbClr val="102A43"/>
                </a:solidFill>
                <a:latin typeface="Arial" panose="020B0604020202020204"/>
                <a:ea typeface="Arial" panose="020B0604020202020204"/>
                <a:cs typeface="Arial" panose="020B0604020202020204"/>
              </a:rPr>
              <a:t>Gradient Boosting đứng đầu: CV RMSE 47.197,84 · Test RMSE 46.839,74 · thời gian train 14,08 giây.</a:t>
            </a:r>
            <a:endParaRPr sz="1425" b="1">
              <a:solidFill>
                <a:srgbClr val="102A43"/>
              </a:solidFill>
              <a:latin typeface="Arial" panose="020B0604020202020204"/>
              <a:ea typeface="Arial" panose="020B0604020202020204"/>
              <a:cs typeface="Arial" panose="020B0604020202020204"/>
            </a:endParaRPr>
          </a:p>
        </p:txBody>
      </p:sp>
      <p:sp>
        <p:nvSpPr>
          <p:cNvPr id="37" name="Straight Connector 36"/>
          <p:cNvSpPr>
            <a:spLocks noGrp="1"/>
          </p:cNvSpPr>
          <p:nvPr/>
        </p:nvSpPr>
        <p:spPr>
          <a:xfrm>
            <a:off x="666750" y="6477000"/>
            <a:ext cx="10858500" cy="0"/>
          </a:xfrm>
          <a:prstGeom prst="line">
            <a:avLst/>
          </a:prstGeom>
          <a:noFill/>
          <a:ln w="9525">
            <a:solidFill>
              <a:srgbClr val="D7E0E8"/>
            </a:solidFill>
            <a:prstDash val="solid"/>
          </a:ln>
        </p:spPr>
      </p:sp>
      <p:sp>
        <p:nvSpPr>
          <p:cNvPr id="38" name="Rectangle 37"/>
          <p:cNvSpPr>
            <a:spLocks noGrp="1"/>
          </p:cNvSpPr>
          <p:nvPr/>
        </p:nvSpPr>
        <p:spPr>
          <a:xfrm>
            <a:off x="666750" y="6524625"/>
            <a:ext cx="10572750" cy="209550"/>
          </a:xfrm>
          <a:prstGeom prst="rect">
            <a:avLst/>
          </a:prstGeom>
          <a:noFill/>
          <a:ln w="0">
            <a:noFill/>
            <a:prstDash val="solid"/>
          </a:ln>
        </p:spPr>
        <p:txBody>
          <a:bodyPr wrap="square" lIns="0" tIns="0" rIns="0" bIns="0" anchor="t">
            <a:normAutofit/>
          </a:bodyPr>
          <a:lstStyle/>
          <a:p>
            <a:pPr algn="l">
              <a:lnSpc>
                <a:spcPct val="100000"/>
              </a:lnSpc>
              <a:buNone/>
              <a:defRPr sz="825" b="0">
                <a:solidFill>
                  <a:srgbClr val="5F6C7B"/>
                </a:solidFill>
                <a:latin typeface="Arial" panose="020B0604020202020204"/>
                <a:ea typeface="Arial" panose="020B0604020202020204"/>
                <a:cs typeface="Arial" panose="020B0604020202020204"/>
              </a:defRPr>
            </a:pPr>
            <a:r>
              <a:rPr sz="825" b="0">
                <a:solidFill>
                  <a:srgbClr val="5F6C7B"/>
                </a:solidFill>
                <a:latin typeface="Arial" panose="020B0604020202020204"/>
                <a:ea typeface="Arial" panose="020B0604020202020204"/>
                <a:cs typeface="Arial" panose="020B0604020202020204"/>
              </a:rPr>
              <a:t>Nguồn: ai-models/src/train.py; kết quả chạy --search ngày 27/09/2026</a:t>
            </a:r>
            <a:endParaRPr sz="825" b="0">
              <a:solidFill>
                <a:srgbClr val="5F6C7B"/>
              </a:solidFill>
              <a:latin typeface="Arial" panose="020B0604020202020204"/>
              <a:ea typeface="Arial" panose="020B0604020202020204"/>
              <a:cs typeface="Arial" panose="020B0604020202020204"/>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
        <p:cNvGrpSpPr/>
        <p:nvPr/>
      </p:nvGrpSpPr>
      <p:grpSpPr/>
      <p:sp>
        <p:nvSpPr>
          <p:cNvPr id="29" name="Rectangle 28"/>
          <p:cNvSpPr>
            <a:spLocks noGrp="1"/>
          </p:cNvSpPr>
          <p:nvPr/>
        </p:nvSpPr>
        <p:spPr>
          <a:xfrm>
            <a:off x="666750" y="323850"/>
            <a:ext cx="9525000" cy="228600"/>
          </a:xfrm>
          <a:prstGeom prst="rect">
            <a:avLst/>
          </a:prstGeom>
          <a:noFill/>
          <a:ln w="0">
            <a:noFill/>
            <a:prstDash val="solid"/>
          </a:ln>
        </p:spPr>
        <p:txBody>
          <a:bodyPr wrap="square" lIns="0" tIns="0" rIns="0" bIns="0" anchor="t">
            <a:normAutofit/>
          </a:bodyPr>
          <a:lstStyle/>
          <a:p>
            <a:pPr algn="l">
              <a:lnSpc>
                <a:spcPct val="100000"/>
              </a:lnSpc>
              <a:buNone/>
              <a:defRPr sz="975" b="1">
                <a:solidFill>
                  <a:srgbClr val="167D8D"/>
                </a:solidFill>
                <a:latin typeface="Arial" panose="020B0604020202020204"/>
                <a:ea typeface="Arial" panose="020B0604020202020204"/>
                <a:cs typeface="Arial" panose="020B0604020202020204"/>
              </a:defRPr>
            </a:pPr>
            <a:r>
              <a:rPr sz="975" b="1">
                <a:solidFill>
                  <a:srgbClr val="167D8D"/>
                </a:solidFill>
                <a:latin typeface="Arial" panose="020B0604020202020204"/>
                <a:ea typeface="Arial" panose="020B0604020202020204"/>
                <a:cs typeface="Arial" panose="020B0604020202020204"/>
              </a:rPr>
              <a:t>07 · EVALUATION</a:t>
            </a:r>
            <a:endParaRPr sz="975" b="1">
              <a:solidFill>
                <a:srgbClr val="167D8D"/>
              </a:solidFill>
              <a:latin typeface="Arial" panose="020B0604020202020204"/>
              <a:ea typeface="Arial" panose="020B0604020202020204"/>
              <a:cs typeface="Arial" panose="020B0604020202020204"/>
            </a:endParaRPr>
          </a:p>
        </p:txBody>
      </p:sp>
      <p:sp>
        <p:nvSpPr>
          <p:cNvPr id="2" name="Rectangle 1"/>
          <p:cNvSpPr>
            <a:spLocks noGrp="1"/>
          </p:cNvSpPr>
          <p:nvPr/>
        </p:nvSpPr>
        <p:spPr>
          <a:xfrm>
            <a:off x="666750" y="571500"/>
            <a:ext cx="10287000" cy="523875"/>
          </a:xfrm>
          <a:prstGeom prst="rect">
            <a:avLst/>
          </a:prstGeom>
          <a:noFill/>
          <a:ln w="0">
            <a:noFill/>
            <a:prstDash val="solid"/>
          </a:ln>
        </p:spPr>
        <p:txBody>
          <a:bodyPr wrap="square" lIns="0" tIns="0" rIns="0" bIns="0" anchor="t">
            <a:normAutofit/>
          </a:bodyPr>
          <a:lstStyle/>
          <a:p>
            <a:pPr algn="l">
              <a:lnSpc>
                <a:spcPct val="100000"/>
              </a:lnSpc>
              <a:buNone/>
              <a:defRPr sz="2700" b="1">
                <a:solidFill>
                  <a:srgbClr val="102A43"/>
                </a:solidFill>
                <a:latin typeface="Arial" panose="020B0604020202020204"/>
                <a:ea typeface="Arial" panose="020B0604020202020204"/>
                <a:cs typeface="Arial" panose="020B0604020202020204"/>
              </a:defRPr>
            </a:pPr>
            <a:r>
              <a:rPr sz="2700" b="1">
                <a:solidFill>
                  <a:srgbClr val="102A43"/>
                </a:solidFill>
                <a:latin typeface="Arial" panose="020B0604020202020204"/>
                <a:ea typeface="Arial" panose="020B0604020202020204"/>
                <a:cs typeface="Arial" panose="020B0604020202020204"/>
              </a:rPr>
              <a:t>So sánh model</a:t>
            </a:r>
            <a:endParaRPr sz="2700" b="1">
              <a:solidFill>
                <a:srgbClr val="102A43"/>
              </a:solidFill>
              <a:latin typeface="Arial" panose="020B0604020202020204"/>
              <a:ea typeface="Arial" panose="020B0604020202020204"/>
              <a:cs typeface="Arial" panose="020B0604020202020204"/>
            </a:endParaRPr>
          </a:p>
        </p:txBody>
      </p:sp>
      <p:sp>
        <p:nvSpPr>
          <p:cNvPr id="3" name="Rectangle 2"/>
          <p:cNvSpPr>
            <a:spLocks noGrp="1"/>
          </p:cNvSpPr>
          <p:nvPr/>
        </p:nvSpPr>
        <p:spPr>
          <a:xfrm>
            <a:off x="666750" y="1152525"/>
            <a:ext cx="714375" cy="47625"/>
          </a:xfrm>
          <a:prstGeom prst="rect">
            <a:avLst/>
          </a:prstGeom>
          <a:solidFill>
            <a:srgbClr val="E76F51"/>
          </a:solidFill>
          <a:ln w="0">
            <a:noFill/>
            <a:prstDash val="solid"/>
          </a:ln>
        </p:spPr>
      </p:sp>
      <p:sp>
        <p:nvSpPr>
          <p:cNvPr id="4" name="Rectangle 3"/>
          <p:cNvSpPr>
            <a:spLocks noGrp="1"/>
          </p:cNvSpPr>
          <p:nvPr/>
        </p:nvSpPr>
        <p:spPr>
          <a:xfrm>
            <a:off x="11191875" y="409575"/>
            <a:ext cx="381000" cy="247650"/>
          </a:xfrm>
          <a:prstGeom prst="rect">
            <a:avLst/>
          </a:prstGeom>
          <a:noFill/>
          <a:ln w="0">
            <a:noFill/>
            <a:prstDash val="solid"/>
          </a:ln>
        </p:spPr>
        <p:txBody>
          <a:bodyPr wrap="square" lIns="0" tIns="0" rIns="0" bIns="0" anchor="t">
            <a:normAutofit/>
          </a:bodyPr>
          <a:lstStyle/>
          <a:p>
            <a:pPr algn="r">
              <a:lnSpc>
                <a:spcPct val="100000"/>
              </a:lnSpc>
              <a:buNone/>
              <a:defRPr sz="1050" b="1">
                <a:solidFill>
                  <a:srgbClr val="5F6C7B"/>
                </a:solidFill>
                <a:latin typeface="Arial" panose="020B0604020202020204"/>
                <a:ea typeface="Arial" panose="020B0604020202020204"/>
                <a:cs typeface="Arial" panose="020B0604020202020204"/>
              </a:defRPr>
            </a:pPr>
            <a:r>
              <a:rPr sz="1050" b="1">
                <a:solidFill>
                  <a:srgbClr val="5F6C7B"/>
                </a:solidFill>
                <a:latin typeface="Arial" panose="020B0604020202020204"/>
                <a:ea typeface="Arial" panose="020B0604020202020204"/>
                <a:cs typeface="Arial" panose="020B0604020202020204"/>
              </a:rPr>
              <a:t>09</a:t>
            </a:r>
            <a:endParaRPr sz="1050" b="1">
              <a:solidFill>
                <a:srgbClr val="5F6C7B"/>
              </a:solidFill>
              <a:latin typeface="Arial" panose="020B0604020202020204"/>
              <a:ea typeface="Arial" panose="020B0604020202020204"/>
              <a:cs typeface="Arial" panose="020B0604020202020204"/>
            </a:endParaRPr>
          </a:p>
        </p:txBody>
      </p:sp>
      <p:sp>
        <p:nvSpPr>
          <p:cNvPr id="5" name="Rounded Rectangle 4"/>
          <p:cNvSpPr>
            <a:spLocks noGrp="1"/>
          </p:cNvSpPr>
          <p:nvPr/>
        </p:nvSpPr>
        <p:spPr>
          <a:xfrm>
            <a:off x="523875" y="1428750"/>
            <a:ext cx="6191250" cy="4476750"/>
          </a:xfrm>
          <a:prstGeom prst="roundRect">
            <a:avLst>
              <a:gd name="adj" fmla="val 1489"/>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graphicFrame>
        <p:nvGraphicFramePr>
          <p:cNvPr id="34" name="Chart"/>
          <p:cNvGraphicFramePr/>
          <p:nvPr/>
        </p:nvGraphicFramePr>
        <p:xfrm>
          <a:off x="714375" y="1762125"/>
          <a:ext cx="5810250" cy="3476625"/>
        </p:xfrm>
        <a:graphic>
          <a:graphicData uri="http://schemas.openxmlformats.org/drawingml/2006/chart">
            <c:chart xmlns:c="http://schemas.openxmlformats.org/drawingml/2006/chart" xmlns:r="http://schemas.openxmlformats.org/officeDocument/2006/relationships" r:id="rId1"/>
          </a:graphicData>
        </a:graphic>
      </p:graphicFrame>
      <p:sp>
        <p:nvSpPr>
          <p:cNvPr id="7" name="Rectangle 6"/>
          <p:cNvSpPr>
            <a:spLocks noGrp="1"/>
          </p:cNvSpPr>
          <p:nvPr/>
        </p:nvSpPr>
        <p:spPr>
          <a:xfrm>
            <a:off x="904875" y="5391150"/>
            <a:ext cx="5429250" cy="257175"/>
          </a:xfrm>
          <a:prstGeom prst="rect">
            <a:avLst/>
          </a:prstGeom>
          <a:noFill/>
          <a:ln w="0">
            <a:noFill/>
            <a:prstDash val="solid"/>
          </a:ln>
        </p:spPr>
        <p:txBody>
          <a:bodyPr wrap="square" lIns="0" tIns="0" rIns="0" bIns="0" anchor="t">
            <a:normAutofit/>
          </a:bodyPr>
          <a:lstStyle/>
          <a:p>
            <a:pPr algn="ctr">
              <a:lnSpc>
                <a:spcPct val="100000"/>
              </a:lnSpc>
              <a:buNone/>
              <a:defRPr sz="900" b="0">
                <a:solidFill>
                  <a:srgbClr val="5F6C7B"/>
                </a:solidFill>
                <a:latin typeface="Arial" panose="020B0604020202020204"/>
                <a:ea typeface="Arial" panose="020B0604020202020204"/>
                <a:cs typeface="Arial" panose="020B0604020202020204"/>
              </a:defRPr>
            </a:pPr>
            <a:r>
              <a:rPr sz="900" b="0">
                <a:solidFill>
                  <a:srgbClr val="5F6C7B"/>
                </a:solidFill>
                <a:latin typeface="Arial" panose="020B0604020202020204"/>
                <a:ea typeface="Arial" panose="020B0604020202020204"/>
                <a:cs typeface="Arial" panose="020B0604020202020204"/>
              </a:rPr>
              <a:t>Nguồn số liệu: chạy lại train.py --search</a:t>
            </a:r>
            <a:endParaRPr sz="900" b="0">
              <a:solidFill>
                <a:srgbClr val="5F6C7B"/>
              </a:solidFill>
              <a:latin typeface="Arial" panose="020B0604020202020204"/>
              <a:ea typeface="Arial" panose="020B0604020202020204"/>
              <a:cs typeface="Arial" panose="020B0604020202020204"/>
            </a:endParaRPr>
          </a:p>
        </p:txBody>
      </p:sp>
      <p:sp>
        <p:nvSpPr>
          <p:cNvPr id="8" name="Rectangle 7"/>
          <p:cNvSpPr>
            <a:spLocks noGrp="1"/>
          </p:cNvSpPr>
          <p:nvPr/>
        </p:nvSpPr>
        <p:spPr>
          <a:xfrm>
            <a:off x="7191375" y="1504950"/>
            <a:ext cx="4286250" cy="304800"/>
          </a:xfrm>
          <a:prstGeom prst="rect">
            <a:avLst/>
          </a:prstGeom>
          <a:noFill/>
          <a:ln w="0">
            <a:noFill/>
            <a:prstDash val="solid"/>
          </a:ln>
        </p:spPr>
        <p:txBody>
          <a:bodyPr wrap="square" lIns="0" tIns="0" rIns="0" bIns="0" anchor="t">
            <a:normAutofit/>
          </a:bodyPr>
          <a:lstStyle/>
          <a:p>
            <a:pPr algn="l">
              <a:lnSpc>
                <a:spcPct val="100000"/>
              </a:lnSpc>
              <a:buNone/>
              <a:defRPr sz="1725" b="1">
                <a:solidFill>
                  <a:srgbClr val="102A43"/>
                </a:solidFill>
                <a:latin typeface="Arial" panose="020B0604020202020204"/>
                <a:ea typeface="Arial" panose="020B0604020202020204"/>
                <a:cs typeface="Arial" panose="020B0604020202020204"/>
              </a:defRPr>
            </a:pPr>
            <a:r>
              <a:rPr sz="1725" b="1">
                <a:solidFill>
                  <a:srgbClr val="102A43"/>
                </a:solidFill>
                <a:latin typeface="Arial" panose="020B0604020202020204"/>
                <a:ea typeface="Arial" panose="020B0604020202020204"/>
                <a:cs typeface="Arial" panose="020B0604020202020204"/>
              </a:rPr>
              <a:t>Bảng kết quả</a:t>
            </a:r>
            <a:endParaRPr sz="1725" b="1">
              <a:solidFill>
                <a:srgbClr val="102A43"/>
              </a:solidFill>
              <a:latin typeface="Arial" panose="020B0604020202020204"/>
              <a:ea typeface="Arial" panose="020B0604020202020204"/>
              <a:cs typeface="Arial" panose="020B0604020202020204"/>
            </a:endParaRPr>
          </a:p>
        </p:txBody>
      </p:sp>
      <p:sp>
        <p:nvSpPr>
          <p:cNvPr id="9" name="Rectangle 8"/>
          <p:cNvSpPr>
            <a:spLocks noGrp="1"/>
          </p:cNvSpPr>
          <p:nvPr/>
        </p:nvSpPr>
        <p:spPr>
          <a:xfrm>
            <a:off x="7191375" y="1952625"/>
            <a:ext cx="2143125" cy="485775"/>
          </a:xfrm>
          <a:prstGeom prst="rect">
            <a:avLst/>
          </a:prstGeom>
          <a:solidFill>
            <a:srgbClr val="102A43"/>
          </a:solidFill>
          <a:ln w="9525">
            <a:solidFill>
              <a:srgbClr val="D7E0E8"/>
            </a:solidFill>
            <a:prstDash val="solid"/>
          </a:ln>
        </p:spPr>
        <p:txBody>
          <a:bodyPr wrap="square" lIns="85725" tIns="38100" rIns="85725" bIns="38100" anchor="ctr">
            <a:normAutofit/>
          </a:bodyPr>
          <a:lstStyle/>
          <a:p>
            <a:pPr algn="l">
              <a:lnSpc>
                <a:spcPct val="100000"/>
              </a:lnSpc>
              <a:buNone/>
              <a:defRPr sz="975" b="1">
                <a:solidFill>
                  <a:srgbClr val="FFFFFF"/>
                </a:solidFill>
                <a:latin typeface="Arial" panose="020B0604020202020204"/>
                <a:ea typeface="Arial" panose="020B0604020202020204"/>
                <a:cs typeface="Arial" panose="020B0604020202020204"/>
              </a:defRPr>
            </a:pPr>
            <a:r>
              <a:rPr sz="975" b="1">
                <a:solidFill>
                  <a:srgbClr val="FFFFFF"/>
                </a:solidFill>
                <a:latin typeface="Arial" panose="020B0604020202020204"/>
                <a:ea typeface="Arial" panose="020B0604020202020204"/>
                <a:cs typeface="Arial" panose="020B0604020202020204"/>
              </a:rPr>
              <a:t>Model</a:t>
            </a:r>
            <a:endParaRPr sz="975" b="1">
              <a:solidFill>
                <a:srgbClr val="FFFFFF"/>
              </a:solidFill>
              <a:latin typeface="Arial" panose="020B0604020202020204"/>
              <a:ea typeface="Arial" panose="020B0604020202020204"/>
              <a:cs typeface="Arial" panose="020B0604020202020204"/>
            </a:endParaRPr>
          </a:p>
        </p:txBody>
      </p:sp>
      <p:sp>
        <p:nvSpPr>
          <p:cNvPr id="10" name="Rectangle 9"/>
          <p:cNvSpPr>
            <a:spLocks noGrp="1"/>
          </p:cNvSpPr>
          <p:nvPr/>
        </p:nvSpPr>
        <p:spPr>
          <a:xfrm>
            <a:off x="9334500" y="1952625"/>
            <a:ext cx="1047750" cy="485775"/>
          </a:xfrm>
          <a:prstGeom prst="rect">
            <a:avLst/>
          </a:prstGeom>
          <a:solidFill>
            <a:srgbClr val="102A43"/>
          </a:solidFill>
          <a:ln w="9525">
            <a:solidFill>
              <a:srgbClr val="D7E0E8"/>
            </a:solidFill>
            <a:prstDash val="solid"/>
          </a:ln>
        </p:spPr>
        <p:txBody>
          <a:bodyPr wrap="square" lIns="85725" tIns="38100" rIns="85725" bIns="38100" anchor="ctr">
            <a:normAutofit/>
          </a:bodyPr>
          <a:lstStyle/>
          <a:p>
            <a:pPr algn="r">
              <a:lnSpc>
                <a:spcPct val="100000"/>
              </a:lnSpc>
              <a:buNone/>
              <a:defRPr sz="975" b="1">
                <a:solidFill>
                  <a:srgbClr val="FFFFFF"/>
                </a:solidFill>
                <a:latin typeface="Arial" panose="020B0604020202020204"/>
                <a:ea typeface="Arial" panose="020B0604020202020204"/>
                <a:cs typeface="Arial" panose="020B0604020202020204"/>
              </a:defRPr>
            </a:pPr>
            <a:r>
              <a:rPr sz="975" b="1">
                <a:solidFill>
                  <a:srgbClr val="FFFFFF"/>
                </a:solidFill>
                <a:latin typeface="Arial" panose="020B0604020202020204"/>
                <a:ea typeface="Arial" panose="020B0604020202020204"/>
                <a:cs typeface="Arial" panose="020B0604020202020204"/>
              </a:rPr>
              <a:t>MAE</a:t>
            </a:r>
            <a:endParaRPr sz="975" b="1">
              <a:solidFill>
                <a:srgbClr val="FFFFFF"/>
              </a:solidFill>
              <a:latin typeface="Arial" panose="020B0604020202020204"/>
              <a:ea typeface="Arial" panose="020B0604020202020204"/>
              <a:cs typeface="Arial" panose="020B0604020202020204"/>
            </a:endParaRPr>
          </a:p>
        </p:txBody>
      </p:sp>
      <p:sp>
        <p:nvSpPr>
          <p:cNvPr id="11" name="Rectangle 10"/>
          <p:cNvSpPr>
            <a:spLocks noGrp="1"/>
          </p:cNvSpPr>
          <p:nvPr/>
        </p:nvSpPr>
        <p:spPr>
          <a:xfrm>
            <a:off x="10382250" y="1952625"/>
            <a:ext cx="952500" cy="485775"/>
          </a:xfrm>
          <a:prstGeom prst="rect">
            <a:avLst/>
          </a:prstGeom>
          <a:solidFill>
            <a:srgbClr val="102A43"/>
          </a:solidFill>
          <a:ln w="9525">
            <a:solidFill>
              <a:srgbClr val="D7E0E8"/>
            </a:solidFill>
            <a:prstDash val="solid"/>
          </a:ln>
        </p:spPr>
        <p:txBody>
          <a:bodyPr wrap="square" lIns="85725" tIns="38100" rIns="85725" bIns="38100" anchor="ctr">
            <a:normAutofit/>
          </a:bodyPr>
          <a:lstStyle/>
          <a:p>
            <a:pPr algn="r">
              <a:lnSpc>
                <a:spcPct val="100000"/>
              </a:lnSpc>
              <a:buNone/>
              <a:defRPr sz="975" b="1">
                <a:solidFill>
                  <a:srgbClr val="FFFFFF"/>
                </a:solidFill>
                <a:latin typeface="Arial" panose="020B0604020202020204"/>
                <a:ea typeface="Arial" panose="020B0604020202020204"/>
                <a:cs typeface="Arial" panose="020B0604020202020204"/>
              </a:defRPr>
            </a:pPr>
            <a:r>
              <a:rPr sz="975" b="1">
                <a:solidFill>
                  <a:srgbClr val="FFFFFF"/>
                </a:solidFill>
                <a:latin typeface="Arial" panose="020B0604020202020204"/>
                <a:ea typeface="Arial" panose="020B0604020202020204"/>
                <a:cs typeface="Arial" panose="020B0604020202020204"/>
              </a:rPr>
              <a:t>R²</a:t>
            </a:r>
            <a:endParaRPr sz="975" b="1">
              <a:solidFill>
                <a:srgbClr val="FFFFFF"/>
              </a:solidFill>
              <a:latin typeface="Arial" panose="020B0604020202020204"/>
              <a:ea typeface="Arial" panose="020B0604020202020204"/>
              <a:cs typeface="Arial" panose="020B0604020202020204"/>
            </a:endParaRPr>
          </a:p>
        </p:txBody>
      </p:sp>
      <p:sp>
        <p:nvSpPr>
          <p:cNvPr id="12" name="Rectangle 11"/>
          <p:cNvSpPr>
            <a:spLocks noGrp="1"/>
          </p:cNvSpPr>
          <p:nvPr/>
        </p:nvSpPr>
        <p:spPr>
          <a:xfrm>
            <a:off x="7191375" y="2438400"/>
            <a:ext cx="2143125" cy="485775"/>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l">
              <a:lnSpc>
                <a:spcPct val="100000"/>
              </a:lnSpc>
              <a:buNone/>
              <a:defRPr sz="1050" b="1">
                <a:solidFill>
                  <a:srgbClr val="1D2939"/>
                </a:solidFill>
                <a:latin typeface="Arial" panose="020B0604020202020204"/>
                <a:ea typeface="Arial" panose="020B0604020202020204"/>
                <a:cs typeface="Arial" panose="020B0604020202020204"/>
              </a:defRPr>
            </a:pPr>
            <a:r>
              <a:rPr sz="1050" b="1">
                <a:solidFill>
                  <a:srgbClr val="1D2939"/>
                </a:solidFill>
                <a:latin typeface="Arial" panose="020B0604020202020204"/>
                <a:ea typeface="Arial" panose="020B0604020202020204"/>
                <a:cs typeface="Arial" panose="020B0604020202020204"/>
              </a:rPr>
              <a:t>Gradient Boosting</a:t>
            </a:r>
            <a:endParaRPr sz="1050" b="1">
              <a:solidFill>
                <a:srgbClr val="1D2939"/>
              </a:solidFill>
              <a:latin typeface="Arial" panose="020B0604020202020204"/>
              <a:ea typeface="Arial" panose="020B0604020202020204"/>
              <a:cs typeface="Arial" panose="020B0604020202020204"/>
            </a:endParaRPr>
          </a:p>
        </p:txBody>
      </p:sp>
      <p:sp>
        <p:nvSpPr>
          <p:cNvPr id="13" name="Rectangle 12"/>
          <p:cNvSpPr>
            <a:spLocks noGrp="1"/>
          </p:cNvSpPr>
          <p:nvPr/>
        </p:nvSpPr>
        <p:spPr>
          <a:xfrm>
            <a:off x="9334500" y="2438400"/>
            <a:ext cx="1047750" cy="485775"/>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r">
              <a:lnSpc>
                <a:spcPct val="100000"/>
              </a:lnSpc>
              <a:buNone/>
              <a:defRPr sz="1050" b="0">
                <a:solidFill>
                  <a:srgbClr val="1D2939"/>
                </a:solidFill>
                <a:latin typeface="Arial" panose="020B0604020202020204"/>
                <a:ea typeface="Arial" panose="020B0604020202020204"/>
                <a:cs typeface="Arial" panose="020B0604020202020204"/>
              </a:defRPr>
            </a:pPr>
            <a:r>
              <a:rPr sz="1050" b="0">
                <a:solidFill>
                  <a:srgbClr val="1D2939"/>
                </a:solidFill>
                <a:latin typeface="Arial" panose="020B0604020202020204"/>
                <a:ea typeface="Arial" panose="020B0604020202020204"/>
                <a:cs typeface="Arial" panose="020B0604020202020204"/>
              </a:rPr>
              <a:t>30.660</a:t>
            </a:r>
            <a:endParaRPr sz="1050" b="0">
              <a:solidFill>
                <a:srgbClr val="1D2939"/>
              </a:solidFill>
              <a:latin typeface="Arial" panose="020B0604020202020204"/>
              <a:ea typeface="Arial" panose="020B0604020202020204"/>
              <a:cs typeface="Arial" panose="020B0604020202020204"/>
            </a:endParaRPr>
          </a:p>
        </p:txBody>
      </p:sp>
      <p:sp>
        <p:nvSpPr>
          <p:cNvPr id="14" name="Rectangle 13"/>
          <p:cNvSpPr>
            <a:spLocks noGrp="1"/>
          </p:cNvSpPr>
          <p:nvPr/>
        </p:nvSpPr>
        <p:spPr>
          <a:xfrm>
            <a:off x="10382250" y="2438400"/>
            <a:ext cx="952500" cy="485775"/>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r">
              <a:lnSpc>
                <a:spcPct val="100000"/>
              </a:lnSpc>
              <a:buNone/>
              <a:defRPr sz="1050" b="0">
                <a:solidFill>
                  <a:srgbClr val="1D2939"/>
                </a:solidFill>
                <a:latin typeface="Arial" panose="020B0604020202020204"/>
                <a:ea typeface="Arial" panose="020B0604020202020204"/>
                <a:cs typeface="Arial" panose="020B0604020202020204"/>
              </a:defRPr>
            </a:pPr>
            <a:r>
              <a:rPr sz="1050" b="0">
                <a:solidFill>
                  <a:srgbClr val="1D2939"/>
                </a:solidFill>
                <a:latin typeface="Arial" panose="020B0604020202020204"/>
                <a:ea typeface="Arial" panose="020B0604020202020204"/>
                <a:cs typeface="Arial" panose="020B0604020202020204"/>
              </a:rPr>
              <a:t>0,8326</a:t>
            </a:r>
            <a:endParaRPr sz="1050" b="0">
              <a:solidFill>
                <a:srgbClr val="1D2939"/>
              </a:solidFill>
              <a:latin typeface="Arial" panose="020B0604020202020204"/>
              <a:ea typeface="Arial" panose="020B0604020202020204"/>
              <a:cs typeface="Arial" panose="020B0604020202020204"/>
            </a:endParaRPr>
          </a:p>
        </p:txBody>
      </p:sp>
      <p:sp>
        <p:nvSpPr>
          <p:cNvPr id="15" name="Rectangle 14"/>
          <p:cNvSpPr>
            <a:spLocks noGrp="1"/>
          </p:cNvSpPr>
          <p:nvPr/>
        </p:nvSpPr>
        <p:spPr>
          <a:xfrm>
            <a:off x="7191375" y="2924175"/>
            <a:ext cx="2143125" cy="485775"/>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l">
              <a:lnSpc>
                <a:spcPct val="100000"/>
              </a:lnSpc>
              <a:buNone/>
              <a:defRPr sz="1050" b="1">
                <a:solidFill>
                  <a:srgbClr val="1D2939"/>
                </a:solidFill>
                <a:latin typeface="Arial" panose="020B0604020202020204"/>
                <a:ea typeface="Arial" panose="020B0604020202020204"/>
                <a:cs typeface="Arial" panose="020B0604020202020204"/>
              </a:defRPr>
            </a:pPr>
            <a:r>
              <a:rPr sz="1050" b="1">
                <a:solidFill>
                  <a:srgbClr val="1D2939"/>
                </a:solidFill>
                <a:latin typeface="Arial" panose="020B0604020202020204"/>
                <a:ea typeface="Arial" panose="020B0604020202020204"/>
                <a:cs typeface="Arial" panose="020B0604020202020204"/>
              </a:rPr>
              <a:t>Random Forest</a:t>
            </a:r>
            <a:endParaRPr sz="1050" b="1">
              <a:solidFill>
                <a:srgbClr val="1D2939"/>
              </a:solidFill>
              <a:latin typeface="Arial" panose="020B0604020202020204"/>
              <a:ea typeface="Arial" panose="020B0604020202020204"/>
              <a:cs typeface="Arial" panose="020B0604020202020204"/>
            </a:endParaRPr>
          </a:p>
        </p:txBody>
      </p:sp>
      <p:sp>
        <p:nvSpPr>
          <p:cNvPr id="16" name="Rectangle 15"/>
          <p:cNvSpPr>
            <a:spLocks noGrp="1"/>
          </p:cNvSpPr>
          <p:nvPr/>
        </p:nvSpPr>
        <p:spPr>
          <a:xfrm>
            <a:off x="9334500" y="2924175"/>
            <a:ext cx="1047750" cy="485775"/>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r">
              <a:lnSpc>
                <a:spcPct val="100000"/>
              </a:lnSpc>
              <a:buNone/>
              <a:defRPr sz="1050" b="0">
                <a:solidFill>
                  <a:srgbClr val="1D2939"/>
                </a:solidFill>
                <a:latin typeface="Arial" panose="020B0604020202020204"/>
                <a:ea typeface="Arial" panose="020B0604020202020204"/>
                <a:cs typeface="Arial" panose="020B0604020202020204"/>
              </a:defRPr>
            </a:pPr>
            <a:r>
              <a:rPr sz="1050" b="0">
                <a:solidFill>
                  <a:srgbClr val="1D2939"/>
                </a:solidFill>
                <a:latin typeface="Arial" panose="020B0604020202020204"/>
                <a:ea typeface="Arial" panose="020B0604020202020204"/>
                <a:cs typeface="Arial" panose="020B0604020202020204"/>
              </a:rPr>
              <a:t>32.334</a:t>
            </a:r>
            <a:endParaRPr sz="1050" b="0">
              <a:solidFill>
                <a:srgbClr val="1D2939"/>
              </a:solidFill>
              <a:latin typeface="Arial" panose="020B0604020202020204"/>
              <a:ea typeface="Arial" panose="020B0604020202020204"/>
              <a:cs typeface="Arial" panose="020B0604020202020204"/>
            </a:endParaRPr>
          </a:p>
        </p:txBody>
      </p:sp>
      <p:sp>
        <p:nvSpPr>
          <p:cNvPr id="17" name="Rectangle 16"/>
          <p:cNvSpPr>
            <a:spLocks noGrp="1"/>
          </p:cNvSpPr>
          <p:nvPr/>
        </p:nvSpPr>
        <p:spPr>
          <a:xfrm>
            <a:off x="10382250" y="2924175"/>
            <a:ext cx="952500" cy="485775"/>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r">
              <a:lnSpc>
                <a:spcPct val="100000"/>
              </a:lnSpc>
              <a:buNone/>
              <a:defRPr sz="1050" b="0">
                <a:solidFill>
                  <a:srgbClr val="1D2939"/>
                </a:solidFill>
                <a:latin typeface="Arial" panose="020B0604020202020204"/>
                <a:ea typeface="Arial" panose="020B0604020202020204"/>
                <a:cs typeface="Arial" panose="020B0604020202020204"/>
              </a:defRPr>
            </a:pPr>
            <a:r>
              <a:rPr sz="1050" b="0">
                <a:solidFill>
                  <a:srgbClr val="1D2939"/>
                </a:solidFill>
                <a:latin typeface="Arial" panose="020B0604020202020204"/>
                <a:ea typeface="Arial" panose="020B0604020202020204"/>
                <a:cs typeface="Arial" panose="020B0604020202020204"/>
              </a:rPr>
              <a:t>0,8078</a:t>
            </a:r>
            <a:endParaRPr sz="1050" b="0">
              <a:solidFill>
                <a:srgbClr val="1D2939"/>
              </a:solidFill>
              <a:latin typeface="Arial" panose="020B0604020202020204"/>
              <a:ea typeface="Arial" panose="020B0604020202020204"/>
              <a:cs typeface="Arial" panose="020B0604020202020204"/>
            </a:endParaRPr>
          </a:p>
        </p:txBody>
      </p:sp>
      <p:sp>
        <p:nvSpPr>
          <p:cNvPr id="18" name="Rectangle 17"/>
          <p:cNvSpPr>
            <a:spLocks noGrp="1"/>
          </p:cNvSpPr>
          <p:nvPr/>
        </p:nvSpPr>
        <p:spPr>
          <a:xfrm>
            <a:off x="7191375" y="3409950"/>
            <a:ext cx="2143125" cy="485775"/>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l">
              <a:lnSpc>
                <a:spcPct val="100000"/>
              </a:lnSpc>
              <a:buNone/>
              <a:defRPr sz="1050" b="1">
                <a:solidFill>
                  <a:srgbClr val="1D2939"/>
                </a:solidFill>
                <a:latin typeface="Arial" panose="020B0604020202020204"/>
                <a:ea typeface="Arial" panose="020B0604020202020204"/>
                <a:cs typeface="Arial" panose="020B0604020202020204"/>
              </a:defRPr>
            </a:pPr>
            <a:r>
              <a:rPr sz="1050" b="1">
                <a:solidFill>
                  <a:srgbClr val="1D2939"/>
                </a:solidFill>
                <a:latin typeface="Arial" panose="020B0604020202020204"/>
                <a:ea typeface="Arial" panose="020B0604020202020204"/>
                <a:cs typeface="Arial" panose="020B0604020202020204"/>
              </a:rPr>
              <a:t>Decision Tree</a:t>
            </a:r>
            <a:endParaRPr sz="1050" b="1">
              <a:solidFill>
                <a:srgbClr val="1D2939"/>
              </a:solidFill>
              <a:latin typeface="Arial" panose="020B0604020202020204"/>
              <a:ea typeface="Arial" panose="020B0604020202020204"/>
              <a:cs typeface="Arial" panose="020B0604020202020204"/>
            </a:endParaRPr>
          </a:p>
        </p:txBody>
      </p:sp>
      <p:sp>
        <p:nvSpPr>
          <p:cNvPr id="19" name="Rectangle 18"/>
          <p:cNvSpPr>
            <a:spLocks noGrp="1"/>
          </p:cNvSpPr>
          <p:nvPr/>
        </p:nvSpPr>
        <p:spPr>
          <a:xfrm>
            <a:off x="9334500" y="3409950"/>
            <a:ext cx="1047750" cy="485775"/>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r">
              <a:lnSpc>
                <a:spcPct val="100000"/>
              </a:lnSpc>
              <a:buNone/>
              <a:defRPr sz="1050" b="0">
                <a:solidFill>
                  <a:srgbClr val="1D2939"/>
                </a:solidFill>
                <a:latin typeface="Arial" panose="020B0604020202020204"/>
                <a:ea typeface="Arial" panose="020B0604020202020204"/>
                <a:cs typeface="Arial" panose="020B0604020202020204"/>
              </a:defRPr>
            </a:pPr>
            <a:r>
              <a:rPr sz="1050" b="0">
                <a:solidFill>
                  <a:srgbClr val="1D2939"/>
                </a:solidFill>
                <a:latin typeface="Arial" panose="020B0604020202020204"/>
                <a:ea typeface="Arial" panose="020B0604020202020204"/>
                <a:cs typeface="Arial" panose="020B0604020202020204"/>
              </a:rPr>
              <a:t>40.652</a:t>
            </a:r>
            <a:endParaRPr sz="1050" b="0">
              <a:solidFill>
                <a:srgbClr val="1D2939"/>
              </a:solidFill>
              <a:latin typeface="Arial" panose="020B0604020202020204"/>
              <a:ea typeface="Arial" panose="020B0604020202020204"/>
              <a:cs typeface="Arial" panose="020B0604020202020204"/>
            </a:endParaRPr>
          </a:p>
        </p:txBody>
      </p:sp>
      <p:sp>
        <p:nvSpPr>
          <p:cNvPr id="20" name="Rectangle 19"/>
          <p:cNvSpPr>
            <a:spLocks noGrp="1"/>
          </p:cNvSpPr>
          <p:nvPr/>
        </p:nvSpPr>
        <p:spPr>
          <a:xfrm>
            <a:off x="10382250" y="3409950"/>
            <a:ext cx="952500" cy="485775"/>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r">
              <a:lnSpc>
                <a:spcPct val="100000"/>
              </a:lnSpc>
              <a:buNone/>
              <a:defRPr sz="1050" b="0">
                <a:solidFill>
                  <a:srgbClr val="1D2939"/>
                </a:solidFill>
                <a:latin typeface="Arial" panose="020B0604020202020204"/>
                <a:ea typeface="Arial" panose="020B0604020202020204"/>
                <a:cs typeface="Arial" panose="020B0604020202020204"/>
              </a:defRPr>
            </a:pPr>
            <a:r>
              <a:rPr sz="1050" b="0">
                <a:solidFill>
                  <a:srgbClr val="1D2939"/>
                </a:solidFill>
                <a:latin typeface="Arial" panose="020B0604020202020204"/>
                <a:ea typeface="Arial" panose="020B0604020202020204"/>
                <a:cs typeface="Arial" panose="020B0604020202020204"/>
              </a:rPr>
              <a:t>0,7004</a:t>
            </a:r>
            <a:endParaRPr sz="1050" b="0">
              <a:solidFill>
                <a:srgbClr val="1D2939"/>
              </a:solidFill>
              <a:latin typeface="Arial" panose="020B0604020202020204"/>
              <a:ea typeface="Arial" panose="020B0604020202020204"/>
              <a:cs typeface="Arial" panose="020B0604020202020204"/>
            </a:endParaRPr>
          </a:p>
        </p:txBody>
      </p:sp>
      <p:sp>
        <p:nvSpPr>
          <p:cNvPr id="21" name="Rectangle 20"/>
          <p:cNvSpPr>
            <a:spLocks noGrp="1"/>
          </p:cNvSpPr>
          <p:nvPr/>
        </p:nvSpPr>
        <p:spPr>
          <a:xfrm>
            <a:off x="7191375" y="3895725"/>
            <a:ext cx="2143125" cy="485775"/>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l">
              <a:lnSpc>
                <a:spcPct val="100000"/>
              </a:lnSpc>
              <a:buNone/>
              <a:defRPr sz="1050" b="1">
                <a:solidFill>
                  <a:srgbClr val="1D2939"/>
                </a:solidFill>
                <a:latin typeface="Arial" panose="020B0604020202020204"/>
                <a:ea typeface="Arial" panose="020B0604020202020204"/>
                <a:cs typeface="Arial" panose="020B0604020202020204"/>
              </a:defRPr>
            </a:pPr>
            <a:r>
              <a:rPr sz="1050" b="1">
                <a:solidFill>
                  <a:srgbClr val="1D2939"/>
                </a:solidFill>
                <a:latin typeface="Arial" panose="020B0604020202020204"/>
                <a:ea typeface="Arial" panose="020B0604020202020204"/>
                <a:cs typeface="Arial" panose="020B0604020202020204"/>
              </a:rPr>
              <a:t>Linear Regression</a:t>
            </a:r>
            <a:endParaRPr sz="1050" b="1">
              <a:solidFill>
                <a:srgbClr val="1D2939"/>
              </a:solidFill>
              <a:latin typeface="Arial" panose="020B0604020202020204"/>
              <a:ea typeface="Arial" panose="020B0604020202020204"/>
              <a:cs typeface="Arial" panose="020B0604020202020204"/>
            </a:endParaRPr>
          </a:p>
        </p:txBody>
      </p:sp>
      <p:sp>
        <p:nvSpPr>
          <p:cNvPr id="22" name="Rectangle 21"/>
          <p:cNvSpPr>
            <a:spLocks noGrp="1"/>
          </p:cNvSpPr>
          <p:nvPr/>
        </p:nvSpPr>
        <p:spPr>
          <a:xfrm>
            <a:off x="9334500" y="3895725"/>
            <a:ext cx="1047750" cy="485775"/>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r">
              <a:lnSpc>
                <a:spcPct val="100000"/>
              </a:lnSpc>
              <a:buNone/>
              <a:defRPr sz="1050" b="0">
                <a:solidFill>
                  <a:srgbClr val="1D2939"/>
                </a:solidFill>
                <a:latin typeface="Arial" panose="020B0604020202020204"/>
                <a:ea typeface="Arial" panose="020B0604020202020204"/>
                <a:cs typeface="Arial" panose="020B0604020202020204"/>
              </a:defRPr>
            </a:pPr>
            <a:r>
              <a:rPr sz="1050" b="0">
                <a:solidFill>
                  <a:srgbClr val="1D2939"/>
                </a:solidFill>
                <a:latin typeface="Arial" panose="020B0604020202020204"/>
                <a:ea typeface="Arial" panose="020B0604020202020204"/>
                <a:cs typeface="Arial" panose="020B0604020202020204"/>
              </a:rPr>
              <a:t>50.899</a:t>
            </a:r>
            <a:endParaRPr sz="1050" b="0">
              <a:solidFill>
                <a:srgbClr val="1D2939"/>
              </a:solidFill>
              <a:latin typeface="Arial" panose="020B0604020202020204"/>
              <a:ea typeface="Arial" panose="020B0604020202020204"/>
              <a:cs typeface="Arial" panose="020B0604020202020204"/>
            </a:endParaRPr>
          </a:p>
        </p:txBody>
      </p:sp>
      <p:sp>
        <p:nvSpPr>
          <p:cNvPr id="23" name="Rectangle 22"/>
          <p:cNvSpPr>
            <a:spLocks noGrp="1"/>
          </p:cNvSpPr>
          <p:nvPr/>
        </p:nvSpPr>
        <p:spPr>
          <a:xfrm>
            <a:off x="10382250" y="3895725"/>
            <a:ext cx="952500" cy="485775"/>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r">
              <a:lnSpc>
                <a:spcPct val="100000"/>
              </a:lnSpc>
              <a:buNone/>
              <a:defRPr sz="1050" b="0">
                <a:solidFill>
                  <a:srgbClr val="1D2939"/>
                </a:solidFill>
                <a:latin typeface="Arial" panose="020B0604020202020204"/>
                <a:ea typeface="Arial" panose="020B0604020202020204"/>
                <a:cs typeface="Arial" panose="020B0604020202020204"/>
              </a:defRPr>
            </a:pPr>
            <a:r>
              <a:rPr sz="1050" b="0">
                <a:solidFill>
                  <a:srgbClr val="1D2939"/>
                </a:solidFill>
                <a:latin typeface="Arial" panose="020B0604020202020204"/>
                <a:ea typeface="Arial" panose="020B0604020202020204"/>
                <a:cs typeface="Arial" panose="020B0604020202020204"/>
              </a:rPr>
              <a:t>0,5967</a:t>
            </a:r>
            <a:endParaRPr sz="1050" b="0">
              <a:solidFill>
                <a:srgbClr val="1D2939"/>
              </a:solidFill>
              <a:latin typeface="Arial" panose="020B0604020202020204"/>
              <a:ea typeface="Arial" panose="020B0604020202020204"/>
              <a:cs typeface="Arial" panose="020B0604020202020204"/>
            </a:endParaRPr>
          </a:p>
        </p:txBody>
      </p:sp>
      <p:sp>
        <p:nvSpPr>
          <p:cNvPr id="24" name="Rounded Rectangle 23"/>
          <p:cNvSpPr>
            <a:spLocks noGrp="1"/>
          </p:cNvSpPr>
          <p:nvPr/>
        </p:nvSpPr>
        <p:spPr>
          <a:xfrm>
            <a:off x="7191375" y="4648200"/>
            <a:ext cx="4143375" cy="1257300"/>
          </a:xfrm>
          <a:prstGeom prst="roundRect">
            <a:avLst>
              <a:gd name="adj" fmla="val 5303"/>
            </a:avLst>
          </a:prstGeom>
          <a:solidFill>
            <a:srgbClr val="EAF6F5"/>
          </a:solidFill>
          <a:ln w="9525">
            <a:solidFill>
              <a:srgbClr val="167D8D"/>
            </a:solidFill>
            <a:prstDash val="solid"/>
          </a:ln>
        </p:spPr>
        <p:style>
          <a:lnRef idx="0">
            <a:srgbClr val="FFFFFF"/>
          </a:lnRef>
          <a:fillRef idx="0">
            <a:srgbClr val="FFFFFF"/>
          </a:fillRef>
          <a:effectRef idx="4">
            <a:srgbClr val="FFFFFF"/>
          </a:effectRef>
          <a:fontRef idx="major"/>
        </p:style>
      </p:sp>
      <p:sp>
        <p:nvSpPr>
          <p:cNvPr id="25" name="Rectangle 24"/>
          <p:cNvSpPr>
            <a:spLocks noGrp="1"/>
          </p:cNvSpPr>
          <p:nvPr/>
        </p:nvSpPr>
        <p:spPr>
          <a:xfrm>
            <a:off x="7429500" y="4819650"/>
            <a:ext cx="1000125" cy="247650"/>
          </a:xfrm>
          <a:prstGeom prst="rect">
            <a:avLst/>
          </a:prstGeom>
          <a:noFill/>
          <a:ln w="0">
            <a:noFill/>
            <a:prstDash val="solid"/>
          </a:ln>
        </p:spPr>
        <p:txBody>
          <a:bodyPr wrap="square" lIns="0" tIns="0" rIns="0" bIns="0" anchor="t">
            <a:normAutofit/>
          </a:bodyPr>
          <a:lstStyle/>
          <a:p>
            <a:pPr algn="l">
              <a:lnSpc>
                <a:spcPct val="100000"/>
              </a:lnSpc>
              <a:buNone/>
              <a:defRPr sz="1125" b="1">
                <a:solidFill>
                  <a:srgbClr val="167D8D"/>
                </a:solidFill>
                <a:latin typeface="Arial" panose="020B0604020202020204"/>
                <a:ea typeface="Arial" panose="020B0604020202020204"/>
                <a:cs typeface="Arial" panose="020B0604020202020204"/>
              </a:defRPr>
            </a:pPr>
            <a:r>
              <a:rPr sz="1125" b="1">
                <a:solidFill>
                  <a:srgbClr val="167D8D"/>
                </a:solidFill>
                <a:latin typeface="Arial" panose="020B0604020202020204"/>
                <a:ea typeface="Arial" panose="020B0604020202020204"/>
                <a:cs typeface="Arial" panose="020B0604020202020204"/>
              </a:rPr>
              <a:t>Kết luận</a:t>
            </a:r>
            <a:endParaRPr sz="1125" b="1">
              <a:solidFill>
                <a:srgbClr val="167D8D"/>
              </a:solidFill>
              <a:latin typeface="Arial" panose="020B0604020202020204"/>
              <a:ea typeface="Arial" panose="020B0604020202020204"/>
              <a:cs typeface="Arial" panose="020B0604020202020204"/>
            </a:endParaRPr>
          </a:p>
        </p:txBody>
      </p:sp>
      <p:sp>
        <p:nvSpPr>
          <p:cNvPr id="26" name="Rectangle 25"/>
          <p:cNvSpPr>
            <a:spLocks noGrp="1"/>
          </p:cNvSpPr>
          <p:nvPr/>
        </p:nvSpPr>
        <p:spPr>
          <a:xfrm>
            <a:off x="7429500" y="5143500"/>
            <a:ext cx="3619500" cy="495300"/>
          </a:xfrm>
          <a:prstGeom prst="rect">
            <a:avLst/>
          </a:prstGeom>
          <a:noFill/>
          <a:ln w="0">
            <a:noFill/>
            <a:prstDash val="solid"/>
          </a:ln>
        </p:spPr>
        <p:txBody>
          <a:bodyPr wrap="square" lIns="0" tIns="0" rIns="0" bIns="0" anchor="ctr">
            <a:normAutofit/>
          </a:bodyPr>
          <a:lstStyle/>
          <a:p>
            <a:pPr algn="l">
              <a:lnSpc>
                <a:spcPct val="100000"/>
              </a:lnSpc>
              <a:buNone/>
              <a:defRPr sz="1350" b="1">
                <a:solidFill>
                  <a:srgbClr val="102A43"/>
                </a:solidFill>
                <a:latin typeface="Arial" panose="020B0604020202020204"/>
                <a:ea typeface="Arial" panose="020B0604020202020204"/>
                <a:cs typeface="Arial" panose="020B0604020202020204"/>
              </a:defRPr>
            </a:pPr>
            <a:r>
              <a:rPr sz="1350" b="1">
                <a:solidFill>
                  <a:srgbClr val="102A43"/>
                </a:solidFill>
                <a:latin typeface="Arial" panose="020B0604020202020204"/>
                <a:ea typeface="Arial" panose="020B0604020202020204"/>
                <a:cs typeface="Arial" panose="020B0604020202020204"/>
              </a:rPr>
              <a:t>Gradient Boosting có RMSE thấp nhất và R² cao nhất trong lần chạy lại.</a:t>
            </a:r>
            <a:endParaRPr sz="1350" b="1">
              <a:solidFill>
                <a:srgbClr val="102A43"/>
              </a:solidFill>
              <a:latin typeface="Arial" panose="020B0604020202020204"/>
              <a:ea typeface="Arial" panose="020B0604020202020204"/>
              <a:cs typeface="Arial" panose="020B0604020202020204"/>
            </a:endParaRPr>
          </a:p>
        </p:txBody>
      </p:sp>
      <p:sp>
        <p:nvSpPr>
          <p:cNvPr id="27" name="Straight Connector 26"/>
          <p:cNvSpPr>
            <a:spLocks noGrp="1"/>
          </p:cNvSpPr>
          <p:nvPr/>
        </p:nvSpPr>
        <p:spPr>
          <a:xfrm>
            <a:off x="666750" y="6477000"/>
            <a:ext cx="10858500" cy="0"/>
          </a:xfrm>
          <a:prstGeom prst="line">
            <a:avLst/>
          </a:prstGeom>
          <a:noFill/>
          <a:ln w="9525">
            <a:solidFill>
              <a:srgbClr val="D7E0E8"/>
            </a:solidFill>
            <a:prstDash val="solid"/>
          </a:ln>
        </p:spPr>
      </p:sp>
      <p:sp>
        <p:nvSpPr>
          <p:cNvPr id="28" name="Rectangle 27"/>
          <p:cNvSpPr>
            <a:spLocks noGrp="1"/>
          </p:cNvSpPr>
          <p:nvPr/>
        </p:nvSpPr>
        <p:spPr>
          <a:xfrm>
            <a:off x="666750" y="6524625"/>
            <a:ext cx="10572750" cy="209550"/>
          </a:xfrm>
          <a:prstGeom prst="rect">
            <a:avLst/>
          </a:prstGeom>
          <a:noFill/>
          <a:ln w="0">
            <a:noFill/>
            <a:prstDash val="solid"/>
          </a:ln>
        </p:spPr>
        <p:txBody>
          <a:bodyPr wrap="square" lIns="0" tIns="0" rIns="0" bIns="0" anchor="t">
            <a:normAutofit/>
          </a:bodyPr>
          <a:lstStyle/>
          <a:p>
            <a:pPr algn="l">
              <a:lnSpc>
                <a:spcPct val="100000"/>
              </a:lnSpc>
              <a:buNone/>
              <a:defRPr sz="825" b="0">
                <a:solidFill>
                  <a:srgbClr val="5F6C7B"/>
                </a:solidFill>
                <a:latin typeface="Arial" panose="020B0604020202020204"/>
                <a:ea typeface="Arial" panose="020B0604020202020204"/>
                <a:cs typeface="Arial" panose="020B0604020202020204"/>
              </a:defRPr>
            </a:pPr>
            <a:r>
              <a:rPr sz="825" b="0">
                <a:solidFill>
                  <a:srgbClr val="5F6C7B"/>
                </a:solidFill>
                <a:latin typeface="Arial" panose="020B0604020202020204"/>
                <a:ea typeface="Arial" panose="020B0604020202020204"/>
                <a:cs typeface="Arial" panose="020B0604020202020204"/>
              </a:rPr>
              <a:t>Nguồn: log chạy ai-models/src/train.py --search ngày 27/09/2026</a:t>
            </a:r>
            <a:endParaRPr sz="825" b="0">
              <a:solidFill>
                <a:srgbClr val="5F6C7B"/>
              </a:solidFill>
              <a:latin typeface="Arial" panose="020B0604020202020204"/>
              <a:ea typeface="Arial" panose="020B0604020202020204"/>
              <a:cs typeface="Arial" panose="020B0604020202020204"/>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
        <p:cNvGrpSpPr/>
        <p:nvPr/>
      </p:nvGrpSpPr>
      <p:grpSpPr/>
      <p:sp>
        <p:nvSpPr>
          <p:cNvPr id="31" name="Rectangle 30"/>
          <p:cNvSpPr>
            <a:spLocks noGrp="1"/>
          </p:cNvSpPr>
          <p:nvPr/>
        </p:nvSpPr>
        <p:spPr>
          <a:xfrm>
            <a:off x="666750" y="323850"/>
            <a:ext cx="9525000" cy="228600"/>
          </a:xfrm>
          <a:prstGeom prst="rect">
            <a:avLst/>
          </a:prstGeom>
          <a:noFill/>
          <a:ln w="0">
            <a:noFill/>
            <a:prstDash val="solid"/>
          </a:ln>
        </p:spPr>
        <p:txBody>
          <a:bodyPr wrap="square" lIns="0" tIns="0" rIns="0" bIns="0" anchor="t">
            <a:normAutofit/>
          </a:bodyPr>
          <a:lstStyle/>
          <a:p>
            <a:pPr algn="l">
              <a:lnSpc>
                <a:spcPct val="100000"/>
              </a:lnSpc>
              <a:buNone/>
              <a:defRPr sz="975" b="1">
                <a:solidFill>
                  <a:srgbClr val="167D8D"/>
                </a:solidFill>
                <a:latin typeface="Arial" panose="020B0604020202020204"/>
                <a:ea typeface="Arial" panose="020B0604020202020204"/>
                <a:cs typeface="Arial" panose="020B0604020202020204"/>
              </a:defRPr>
            </a:pPr>
            <a:r>
              <a:rPr sz="975" b="1">
                <a:solidFill>
                  <a:srgbClr val="167D8D"/>
                </a:solidFill>
                <a:latin typeface="Arial" panose="020B0604020202020204"/>
                <a:ea typeface="Arial" panose="020B0604020202020204"/>
                <a:cs typeface="Arial" panose="020B0604020202020204"/>
              </a:rPr>
              <a:t>08 · SELECTED ARTIFACT</a:t>
            </a:r>
            <a:endParaRPr sz="975" b="1">
              <a:solidFill>
                <a:srgbClr val="167D8D"/>
              </a:solidFill>
              <a:latin typeface="Arial" panose="020B0604020202020204"/>
              <a:ea typeface="Arial" panose="020B0604020202020204"/>
              <a:cs typeface="Arial" panose="020B0604020202020204"/>
            </a:endParaRPr>
          </a:p>
        </p:txBody>
      </p:sp>
      <p:sp>
        <p:nvSpPr>
          <p:cNvPr id="2" name="Rectangle 1"/>
          <p:cNvSpPr>
            <a:spLocks noGrp="1"/>
          </p:cNvSpPr>
          <p:nvPr/>
        </p:nvSpPr>
        <p:spPr>
          <a:xfrm>
            <a:off x="666750" y="571500"/>
            <a:ext cx="10287000" cy="523875"/>
          </a:xfrm>
          <a:prstGeom prst="rect">
            <a:avLst/>
          </a:prstGeom>
          <a:noFill/>
          <a:ln w="0">
            <a:noFill/>
            <a:prstDash val="solid"/>
          </a:ln>
        </p:spPr>
        <p:txBody>
          <a:bodyPr wrap="square" lIns="0" tIns="0" rIns="0" bIns="0" anchor="t">
            <a:normAutofit/>
          </a:bodyPr>
          <a:lstStyle/>
          <a:p>
            <a:pPr algn="l">
              <a:lnSpc>
                <a:spcPct val="100000"/>
              </a:lnSpc>
              <a:buNone/>
              <a:defRPr sz="2700" b="1">
                <a:solidFill>
                  <a:srgbClr val="102A43"/>
                </a:solidFill>
                <a:latin typeface="Arial" panose="020B0604020202020204"/>
                <a:ea typeface="Arial" panose="020B0604020202020204"/>
                <a:cs typeface="Arial" panose="020B0604020202020204"/>
              </a:defRPr>
            </a:pPr>
            <a:r>
              <a:rPr sz="2700" b="1">
                <a:solidFill>
                  <a:srgbClr val="102A43"/>
                </a:solidFill>
                <a:latin typeface="Arial" panose="020B0604020202020204"/>
                <a:ea typeface="Arial" panose="020B0604020202020204"/>
                <a:cs typeface="Arial" panose="020B0604020202020204"/>
              </a:rPr>
              <a:t>Model cuối cùng</a:t>
            </a:r>
            <a:endParaRPr sz="2700" b="1">
              <a:solidFill>
                <a:srgbClr val="102A43"/>
              </a:solidFill>
              <a:latin typeface="Arial" panose="020B0604020202020204"/>
              <a:ea typeface="Arial" panose="020B0604020202020204"/>
              <a:cs typeface="Arial" panose="020B0604020202020204"/>
            </a:endParaRPr>
          </a:p>
        </p:txBody>
      </p:sp>
      <p:sp>
        <p:nvSpPr>
          <p:cNvPr id="3" name="Rectangle 2"/>
          <p:cNvSpPr>
            <a:spLocks noGrp="1"/>
          </p:cNvSpPr>
          <p:nvPr/>
        </p:nvSpPr>
        <p:spPr>
          <a:xfrm>
            <a:off x="666750" y="1152525"/>
            <a:ext cx="714375" cy="47625"/>
          </a:xfrm>
          <a:prstGeom prst="rect">
            <a:avLst/>
          </a:prstGeom>
          <a:solidFill>
            <a:srgbClr val="E76F51"/>
          </a:solidFill>
          <a:ln w="0">
            <a:noFill/>
            <a:prstDash val="solid"/>
          </a:ln>
        </p:spPr>
      </p:sp>
      <p:sp>
        <p:nvSpPr>
          <p:cNvPr id="4" name="Rectangle 3"/>
          <p:cNvSpPr>
            <a:spLocks noGrp="1"/>
          </p:cNvSpPr>
          <p:nvPr/>
        </p:nvSpPr>
        <p:spPr>
          <a:xfrm>
            <a:off x="11191875" y="409575"/>
            <a:ext cx="381000" cy="247650"/>
          </a:xfrm>
          <a:prstGeom prst="rect">
            <a:avLst/>
          </a:prstGeom>
          <a:noFill/>
          <a:ln w="0">
            <a:noFill/>
            <a:prstDash val="solid"/>
          </a:ln>
        </p:spPr>
        <p:txBody>
          <a:bodyPr wrap="square" lIns="0" tIns="0" rIns="0" bIns="0" anchor="t">
            <a:normAutofit/>
          </a:bodyPr>
          <a:lstStyle/>
          <a:p>
            <a:pPr algn="r">
              <a:lnSpc>
                <a:spcPct val="100000"/>
              </a:lnSpc>
              <a:buNone/>
              <a:defRPr sz="1050" b="1">
                <a:solidFill>
                  <a:srgbClr val="5F6C7B"/>
                </a:solidFill>
                <a:latin typeface="Arial" panose="020B0604020202020204"/>
                <a:ea typeface="Arial" panose="020B0604020202020204"/>
                <a:cs typeface="Arial" panose="020B0604020202020204"/>
              </a:defRPr>
            </a:pPr>
            <a:r>
              <a:rPr sz="1050" b="1">
                <a:solidFill>
                  <a:srgbClr val="5F6C7B"/>
                </a:solidFill>
                <a:latin typeface="Arial" panose="020B0604020202020204"/>
                <a:ea typeface="Arial" panose="020B0604020202020204"/>
                <a:cs typeface="Arial" panose="020B0604020202020204"/>
              </a:rPr>
              <a:t>10</a:t>
            </a:r>
            <a:endParaRPr sz="1050" b="1">
              <a:solidFill>
                <a:srgbClr val="5F6C7B"/>
              </a:solidFill>
              <a:latin typeface="Arial" panose="020B0604020202020204"/>
              <a:ea typeface="Arial" panose="020B0604020202020204"/>
              <a:cs typeface="Arial" panose="020B0604020202020204"/>
            </a:endParaRPr>
          </a:p>
        </p:txBody>
      </p:sp>
      <p:sp>
        <p:nvSpPr>
          <p:cNvPr id="5" name="Rounded Rectangle 4"/>
          <p:cNvSpPr>
            <a:spLocks noGrp="1"/>
          </p:cNvSpPr>
          <p:nvPr/>
        </p:nvSpPr>
        <p:spPr>
          <a:xfrm>
            <a:off x="523875" y="1428750"/>
            <a:ext cx="6191250" cy="4476750"/>
          </a:xfrm>
          <a:prstGeom prst="roundRect">
            <a:avLst>
              <a:gd name="adj" fmla="val 1489"/>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6" name="Rectangle 5"/>
          <p:cNvSpPr>
            <a:spLocks noGrp="1"/>
          </p:cNvSpPr>
          <p:nvPr/>
        </p:nvSpPr>
        <p:spPr>
          <a:xfrm>
            <a:off x="742950" y="1600200"/>
            <a:ext cx="5619750" cy="295275"/>
          </a:xfrm>
          <a:prstGeom prst="rect">
            <a:avLst/>
          </a:prstGeom>
          <a:noFill/>
          <a:ln w="0">
            <a:noFill/>
            <a:prstDash val="solid"/>
          </a:ln>
        </p:spPr>
        <p:txBody>
          <a:bodyPr wrap="square" lIns="0" tIns="0" rIns="0" bIns="0" anchor="t">
            <a:normAutofit/>
          </a:bodyPr>
          <a:lstStyle/>
          <a:p>
            <a:pPr algn="l">
              <a:lnSpc>
                <a:spcPct val="100000"/>
              </a:lnSpc>
              <a:buNone/>
              <a:defRPr sz="1575" b="1">
                <a:solidFill>
                  <a:srgbClr val="102A43"/>
                </a:solidFill>
                <a:latin typeface="Arial" panose="020B0604020202020204"/>
                <a:ea typeface="Arial" panose="020B0604020202020204"/>
                <a:cs typeface="Arial" panose="020B0604020202020204"/>
              </a:defRPr>
            </a:pPr>
            <a:r>
              <a:rPr sz="1575" b="1">
                <a:solidFill>
                  <a:srgbClr val="102A43"/>
                </a:solidFill>
                <a:latin typeface="Arial" panose="020B0604020202020204"/>
                <a:ea typeface="Arial" panose="020B0604020202020204"/>
                <a:cs typeface="Arial" panose="020B0604020202020204"/>
              </a:rPr>
              <a:t>Phân tích residual trong notebook</a:t>
            </a:r>
            <a:endParaRPr sz="1575" b="1">
              <a:solidFill>
                <a:srgbClr val="102A43"/>
              </a:solidFill>
              <a:latin typeface="Arial" panose="020B0604020202020204"/>
              <a:ea typeface="Arial" panose="020B0604020202020204"/>
              <a:cs typeface="Arial" panose="020B0604020202020204"/>
            </a:endParaRPr>
          </a:p>
        </p:txBody>
      </p:sp>
      <p:pic>
        <p:nvPicPr>
          <p:cNvPr id="37" name="Picture 36"/>
          <p:cNvPicPr>
            <a:picLocks noChangeAspect="1"/>
          </p:cNvPicPr>
          <p:nvPr/>
        </p:nvPicPr>
        <p:blipFill>
          <a:blip r:embed="rId1"/>
          <a:stretch>
            <a:fillRect/>
          </a:stretch>
        </p:blipFill>
        <p:spPr>
          <a:xfrm>
            <a:off x="1268016" y="1952625"/>
            <a:ext cx="4702969" cy="3524250"/>
          </a:xfrm>
          <a:prstGeom prst="roundRect">
            <a:avLst>
              <a:gd name="adj" fmla="val 1622"/>
            </a:avLst>
          </a:prstGeom>
        </p:spPr>
      </p:pic>
      <p:sp>
        <p:nvSpPr>
          <p:cNvPr id="8" name="Rectangle 7"/>
          <p:cNvSpPr>
            <a:spLocks noGrp="1"/>
          </p:cNvSpPr>
          <p:nvPr/>
        </p:nvSpPr>
        <p:spPr>
          <a:xfrm>
            <a:off x="904875" y="5524500"/>
            <a:ext cx="5429250" cy="209550"/>
          </a:xfrm>
          <a:prstGeom prst="rect">
            <a:avLst/>
          </a:prstGeom>
          <a:noFill/>
          <a:ln w="0">
            <a:noFill/>
            <a:prstDash val="solid"/>
          </a:ln>
        </p:spPr>
        <p:txBody>
          <a:bodyPr wrap="square" lIns="0" tIns="0" rIns="0" bIns="0" anchor="t">
            <a:normAutofit/>
          </a:bodyPr>
          <a:lstStyle/>
          <a:p>
            <a:pPr algn="ctr">
              <a:lnSpc>
                <a:spcPct val="100000"/>
              </a:lnSpc>
              <a:buNone/>
              <a:defRPr sz="900" b="0">
                <a:solidFill>
                  <a:srgbClr val="5F6C7B"/>
                </a:solidFill>
                <a:latin typeface="Arial" panose="020B0604020202020204"/>
                <a:ea typeface="Arial" panose="020B0604020202020204"/>
                <a:cs typeface="Arial" panose="020B0604020202020204"/>
              </a:defRPr>
            </a:pPr>
            <a:r>
              <a:rPr sz="900" b="0">
                <a:solidFill>
                  <a:srgbClr val="5F6C7B"/>
                </a:solidFill>
                <a:latin typeface="Arial" panose="020B0604020202020204"/>
                <a:ea typeface="Arial" panose="020B0604020202020204"/>
                <a:cs typeface="Arial" panose="020B0604020202020204"/>
              </a:rPr>
              <a:t>Hình residual là output thực tế trong notebook.</a:t>
            </a:r>
            <a:endParaRPr sz="900" b="0">
              <a:solidFill>
                <a:srgbClr val="5F6C7B"/>
              </a:solidFill>
              <a:latin typeface="Arial" panose="020B0604020202020204"/>
              <a:ea typeface="Arial" panose="020B0604020202020204"/>
              <a:cs typeface="Arial" panose="020B0604020202020204"/>
            </a:endParaRPr>
          </a:p>
        </p:txBody>
      </p:sp>
      <p:sp>
        <p:nvSpPr>
          <p:cNvPr id="9" name="Rectangle 8"/>
          <p:cNvSpPr>
            <a:spLocks noGrp="1"/>
          </p:cNvSpPr>
          <p:nvPr/>
        </p:nvSpPr>
        <p:spPr>
          <a:xfrm>
            <a:off x="7191375" y="1504950"/>
            <a:ext cx="4333875" cy="400050"/>
          </a:xfrm>
          <a:prstGeom prst="rect">
            <a:avLst/>
          </a:prstGeom>
          <a:noFill/>
          <a:ln w="0">
            <a:noFill/>
            <a:prstDash val="solid"/>
          </a:ln>
        </p:spPr>
        <p:txBody>
          <a:bodyPr wrap="square" lIns="0" tIns="0" rIns="0" bIns="0" anchor="t">
            <a:normAutofit/>
          </a:bodyPr>
          <a:lstStyle/>
          <a:p>
            <a:pPr algn="l">
              <a:lnSpc>
                <a:spcPct val="100000"/>
              </a:lnSpc>
              <a:buNone/>
              <a:defRPr sz="2100" b="1">
                <a:solidFill>
                  <a:srgbClr val="102A43"/>
                </a:solidFill>
                <a:latin typeface="Arial" panose="020B0604020202020204"/>
                <a:ea typeface="Arial" panose="020B0604020202020204"/>
                <a:cs typeface="Arial" panose="020B0604020202020204"/>
              </a:defRPr>
            </a:pPr>
            <a:r>
              <a:rPr sz="2100" b="1">
                <a:solidFill>
                  <a:srgbClr val="102A43"/>
                </a:solidFill>
                <a:latin typeface="Arial" panose="020B0604020202020204"/>
                <a:ea typeface="Arial" panose="020B0604020202020204"/>
                <a:cs typeface="Arial" panose="020B0604020202020204"/>
              </a:rPr>
              <a:t>GradientBoostingRegressor</a:t>
            </a:r>
            <a:endParaRPr sz="2100" b="1">
              <a:solidFill>
                <a:srgbClr val="102A43"/>
              </a:solidFill>
              <a:latin typeface="Arial" panose="020B0604020202020204"/>
              <a:ea typeface="Arial" panose="020B0604020202020204"/>
              <a:cs typeface="Arial" panose="020B0604020202020204"/>
            </a:endParaRPr>
          </a:p>
        </p:txBody>
      </p:sp>
      <p:sp>
        <p:nvSpPr>
          <p:cNvPr id="10" name="Rounded Rectangle 9"/>
          <p:cNvSpPr>
            <a:spLocks noGrp="1"/>
          </p:cNvSpPr>
          <p:nvPr/>
        </p:nvSpPr>
        <p:spPr>
          <a:xfrm>
            <a:off x="7191375" y="2028825"/>
            <a:ext cx="1190625" cy="266700"/>
          </a:xfrm>
          <a:prstGeom prst="roundRect">
            <a:avLst>
              <a:gd name="adj" fmla="val 50000"/>
            </a:avLst>
          </a:prstGeom>
          <a:solidFill>
            <a:srgbClr val="EAF6F5"/>
          </a:solidFill>
          <a:ln w="9525">
            <a:solidFill>
              <a:srgbClr val="EAF6F5"/>
            </a:solidFill>
            <a:prstDash val="solid"/>
          </a:ln>
        </p:spPr>
        <p:txBody>
          <a:bodyPr wrap="square" lIns="76200" tIns="19050" rIns="76200" bIns="19050" anchor="ctr">
            <a:normAutofit/>
          </a:bodyPr>
          <a:lstStyle/>
          <a:p>
            <a:pPr algn="ctr">
              <a:lnSpc>
                <a:spcPct val="100000"/>
              </a:lnSpc>
              <a:buNone/>
              <a:defRPr sz="900" b="1">
                <a:solidFill>
                  <a:srgbClr val="167D8D"/>
                </a:solidFill>
                <a:latin typeface="Arial" panose="020B0604020202020204"/>
                <a:ea typeface="Arial" panose="020B0604020202020204"/>
                <a:cs typeface="Arial" panose="020B0604020202020204"/>
              </a:defRPr>
            </a:pPr>
            <a:r>
              <a:rPr sz="900" b="1">
                <a:solidFill>
                  <a:srgbClr val="167D8D"/>
                </a:solidFill>
                <a:latin typeface="Arial" panose="020B0604020202020204"/>
                <a:ea typeface="Arial" panose="020B0604020202020204"/>
                <a:cs typeface="Arial" panose="020B0604020202020204"/>
              </a:rPr>
              <a:t>version 2.0.0</a:t>
            </a:r>
            <a:endParaRPr sz="900" b="1">
              <a:solidFill>
                <a:srgbClr val="167D8D"/>
              </a:solidFill>
              <a:latin typeface="Arial" panose="020B0604020202020204"/>
              <a:ea typeface="Arial" panose="020B0604020202020204"/>
              <a:cs typeface="Arial" panose="020B0604020202020204"/>
            </a:endParaRPr>
          </a:p>
        </p:txBody>
      </p:sp>
      <p:sp>
        <p:nvSpPr>
          <p:cNvPr id="11" name="Rounded Rectangle 10"/>
          <p:cNvSpPr>
            <a:spLocks noGrp="1"/>
          </p:cNvSpPr>
          <p:nvPr/>
        </p:nvSpPr>
        <p:spPr>
          <a:xfrm>
            <a:off x="8524875" y="2028825"/>
            <a:ext cx="1095375" cy="266700"/>
          </a:xfrm>
          <a:prstGeom prst="roundRect">
            <a:avLst>
              <a:gd name="adj" fmla="val 50000"/>
            </a:avLst>
          </a:prstGeom>
          <a:solidFill>
            <a:srgbClr val="EAF1F8"/>
          </a:solidFill>
          <a:ln w="9525">
            <a:solidFill>
              <a:srgbClr val="EAF1F8"/>
            </a:solidFill>
            <a:prstDash val="solid"/>
          </a:ln>
        </p:spPr>
        <p:txBody>
          <a:bodyPr wrap="square" lIns="76200" tIns="19050" rIns="76200" bIns="19050" anchor="ctr">
            <a:normAutofit/>
          </a:bodyPr>
          <a:lstStyle/>
          <a:p>
            <a:pPr algn="ctr">
              <a:lnSpc>
                <a:spcPct val="100000"/>
              </a:lnSpc>
              <a:buNone/>
              <a:defRPr sz="900" b="1">
                <a:solidFill>
                  <a:srgbClr val="173F5F"/>
                </a:solidFill>
                <a:latin typeface="Arial" panose="020B0604020202020204"/>
                <a:ea typeface="Arial" panose="020B0604020202020204"/>
                <a:cs typeface="Arial" panose="020B0604020202020204"/>
              </a:defRPr>
            </a:pPr>
            <a:r>
              <a:rPr sz="900" b="1">
                <a:solidFill>
                  <a:srgbClr val="173F5F"/>
                </a:solidFill>
                <a:latin typeface="Arial" panose="020B0604020202020204"/>
                <a:ea typeface="Arial" panose="020B0604020202020204"/>
                <a:cs typeface="Arial" panose="020B0604020202020204"/>
              </a:rPr>
              <a:t>model.joblib</a:t>
            </a:r>
            <a:endParaRPr sz="900" b="1">
              <a:solidFill>
                <a:srgbClr val="173F5F"/>
              </a:solidFill>
              <a:latin typeface="Arial" panose="020B0604020202020204"/>
              <a:ea typeface="Arial" panose="020B0604020202020204"/>
              <a:cs typeface="Arial" panose="020B0604020202020204"/>
            </a:endParaRPr>
          </a:p>
        </p:txBody>
      </p:sp>
      <p:sp>
        <p:nvSpPr>
          <p:cNvPr id="12" name="Rounded Rectangle 11"/>
          <p:cNvSpPr>
            <a:spLocks noGrp="1"/>
          </p:cNvSpPr>
          <p:nvPr/>
        </p:nvSpPr>
        <p:spPr>
          <a:xfrm>
            <a:off x="9763125" y="2028825"/>
            <a:ext cx="1000125" cy="266700"/>
          </a:xfrm>
          <a:prstGeom prst="roundRect">
            <a:avLst>
              <a:gd name="adj" fmla="val 50000"/>
            </a:avLst>
          </a:prstGeom>
          <a:solidFill>
            <a:srgbClr val="FCEDE8"/>
          </a:solidFill>
          <a:ln w="9525">
            <a:solidFill>
              <a:srgbClr val="FCEDE8"/>
            </a:solidFill>
            <a:prstDash val="solid"/>
          </a:ln>
        </p:spPr>
        <p:txBody>
          <a:bodyPr wrap="square" lIns="76200" tIns="19050" rIns="76200" bIns="19050" anchor="ctr">
            <a:normAutofit/>
          </a:bodyPr>
          <a:lstStyle/>
          <a:p>
            <a:pPr algn="ctr">
              <a:lnSpc>
                <a:spcPct val="100000"/>
              </a:lnSpc>
              <a:buNone/>
              <a:defRPr sz="900" b="1">
                <a:solidFill>
                  <a:srgbClr val="E76F51"/>
                </a:solidFill>
                <a:latin typeface="Arial" panose="020B0604020202020204"/>
                <a:ea typeface="Arial" panose="020B0604020202020204"/>
                <a:cs typeface="Arial" panose="020B0604020202020204"/>
              </a:defRPr>
            </a:pPr>
            <a:r>
              <a:rPr sz="900" b="1">
                <a:solidFill>
                  <a:srgbClr val="E76F51"/>
                </a:solidFill>
                <a:latin typeface="Arial" panose="020B0604020202020204"/>
                <a:ea typeface="Arial" panose="020B0604020202020204"/>
                <a:cs typeface="Arial" panose="020B0604020202020204"/>
              </a:rPr>
              <a:t>~1,03 MiB</a:t>
            </a:r>
            <a:endParaRPr sz="900" b="1">
              <a:solidFill>
                <a:srgbClr val="E76F51"/>
              </a:solidFill>
              <a:latin typeface="Arial" panose="020B0604020202020204"/>
              <a:ea typeface="Arial" panose="020B0604020202020204"/>
              <a:cs typeface="Arial" panose="020B0604020202020204"/>
            </a:endParaRPr>
          </a:p>
        </p:txBody>
      </p:sp>
      <p:sp>
        <p:nvSpPr>
          <p:cNvPr id="13" name="Rounded Rectangle 12"/>
          <p:cNvSpPr>
            <a:spLocks noGrp="1"/>
          </p:cNvSpPr>
          <p:nvPr/>
        </p:nvSpPr>
        <p:spPr>
          <a:xfrm>
            <a:off x="7191375" y="2571750"/>
            <a:ext cx="1285875" cy="1000125"/>
          </a:xfrm>
          <a:prstGeom prst="roundRect">
            <a:avLst>
              <a:gd name="adj" fmla="val 6667"/>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14" name="Rectangle 13"/>
          <p:cNvSpPr>
            <a:spLocks noGrp="1"/>
          </p:cNvSpPr>
          <p:nvPr/>
        </p:nvSpPr>
        <p:spPr>
          <a:xfrm>
            <a:off x="7191375" y="2571750"/>
            <a:ext cx="57150" cy="1000125"/>
          </a:xfrm>
          <a:prstGeom prst="rect">
            <a:avLst/>
          </a:prstGeom>
          <a:solidFill>
            <a:srgbClr val="167D8D"/>
          </a:solidFill>
          <a:ln w="0">
            <a:noFill/>
            <a:prstDash val="solid"/>
          </a:ln>
        </p:spPr>
      </p:sp>
      <p:sp>
        <p:nvSpPr>
          <p:cNvPr id="15" name="Rectangle 14"/>
          <p:cNvSpPr>
            <a:spLocks noGrp="1"/>
          </p:cNvSpPr>
          <p:nvPr/>
        </p:nvSpPr>
        <p:spPr>
          <a:xfrm>
            <a:off x="7362825" y="2686050"/>
            <a:ext cx="1000125" cy="419100"/>
          </a:xfrm>
          <a:prstGeom prst="rect">
            <a:avLst/>
          </a:prstGeom>
          <a:noFill/>
          <a:ln w="0">
            <a:noFill/>
            <a:prstDash val="solid"/>
          </a:ln>
        </p:spPr>
        <p:txBody>
          <a:bodyPr wrap="square" lIns="0" tIns="0" rIns="0" bIns="0" anchor="t">
            <a:normAutofit/>
          </a:bodyPr>
          <a:lstStyle/>
          <a:p>
            <a:pPr algn="l">
              <a:lnSpc>
                <a:spcPct val="100000"/>
              </a:lnSpc>
              <a:buNone/>
              <a:defRPr sz="2250" b="1">
                <a:solidFill>
                  <a:srgbClr val="102A43"/>
                </a:solidFill>
                <a:latin typeface="Arial" panose="020B0604020202020204"/>
                <a:ea typeface="Arial" panose="020B0604020202020204"/>
                <a:cs typeface="Arial" panose="020B0604020202020204"/>
              </a:defRPr>
            </a:pPr>
            <a:r>
              <a:rPr sz="2250" b="1">
                <a:solidFill>
                  <a:srgbClr val="102A43"/>
                </a:solidFill>
                <a:latin typeface="Arial" panose="020B0604020202020204"/>
                <a:ea typeface="Arial" panose="020B0604020202020204"/>
                <a:cs typeface="Arial" panose="020B0604020202020204"/>
              </a:rPr>
              <a:t>46.795</a:t>
            </a:r>
            <a:endParaRPr sz="2250" b="1">
              <a:solidFill>
                <a:srgbClr val="102A43"/>
              </a:solidFill>
              <a:latin typeface="Arial" panose="020B0604020202020204"/>
              <a:ea typeface="Arial" panose="020B0604020202020204"/>
              <a:cs typeface="Arial" panose="020B0604020202020204"/>
            </a:endParaRPr>
          </a:p>
        </p:txBody>
      </p:sp>
      <p:sp>
        <p:nvSpPr>
          <p:cNvPr id="16" name="Rectangle 15"/>
          <p:cNvSpPr>
            <a:spLocks noGrp="1"/>
          </p:cNvSpPr>
          <p:nvPr/>
        </p:nvSpPr>
        <p:spPr>
          <a:xfrm>
            <a:off x="7362825" y="3114675"/>
            <a:ext cx="1000125" cy="276225"/>
          </a:xfrm>
          <a:prstGeom prst="rect">
            <a:avLst/>
          </a:prstGeom>
          <a:noFill/>
          <a:ln w="0">
            <a:noFill/>
            <a:prstDash val="solid"/>
          </a:ln>
        </p:spPr>
        <p:txBody>
          <a:bodyPr wrap="square" lIns="0" tIns="0" rIns="0" bIns="0" anchor="t">
            <a:normAutofit/>
          </a:bodyPr>
          <a:lstStyle/>
          <a:p>
            <a:pPr algn="l">
              <a:lnSpc>
                <a:spcPct val="100000"/>
              </a:lnSpc>
              <a:buNone/>
              <a:defRPr sz="1125" b="1">
                <a:solidFill>
                  <a:srgbClr val="5F6C7B"/>
                </a:solidFill>
                <a:latin typeface="Arial" panose="020B0604020202020204"/>
                <a:ea typeface="Arial" panose="020B0604020202020204"/>
                <a:cs typeface="Arial" panose="020B0604020202020204"/>
              </a:defRPr>
            </a:pPr>
            <a:r>
              <a:rPr sz="1125" b="1">
                <a:solidFill>
                  <a:srgbClr val="5F6C7B"/>
                </a:solidFill>
                <a:latin typeface="Arial" panose="020B0604020202020204"/>
                <a:ea typeface="Arial" panose="020B0604020202020204"/>
                <a:cs typeface="Arial" panose="020B0604020202020204"/>
              </a:rPr>
              <a:t>RMSE</a:t>
            </a:r>
            <a:endParaRPr sz="1125" b="1">
              <a:solidFill>
                <a:srgbClr val="5F6C7B"/>
              </a:solidFill>
              <a:latin typeface="Arial" panose="020B0604020202020204"/>
              <a:ea typeface="Arial" panose="020B0604020202020204"/>
              <a:cs typeface="Arial" panose="020B0604020202020204"/>
            </a:endParaRPr>
          </a:p>
        </p:txBody>
      </p:sp>
      <p:sp>
        <p:nvSpPr>
          <p:cNvPr id="17" name="Rounded Rectangle 16"/>
          <p:cNvSpPr>
            <a:spLocks noGrp="1"/>
          </p:cNvSpPr>
          <p:nvPr/>
        </p:nvSpPr>
        <p:spPr>
          <a:xfrm>
            <a:off x="8620125" y="2571750"/>
            <a:ext cx="1285875" cy="1000125"/>
          </a:xfrm>
          <a:prstGeom prst="roundRect">
            <a:avLst>
              <a:gd name="adj" fmla="val 6667"/>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18" name="Rectangle 17"/>
          <p:cNvSpPr>
            <a:spLocks noGrp="1"/>
          </p:cNvSpPr>
          <p:nvPr/>
        </p:nvSpPr>
        <p:spPr>
          <a:xfrm>
            <a:off x="8620125" y="2571750"/>
            <a:ext cx="57150" cy="1000125"/>
          </a:xfrm>
          <a:prstGeom prst="rect">
            <a:avLst/>
          </a:prstGeom>
          <a:solidFill>
            <a:srgbClr val="173F5F"/>
          </a:solidFill>
          <a:ln w="0">
            <a:noFill/>
            <a:prstDash val="solid"/>
          </a:ln>
        </p:spPr>
      </p:sp>
      <p:sp>
        <p:nvSpPr>
          <p:cNvPr id="19" name="Rectangle 18"/>
          <p:cNvSpPr>
            <a:spLocks noGrp="1"/>
          </p:cNvSpPr>
          <p:nvPr/>
        </p:nvSpPr>
        <p:spPr>
          <a:xfrm>
            <a:off x="8791575" y="2686050"/>
            <a:ext cx="1000125" cy="419100"/>
          </a:xfrm>
          <a:prstGeom prst="rect">
            <a:avLst/>
          </a:prstGeom>
          <a:noFill/>
          <a:ln w="0">
            <a:noFill/>
            <a:prstDash val="solid"/>
          </a:ln>
        </p:spPr>
        <p:txBody>
          <a:bodyPr wrap="square" lIns="0" tIns="0" rIns="0" bIns="0" anchor="t">
            <a:normAutofit/>
          </a:bodyPr>
          <a:lstStyle/>
          <a:p>
            <a:pPr algn="l">
              <a:lnSpc>
                <a:spcPct val="100000"/>
              </a:lnSpc>
              <a:buNone/>
              <a:defRPr sz="2250" b="1">
                <a:solidFill>
                  <a:srgbClr val="102A43"/>
                </a:solidFill>
                <a:latin typeface="Arial" panose="020B0604020202020204"/>
                <a:ea typeface="Arial" panose="020B0604020202020204"/>
                <a:cs typeface="Arial" panose="020B0604020202020204"/>
              </a:defRPr>
            </a:pPr>
            <a:r>
              <a:rPr sz="2250" b="1">
                <a:solidFill>
                  <a:srgbClr val="102A43"/>
                </a:solidFill>
                <a:latin typeface="Arial" panose="020B0604020202020204"/>
                <a:ea typeface="Arial" panose="020B0604020202020204"/>
                <a:cs typeface="Arial" panose="020B0604020202020204"/>
              </a:rPr>
              <a:t>30.649</a:t>
            </a:r>
            <a:endParaRPr sz="2250" b="1">
              <a:solidFill>
                <a:srgbClr val="102A43"/>
              </a:solidFill>
              <a:latin typeface="Arial" panose="020B0604020202020204"/>
              <a:ea typeface="Arial" panose="020B0604020202020204"/>
              <a:cs typeface="Arial" panose="020B0604020202020204"/>
            </a:endParaRPr>
          </a:p>
        </p:txBody>
      </p:sp>
      <p:sp>
        <p:nvSpPr>
          <p:cNvPr id="20" name="Rectangle 19"/>
          <p:cNvSpPr>
            <a:spLocks noGrp="1"/>
          </p:cNvSpPr>
          <p:nvPr/>
        </p:nvSpPr>
        <p:spPr>
          <a:xfrm>
            <a:off x="8791575" y="3114675"/>
            <a:ext cx="1000125" cy="276225"/>
          </a:xfrm>
          <a:prstGeom prst="rect">
            <a:avLst/>
          </a:prstGeom>
          <a:noFill/>
          <a:ln w="0">
            <a:noFill/>
            <a:prstDash val="solid"/>
          </a:ln>
        </p:spPr>
        <p:txBody>
          <a:bodyPr wrap="square" lIns="0" tIns="0" rIns="0" bIns="0" anchor="t">
            <a:normAutofit/>
          </a:bodyPr>
          <a:lstStyle/>
          <a:p>
            <a:pPr algn="l">
              <a:lnSpc>
                <a:spcPct val="100000"/>
              </a:lnSpc>
              <a:buNone/>
              <a:defRPr sz="1125" b="1">
                <a:solidFill>
                  <a:srgbClr val="5F6C7B"/>
                </a:solidFill>
                <a:latin typeface="Arial" panose="020B0604020202020204"/>
                <a:ea typeface="Arial" panose="020B0604020202020204"/>
                <a:cs typeface="Arial" panose="020B0604020202020204"/>
              </a:defRPr>
            </a:pPr>
            <a:r>
              <a:rPr sz="1125" b="1">
                <a:solidFill>
                  <a:srgbClr val="5F6C7B"/>
                </a:solidFill>
                <a:latin typeface="Arial" panose="020B0604020202020204"/>
                <a:ea typeface="Arial" panose="020B0604020202020204"/>
                <a:cs typeface="Arial" panose="020B0604020202020204"/>
              </a:rPr>
              <a:t>MAE</a:t>
            </a:r>
            <a:endParaRPr sz="1125" b="1">
              <a:solidFill>
                <a:srgbClr val="5F6C7B"/>
              </a:solidFill>
              <a:latin typeface="Arial" panose="020B0604020202020204"/>
              <a:ea typeface="Arial" panose="020B0604020202020204"/>
              <a:cs typeface="Arial" panose="020B0604020202020204"/>
            </a:endParaRPr>
          </a:p>
        </p:txBody>
      </p:sp>
      <p:sp>
        <p:nvSpPr>
          <p:cNvPr id="21" name="Rounded Rectangle 20"/>
          <p:cNvSpPr>
            <a:spLocks noGrp="1"/>
          </p:cNvSpPr>
          <p:nvPr/>
        </p:nvSpPr>
        <p:spPr>
          <a:xfrm>
            <a:off x="10048875" y="2571750"/>
            <a:ext cx="1285875" cy="1000125"/>
          </a:xfrm>
          <a:prstGeom prst="roundRect">
            <a:avLst>
              <a:gd name="adj" fmla="val 6667"/>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22" name="Rectangle 21"/>
          <p:cNvSpPr>
            <a:spLocks noGrp="1"/>
          </p:cNvSpPr>
          <p:nvPr/>
        </p:nvSpPr>
        <p:spPr>
          <a:xfrm>
            <a:off x="10048875" y="2571750"/>
            <a:ext cx="57150" cy="1000125"/>
          </a:xfrm>
          <a:prstGeom prst="rect">
            <a:avLst/>
          </a:prstGeom>
          <a:solidFill>
            <a:srgbClr val="E9C46A"/>
          </a:solidFill>
          <a:ln w="0">
            <a:noFill/>
            <a:prstDash val="solid"/>
          </a:ln>
        </p:spPr>
      </p:sp>
      <p:sp>
        <p:nvSpPr>
          <p:cNvPr id="23" name="Rectangle 22"/>
          <p:cNvSpPr>
            <a:spLocks noGrp="1"/>
          </p:cNvSpPr>
          <p:nvPr/>
        </p:nvSpPr>
        <p:spPr>
          <a:xfrm>
            <a:off x="10220325" y="2686050"/>
            <a:ext cx="1000125" cy="419100"/>
          </a:xfrm>
          <a:prstGeom prst="rect">
            <a:avLst/>
          </a:prstGeom>
          <a:noFill/>
          <a:ln w="0">
            <a:noFill/>
            <a:prstDash val="solid"/>
          </a:ln>
        </p:spPr>
        <p:txBody>
          <a:bodyPr wrap="square" lIns="0" tIns="0" rIns="0" bIns="0" anchor="t">
            <a:normAutofit/>
          </a:bodyPr>
          <a:lstStyle/>
          <a:p>
            <a:pPr algn="l">
              <a:lnSpc>
                <a:spcPct val="100000"/>
              </a:lnSpc>
              <a:buNone/>
              <a:defRPr sz="2250" b="1">
                <a:solidFill>
                  <a:srgbClr val="102A43"/>
                </a:solidFill>
                <a:latin typeface="Arial" panose="020B0604020202020204"/>
                <a:ea typeface="Arial" panose="020B0604020202020204"/>
                <a:cs typeface="Arial" panose="020B0604020202020204"/>
              </a:defRPr>
            </a:pPr>
            <a:r>
              <a:rPr sz="2250" b="1">
                <a:solidFill>
                  <a:srgbClr val="102A43"/>
                </a:solidFill>
                <a:latin typeface="Arial" panose="020B0604020202020204"/>
                <a:ea typeface="Arial" panose="020B0604020202020204"/>
                <a:cs typeface="Arial" panose="020B0604020202020204"/>
              </a:rPr>
              <a:t>0,8329</a:t>
            </a:r>
            <a:endParaRPr sz="2250" b="1">
              <a:solidFill>
                <a:srgbClr val="102A43"/>
              </a:solidFill>
              <a:latin typeface="Arial" panose="020B0604020202020204"/>
              <a:ea typeface="Arial" panose="020B0604020202020204"/>
              <a:cs typeface="Arial" panose="020B0604020202020204"/>
            </a:endParaRPr>
          </a:p>
        </p:txBody>
      </p:sp>
      <p:sp>
        <p:nvSpPr>
          <p:cNvPr id="24" name="Rectangle 23"/>
          <p:cNvSpPr>
            <a:spLocks noGrp="1"/>
          </p:cNvSpPr>
          <p:nvPr/>
        </p:nvSpPr>
        <p:spPr>
          <a:xfrm>
            <a:off x="10220325" y="3114675"/>
            <a:ext cx="1000125" cy="276225"/>
          </a:xfrm>
          <a:prstGeom prst="rect">
            <a:avLst/>
          </a:prstGeom>
          <a:noFill/>
          <a:ln w="0">
            <a:noFill/>
            <a:prstDash val="solid"/>
          </a:ln>
        </p:spPr>
        <p:txBody>
          <a:bodyPr wrap="square" lIns="0" tIns="0" rIns="0" bIns="0" anchor="t">
            <a:normAutofit/>
          </a:bodyPr>
          <a:lstStyle/>
          <a:p>
            <a:pPr algn="l">
              <a:lnSpc>
                <a:spcPct val="100000"/>
              </a:lnSpc>
              <a:buNone/>
              <a:defRPr sz="1125" b="1">
                <a:solidFill>
                  <a:srgbClr val="5F6C7B"/>
                </a:solidFill>
                <a:latin typeface="Arial" panose="020B0604020202020204"/>
                <a:ea typeface="Arial" panose="020B0604020202020204"/>
                <a:cs typeface="Arial" panose="020B0604020202020204"/>
              </a:defRPr>
            </a:pPr>
            <a:r>
              <a:rPr sz="1125" b="1">
                <a:solidFill>
                  <a:srgbClr val="5F6C7B"/>
                </a:solidFill>
                <a:latin typeface="Arial" panose="020B0604020202020204"/>
                <a:ea typeface="Arial" panose="020B0604020202020204"/>
                <a:cs typeface="Arial" panose="020B0604020202020204"/>
              </a:rPr>
              <a:t>R²</a:t>
            </a:r>
            <a:endParaRPr sz="1125" b="1">
              <a:solidFill>
                <a:srgbClr val="5F6C7B"/>
              </a:solidFill>
              <a:latin typeface="Arial" panose="020B0604020202020204"/>
              <a:ea typeface="Arial" panose="020B0604020202020204"/>
              <a:cs typeface="Arial" panose="020B0604020202020204"/>
            </a:endParaRPr>
          </a:p>
        </p:txBody>
      </p:sp>
      <p:sp>
        <p:nvSpPr>
          <p:cNvPr id="25" name="Rounded Rectangle 24"/>
          <p:cNvSpPr>
            <a:spLocks noGrp="1"/>
          </p:cNvSpPr>
          <p:nvPr/>
        </p:nvSpPr>
        <p:spPr>
          <a:xfrm>
            <a:off x="7191375" y="3905250"/>
            <a:ext cx="4143375" cy="1428750"/>
          </a:xfrm>
          <a:prstGeom prst="roundRect">
            <a:avLst>
              <a:gd name="adj" fmla="val 4667"/>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26" name="Rectangle 25"/>
          <p:cNvSpPr>
            <a:spLocks noGrp="1"/>
          </p:cNvSpPr>
          <p:nvPr/>
        </p:nvSpPr>
        <p:spPr>
          <a:xfrm>
            <a:off x="7429500" y="4095750"/>
            <a:ext cx="1714500" cy="238125"/>
          </a:xfrm>
          <a:prstGeom prst="rect">
            <a:avLst/>
          </a:prstGeom>
          <a:noFill/>
          <a:ln w="0">
            <a:noFill/>
            <a:prstDash val="solid"/>
          </a:ln>
        </p:spPr>
        <p:txBody>
          <a:bodyPr wrap="square" lIns="0" tIns="0" rIns="0" bIns="0" anchor="t">
            <a:normAutofit/>
          </a:bodyPr>
          <a:lstStyle/>
          <a:p>
            <a:pPr algn="l">
              <a:lnSpc>
                <a:spcPct val="100000"/>
              </a:lnSpc>
              <a:buNone/>
              <a:defRPr sz="1200" b="1">
                <a:solidFill>
                  <a:srgbClr val="167D8D"/>
                </a:solidFill>
                <a:latin typeface="Arial" panose="020B0604020202020204"/>
                <a:ea typeface="Arial" panose="020B0604020202020204"/>
                <a:cs typeface="Arial" panose="020B0604020202020204"/>
              </a:defRPr>
            </a:pPr>
            <a:r>
              <a:rPr sz="1200" b="1">
                <a:solidFill>
                  <a:srgbClr val="167D8D"/>
                </a:solidFill>
                <a:latin typeface="Arial" panose="020B0604020202020204"/>
                <a:ea typeface="Arial" panose="020B0604020202020204"/>
                <a:cs typeface="Arial" panose="020B0604020202020204"/>
              </a:rPr>
              <a:t>Hyperparameters</a:t>
            </a:r>
            <a:endParaRPr sz="1200" b="1">
              <a:solidFill>
                <a:srgbClr val="167D8D"/>
              </a:solidFill>
              <a:latin typeface="Arial" panose="020B0604020202020204"/>
              <a:ea typeface="Arial" panose="020B0604020202020204"/>
              <a:cs typeface="Arial" panose="020B0604020202020204"/>
            </a:endParaRPr>
          </a:p>
        </p:txBody>
      </p:sp>
      <p:sp>
        <p:nvSpPr>
          <p:cNvPr id="27" name="Rectangle 26"/>
          <p:cNvSpPr>
            <a:spLocks noGrp="1"/>
          </p:cNvSpPr>
          <p:nvPr/>
        </p:nvSpPr>
        <p:spPr>
          <a:xfrm>
            <a:off x="7429500" y="4438650"/>
            <a:ext cx="3429000" cy="781050"/>
          </a:xfrm>
          <a:prstGeom prst="rect">
            <a:avLst/>
          </a:prstGeom>
          <a:noFill/>
          <a:ln w="0">
            <a:noFill/>
            <a:prstDash val="solid"/>
          </a:ln>
        </p:spPr>
        <p:txBody>
          <a:bodyPr wrap="square" lIns="0" tIns="0" rIns="0" bIns="0" anchor="t">
            <a:normAutofit/>
          </a:bodyPr>
          <a:lstStyle/>
          <a:p>
            <a:pPr algn="l">
              <a:lnSpc>
                <a:spcPct val="100000"/>
              </a:lnSpc>
              <a:buNone/>
              <a:defRPr sz="1200" b="0">
                <a:solidFill>
                  <a:srgbClr val="1D2939"/>
                </a:solidFill>
                <a:latin typeface="Arial" panose="020B0604020202020204"/>
                <a:ea typeface="Arial" panose="020B0604020202020204"/>
                <a:cs typeface="Arial" panose="020B0604020202020204"/>
              </a:defRPr>
            </a:pPr>
            <a:r>
              <a:rPr sz="1200" b="0">
                <a:solidFill>
                  <a:srgbClr val="1D2939"/>
                </a:solidFill>
                <a:latin typeface="Arial" panose="020B0604020202020204"/>
                <a:ea typeface="Arial" panose="020B0604020202020204"/>
                <a:cs typeface="Arial" panose="020B0604020202020204"/>
              </a:rPr>
              <a:t>n_estimators = 200</a:t>
            </a:r>
            <a:endParaRPr sz="1200" b="0">
              <a:solidFill>
                <a:srgbClr val="1D2939"/>
              </a:solidFill>
              <a:latin typeface="Arial" panose="020B0604020202020204"/>
              <a:ea typeface="Arial" panose="020B0604020202020204"/>
              <a:cs typeface="Arial" panose="020B0604020202020204"/>
            </a:endParaRPr>
          </a:p>
          <a:p>
            <a:pPr algn="l">
              <a:lnSpc>
                <a:spcPct val="100000"/>
              </a:lnSpc>
              <a:buNone/>
              <a:defRPr sz="1200" b="0">
                <a:solidFill>
                  <a:srgbClr val="1D2939"/>
                </a:solidFill>
                <a:latin typeface="Arial" panose="020B0604020202020204"/>
                <a:ea typeface="Arial" panose="020B0604020202020204"/>
                <a:cs typeface="Arial" panose="020B0604020202020204"/>
              </a:defRPr>
            </a:pPr>
            <a:r>
              <a:rPr sz="1200" b="0">
                <a:solidFill>
                  <a:srgbClr val="1D2939"/>
                </a:solidFill>
                <a:latin typeface="Arial" panose="020B0604020202020204"/>
                <a:ea typeface="Arial" panose="020B0604020202020204"/>
                <a:cs typeface="Arial" panose="020B0604020202020204"/>
              </a:rPr>
              <a:t>max_depth = 7</a:t>
            </a:r>
            <a:endParaRPr sz="1200" b="0">
              <a:solidFill>
                <a:srgbClr val="1D2939"/>
              </a:solidFill>
              <a:latin typeface="Arial" panose="020B0604020202020204"/>
              <a:ea typeface="Arial" panose="020B0604020202020204"/>
              <a:cs typeface="Arial" panose="020B0604020202020204"/>
            </a:endParaRPr>
          </a:p>
          <a:p>
            <a:pPr algn="l">
              <a:lnSpc>
                <a:spcPct val="100000"/>
              </a:lnSpc>
              <a:buNone/>
              <a:defRPr sz="1200" b="0">
                <a:solidFill>
                  <a:srgbClr val="1D2939"/>
                </a:solidFill>
                <a:latin typeface="Arial" panose="020B0604020202020204"/>
                <a:ea typeface="Arial" panose="020B0604020202020204"/>
                <a:cs typeface="Arial" panose="020B0604020202020204"/>
              </a:defRPr>
            </a:pPr>
            <a:r>
              <a:rPr sz="1200" b="0">
                <a:solidFill>
                  <a:srgbClr val="1D2939"/>
                </a:solidFill>
                <a:latin typeface="Arial" panose="020B0604020202020204"/>
                <a:ea typeface="Arial" panose="020B0604020202020204"/>
                <a:cs typeface="Arial" panose="020B0604020202020204"/>
              </a:rPr>
              <a:t>learning_rate = 0,05</a:t>
            </a:r>
            <a:endParaRPr sz="1200" b="0">
              <a:solidFill>
                <a:srgbClr val="1D2939"/>
              </a:solidFill>
              <a:latin typeface="Arial" panose="020B0604020202020204"/>
              <a:ea typeface="Arial" panose="020B0604020202020204"/>
              <a:cs typeface="Arial" panose="020B0604020202020204"/>
            </a:endParaRPr>
          </a:p>
          <a:p>
            <a:pPr algn="l">
              <a:lnSpc>
                <a:spcPct val="100000"/>
              </a:lnSpc>
              <a:buNone/>
              <a:defRPr sz="1200" b="0">
                <a:solidFill>
                  <a:srgbClr val="1D2939"/>
                </a:solidFill>
                <a:latin typeface="Arial" panose="020B0604020202020204"/>
                <a:ea typeface="Arial" panose="020B0604020202020204"/>
                <a:cs typeface="Arial" panose="020B0604020202020204"/>
              </a:defRPr>
            </a:pPr>
            <a:r>
              <a:rPr sz="1200" b="0">
                <a:solidFill>
                  <a:srgbClr val="1D2939"/>
                </a:solidFill>
                <a:latin typeface="Arial" panose="020B0604020202020204"/>
                <a:ea typeface="Arial" panose="020B0604020202020204"/>
                <a:cs typeface="Arial" panose="020B0604020202020204"/>
              </a:rPr>
              <a:t>random_state = 42</a:t>
            </a:r>
            <a:endParaRPr sz="1200" b="0">
              <a:solidFill>
                <a:srgbClr val="1D2939"/>
              </a:solidFill>
              <a:latin typeface="Arial" panose="020B0604020202020204"/>
              <a:ea typeface="Arial" panose="020B0604020202020204"/>
              <a:cs typeface="Arial" panose="020B0604020202020204"/>
            </a:endParaRPr>
          </a:p>
        </p:txBody>
      </p:sp>
      <p:sp>
        <p:nvSpPr>
          <p:cNvPr id="28" name="Rectangle 27"/>
          <p:cNvSpPr>
            <a:spLocks noGrp="1"/>
          </p:cNvSpPr>
          <p:nvPr/>
        </p:nvSpPr>
        <p:spPr>
          <a:xfrm>
            <a:off x="7381875" y="5476875"/>
            <a:ext cx="3619500" cy="219075"/>
          </a:xfrm>
          <a:prstGeom prst="rect">
            <a:avLst/>
          </a:prstGeom>
          <a:noFill/>
          <a:ln w="0">
            <a:noFill/>
            <a:prstDash val="solid"/>
          </a:ln>
        </p:spPr>
        <p:txBody>
          <a:bodyPr wrap="square" lIns="0" tIns="0" rIns="0" bIns="0" anchor="t">
            <a:normAutofit/>
          </a:bodyPr>
          <a:lstStyle/>
          <a:p>
            <a:pPr algn="l">
              <a:lnSpc>
                <a:spcPct val="100000"/>
              </a:lnSpc>
              <a:buNone/>
              <a:defRPr sz="900" b="0">
                <a:solidFill>
                  <a:srgbClr val="5F6C7B"/>
                </a:solidFill>
                <a:latin typeface="Arial" panose="020B0604020202020204"/>
                <a:ea typeface="Arial" panose="020B0604020202020204"/>
                <a:cs typeface="Arial" panose="020B0604020202020204"/>
              </a:defRPr>
            </a:pPr>
            <a:r>
              <a:rPr sz="900" b="0">
                <a:solidFill>
                  <a:srgbClr val="5F6C7B"/>
                </a:solidFill>
                <a:latin typeface="Arial" panose="020B0604020202020204"/>
                <a:ea typeface="Arial" panose="020B0604020202020204"/>
                <a:cs typeface="Arial" panose="020B0604020202020204"/>
              </a:rPr>
              <a:t>Metadata artifact: 01/10/2026</a:t>
            </a:r>
            <a:endParaRPr sz="900" b="0">
              <a:solidFill>
                <a:srgbClr val="5F6C7B"/>
              </a:solidFill>
              <a:latin typeface="Arial" panose="020B0604020202020204"/>
              <a:ea typeface="Arial" panose="020B0604020202020204"/>
              <a:cs typeface="Arial" panose="020B0604020202020204"/>
            </a:endParaRPr>
          </a:p>
        </p:txBody>
      </p:sp>
      <p:sp>
        <p:nvSpPr>
          <p:cNvPr id="29" name="Straight Connector 28"/>
          <p:cNvSpPr>
            <a:spLocks noGrp="1"/>
          </p:cNvSpPr>
          <p:nvPr/>
        </p:nvSpPr>
        <p:spPr>
          <a:xfrm>
            <a:off x="666750" y="6477000"/>
            <a:ext cx="10858500" cy="0"/>
          </a:xfrm>
          <a:prstGeom prst="line">
            <a:avLst/>
          </a:prstGeom>
          <a:noFill/>
          <a:ln w="9525">
            <a:solidFill>
              <a:srgbClr val="D7E0E8"/>
            </a:solidFill>
            <a:prstDash val="solid"/>
          </a:ln>
        </p:spPr>
      </p:sp>
      <p:sp>
        <p:nvSpPr>
          <p:cNvPr id="30" name="Rectangle 29"/>
          <p:cNvSpPr>
            <a:spLocks noGrp="1"/>
          </p:cNvSpPr>
          <p:nvPr/>
        </p:nvSpPr>
        <p:spPr>
          <a:xfrm>
            <a:off x="666750" y="6524625"/>
            <a:ext cx="10572750" cy="209550"/>
          </a:xfrm>
          <a:prstGeom prst="rect">
            <a:avLst/>
          </a:prstGeom>
          <a:noFill/>
          <a:ln w="0">
            <a:noFill/>
            <a:prstDash val="solid"/>
          </a:ln>
        </p:spPr>
        <p:txBody>
          <a:bodyPr wrap="square" lIns="0" tIns="0" rIns="0" bIns="0" anchor="t">
            <a:normAutofit/>
          </a:bodyPr>
          <a:lstStyle/>
          <a:p>
            <a:pPr algn="l">
              <a:lnSpc>
                <a:spcPct val="100000"/>
              </a:lnSpc>
              <a:buNone/>
              <a:defRPr sz="825" b="0">
                <a:solidFill>
                  <a:srgbClr val="5F6C7B"/>
                </a:solidFill>
                <a:latin typeface="Arial" panose="020B0604020202020204"/>
                <a:ea typeface="Arial" panose="020B0604020202020204"/>
                <a:cs typeface="Arial" panose="020B0604020202020204"/>
              </a:defRPr>
            </a:pPr>
            <a:r>
              <a:rPr sz="825" b="0">
                <a:solidFill>
                  <a:srgbClr val="5F6C7B"/>
                </a:solidFill>
                <a:latin typeface="Arial" panose="020B0604020202020204"/>
                <a:ea typeface="Arial" panose="020B0604020202020204"/>
                <a:cs typeface="Arial" panose="020B0604020202020204"/>
              </a:rPr>
              <a:t>Nguồn: ai-models/models/model.joblib; metadata.json; ML_Project.ipynb</a:t>
            </a:r>
            <a:endParaRPr sz="825" b="0">
              <a:solidFill>
                <a:srgbClr val="5F6C7B"/>
              </a:solidFill>
              <a:latin typeface="Arial" panose="020B0604020202020204"/>
              <a:ea typeface="Arial" panose="020B0604020202020204"/>
              <a:cs typeface="Arial" panose="020B0604020202020204"/>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
        <p:cNvGrpSpPr/>
        <p:nvPr/>
      </p:nvGrpSpPr>
      <p:grpSpPr/>
      <p:sp>
        <p:nvSpPr>
          <p:cNvPr id="35" name="Rectangle 34"/>
          <p:cNvSpPr>
            <a:spLocks noGrp="1"/>
          </p:cNvSpPr>
          <p:nvPr/>
        </p:nvSpPr>
        <p:spPr>
          <a:xfrm>
            <a:off x="666750" y="323850"/>
            <a:ext cx="9525000" cy="228600"/>
          </a:xfrm>
          <a:prstGeom prst="rect">
            <a:avLst/>
          </a:prstGeom>
          <a:noFill/>
          <a:ln w="0">
            <a:noFill/>
            <a:prstDash val="solid"/>
          </a:ln>
        </p:spPr>
        <p:txBody>
          <a:bodyPr wrap="square" lIns="0" tIns="0" rIns="0" bIns="0" anchor="t">
            <a:normAutofit/>
          </a:bodyPr>
          <a:lstStyle/>
          <a:p>
            <a:pPr algn="l">
              <a:lnSpc>
                <a:spcPct val="100000"/>
              </a:lnSpc>
              <a:buNone/>
              <a:defRPr sz="975" b="1">
                <a:solidFill>
                  <a:srgbClr val="167D8D"/>
                </a:solidFill>
                <a:latin typeface="Arial" panose="020B0604020202020204"/>
                <a:ea typeface="Arial" panose="020B0604020202020204"/>
                <a:cs typeface="Arial" panose="020B0604020202020204"/>
              </a:defRPr>
            </a:pPr>
            <a:r>
              <a:rPr sz="975" b="1">
                <a:solidFill>
                  <a:srgbClr val="167D8D"/>
                </a:solidFill>
                <a:latin typeface="Arial" panose="020B0604020202020204"/>
                <a:ea typeface="Arial" panose="020B0604020202020204"/>
                <a:cs typeface="Arial" panose="020B0604020202020204"/>
              </a:rPr>
              <a:t>09 · SYSTEM DESIGN</a:t>
            </a:r>
            <a:endParaRPr sz="975" b="1">
              <a:solidFill>
                <a:srgbClr val="167D8D"/>
              </a:solidFill>
              <a:latin typeface="Arial" panose="020B0604020202020204"/>
              <a:ea typeface="Arial" panose="020B0604020202020204"/>
              <a:cs typeface="Arial" panose="020B0604020202020204"/>
            </a:endParaRPr>
          </a:p>
        </p:txBody>
      </p:sp>
      <p:sp>
        <p:nvSpPr>
          <p:cNvPr id="2" name="Rectangle 1"/>
          <p:cNvSpPr>
            <a:spLocks noGrp="1"/>
          </p:cNvSpPr>
          <p:nvPr/>
        </p:nvSpPr>
        <p:spPr>
          <a:xfrm>
            <a:off x="666750" y="571500"/>
            <a:ext cx="10287000" cy="523875"/>
          </a:xfrm>
          <a:prstGeom prst="rect">
            <a:avLst/>
          </a:prstGeom>
          <a:noFill/>
          <a:ln w="0">
            <a:noFill/>
            <a:prstDash val="solid"/>
          </a:ln>
        </p:spPr>
        <p:txBody>
          <a:bodyPr wrap="square" lIns="0" tIns="0" rIns="0" bIns="0" anchor="t">
            <a:normAutofit/>
          </a:bodyPr>
          <a:lstStyle/>
          <a:p>
            <a:pPr algn="l">
              <a:lnSpc>
                <a:spcPct val="100000"/>
              </a:lnSpc>
              <a:buNone/>
              <a:defRPr sz="2700" b="1">
                <a:solidFill>
                  <a:srgbClr val="102A43"/>
                </a:solidFill>
                <a:latin typeface="Arial" panose="020B0604020202020204"/>
                <a:ea typeface="Arial" panose="020B0604020202020204"/>
                <a:cs typeface="Arial" panose="020B0604020202020204"/>
              </a:defRPr>
            </a:pPr>
            <a:r>
              <a:rPr sz="2700" b="1">
                <a:solidFill>
                  <a:srgbClr val="102A43"/>
                </a:solidFill>
                <a:latin typeface="Arial" panose="020B0604020202020204"/>
                <a:ea typeface="Arial" panose="020B0604020202020204"/>
                <a:cs typeface="Arial" panose="020B0604020202020204"/>
              </a:rPr>
              <a:t>Kiến trúc hệ thống</a:t>
            </a:r>
            <a:endParaRPr sz="2700" b="1">
              <a:solidFill>
                <a:srgbClr val="102A43"/>
              </a:solidFill>
              <a:latin typeface="Arial" panose="020B0604020202020204"/>
              <a:ea typeface="Arial" panose="020B0604020202020204"/>
              <a:cs typeface="Arial" panose="020B0604020202020204"/>
            </a:endParaRPr>
          </a:p>
        </p:txBody>
      </p:sp>
      <p:sp>
        <p:nvSpPr>
          <p:cNvPr id="3" name="Rectangle 2"/>
          <p:cNvSpPr>
            <a:spLocks noGrp="1"/>
          </p:cNvSpPr>
          <p:nvPr/>
        </p:nvSpPr>
        <p:spPr>
          <a:xfrm>
            <a:off x="666750" y="1152525"/>
            <a:ext cx="714375" cy="47625"/>
          </a:xfrm>
          <a:prstGeom prst="rect">
            <a:avLst/>
          </a:prstGeom>
          <a:solidFill>
            <a:srgbClr val="E76F51"/>
          </a:solidFill>
          <a:ln w="0">
            <a:noFill/>
            <a:prstDash val="solid"/>
          </a:ln>
        </p:spPr>
      </p:sp>
      <p:sp>
        <p:nvSpPr>
          <p:cNvPr id="4" name="Rectangle 3"/>
          <p:cNvSpPr>
            <a:spLocks noGrp="1"/>
          </p:cNvSpPr>
          <p:nvPr/>
        </p:nvSpPr>
        <p:spPr>
          <a:xfrm>
            <a:off x="11191875" y="409575"/>
            <a:ext cx="381000" cy="247650"/>
          </a:xfrm>
          <a:prstGeom prst="rect">
            <a:avLst/>
          </a:prstGeom>
          <a:noFill/>
          <a:ln w="0">
            <a:noFill/>
            <a:prstDash val="solid"/>
          </a:ln>
        </p:spPr>
        <p:txBody>
          <a:bodyPr wrap="square" lIns="0" tIns="0" rIns="0" bIns="0" anchor="t">
            <a:normAutofit/>
          </a:bodyPr>
          <a:lstStyle/>
          <a:p>
            <a:pPr algn="r">
              <a:lnSpc>
                <a:spcPct val="100000"/>
              </a:lnSpc>
              <a:buNone/>
              <a:defRPr sz="1050" b="1">
                <a:solidFill>
                  <a:srgbClr val="5F6C7B"/>
                </a:solidFill>
                <a:latin typeface="Arial" panose="020B0604020202020204"/>
                <a:ea typeface="Arial" panose="020B0604020202020204"/>
                <a:cs typeface="Arial" panose="020B0604020202020204"/>
              </a:defRPr>
            </a:pPr>
            <a:r>
              <a:rPr sz="1050" b="1">
                <a:solidFill>
                  <a:srgbClr val="5F6C7B"/>
                </a:solidFill>
                <a:latin typeface="Arial" panose="020B0604020202020204"/>
                <a:ea typeface="Arial" panose="020B0604020202020204"/>
                <a:cs typeface="Arial" panose="020B0604020202020204"/>
              </a:rPr>
              <a:t>11</a:t>
            </a:r>
            <a:endParaRPr sz="1050" b="1">
              <a:solidFill>
                <a:srgbClr val="5F6C7B"/>
              </a:solidFill>
              <a:latin typeface="Arial" panose="020B0604020202020204"/>
              <a:ea typeface="Arial" panose="020B0604020202020204"/>
              <a:cs typeface="Arial" panose="020B0604020202020204"/>
            </a:endParaRPr>
          </a:p>
        </p:txBody>
      </p:sp>
      <p:sp>
        <p:nvSpPr>
          <p:cNvPr id="5" name="Rounded Rectangle 4"/>
          <p:cNvSpPr>
            <a:spLocks noGrp="1"/>
          </p:cNvSpPr>
          <p:nvPr/>
        </p:nvSpPr>
        <p:spPr>
          <a:xfrm>
            <a:off x="523875" y="2095500"/>
            <a:ext cx="2286000" cy="2000250"/>
          </a:xfrm>
          <a:prstGeom prst="roundRect">
            <a:avLst>
              <a:gd name="adj" fmla="val 3333"/>
            </a:avLst>
          </a:prstGeom>
          <a:solidFill>
            <a:srgbClr val="FFFFFF"/>
          </a:solidFill>
          <a:ln w="9525">
            <a:solidFill>
              <a:srgbClr val="173F5F"/>
            </a:solidFill>
            <a:prstDash val="solid"/>
          </a:ln>
        </p:spPr>
        <p:style>
          <a:lnRef idx="0">
            <a:srgbClr val="FFFFFF"/>
          </a:lnRef>
          <a:fillRef idx="0">
            <a:srgbClr val="FFFFFF"/>
          </a:fillRef>
          <a:effectRef idx="4">
            <a:srgbClr val="FFFFFF"/>
          </a:effectRef>
          <a:fontRef idx="major"/>
        </p:style>
      </p:sp>
      <p:sp>
        <p:nvSpPr>
          <p:cNvPr id="6" name="Rectangle 5"/>
          <p:cNvSpPr>
            <a:spLocks noGrp="1"/>
          </p:cNvSpPr>
          <p:nvPr/>
        </p:nvSpPr>
        <p:spPr>
          <a:xfrm>
            <a:off x="523875" y="2095500"/>
            <a:ext cx="2286000" cy="95250"/>
          </a:xfrm>
          <a:prstGeom prst="rect">
            <a:avLst/>
          </a:prstGeom>
          <a:solidFill>
            <a:srgbClr val="173F5F"/>
          </a:solidFill>
          <a:ln w="0">
            <a:noFill/>
            <a:prstDash val="solid"/>
          </a:ln>
        </p:spPr>
      </p:sp>
      <p:sp>
        <p:nvSpPr>
          <p:cNvPr id="7" name="Rectangle 6"/>
          <p:cNvSpPr>
            <a:spLocks noGrp="1"/>
          </p:cNvSpPr>
          <p:nvPr/>
        </p:nvSpPr>
        <p:spPr>
          <a:xfrm>
            <a:off x="695325" y="2400300"/>
            <a:ext cx="1943100" cy="381000"/>
          </a:xfrm>
          <a:prstGeom prst="rect">
            <a:avLst/>
          </a:prstGeom>
          <a:noFill/>
          <a:ln w="0">
            <a:noFill/>
            <a:prstDash val="solid"/>
          </a:ln>
        </p:spPr>
        <p:txBody>
          <a:bodyPr wrap="square" lIns="95250" tIns="57150" rIns="95250" bIns="57150" anchor="ctr">
            <a:normAutofit fontScale="97222"/>
          </a:bodyPr>
          <a:lstStyle/>
          <a:p>
            <a:pPr algn="ctr">
              <a:lnSpc>
                <a:spcPct val="100000"/>
              </a:lnSpc>
              <a:buNone/>
              <a:defRPr sz="1800" b="1">
                <a:solidFill>
                  <a:srgbClr val="102A43"/>
                </a:solidFill>
                <a:latin typeface="Arial" panose="020B0604020202020204"/>
                <a:ea typeface="Arial" panose="020B0604020202020204"/>
                <a:cs typeface="Arial" panose="020B0604020202020204"/>
              </a:defRPr>
            </a:pPr>
            <a:r>
              <a:rPr sz="1800" b="1">
                <a:solidFill>
                  <a:srgbClr val="102A43"/>
                </a:solidFill>
                <a:latin typeface="Arial" panose="020B0604020202020204"/>
                <a:ea typeface="Arial" panose="020B0604020202020204"/>
                <a:cs typeface="Arial" panose="020B0604020202020204"/>
              </a:rPr>
              <a:t>Frontend</a:t>
            </a:r>
            <a:endParaRPr sz="1800" b="1">
              <a:solidFill>
                <a:srgbClr val="102A43"/>
              </a:solidFill>
              <a:latin typeface="Arial" panose="020B0604020202020204"/>
              <a:ea typeface="Arial" panose="020B0604020202020204"/>
              <a:cs typeface="Arial" panose="020B0604020202020204"/>
            </a:endParaRPr>
          </a:p>
        </p:txBody>
      </p:sp>
      <p:sp>
        <p:nvSpPr>
          <p:cNvPr id="8" name="Rounded Rectangle 7"/>
          <p:cNvSpPr>
            <a:spLocks noGrp="1"/>
          </p:cNvSpPr>
          <p:nvPr/>
        </p:nvSpPr>
        <p:spPr>
          <a:xfrm>
            <a:off x="1047750" y="2952750"/>
            <a:ext cx="1238250" cy="400050"/>
          </a:xfrm>
          <a:prstGeom prst="roundRect">
            <a:avLst>
              <a:gd name="adj" fmla="val 50000"/>
            </a:avLst>
          </a:prstGeom>
          <a:solidFill>
            <a:srgbClr val="EAF1F8"/>
          </a:solidFill>
          <a:ln w="9525">
            <a:solidFill>
              <a:srgbClr val="EAF1F8"/>
            </a:solidFill>
            <a:prstDash val="solid"/>
          </a:ln>
        </p:spPr>
        <p:txBody>
          <a:bodyPr wrap="square" lIns="0" tIns="0" rIns="0" bIns="0" anchor="ctr">
            <a:normAutofit/>
          </a:bodyPr>
          <a:lstStyle/>
          <a:p>
            <a:pPr algn="ctr">
              <a:lnSpc>
                <a:spcPct val="100000"/>
              </a:lnSpc>
              <a:buNone/>
              <a:defRPr sz="1725" b="1">
                <a:solidFill>
                  <a:srgbClr val="173F5F"/>
                </a:solidFill>
                <a:latin typeface="Arial" panose="020B0604020202020204"/>
                <a:ea typeface="Arial" panose="020B0604020202020204"/>
                <a:cs typeface="Arial" panose="020B0604020202020204"/>
              </a:defRPr>
            </a:pPr>
            <a:r>
              <a:rPr sz="1725" b="1">
                <a:solidFill>
                  <a:srgbClr val="173F5F"/>
                </a:solidFill>
                <a:latin typeface="Arial" panose="020B0604020202020204"/>
                <a:ea typeface="Arial" panose="020B0604020202020204"/>
                <a:cs typeface="Arial" panose="020B0604020202020204"/>
              </a:rPr>
              <a:t>:3000</a:t>
            </a:r>
            <a:endParaRPr sz="1725" b="1">
              <a:solidFill>
                <a:srgbClr val="173F5F"/>
              </a:solidFill>
              <a:latin typeface="Arial" panose="020B0604020202020204"/>
              <a:ea typeface="Arial" panose="020B0604020202020204"/>
              <a:cs typeface="Arial" panose="020B0604020202020204"/>
            </a:endParaRPr>
          </a:p>
        </p:txBody>
      </p:sp>
      <p:sp>
        <p:nvSpPr>
          <p:cNvPr id="9" name="Rectangle 8"/>
          <p:cNvSpPr>
            <a:spLocks noGrp="1"/>
          </p:cNvSpPr>
          <p:nvPr/>
        </p:nvSpPr>
        <p:spPr>
          <a:xfrm>
            <a:off x="714375" y="3571875"/>
            <a:ext cx="1905000" cy="304800"/>
          </a:xfrm>
          <a:prstGeom prst="rect">
            <a:avLst/>
          </a:prstGeom>
          <a:noFill/>
          <a:ln w="0">
            <a:noFill/>
            <a:prstDash val="solid"/>
          </a:ln>
        </p:spPr>
        <p:txBody>
          <a:bodyPr wrap="square" lIns="95250" tIns="57150" rIns="95250" bIns="57150" anchor="ctr">
            <a:normAutofit/>
          </a:bodyPr>
          <a:lstStyle/>
          <a:p>
            <a:pPr algn="ctr">
              <a:lnSpc>
                <a:spcPct val="100000"/>
              </a:lnSpc>
              <a:buNone/>
              <a:defRPr sz="1125" b="0">
                <a:solidFill>
                  <a:srgbClr val="5F6C7B"/>
                </a:solidFill>
                <a:latin typeface="Arial" panose="020B0604020202020204"/>
                <a:ea typeface="Arial" panose="020B0604020202020204"/>
                <a:cs typeface="Arial" panose="020B0604020202020204"/>
              </a:defRPr>
            </a:pPr>
            <a:r>
              <a:rPr sz="1125" b="0">
                <a:solidFill>
                  <a:srgbClr val="5F6C7B"/>
                </a:solidFill>
                <a:latin typeface="Arial" panose="020B0604020202020204"/>
                <a:ea typeface="Arial" panose="020B0604020202020204"/>
                <a:cs typeface="Arial" panose="020B0604020202020204"/>
              </a:rPr>
              <a:t>FastAPI + Jinja</a:t>
            </a:r>
            <a:endParaRPr sz="1125" b="0">
              <a:solidFill>
                <a:srgbClr val="5F6C7B"/>
              </a:solidFill>
              <a:latin typeface="Arial" panose="020B0604020202020204"/>
              <a:ea typeface="Arial" panose="020B0604020202020204"/>
              <a:cs typeface="Arial" panose="020B0604020202020204"/>
            </a:endParaRPr>
          </a:p>
        </p:txBody>
      </p:sp>
      <p:sp>
        <p:nvSpPr>
          <p:cNvPr id="10" name="Rounded Rectangle 9"/>
          <p:cNvSpPr>
            <a:spLocks noGrp="1"/>
          </p:cNvSpPr>
          <p:nvPr/>
        </p:nvSpPr>
        <p:spPr>
          <a:xfrm>
            <a:off x="3333750" y="2095500"/>
            <a:ext cx="2286000" cy="2000250"/>
          </a:xfrm>
          <a:prstGeom prst="roundRect">
            <a:avLst>
              <a:gd name="adj" fmla="val 3333"/>
            </a:avLst>
          </a:prstGeom>
          <a:solidFill>
            <a:srgbClr val="FFFFFF"/>
          </a:solidFill>
          <a:ln w="9525">
            <a:solidFill>
              <a:srgbClr val="167D8D"/>
            </a:solidFill>
            <a:prstDash val="solid"/>
          </a:ln>
        </p:spPr>
        <p:style>
          <a:lnRef idx="0">
            <a:srgbClr val="FFFFFF"/>
          </a:lnRef>
          <a:fillRef idx="0">
            <a:srgbClr val="FFFFFF"/>
          </a:fillRef>
          <a:effectRef idx="4">
            <a:srgbClr val="FFFFFF"/>
          </a:effectRef>
          <a:fontRef idx="major"/>
        </p:style>
      </p:sp>
      <p:sp>
        <p:nvSpPr>
          <p:cNvPr id="11" name="Rectangle 10"/>
          <p:cNvSpPr>
            <a:spLocks noGrp="1"/>
          </p:cNvSpPr>
          <p:nvPr/>
        </p:nvSpPr>
        <p:spPr>
          <a:xfrm>
            <a:off x="3333750" y="2095500"/>
            <a:ext cx="2286000" cy="95250"/>
          </a:xfrm>
          <a:prstGeom prst="rect">
            <a:avLst/>
          </a:prstGeom>
          <a:solidFill>
            <a:srgbClr val="167D8D"/>
          </a:solidFill>
          <a:ln w="0">
            <a:noFill/>
            <a:prstDash val="solid"/>
          </a:ln>
        </p:spPr>
      </p:sp>
      <p:sp>
        <p:nvSpPr>
          <p:cNvPr id="12" name="Rectangle 11"/>
          <p:cNvSpPr>
            <a:spLocks noGrp="1"/>
          </p:cNvSpPr>
          <p:nvPr/>
        </p:nvSpPr>
        <p:spPr>
          <a:xfrm>
            <a:off x="3505200" y="2400300"/>
            <a:ext cx="1943100" cy="381000"/>
          </a:xfrm>
          <a:prstGeom prst="rect">
            <a:avLst/>
          </a:prstGeom>
          <a:noFill/>
          <a:ln w="0">
            <a:noFill/>
            <a:prstDash val="solid"/>
          </a:ln>
        </p:spPr>
        <p:txBody>
          <a:bodyPr wrap="square" lIns="95250" tIns="57150" rIns="95250" bIns="57150" anchor="ctr">
            <a:normAutofit fontScale="97222"/>
          </a:bodyPr>
          <a:lstStyle/>
          <a:p>
            <a:pPr algn="ctr">
              <a:lnSpc>
                <a:spcPct val="100000"/>
              </a:lnSpc>
              <a:buNone/>
              <a:defRPr sz="1800" b="1">
                <a:solidFill>
                  <a:srgbClr val="102A43"/>
                </a:solidFill>
                <a:latin typeface="Arial" panose="020B0604020202020204"/>
                <a:ea typeface="Arial" panose="020B0604020202020204"/>
                <a:cs typeface="Arial" panose="020B0604020202020204"/>
              </a:defRPr>
            </a:pPr>
            <a:r>
              <a:rPr sz="1800" b="1">
                <a:solidFill>
                  <a:srgbClr val="102A43"/>
                </a:solidFill>
                <a:latin typeface="Arial" panose="020B0604020202020204"/>
                <a:ea typeface="Arial" panose="020B0604020202020204"/>
                <a:cs typeface="Arial" panose="020B0604020202020204"/>
              </a:rPr>
              <a:t>Backend</a:t>
            </a:r>
            <a:endParaRPr sz="1800" b="1">
              <a:solidFill>
                <a:srgbClr val="102A43"/>
              </a:solidFill>
              <a:latin typeface="Arial" panose="020B0604020202020204"/>
              <a:ea typeface="Arial" panose="020B0604020202020204"/>
              <a:cs typeface="Arial" panose="020B0604020202020204"/>
            </a:endParaRPr>
          </a:p>
        </p:txBody>
      </p:sp>
      <p:sp>
        <p:nvSpPr>
          <p:cNvPr id="13" name="Rounded Rectangle 12"/>
          <p:cNvSpPr>
            <a:spLocks noGrp="1"/>
          </p:cNvSpPr>
          <p:nvPr/>
        </p:nvSpPr>
        <p:spPr>
          <a:xfrm>
            <a:off x="3857625" y="2952750"/>
            <a:ext cx="1238250" cy="400050"/>
          </a:xfrm>
          <a:prstGeom prst="roundRect">
            <a:avLst>
              <a:gd name="adj" fmla="val 50000"/>
            </a:avLst>
          </a:prstGeom>
          <a:solidFill>
            <a:srgbClr val="EAF6F5"/>
          </a:solidFill>
          <a:ln w="9525">
            <a:solidFill>
              <a:srgbClr val="EAF6F5"/>
            </a:solidFill>
            <a:prstDash val="solid"/>
          </a:ln>
        </p:spPr>
        <p:txBody>
          <a:bodyPr wrap="square" lIns="0" tIns="0" rIns="0" bIns="0" anchor="ctr">
            <a:normAutofit/>
          </a:bodyPr>
          <a:lstStyle/>
          <a:p>
            <a:pPr algn="ctr">
              <a:lnSpc>
                <a:spcPct val="100000"/>
              </a:lnSpc>
              <a:buNone/>
              <a:defRPr sz="1725" b="1">
                <a:solidFill>
                  <a:srgbClr val="167D8D"/>
                </a:solidFill>
                <a:latin typeface="Arial" panose="020B0604020202020204"/>
                <a:ea typeface="Arial" panose="020B0604020202020204"/>
                <a:cs typeface="Arial" panose="020B0604020202020204"/>
              </a:defRPr>
            </a:pPr>
            <a:r>
              <a:rPr sz="1725" b="1">
                <a:solidFill>
                  <a:srgbClr val="167D8D"/>
                </a:solidFill>
                <a:latin typeface="Arial" panose="020B0604020202020204"/>
                <a:ea typeface="Arial" panose="020B0604020202020204"/>
                <a:cs typeface="Arial" panose="020B0604020202020204"/>
              </a:rPr>
              <a:t>:8000</a:t>
            </a:r>
            <a:endParaRPr sz="1725" b="1">
              <a:solidFill>
                <a:srgbClr val="167D8D"/>
              </a:solidFill>
              <a:latin typeface="Arial" panose="020B0604020202020204"/>
              <a:ea typeface="Arial" panose="020B0604020202020204"/>
              <a:cs typeface="Arial" panose="020B0604020202020204"/>
            </a:endParaRPr>
          </a:p>
        </p:txBody>
      </p:sp>
      <p:sp>
        <p:nvSpPr>
          <p:cNvPr id="14" name="Rectangle 13"/>
          <p:cNvSpPr>
            <a:spLocks noGrp="1"/>
          </p:cNvSpPr>
          <p:nvPr/>
        </p:nvSpPr>
        <p:spPr>
          <a:xfrm>
            <a:off x="3524250" y="3571875"/>
            <a:ext cx="1905000" cy="304800"/>
          </a:xfrm>
          <a:prstGeom prst="rect">
            <a:avLst/>
          </a:prstGeom>
          <a:noFill/>
          <a:ln w="0">
            <a:noFill/>
            <a:prstDash val="solid"/>
          </a:ln>
        </p:spPr>
        <p:txBody>
          <a:bodyPr wrap="square" lIns="95250" tIns="57150" rIns="95250" bIns="57150" anchor="ctr">
            <a:normAutofit/>
          </a:bodyPr>
          <a:lstStyle/>
          <a:p>
            <a:pPr algn="ctr">
              <a:lnSpc>
                <a:spcPct val="100000"/>
              </a:lnSpc>
              <a:buNone/>
              <a:defRPr sz="1125" b="0">
                <a:solidFill>
                  <a:srgbClr val="5F6C7B"/>
                </a:solidFill>
                <a:latin typeface="Arial" panose="020B0604020202020204"/>
                <a:ea typeface="Arial" panose="020B0604020202020204"/>
                <a:cs typeface="Arial" panose="020B0604020202020204"/>
              </a:defRPr>
            </a:pPr>
            <a:r>
              <a:rPr sz="1125" b="0">
                <a:solidFill>
                  <a:srgbClr val="5F6C7B"/>
                </a:solidFill>
                <a:latin typeface="Arial" panose="020B0604020202020204"/>
                <a:ea typeface="Arial" panose="020B0604020202020204"/>
                <a:cs typeface="Arial" panose="020B0604020202020204"/>
              </a:rPr>
              <a:t>FastAPI</a:t>
            </a:r>
            <a:endParaRPr sz="1125" b="0">
              <a:solidFill>
                <a:srgbClr val="5F6C7B"/>
              </a:solidFill>
              <a:latin typeface="Arial" panose="020B0604020202020204"/>
              <a:ea typeface="Arial" panose="020B0604020202020204"/>
              <a:cs typeface="Arial" panose="020B0604020202020204"/>
            </a:endParaRPr>
          </a:p>
        </p:txBody>
      </p:sp>
      <p:sp>
        <p:nvSpPr>
          <p:cNvPr id="15" name="Rounded Rectangle 14"/>
          <p:cNvSpPr>
            <a:spLocks noGrp="1"/>
          </p:cNvSpPr>
          <p:nvPr/>
        </p:nvSpPr>
        <p:spPr>
          <a:xfrm>
            <a:off x="6143625" y="2095500"/>
            <a:ext cx="2286000" cy="2000250"/>
          </a:xfrm>
          <a:prstGeom prst="roundRect">
            <a:avLst>
              <a:gd name="adj" fmla="val 3333"/>
            </a:avLst>
          </a:prstGeom>
          <a:solidFill>
            <a:srgbClr val="FFFFFF"/>
          </a:solidFill>
          <a:ln w="9525">
            <a:solidFill>
              <a:srgbClr val="E9C46A"/>
            </a:solidFill>
            <a:prstDash val="solid"/>
          </a:ln>
        </p:spPr>
        <p:style>
          <a:lnRef idx="0">
            <a:srgbClr val="FFFFFF"/>
          </a:lnRef>
          <a:fillRef idx="0">
            <a:srgbClr val="FFFFFF"/>
          </a:fillRef>
          <a:effectRef idx="4">
            <a:srgbClr val="FFFFFF"/>
          </a:effectRef>
          <a:fontRef idx="major"/>
        </p:style>
      </p:sp>
      <p:sp>
        <p:nvSpPr>
          <p:cNvPr id="16" name="Rectangle 15"/>
          <p:cNvSpPr>
            <a:spLocks noGrp="1"/>
          </p:cNvSpPr>
          <p:nvPr/>
        </p:nvSpPr>
        <p:spPr>
          <a:xfrm>
            <a:off x="6143625" y="2095500"/>
            <a:ext cx="2286000" cy="95250"/>
          </a:xfrm>
          <a:prstGeom prst="rect">
            <a:avLst/>
          </a:prstGeom>
          <a:solidFill>
            <a:srgbClr val="E9C46A"/>
          </a:solidFill>
          <a:ln w="0">
            <a:noFill/>
            <a:prstDash val="solid"/>
          </a:ln>
        </p:spPr>
      </p:sp>
      <p:sp>
        <p:nvSpPr>
          <p:cNvPr id="17" name="Rectangle 16"/>
          <p:cNvSpPr>
            <a:spLocks noGrp="1"/>
          </p:cNvSpPr>
          <p:nvPr/>
        </p:nvSpPr>
        <p:spPr>
          <a:xfrm>
            <a:off x="6315075" y="2400300"/>
            <a:ext cx="1943100" cy="381000"/>
          </a:xfrm>
          <a:prstGeom prst="rect">
            <a:avLst/>
          </a:prstGeom>
          <a:noFill/>
          <a:ln w="0">
            <a:noFill/>
            <a:prstDash val="solid"/>
          </a:ln>
        </p:spPr>
        <p:txBody>
          <a:bodyPr wrap="square" lIns="95250" tIns="57150" rIns="95250" bIns="57150" anchor="ctr">
            <a:normAutofit fontScale="97222"/>
          </a:bodyPr>
          <a:lstStyle/>
          <a:p>
            <a:pPr algn="ctr">
              <a:lnSpc>
                <a:spcPct val="100000"/>
              </a:lnSpc>
              <a:buNone/>
              <a:defRPr sz="1800" b="1">
                <a:solidFill>
                  <a:srgbClr val="102A43"/>
                </a:solidFill>
                <a:latin typeface="Arial" panose="020B0604020202020204"/>
                <a:ea typeface="Arial" panose="020B0604020202020204"/>
                <a:cs typeface="Arial" panose="020B0604020202020204"/>
              </a:defRPr>
            </a:pPr>
            <a:r>
              <a:rPr sz="1800" b="1">
                <a:solidFill>
                  <a:srgbClr val="102A43"/>
                </a:solidFill>
                <a:latin typeface="Arial" panose="020B0604020202020204"/>
                <a:ea typeface="Arial" panose="020B0604020202020204"/>
                <a:cs typeface="Arial" panose="020B0604020202020204"/>
              </a:rPr>
              <a:t>AI Service</a:t>
            </a:r>
            <a:endParaRPr sz="1800" b="1">
              <a:solidFill>
                <a:srgbClr val="102A43"/>
              </a:solidFill>
              <a:latin typeface="Arial" panose="020B0604020202020204"/>
              <a:ea typeface="Arial" panose="020B0604020202020204"/>
              <a:cs typeface="Arial" panose="020B0604020202020204"/>
            </a:endParaRPr>
          </a:p>
        </p:txBody>
      </p:sp>
      <p:sp>
        <p:nvSpPr>
          <p:cNvPr id="18" name="Rounded Rectangle 17"/>
          <p:cNvSpPr>
            <a:spLocks noGrp="1"/>
          </p:cNvSpPr>
          <p:nvPr/>
        </p:nvSpPr>
        <p:spPr>
          <a:xfrm>
            <a:off x="6667500" y="2952750"/>
            <a:ext cx="1238250" cy="400050"/>
          </a:xfrm>
          <a:prstGeom prst="roundRect">
            <a:avLst>
              <a:gd name="adj" fmla="val 50000"/>
            </a:avLst>
          </a:prstGeom>
          <a:solidFill>
            <a:srgbClr val="FFF7DF"/>
          </a:solidFill>
          <a:ln w="9525">
            <a:solidFill>
              <a:srgbClr val="FFF7DF"/>
            </a:solidFill>
            <a:prstDash val="solid"/>
          </a:ln>
        </p:spPr>
        <p:txBody>
          <a:bodyPr wrap="square" lIns="0" tIns="0" rIns="0" bIns="0" anchor="ctr">
            <a:normAutofit/>
          </a:bodyPr>
          <a:lstStyle/>
          <a:p>
            <a:pPr algn="ctr">
              <a:lnSpc>
                <a:spcPct val="100000"/>
              </a:lnSpc>
              <a:buNone/>
              <a:defRPr sz="1725" b="1">
                <a:solidFill>
                  <a:srgbClr val="E9C46A"/>
                </a:solidFill>
                <a:latin typeface="Arial" panose="020B0604020202020204"/>
                <a:ea typeface="Arial" panose="020B0604020202020204"/>
                <a:cs typeface="Arial" panose="020B0604020202020204"/>
              </a:defRPr>
            </a:pPr>
            <a:r>
              <a:rPr sz="1725" b="1">
                <a:solidFill>
                  <a:srgbClr val="E9C46A"/>
                </a:solidFill>
                <a:latin typeface="Arial" panose="020B0604020202020204"/>
                <a:ea typeface="Arial" panose="020B0604020202020204"/>
                <a:cs typeface="Arial" panose="020B0604020202020204"/>
              </a:rPr>
              <a:t>:8001</a:t>
            </a:r>
            <a:endParaRPr sz="1725" b="1">
              <a:solidFill>
                <a:srgbClr val="E9C46A"/>
              </a:solidFill>
              <a:latin typeface="Arial" panose="020B0604020202020204"/>
              <a:ea typeface="Arial" panose="020B0604020202020204"/>
              <a:cs typeface="Arial" panose="020B0604020202020204"/>
            </a:endParaRPr>
          </a:p>
        </p:txBody>
      </p:sp>
      <p:sp>
        <p:nvSpPr>
          <p:cNvPr id="19" name="Rectangle 18"/>
          <p:cNvSpPr>
            <a:spLocks noGrp="1"/>
          </p:cNvSpPr>
          <p:nvPr/>
        </p:nvSpPr>
        <p:spPr>
          <a:xfrm>
            <a:off x="6334125" y="3571875"/>
            <a:ext cx="1905000" cy="304800"/>
          </a:xfrm>
          <a:prstGeom prst="rect">
            <a:avLst/>
          </a:prstGeom>
          <a:noFill/>
          <a:ln w="0">
            <a:noFill/>
            <a:prstDash val="solid"/>
          </a:ln>
        </p:spPr>
        <p:txBody>
          <a:bodyPr wrap="square" lIns="95250" tIns="57150" rIns="95250" bIns="57150" anchor="ctr">
            <a:normAutofit/>
          </a:bodyPr>
          <a:lstStyle/>
          <a:p>
            <a:pPr algn="ctr">
              <a:lnSpc>
                <a:spcPct val="100000"/>
              </a:lnSpc>
              <a:buNone/>
              <a:defRPr sz="1125" b="0">
                <a:solidFill>
                  <a:srgbClr val="5F6C7B"/>
                </a:solidFill>
                <a:latin typeface="Arial" panose="020B0604020202020204"/>
                <a:ea typeface="Arial" panose="020B0604020202020204"/>
                <a:cs typeface="Arial" panose="020B0604020202020204"/>
              </a:defRPr>
            </a:pPr>
            <a:r>
              <a:rPr sz="1125" b="0">
                <a:solidFill>
                  <a:srgbClr val="5F6C7B"/>
                </a:solidFill>
                <a:latin typeface="Arial" panose="020B0604020202020204"/>
                <a:ea typeface="Arial" panose="020B0604020202020204"/>
                <a:cs typeface="Arial" panose="020B0604020202020204"/>
              </a:rPr>
              <a:t>FastAPI + joblib</a:t>
            </a:r>
            <a:endParaRPr sz="1125" b="0">
              <a:solidFill>
                <a:srgbClr val="5F6C7B"/>
              </a:solidFill>
              <a:latin typeface="Arial" panose="020B0604020202020204"/>
              <a:ea typeface="Arial" panose="020B0604020202020204"/>
              <a:cs typeface="Arial" panose="020B0604020202020204"/>
            </a:endParaRPr>
          </a:p>
        </p:txBody>
      </p:sp>
      <p:sp>
        <p:nvSpPr>
          <p:cNvPr id="20" name="Rounded Rectangle 19"/>
          <p:cNvSpPr>
            <a:spLocks noGrp="1"/>
          </p:cNvSpPr>
          <p:nvPr/>
        </p:nvSpPr>
        <p:spPr>
          <a:xfrm>
            <a:off x="8953500" y="2095500"/>
            <a:ext cx="2286000" cy="2000250"/>
          </a:xfrm>
          <a:prstGeom prst="roundRect">
            <a:avLst>
              <a:gd name="adj" fmla="val 3333"/>
            </a:avLst>
          </a:prstGeom>
          <a:solidFill>
            <a:srgbClr val="FFFFFF"/>
          </a:solidFill>
          <a:ln w="9525">
            <a:solidFill>
              <a:srgbClr val="E76F51"/>
            </a:solidFill>
            <a:prstDash val="solid"/>
          </a:ln>
        </p:spPr>
        <p:style>
          <a:lnRef idx="0">
            <a:srgbClr val="FFFFFF"/>
          </a:lnRef>
          <a:fillRef idx="0">
            <a:srgbClr val="FFFFFF"/>
          </a:fillRef>
          <a:effectRef idx="4">
            <a:srgbClr val="FFFFFF"/>
          </a:effectRef>
          <a:fontRef idx="major"/>
        </p:style>
      </p:sp>
      <p:sp>
        <p:nvSpPr>
          <p:cNvPr id="21" name="Rectangle 20"/>
          <p:cNvSpPr>
            <a:spLocks noGrp="1"/>
          </p:cNvSpPr>
          <p:nvPr/>
        </p:nvSpPr>
        <p:spPr>
          <a:xfrm>
            <a:off x="8953500" y="2095500"/>
            <a:ext cx="2286000" cy="95250"/>
          </a:xfrm>
          <a:prstGeom prst="rect">
            <a:avLst/>
          </a:prstGeom>
          <a:solidFill>
            <a:srgbClr val="E76F51"/>
          </a:solidFill>
          <a:ln w="0">
            <a:noFill/>
            <a:prstDash val="solid"/>
          </a:ln>
        </p:spPr>
      </p:sp>
      <p:sp>
        <p:nvSpPr>
          <p:cNvPr id="22" name="Rectangle 21"/>
          <p:cNvSpPr>
            <a:spLocks noGrp="1"/>
          </p:cNvSpPr>
          <p:nvPr/>
        </p:nvSpPr>
        <p:spPr>
          <a:xfrm>
            <a:off x="9124950" y="2400300"/>
            <a:ext cx="1943100" cy="381000"/>
          </a:xfrm>
          <a:prstGeom prst="rect">
            <a:avLst/>
          </a:prstGeom>
          <a:noFill/>
          <a:ln w="0">
            <a:noFill/>
            <a:prstDash val="solid"/>
          </a:ln>
        </p:spPr>
        <p:txBody>
          <a:bodyPr wrap="square" lIns="95250" tIns="57150" rIns="95250" bIns="57150" anchor="ctr">
            <a:normAutofit fontScale="97222"/>
          </a:bodyPr>
          <a:lstStyle/>
          <a:p>
            <a:pPr algn="ctr">
              <a:lnSpc>
                <a:spcPct val="100000"/>
              </a:lnSpc>
              <a:buNone/>
              <a:defRPr sz="1800" b="1">
                <a:solidFill>
                  <a:srgbClr val="102A43"/>
                </a:solidFill>
                <a:latin typeface="Arial" panose="020B0604020202020204"/>
                <a:ea typeface="Arial" panose="020B0604020202020204"/>
                <a:cs typeface="Arial" panose="020B0604020202020204"/>
              </a:defRPr>
            </a:pPr>
            <a:r>
              <a:rPr sz="1800" b="1">
                <a:solidFill>
                  <a:srgbClr val="102A43"/>
                </a:solidFill>
                <a:latin typeface="Arial" panose="020B0604020202020204"/>
                <a:ea typeface="Arial" panose="020B0604020202020204"/>
                <a:cs typeface="Arial" panose="020B0604020202020204"/>
              </a:rPr>
              <a:t>MongoDB</a:t>
            </a:r>
            <a:endParaRPr sz="1800" b="1">
              <a:solidFill>
                <a:srgbClr val="102A43"/>
              </a:solidFill>
              <a:latin typeface="Arial" panose="020B0604020202020204"/>
              <a:ea typeface="Arial" panose="020B0604020202020204"/>
              <a:cs typeface="Arial" panose="020B0604020202020204"/>
            </a:endParaRPr>
          </a:p>
        </p:txBody>
      </p:sp>
      <p:sp>
        <p:nvSpPr>
          <p:cNvPr id="23" name="Rounded Rectangle 22"/>
          <p:cNvSpPr>
            <a:spLocks noGrp="1"/>
          </p:cNvSpPr>
          <p:nvPr/>
        </p:nvSpPr>
        <p:spPr>
          <a:xfrm>
            <a:off x="9477375" y="2952750"/>
            <a:ext cx="1238250" cy="400050"/>
          </a:xfrm>
          <a:prstGeom prst="roundRect">
            <a:avLst>
              <a:gd name="adj" fmla="val 50000"/>
            </a:avLst>
          </a:prstGeom>
          <a:solidFill>
            <a:srgbClr val="FCEDE8"/>
          </a:solidFill>
          <a:ln w="9525">
            <a:solidFill>
              <a:srgbClr val="FCEDE8"/>
            </a:solidFill>
            <a:prstDash val="solid"/>
          </a:ln>
        </p:spPr>
        <p:txBody>
          <a:bodyPr wrap="square" lIns="0" tIns="0" rIns="0" bIns="0" anchor="ctr">
            <a:normAutofit/>
          </a:bodyPr>
          <a:lstStyle/>
          <a:p>
            <a:pPr algn="ctr">
              <a:lnSpc>
                <a:spcPct val="100000"/>
              </a:lnSpc>
              <a:buNone/>
              <a:defRPr sz="1725" b="1">
                <a:solidFill>
                  <a:srgbClr val="E76F51"/>
                </a:solidFill>
                <a:latin typeface="Arial" panose="020B0604020202020204"/>
                <a:ea typeface="Arial" panose="020B0604020202020204"/>
                <a:cs typeface="Arial" panose="020B0604020202020204"/>
              </a:defRPr>
            </a:pPr>
            <a:r>
              <a:rPr sz="1725" b="1">
                <a:solidFill>
                  <a:srgbClr val="E76F51"/>
                </a:solidFill>
                <a:latin typeface="Arial" panose="020B0604020202020204"/>
                <a:ea typeface="Arial" panose="020B0604020202020204"/>
                <a:cs typeface="Arial" panose="020B0604020202020204"/>
              </a:rPr>
              <a:t>:27017</a:t>
            </a:r>
            <a:endParaRPr sz="1725" b="1">
              <a:solidFill>
                <a:srgbClr val="E76F51"/>
              </a:solidFill>
              <a:latin typeface="Arial" panose="020B0604020202020204"/>
              <a:ea typeface="Arial" panose="020B0604020202020204"/>
              <a:cs typeface="Arial" panose="020B0604020202020204"/>
            </a:endParaRPr>
          </a:p>
        </p:txBody>
      </p:sp>
      <p:sp>
        <p:nvSpPr>
          <p:cNvPr id="24" name="Rectangle 23"/>
          <p:cNvSpPr>
            <a:spLocks noGrp="1"/>
          </p:cNvSpPr>
          <p:nvPr/>
        </p:nvSpPr>
        <p:spPr>
          <a:xfrm>
            <a:off x="9144000" y="3571875"/>
            <a:ext cx="1905000" cy="304800"/>
          </a:xfrm>
          <a:prstGeom prst="rect">
            <a:avLst/>
          </a:prstGeom>
          <a:noFill/>
          <a:ln w="0">
            <a:noFill/>
            <a:prstDash val="solid"/>
          </a:ln>
        </p:spPr>
        <p:txBody>
          <a:bodyPr wrap="square" lIns="95250" tIns="57150" rIns="95250" bIns="57150" anchor="ctr">
            <a:normAutofit/>
          </a:bodyPr>
          <a:lstStyle/>
          <a:p>
            <a:pPr algn="ctr">
              <a:lnSpc>
                <a:spcPct val="100000"/>
              </a:lnSpc>
              <a:buNone/>
              <a:defRPr sz="1125" b="0">
                <a:solidFill>
                  <a:srgbClr val="5F6C7B"/>
                </a:solidFill>
                <a:latin typeface="Arial" panose="020B0604020202020204"/>
                <a:ea typeface="Arial" panose="020B0604020202020204"/>
                <a:cs typeface="Arial" panose="020B0604020202020204"/>
              </a:defRPr>
            </a:pPr>
            <a:r>
              <a:rPr sz="1125" b="0">
                <a:solidFill>
                  <a:srgbClr val="5F6C7B"/>
                </a:solidFill>
                <a:latin typeface="Arial" panose="020B0604020202020204"/>
                <a:ea typeface="Arial" panose="020B0604020202020204"/>
                <a:cs typeface="Arial" panose="020B0604020202020204"/>
              </a:rPr>
              <a:t>Prediction history</a:t>
            </a:r>
            <a:endParaRPr sz="1125" b="0">
              <a:solidFill>
                <a:srgbClr val="5F6C7B"/>
              </a:solidFill>
              <a:latin typeface="Arial" panose="020B0604020202020204"/>
              <a:ea typeface="Arial" panose="020B0604020202020204"/>
              <a:cs typeface="Arial" panose="020B0604020202020204"/>
            </a:endParaRPr>
          </a:p>
        </p:txBody>
      </p:sp>
      <p:sp>
        <p:nvSpPr>
          <p:cNvPr id="25" name="Right Arrow 24"/>
          <p:cNvSpPr>
            <a:spLocks noGrp="1"/>
          </p:cNvSpPr>
          <p:nvPr/>
        </p:nvSpPr>
        <p:spPr>
          <a:xfrm>
            <a:off x="2857500" y="2895600"/>
            <a:ext cx="304800" cy="266700"/>
          </a:xfrm>
          <a:prstGeom prst="rightArrow">
            <a:avLst/>
          </a:prstGeom>
          <a:solidFill>
            <a:srgbClr val="D7E0E8"/>
          </a:solidFill>
          <a:ln w="9525">
            <a:solidFill>
              <a:srgbClr val="D7E0E8"/>
            </a:solidFill>
            <a:prstDash val="solid"/>
          </a:ln>
        </p:spPr>
      </p:sp>
      <p:sp>
        <p:nvSpPr>
          <p:cNvPr id="26" name="Right Arrow 25"/>
          <p:cNvSpPr>
            <a:spLocks noGrp="1"/>
          </p:cNvSpPr>
          <p:nvPr/>
        </p:nvSpPr>
        <p:spPr>
          <a:xfrm>
            <a:off x="5667375" y="2895600"/>
            <a:ext cx="304800" cy="266700"/>
          </a:xfrm>
          <a:prstGeom prst="rightArrow">
            <a:avLst/>
          </a:prstGeom>
          <a:solidFill>
            <a:srgbClr val="D7E0E8"/>
          </a:solidFill>
          <a:ln w="9525">
            <a:solidFill>
              <a:srgbClr val="D7E0E8"/>
            </a:solidFill>
            <a:prstDash val="solid"/>
          </a:ln>
        </p:spPr>
      </p:sp>
      <p:sp>
        <p:nvSpPr>
          <p:cNvPr id="27" name="Right Arrow 26"/>
          <p:cNvSpPr>
            <a:spLocks noGrp="1"/>
          </p:cNvSpPr>
          <p:nvPr/>
        </p:nvSpPr>
        <p:spPr>
          <a:xfrm>
            <a:off x="8477250" y="2895600"/>
            <a:ext cx="304800" cy="266700"/>
          </a:xfrm>
          <a:prstGeom prst="rightArrow">
            <a:avLst/>
          </a:prstGeom>
          <a:solidFill>
            <a:srgbClr val="D7E0E8"/>
          </a:solidFill>
          <a:ln w="9525">
            <a:solidFill>
              <a:srgbClr val="D7E0E8"/>
            </a:solidFill>
            <a:prstDash val="solid"/>
          </a:ln>
        </p:spPr>
      </p:sp>
      <p:sp>
        <p:nvSpPr>
          <p:cNvPr id="28" name="Rectangle 27"/>
          <p:cNvSpPr>
            <a:spLocks noGrp="1"/>
          </p:cNvSpPr>
          <p:nvPr/>
        </p:nvSpPr>
        <p:spPr>
          <a:xfrm>
            <a:off x="2781300" y="2571750"/>
            <a:ext cx="476250" cy="190500"/>
          </a:xfrm>
          <a:prstGeom prst="rect">
            <a:avLst/>
          </a:prstGeom>
          <a:noFill/>
          <a:ln w="0">
            <a:noFill/>
            <a:prstDash val="solid"/>
          </a:ln>
        </p:spPr>
        <p:txBody>
          <a:bodyPr wrap="square" lIns="95250" tIns="57150" rIns="95250" bIns="57150" anchor="t">
            <a:normAutofit fontScale="60606"/>
          </a:bodyPr>
          <a:lstStyle/>
          <a:p>
            <a:pPr algn="ctr">
              <a:lnSpc>
                <a:spcPct val="100000"/>
              </a:lnSpc>
              <a:buNone/>
              <a:defRPr sz="825" b="1">
                <a:solidFill>
                  <a:srgbClr val="5F6C7B"/>
                </a:solidFill>
                <a:latin typeface="Arial" panose="020B0604020202020204"/>
                <a:ea typeface="Arial" panose="020B0604020202020204"/>
                <a:cs typeface="Arial" panose="020B0604020202020204"/>
              </a:defRPr>
            </a:pPr>
            <a:r>
              <a:rPr sz="825" b="1">
                <a:solidFill>
                  <a:srgbClr val="5F6C7B"/>
                </a:solidFill>
                <a:latin typeface="Arial" panose="020B0604020202020204"/>
                <a:ea typeface="Arial" panose="020B0604020202020204"/>
                <a:cs typeface="Arial" panose="020B0604020202020204"/>
              </a:rPr>
              <a:t>HTTP</a:t>
            </a:r>
            <a:endParaRPr sz="825" b="1">
              <a:solidFill>
                <a:srgbClr val="5F6C7B"/>
              </a:solidFill>
              <a:latin typeface="Arial" panose="020B0604020202020204"/>
              <a:ea typeface="Arial" panose="020B0604020202020204"/>
              <a:cs typeface="Arial" panose="020B0604020202020204"/>
            </a:endParaRPr>
          </a:p>
        </p:txBody>
      </p:sp>
      <p:sp>
        <p:nvSpPr>
          <p:cNvPr id="29" name="Rectangle 28"/>
          <p:cNvSpPr>
            <a:spLocks noGrp="1"/>
          </p:cNvSpPr>
          <p:nvPr/>
        </p:nvSpPr>
        <p:spPr>
          <a:xfrm>
            <a:off x="5591175" y="2571750"/>
            <a:ext cx="476250" cy="190500"/>
          </a:xfrm>
          <a:prstGeom prst="rect">
            <a:avLst/>
          </a:prstGeom>
          <a:noFill/>
          <a:ln w="0">
            <a:noFill/>
            <a:prstDash val="solid"/>
          </a:ln>
        </p:spPr>
        <p:txBody>
          <a:bodyPr wrap="square" lIns="95250" tIns="57150" rIns="95250" bIns="57150" anchor="t">
            <a:normAutofit fontScale="60606"/>
          </a:bodyPr>
          <a:lstStyle/>
          <a:p>
            <a:pPr algn="ctr">
              <a:lnSpc>
                <a:spcPct val="100000"/>
              </a:lnSpc>
              <a:buNone/>
              <a:defRPr sz="825" b="1">
                <a:solidFill>
                  <a:srgbClr val="5F6C7B"/>
                </a:solidFill>
                <a:latin typeface="Arial" panose="020B0604020202020204"/>
                <a:ea typeface="Arial" panose="020B0604020202020204"/>
                <a:cs typeface="Arial" panose="020B0604020202020204"/>
              </a:defRPr>
            </a:pPr>
            <a:r>
              <a:rPr sz="825" b="1">
                <a:solidFill>
                  <a:srgbClr val="5F6C7B"/>
                </a:solidFill>
                <a:latin typeface="Arial" panose="020B0604020202020204"/>
                <a:ea typeface="Arial" panose="020B0604020202020204"/>
                <a:cs typeface="Arial" panose="020B0604020202020204"/>
              </a:rPr>
              <a:t>HTTP</a:t>
            </a:r>
            <a:endParaRPr sz="825" b="1">
              <a:solidFill>
                <a:srgbClr val="5F6C7B"/>
              </a:solidFill>
              <a:latin typeface="Arial" panose="020B0604020202020204"/>
              <a:ea typeface="Arial" panose="020B0604020202020204"/>
              <a:cs typeface="Arial" panose="020B0604020202020204"/>
            </a:endParaRPr>
          </a:p>
        </p:txBody>
      </p:sp>
      <p:sp>
        <p:nvSpPr>
          <p:cNvPr id="30" name="Rectangle 29"/>
          <p:cNvSpPr>
            <a:spLocks noGrp="1"/>
          </p:cNvSpPr>
          <p:nvPr/>
        </p:nvSpPr>
        <p:spPr>
          <a:xfrm>
            <a:off x="8353425" y="2571750"/>
            <a:ext cx="666750" cy="190500"/>
          </a:xfrm>
          <a:prstGeom prst="rect">
            <a:avLst/>
          </a:prstGeom>
          <a:noFill/>
          <a:ln w="0">
            <a:noFill/>
            <a:prstDash val="solid"/>
          </a:ln>
        </p:spPr>
        <p:txBody>
          <a:bodyPr wrap="square" lIns="95250" tIns="57150" rIns="95250" bIns="57150" anchor="t">
            <a:normAutofit fontScale="60606"/>
          </a:bodyPr>
          <a:lstStyle/>
          <a:p>
            <a:pPr algn="ctr">
              <a:lnSpc>
                <a:spcPct val="100000"/>
              </a:lnSpc>
              <a:buNone/>
              <a:defRPr sz="825" b="1">
                <a:solidFill>
                  <a:srgbClr val="5F6C7B"/>
                </a:solidFill>
                <a:latin typeface="Arial" panose="020B0604020202020204"/>
                <a:ea typeface="Arial" panose="020B0604020202020204"/>
                <a:cs typeface="Arial" panose="020B0604020202020204"/>
              </a:defRPr>
            </a:pPr>
            <a:r>
              <a:rPr sz="825" b="1">
                <a:solidFill>
                  <a:srgbClr val="5F6C7B"/>
                </a:solidFill>
                <a:latin typeface="Arial" panose="020B0604020202020204"/>
                <a:ea typeface="Arial" panose="020B0604020202020204"/>
                <a:cs typeface="Arial" panose="020B0604020202020204"/>
              </a:rPr>
              <a:t>persist</a:t>
            </a:r>
            <a:endParaRPr sz="825" b="1">
              <a:solidFill>
                <a:srgbClr val="5F6C7B"/>
              </a:solidFill>
              <a:latin typeface="Arial" panose="020B0604020202020204"/>
              <a:ea typeface="Arial" panose="020B0604020202020204"/>
              <a:cs typeface="Arial" panose="020B0604020202020204"/>
            </a:endParaRPr>
          </a:p>
        </p:txBody>
      </p:sp>
      <p:sp>
        <p:nvSpPr>
          <p:cNvPr id="31" name="Rounded Rectangle 30"/>
          <p:cNvSpPr>
            <a:spLocks noGrp="1"/>
          </p:cNvSpPr>
          <p:nvPr/>
        </p:nvSpPr>
        <p:spPr>
          <a:xfrm>
            <a:off x="1524000" y="4762500"/>
            <a:ext cx="9144000" cy="904875"/>
          </a:xfrm>
          <a:prstGeom prst="roundRect">
            <a:avLst>
              <a:gd name="adj" fmla="val 7368"/>
            </a:avLst>
          </a:prstGeom>
          <a:solidFill>
            <a:srgbClr val="102A43"/>
          </a:solidFill>
          <a:ln w="9525">
            <a:solidFill>
              <a:srgbClr val="102A43"/>
            </a:solidFill>
            <a:prstDash val="solid"/>
          </a:ln>
        </p:spPr>
        <p:style>
          <a:lnRef idx="0">
            <a:srgbClr val="FFFFFF"/>
          </a:lnRef>
          <a:fillRef idx="0">
            <a:srgbClr val="FFFFFF"/>
          </a:fillRef>
          <a:effectRef idx="4">
            <a:srgbClr val="FFFFFF"/>
          </a:effectRef>
          <a:fontRef idx="major"/>
        </p:style>
      </p:sp>
      <p:sp>
        <p:nvSpPr>
          <p:cNvPr id="32" name="Rectangle 31"/>
          <p:cNvSpPr>
            <a:spLocks noGrp="1"/>
          </p:cNvSpPr>
          <p:nvPr/>
        </p:nvSpPr>
        <p:spPr>
          <a:xfrm>
            <a:off x="1857375" y="4953000"/>
            <a:ext cx="8477250" cy="457200"/>
          </a:xfrm>
          <a:prstGeom prst="rect">
            <a:avLst/>
          </a:prstGeom>
          <a:noFill/>
          <a:ln w="0">
            <a:noFill/>
            <a:prstDash val="solid"/>
          </a:ln>
        </p:spPr>
        <p:txBody>
          <a:bodyPr wrap="square" lIns="95250" tIns="57150" rIns="95250" bIns="57150" anchor="ctr">
            <a:normAutofit/>
          </a:bodyPr>
          <a:lstStyle/>
          <a:p>
            <a:pPr algn="ctr">
              <a:lnSpc>
                <a:spcPct val="100000"/>
              </a:lnSpc>
              <a:buNone/>
              <a:defRPr sz="1575" b="1">
                <a:solidFill>
                  <a:srgbClr val="FFFFFF"/>
                </a:solidFill>
                <a:latin typeface="Arial" panose="020B0604020202020204"/>
                <a:ea typeface="Arial" panose="020B0604020202020204"/>
                <a:cs typeface="Arial" panose="020B0604020202020204"/>
              </a:defRPr>
            </a:pPr>
            <a:r>
              <a:rPr sz="1575" b="1">
                <a:solidFill>
                  <a:srgbClr val="FFFFFF"/>
                </a:solidFill>
                <a:latin typeface="Arial" panose="020B0604020202020204"/>
                <a:ea typeface="Arial" panose="020B0604020202020204"/>
                <a:cs typeface="Arial" panose="020B0604020202020204"/>
              </a:rPr>
              <a:t>docker-compose.yml tạo mạng nội bộ cho 4 service và map cổng ra máy host.</a:t>
            </a:r>
            <a:endParaRPr sz="1575" b="1">
              <a:solidFill>
                <a:srgbClr val="FFFFFF"/>
              </a:solidFill>
              <a:latin typeface="Arial" panose="020B0604020202020204"/>
              <a:ea typeface="Arial" panose="020B0604020202020204"/>
              <a:cs typeface="Arial" panose="020B0604020202020204"/>
            </a:endParaRPr>
          </a:p>
        </p:txBody>
      </p:sp>
      <p:sp>
        <p:nvSpPr>
          <p:cNvPr id="33" name="Straight Connector 32"/>
          <p:cNvSpPr>
            <a:spLocks noGrp="1"/>
          </p:cNvSpPr>
          <p:nvPr/>
        </p:nvSpPr>
        <p:spPr>
          <a:xfrm>
            <a:off x="666750" y="6477000"/>
            <a:ext cx="10858500" cy="0"/>
          </a:xfrm>
          <a:prstGeom prst="line">
            <a:avLst/>
          </a:prstGeom>
          <a:noFill/>
          <a:ln w="9525">
            <a:solidFill>
              <a:srgbClr val="D7E0E8"/>
            </a:solidFill>
            <a:prstDash val="solid"/>
          </a:ln>
        </p:spPr>
      </p:sp>
      <p:sp>
        <p:nvSpPr>
          <p:cNvPr id="34" name="Rectangle 33"/>
          <p:cNvSpPr>
            <a:spLocks noGrp="1"/>
          </p:cNvSpPr>
          <p:nvPr/>
        </p:nvSpPr>
        <p:spPr>
          <a:xfrm>
            <a:off x="666750" y="6524625"/>
            <a:ext cx="10572750" cy="209550"/>
          </a:xfrm>
          <a:prstGeom prst="rect">
            <a:avLst/>
          </a:prstGeom>
          <a:noFill/>
          <a:ln w="0">
            <a:noFill/>
            <a:prstDash val="solid"/>
          </a:ln>
        </p:spPr>
        <p:txBody>
          <a:bodyPr wrap="square" lIns="0" tIns="0" rIns="0" bIns="0" anchor="t">
            <a:normAutofit/>
          </a:bodyPr>
          <a:lstStyle/>
          <a:p>
            <a:pPr algn="l">
              <a:lnSpc>
                <a:spcPct val="100000"/>
              </a:lnSpc>
              <a:buNone/>
              <a:defRPr sz="825" b="0">
                <a:solidFill>
                  <a:srgbClr val="5F6C7B"/>
                </a:solidFill>
                <a:latin typeface="Arial" panose="020B0604020202020204"/>
                <a:ea typeface="Arial" panose="020B0604020202020204"/>
                <a:cs typeface="Arial" panose="020B0604020202020204"/>
              </a:defRPr>
            </a:pPr>
            <a:r>
              <a:rPr sz="825" b="0">
                <a:solidFill>
                  <a:srgbClr val="5F6C7B"/>
                </a:solidFill>
                <a:latin typeface="Arial" panose="020B0604020202020204"/>
                <a:ea typeface="Arial" panose="020B0604020202020204"/>
                <a:cs typeface="Arial" panose="020B0604020202020204"/>
              </a:rPr>
              <a:t>Nguồn: docker-compose.yml; frontend/app/main.py; backend/app/main.py; ai-service/app/main.py</a:t>
            </a:r>
            <a:endParaRPr sz="825" b="0">
              <a:solidFill>
                <a:srgbClr val="5F6C7B"/>
              </a:solidFill>
              <a:latin typeface="Arial" panose="020B0604020202020204"/>
              <a:ea typeface="Arial" panose="020B0604020202020204"/>
              <a:cs typeface="Arial" panose="020B0604020202020204"/>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
        <p:cNvGrpSpPr/>
        <p:nvPr/>
      </p:nvGrpSpPr>
      <p:grpSpPr/>
      <p:sp>
        <p:nvSpPr>
          <p:cNvPr id="38" name="Rectangle 37"/>
          <p:cNvSpPr>
            <a:spLocks noGrp="1"/>
          </p:cNvSpPr>
          <p:nvPr/>
        </p:nvSpPr>
        <p:spPr>
          <a:xfrm>
            <a:off x="666750" y="323850"/>
            <a:ext cx="9525000" cy="228600"/>
          </a:xfrm>
          <a:prstGeom prst="rect">
            <a:avLst/>
          </a:prstGeom>
          <a:noFill/>
          <a:ln w="0">
            <a:noFill/>
            <a:prstDash val="solid"/>
          </a:ln>
        </p:spPr>
        <p:txBody>
          <a:bodyPr wrap="square" lIns="0" tIns="0" rIns="0" bIns="0" anchor="t">
            <a:normAutofit/>
          </a:bodyPr>
          <a:lstStyle/>
          <a:p>
            <a:pPr algn="l">
              <a:lnSpc>
                <a:spcPct val="100000"/>
              </a:lnSpc>
              <a:buNone/>
              <a:defRPr sz="975" b="1">
                <a:solidFill>
                  <a:srgbClr val="167D8D"/>
                </a:solidFill>
                <a:latin typeface="Arial" panose="020B0604020202020204"/>
                <a:ea typeface="Arial" panose="020B0604020202020204"/>
                <a:cs typeface="Arial" panose="020B0604020202020204"/>
              </a:defRPr>
            </a:pPr>
            <a:r>
              <a:rPr sz="975" b="1">
                <a:solidFill>
                  <a:srgbClr val="167D8D"/>
                </a:solidFill>
                <a:latin typeface="Arial" panose="020B0604020202020204"/>
                <a:ea typeface="Arial" panose="020B0604020202020204"/>
                <a:cs typeface="Arial" panose="020B0604020202020204"/>
              </a:rPr>
              <a:t>10 · RUNTIME FLOW</a:t>
            </a:r>
            <a:endParaRPr sz="975" b="1">
              <a:solidFill>
                <a:srgbClr val="167D8D"/>
              </a:solidFill>
              <a:latin typeface="Arial" panose="020B0604020202020204"/>
              <a:ea typeface="Arial" panose="020B0604020202020204"/>
              <a:cs typeface="Arial" panose="020B0604020202020204"/>
            </a:endParaRPr>
          </a:p>
        </p:txBody>
      </p:sp>
      <p:sp>
        <p:nvSpPr>
          <p:cNvPr id="2" name="Rectangle 1"/>
          <p:cNvSpPr>
            <a:spLocks noGrp="1"/>
          </p:cNvSpPr>
          <p:nvPr/>
        </p:nvSpPr>
        <p:spPr>
          <a:xfrm>
            <a:off x="666750" y="571500"/>
            <a:ext cx="10287000" cy="523875"/>
          </a:xfrm>
          <a:prstGeom prst="rect">
            <a:avLst/>
          </a:prstGeom>
          <a:noFill/>
          <a:ln w="0">
            <a:noFill/>
            <a:prstDash val="solid"/>
          </a:ln>
        </p:spPr>
        <p:txBody>
          <a:bodyPr wrap="square" lIns="0" tIns="0" rIns="0" bIns="0" anchor="t">
            <a:normAutofit/>
          </a:bodyPr>
          <a:lstStyle/>
          <a:p>
            <a:pPr algn="l">
              <a:lnSpc>
                <a:spcPct val="100000"/>
              </a:lnSpc>
              <a:buNone/>
              <a:defRPr sz="2700" b="1">
                <a:solidFill>
                  <a:srgbClr val="102A43"/>
                </a:solidFill>
                <a:latin typeface="Arial" panose="020B0604020202020204"/>
                <a:ea typeface="Arial" panose="020B0604020202020204"/>
                <a:cs typeface="Arial" panose="020B0604020202020204"/>
              </a:defRPr>
            </a:pPr>
            <a:r>
              <a:rPr sz="2700" b="1">
                <a:solidFill>
                  <a:srgbClr val="102A43"/>
                </a:solidFill>
                <a:latin typeface="Arial" panose="020B0604020202020204"/>
                <a:ea typeface="Arial" panose="020B0604020202020204"/>
                <a:cs typeface="Arial" panose="020B0604020202020204"/>
              </a:rPr>
              <a:t>Luồng một request dự đoán</a:t>
            </a:r>
            <a:endParaRPr sz="2700" b="1">
              <a:solidFill>
                <a:srgbClr val="102A43"/>
              </a:solidFill>
              <a:latin typeface="Arial" panose="020B0604020202020204"/>
              <a:ea typeface="Arial" panose="020B0604020202020204"/>
              <a:cs typeface="Arial" panose="020B0604020202020204"/>
            </a:endParaRPr>
          </a:p>
        </p:txBody>
      </p:sp>
      <p:sp>
        <p:nvSpPr>
          <p:cNvPr id="3" name="Rectangle 2"/>
          <p:cNvSpPr>
            <a:spLocks noGrp="1"/>
          </p:cNvSpPr>
          <p:nvPr/>
        </p:nvSpPr>
        <p:spPr>
          <a:xfrm>
            <a:off x="666750" y="1152525"/>
            <a:ext cx="714375" cy="47625"/>
          </a:xfrm>
          <a:prstGeom prst="rect">
            <a:avLst/>
          </a:prstGeom>
          <a:solidFill>
            <a:srgbClr val="E76F51"/>
          </a:solidFill>
          <a:ln w="0">
            <a:noFill/>
            <a:prstDash val="solid"/>
          </a:ln>
        </p:spPr>
      </p:sp>
      <p:sp>
        <p:nvSpPr>
          <p:cNvPr id="4" name="Rectangle 3"/>
          <p:cNvSpPr>
            <a:spLocks noGrp="1"/>
          </p:cNvSpPr>
          <p:nvPr/>
        </p:nvSpPr>
        <p:spPr>
          <a:xfrm>
            <a:off x="11191875" y="409575"/>
            <a:ext cx="381000" cy="247650"/>
          </a:xfrm>
          <a:prstGeom prst="rect">
            <a:avLst/>
          </a:prstGeom>
          <a:noFill/>
          <a:ln w="0">
            <a:noFill/>
            <a:prstDash val="solid"/>
          </a:ln>
        </p:spPr>
        <p:txBody>
          <a:bodyPr wrap="square" lIns="0" tIns="0" rIns="0" bIns="0" anchor="t">
            <a:normAutofit/>
          </a:bodyPr>
          <a:lstStyle/>
          <a:p>
            <a:pPr algn="r">
              <a:lnSpc>
                <a:spcPct val="100000"/>
              </a:lnSpc>
              <a:buNone/>
              <a:defRPr sz="1050" b="1">
                <a:solidFill>
                  <a:srgbClr val="5F6C7B"/>
                </a:solidFill>
                <a:latin typeface="Arial" panose="020B0604020202020204"/>
                <a:ea typeface="Arial" panose="020B0604020202020204"/>
                <a:cs typeface="Arial" panose="020B0604020202020204"/>
              </a:defRPr>
            </a:pPr>
            <a:r>
              <a:rPr sz="1050" b="1">
                <a:solidFill>
                  <a:srgbClr val="5F6C7B"/>
                </a:solidFill>
                <a:latin typeface="Arial" panose="020B0604020202020204"/>
                <a:ea typeface="Arial" panose="020B0604020202020204"/>
                <a:cs typeface="Arial" panose="020B0604020202020204"/>
              </a:rPr>
              <a:t>12</a:t>
            </a:r>
            <a:endParaRPr sz="1050" b="1">
              <a:solidFill>
                <a:srgbClr val="5F6C7B"/>
              </a:solidFill>
              <a:latin typeface="Arial" panose="020B0604020202020204"/>
              <a:ea typeface="Arial" panose="020B0604020202020204"/>
              <a:cs typeface="Arial" panose="020B0604020202020204"/>
            </a:endParaRPr>
          </a:p>
        </p:txBody>
      </p:sp>
      <p:sp>
        <p:nvSpPr>
          <p:cNvPr id="5" name="Rounded Rectangle 4"/>
          <p:cNvSpPr>
            <a:spLocks noGrp="1"/>
          </p:cNvSpPr>
          <p:nvPr/>
        </p:nvSpPr>
        <p:spPr>
          <a:xfrm>
            <a:off x="857250" y="1666875"/>
            <a:ext cx="3143250" cy="1524000"/>
          </a:xfrm>
          <a:prstGeom prst="roundRect">
            <a:avLst>
              <a:gd name="adj" fmla="val 4375"/>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6" name="Rounded Rectangle 5"/>
          <p:cNvSpPr>
            <a:spLocks noGrp="1"/>
          </p:cNvSpPr>
          <p:nvPr/>
        </p:nvSpPr>
        <p:spPr>
          <a:xfrm>
            <a:off x="1028700" y="1838325"/>
            <a:ext cx="419100" cy="419100"/>
          </a:xfrm>
          <a:prstGeom prst="roundRect">
            <a:avLst>
              <a:gd name="adj" fmla="val 50000"/>
            </a:avLst>
          </a:prstGeom>
          <a:solidFill>
            <a:srgbClr val="173F5F"/>
          </a:solidFill>
          <a:ln w="9525">
            <a:solidFill>
              <a:srgbClr val="173F5F"/>
            </a:solidFill>
            <a:prstDash val="solid"/>
          </a:ln>
        </p:spPr>
        <p:txBody>
          <a:bodyPr wrap="square" lIns="0" tIns="0" rIns="0" bIns="0" anchor="ctr">
            <a:normAutofit/>
          </a:bodyPr>
          <a:lstStyle/>
          <a:p>
            <a:pPr algn="ctr">
              <a:lnSpc>
                <a:spcPct val="100000"/>
              </a:lnSpc>
              <a:buNone/>
              <a:defRPr sz="1350" b="1">
                <a:solidFill>
                  <a:srgbClr val="FFFFFF"/>
                </a:solidFill>
                <a:latin typeface="Arial" panose="020B0604020202020204"/>
                <a:ea typeface="Arial" panose="020B0604020202020204"/>
                <a:cs typeface="Arial" panose="020B0604020202020204"/>
              </a:defRPr>
            </a:pPr>
            <a:r>
              <a:rPr sz="1350" b="1">
                <a:solidFill>
                  <a:srgbClr val="FFFFFF"/>
                </a:solidFill>
                <a:latin typeface="Arial" panose="020B0604020202020204"/>
                <a:ea typeface="Arial" panose="020B0604020202020204"/>
                <a:cs typeface="Arial" panose="020B0604020202020204"/>
              </a:rPr>
              <a:t>1</a:t>
            </a:r>
            <a:endParaRPr sz="1350" b="1">
              <a:solidFill>
                <a:srgbClr val="FFFFFF"/>
              </a:solidFill>
              <a:latin typeface="Arial" panose="020B0604020202020204"/>
              <a:ea typeface="Arial" panose="020B0604020202020204"/>
              <a:cs typeface="Arial" panose="020B0604020202020204"/>
            </a:endParaRPr>
          </a:p>
        </p:txBody>
      </p:sp>
      <p:sp>
        <p:nvSpPr>
          <p:cNvPr id="7" name="Rectangle 6"/>
          <p:cNvSpPr>
            <a:spLocks noGrp="1"/>
          </p:cNvSpPr>
          <p:nvPr/>
        </p:nvSpPr>
        <p:spPr>
          <a:xfrm>
            <a:off x="1619250" y="1857375"/>
            <a:ext cx="2143125" cy="333375"/>
          </a:xfrm>
          <a:prstGeom prst="rect">
            <a:avLst/>
          </a:prstGeom>
          <a:noFill/>
          <a:ln w="0">
            <a:noFill/>
            <a:prstDash val="solid"/>
          </a:ln>
        </p:spPr>
        <p:txBody>
          <a:bodyPr wrap="square" lIns="0" tIns="0" rIns="0" bIns="0" anchor="ctr">
            <a:normAutofit/>
          </a:bodyPr>
          <a:lstStyle/>
          <a:p>
            <a:pPr algn="l">
              <a:lnSpc>
                <a:spcPct val="100000"/>
              </a:lnSpc>
              <a:buNone/>
              <a:defRPr sz="1650" b="1">
                <a:solidFill>
                  <a:srgbClr val="102A43"/>
                </a:solidFill>
                <a:latin typeface="Arial" panose="020B0604020202020204"/>
                <a:ea typeface="Arial" panose="020B0604020202020204"/>
                <a:cs typeface="Arial" panose="020B0604020202020204"/>
              </a:defRPr>
            </a:pPr>
            <a:r>
              <a:rPr sz="1650" b="1">
                <a:solidFill>
                  <a:srgbClr val="102A43"/>
                </a:solidFill>
                <a:latin typeface="Arial" panose="020B0604020202020204"/>
                <a:ea typeface="Arial" panose="020B0604020202020204"/>
                <a:cs typeface="Arial" panose="020B0604020202020204"/>
              </a:rPr>
              <a:t>Nhập dữ liệu</a:t>
            </a:r>
            <a:endParaRPr sz="1650" b="1">
              <a:solidFill>
                <a:srgbClr val="102A43"/>
              </a:solidFill>
              <a:latin typeface="Arial" panose="020B0604020202020204"/>
              <a:ea typeface="Arial" panose="020B0604020202020204"/>
              <a:cs typeface="Arial" panose="020B0604020202020204"/>
            </a:endParaRPr>
          </a:p>
        </p:txBody>
      </p:sp>
      <p:sp>
        <p:nvSpPr>
          <p:cNvPr id="8" name="Rectangle 7"/>
          <p:cNvSpPr>
            <a:spLocks noGrp="1"/>
          </p:cNvSpPr>
          <p:nvPr/>
        </p:nvSpPr>
        <p:spPr>
          <a:xfrm>
            <a:off x="1095375" y="2447925"/>
            <a:ext cx="2667000" cy="476250"/>
          </a:xfrm>
          <a:prstGeom prst="rect">
            <a:avLst/>
          </a:prstGeom>
          <a:noFill/>
          <a:ln w="0">
            <a:noFill/>
            <a:prstDash val="solid"/>
          </a:ln>
        </p:spPr>
        <p:txBody>
          <a:bodyPr wrap="square" lIns="95250" tIns="57150" rIns="95250" bIns="57150" anchor="ctr">
            <a:normAutofit/>
          </a:bodyPr>
          <a:lstStyle/>
          <a:p>
            <a:pPr algn="ctr">
              <a:lnSpc>
                <a:spcPct val="100000"/>
              </a:lnSpc>
              <a:buNone/>
              <a:defRPr sz="1200" b="0">
                <a:solidFill>
                  <a:srgbClr val="5F6C7B"/>
                </a:solidFill>
                <a:latin typeface="Arial" panose="020B0604020202020204"/>
                <a:ea typeface="Arial" panose="020B0604020202020204"/>
                <a:cs typeface="Arial" panose="020B0604020202020204"/>
              </a:defRPr>
            </a:pPr>
            <a:r>
              <a:rPr sz="1200" b="0">
                <a:solidFill>
                  <a:srgbClr val="5F6C7B"/>
                </a:solidFill>
                <a:latin typeface="Arial" panose="020B0604020202020204"/>
                <a:ea typeface="Arial" panose="020B0604020202020204"/>
                <a:cs typeface="Arial" panose="020B0604020202020204"/>
              </a:rPr>
              <a:t>9 trường gốc trên giao diện</a:t>
            </a:r>
            <a:endParaRPr sz="1200" b="0">
              <a:solidFill>
                <a:srgbClr val="5F6C7B"/>
              </a:solidFill>
              <a:latin typeface="Arial" panose="020B0604020202020204"/>
              <a:ea typeface="Arial" panose="020B0604020202020204"/>
              <a:cs typeface="Arial" panose="020B0604020202020204"/>
            </a:endParaRPr>
          </a:p>
        </p:txBody>
      </p:sp>
      <p:sp>
        <p:nvSpPr>
          <p:cNvPr id="9" name="Rounded Rectangle 8"/>
          <p:cNvSpPr>
            <a:spLocks noGrp="1"/>
          </p:cNvSpPr>
          <p:nvPr/>
        </p:nvSpPr>
        <p:spPr>
          <a:xfrm>
            <a:off x="4476750" y="1666875"/>
            <a:ext cx="3143250" cy="1524000"/>
          </a:xfrm>
          <a:prstGeom prst="roundRect">
            <a:avLst>
              <a:gd name="adj" fmla="val 4375"/>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10" name="Rounded Rectangle 9"/>
          <p:cNvSpPr>
            <a:spLocks noGrp="1"/>
          </p:cNvSpPr>
          <p:nvPr/>
        </p:nvSpPr>
        <p:spPr>
          <a:xfrm>
            <a:off x="4648200" y="1838325"/>
            <a:ext cx="419100" cy="419100"/>
          </a:xfrm>
          <a:prstGeom prst="roundRect">
            <a:avLst>
              <a:gd name="adj" fmla="val 50000"/>
            </a:avLst>
          </a:prstGeom>
          <a:solidFill>
            <a:srgbClr val="167D8D"/>
          </a:solidFill>
          <a:ln w="9525">
            <a:solidFill>
              <a:srgbClr val="167D8D"/>
            </a:solidFill>
            <a:prstDash val="solid"/>
          </a:ln>
        </p:spPr>
        <p:txBody>
          <a:bodyPr wrap="square" lIns="0" tIns="0" rIns="0" bIns="0" anchor="ctr">
            <a:normAutofit/>
          </a:bodyPr>
          <a:lstStyle/>
          <a:p>
            <a:pPr algn="ctr">
              <a:lnSpc>
                <a:spcPct val="100000"/>
              </a:lnSpc>
              <a:buNone/>
              <a:defRPr sz="1350" b="1">
                <a:solidFill>
                  <a:srgbClr val="FFFFFF"/>
                </a:solidFill>
                <a:latin typeface="Arial" panose="020B0604020202020204"/>
                <a:ea typeface="Arial" panose="020B0604020202020204"/>
                <a:cs typeface="Arial" panose="020B0604020202020204"/>
              </a:defRPr>
            </a:pPr>
            <a:r>
              <a:rPr sz="1350" b="1">
                <a:solidFill>
                  <a:srgbClr val="FFFFFF"/>
                </a:solidFill>
                <a:latin typeface="Arial" panose="020B0604020202020204"/>
                <a:ea typeface="Arial" panose="020B0604020202020204"/>
                <a:cs typeface="Arial" panose="020B0604020202020204"/>
              </a:rPr>
              <a:t>2</a:t>
            </a:r>
            <a:endParaRPr sz="1350" b="1">
              <a:solidFill>
                <a:srgbClr val="FFFFFF"/>
              </a:solidFill>
              <a:latin typeface="Arial" panose="020B0604020202020204"/>
              <a:ea typeface="Arial" panose="020B0604020202020204"/>
              <a:cs typeface="Arial" panose="020B0604020202020204"/>
            </a:endParaRPr>
          </a:p>
        </p:txBody>
      </p:sp>
      <p:sp>
        <p:nvSpPr>
          <p:cNvPr id="11" name="Rectangle 10"/>
          <p:cNvSpPr>
            <a:spLocks noGrp="1"/>
          </p:cNvSpPr>
          <p:nvPr/>
        </p:nvSpPr>
        <p:spPr>
          <a:xfrm>
            <a:off x="5238750" y="1857375"/>
            <a:ext cx="2143125" cy="333375"/>
          </a:xfrm>
          <a:prstGeom prst="rect">
            <a:avLst/>
          </a:prstGeom>
          <a:noFill/>
          <a:ln w="0">
            <a:noFill/>
            <a:prstDash val="solid"/>
          </a:ln>
        </p:spPr>
        <p:txBody>
          <a:bodyPr wrap="square" lIns="0" tIns="0" rIns="0" bIns="0" anchor="ctr">
            <a:normAutofit/>
          </a:bodyPr>
          <a:lstStyle/>
          <a:p>
            <a:pPr algn="l">
              <a:lnSpc>
                <a:spcPct val="100000"/>
              </a:lnSpc>
              <a:buNone/>
              <a:defRPr sz="1650" b="1">
                <a:solidFill>
                  <a:srgbClr val="102A43"/>
                </a:solidFill>
                <a:latin typeface="Arial" panose="020B0604020202020204"/>
                <a:ea typeface="Arial" panose="020B0604020202020204"/>
                <a:cs typeface="Arial" panose="020B0604020202020204"/>
              </a:defRPr>
            </a:pPr>
            <a:r>
              <a:rPr sz="1650" b="1">
                <a:solidFill>
                  <a:srgbClr val="102A43"/>
                </a:solidFill>
                <a:latin typeface="Arial" panose="020B0604020202020204"/>
                <a:ea typeface="Arial" panose="020B0604020202020204"/>
                <a:cs typeface="Arial" panose="020B0604020202020204"/>
              </a:rPr>
              <a:t>Frontend</a:t>
            </a:r>
            <a:endParaRPr sz="1650" b="1">
              <a:solidFill>
                <a:srgbClr val="102A43"/>
              </a:solidFill>
              <a:latin typeface="Arial" panose="020B0604020202020204"/>
              <a:ea typeface="Arial" panose="020B0604020202020204"/>
              <a:cs typeface="Arial" panose="020B0604020202020204"/>
            </a:endParaRPr>
          </a:p>
        </p:txBody>
      </p:sp>
      <p:sp>
        <p:nvSpPr>
          <p:cNvPr id="12" name="Rectangle 11"/>
          <p:cNvSpPr>
            <a:spLocks noGrp="1"/>
          </p:cNvSpPr>
          <p:nvPr/>
        </p:nvSpPr>
        <p:spPr>
          <a:xfrm>
            <a:off x="4714875" y="2447925"/>
            <a:ext cx="2667000" cy="476250"/>
          </a:xfrm>
          <a:prstGeom prst="rect">
            <a:avLst/>
          </a:prstGeom>
          <a:noFill/>
          <a:ln w="0">
            <a:noFill/>
            <a:prstDash val="solid"/>
          </a:ln>
        </p:spPr>
        <p:txBody>
          <a:bodyPr wrap="square" lIns="95250" tIns="57150" rIns="95250" bIns="57150" anchor="ctr">
            <a:normAutofit/>
          </a:bodyPr>
          <a:lstStyle/>
          <a:p>
            <a:pPr algn="ctr">
              <a:lnSpc>
                <a:spcPct val="100000"/>
              </a:lnSpc>
              <a:buNone/>
              <a:defRPr sz="1200" b="0">
                <a:solidFill>
                  <a:srgbClr val="5F6C7B"/>
                </a:solidFill>
                <a:latin typeface="Arial" panose="020B0604020202020204"/>
                <a:ea typeface="Arial" panose="020B0604020202020204"/>
                <a:cs typeface="Arial" panose="020B0604020202020204"/>
              </a:defRPr>
            </a:pPr>
            <a:r>
              <a:rPr sz="1200" b="0">
                <a:solidFill>
                  <a:srgbClr val="5F6C7B"/>
                </a:solidFill>
                <a:latin typeface="Arial" panose="020B0604020202020204"/>
                <a:ea typeface="Arial" panose="020B0604020202020204"/>
                <a:cs typeface="Arial" panose="020B0604020202020204"/>
              </a:rPr>
              <a:t>POST /api/predict đến backend</a:t>
            </a:r>
            <a:endParaRPr sz="1200" b="0">
              <a:solidFill>
                <a:srgbClr val="5F6C7B"/>
              </a:solidFill>
              <a:latin typeface="Arial" panose="020B0604020202020204"/>
              <a:ea typeface="Arial" panose="020B0604020202020204"/>
              <a:cs typeface="Arial" panose="020B0604020202020204"/>
            </a:endParaRPr>
          </a:p>
        </p:txBody>
      </p:sp>
      <p:sp>
        <p:nvSpPr>
          <p:cNvPr id="13" name="Rounded Rectangle 12"/>
          <p:cNvSpPr>
            <a:spLocks noGrp="1"/>
          </p:cNvSpPr>
          <p:nvPr/>
        </p:nvSpPr>
        <p:spPr>
          <a:xfrm>
            <a:off x="8096250" y="1666875"/>
            <a:ext cx="3143250" cy="1524000"/>
          </a:xfrm>
          <a:prstGeom prst="roundRect">
            <a:avLst>
              <a:gd name="adj" fmla="val 4375"/>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14" name="Rounded Rectangle 13"/>
          <p:cNvSpPr>
            <a:spLocks noGrp="1"/>
          </p:cNvSpPr>
          <p:nvPr/>
        </p:nvSpPr>
        <p:spPr>
          <a:xfrm>
            <a:off x="8267700" y="1838325"/>
            <a:ext cx="419100" cy="419100"/>
          </a:xfrm>
          <a:prstGeom prst="roundRect">
            <a:avLst>
              <a:gd name="adj" fmla="val 50000"/>
            </a:avLst>
          </a:prstGeom>
          <a:solidFill>
            <a:srgbClr val="E76F51"/>
          </a:solidFill>
          <a:ln w="9525">
            <a:solidFill>
              <a:srgbClr val="E76F51"/>
            </a:solidFill>
            <a:prstDash val="solid"/>
          </a:ln>
        </p:spPr>
        <p:txBody>
          <a:bodyPr wrap="square" lIns="0" tIns="0" rIns="0" bIns="0" anchor="ctr">
            <a:normAutofit/>
          </a:bodyPr>
          <a:lstStyle/>
          <a:p>
            <a:pPr algn="ctr">
              <a:lnSpc>
                <a:spcPct val="100000"/>
              </a:lnSpc>
              <a:buNone/>
              <a:defRPr sz="1350" b="1">
                <a:solidFill>
                  <a:srgbClr val="FFFFFF"/>
                </a:solidFill>
                <a:latin typeface="Arial" panose="020B0604020202020204"/>
                <a:ea typeface="Arial" panose="020B0604020202020204"/>
                <a:cs typeface="Arial" panose="020B0604020202020204"/>
              </a:defRPr>
            </a:pPr>
            <a:r>
              <a:rPr sz="1350" b="1">
                <a:solidFill>
                  <a:srgbClr val="FFFFFF"/>
                </a:solidFill>
                <a:latin typeface="Arial" panose="020B0604020202020204"/>
                <a:ea typeface="Arial" panose="020B0604020202020204"/>
                <a:cs typeface="Arial" panose="020B0604020202020204"/>
              </a:rPr>
              <a:t>3</a:t>
            </a:r>
            <a:endParaRPr sz="1350" b="1">
              <a:solidFill>
                <a:srgbClr val="FFFFFF"/>
              </a:solidFill>
              <a:latin typeface="Arial" panose="020B0604020202020204"/>
              <a:ea typeface="Arial" panose="020B0604020202020204"/>
              <a:cs typeface="Arial" panose="020B0604020202020204"/>
            </a:endParaRPr>
          </a:p>
        </p:txBody>
      </p:sp>
      <p:sp>
        <p:nvSpPr>
          <p:cNvPr id="15" name="Rectangle 14"/>
          <p:cNvSpPr>
            <a:spLocks noGrp="1"/>
          </p:cNvSpPr>
          <p:nvPr/>
        </p:nvSpPr>
        <p:spPr>
          <a:xfrm>
            <a:off x="8858250" y="1857375"/>
            <a:ext cx="2143125" cy="333375"/>
          </a:xfrm>
          <a:prstGeom prst="rect">
            <a:avLst/>
          </a:prstGeom>
          <a:noFill/>
          <a:ln w="0">
            <a:noFill/>
            <a:prstDash val="solid"/>
          </a:ln>
        </p:spPr>
        <p:txBody>
          <a:bodyPr wrap="square" lIns="0" tIns="0" rIns="0" bIns="0" anchor="ctr">
            <a:normAutofit/>
          </a:bodyPr>
          <a:lstStyle/>
          <a:p>
            <a:pPr algn="l">
              <a:lnSpc>
                <a:spcPct val="100000"/>
              </a:lnSpc>
              <a:buNone/>
              <a:defRPr sz="1650" b="1">
                <a:solidFill>
                  <a:srgbClr val="102A43"/>
                </a:solidFill>
                <a:latin typeface="Arial" panose="020B0604020202020204"/>
                <a:ea typeface="Arial" panose="020B0604020202020204"/>
                <a:cs typeface="Arial" panose="020B0604020202020204"/>
              </a:defRPr>
            </a:pPr>
            <a:r>
              <a:rPr sz="1650" b="1">
                <a:solidFill>
                  <a:srgbClr val="102A43"/>
                </a:solidFill>
                <a:latin typeface="Arial" panose="020B0604020202020204"/>
                <a:ea typeface="Arial" panose="020B0604020202020204"/>
                <a:cs typeface="Arial" panose="020B0604020202020204"/>
              </a:rPr>
              <a:t>Backend</a:t>
            </a:r>
            <a:endParaRPr sz="1650" b="1">
              <a:solidFill>
                <a:srgbClr val="102A43"/>
              </a:solidFill>
              <a:latin typeface="Arial" panose="020B0604020202020204"/>
              <a:ea typeface="Arial" panose="020B0604020202020204"/>
              <a:cs typeface="Arial" panose="020B0604020202020204"/>
            </a:endParaRPr>
          </a:p>
        </p:txBody>
      </p:sp>
      <p:sp>
        <p:nvSpPr>
          <p:cNvPr id="16" name="Rectangle 15"/>
          <p:cNvSpPr>
            <a:spLocks noGrp="1"/>
          </p:cNvSpPr>
          <p:nvPr/>
        </p:nvSpPr>
        <p:spPr>
          <a:xfrm>
            <a:off x="8334375" y="2447925"/>
            <a:ext cx="2667000" cy="476250"/>
          </a:xfrm>
          <a:prstGeom prst="rect">
            <a:avLst/>
          </a:prstGeom>
          <a:noFill/>
          <a:ln w="0">
            <a:noFill/>
            <a:prstDash val="solid"/>
          </a:ln>
        </p:spPr>
        <p:txBody>
          <a:bodyPr wrap="square" lIns="95250" tIns="57150" rIns="95250" bIns="57150" anchor="ctr">
            <a:normAutofit/>
          </a:bodyPr>
          <a:lstStyle/>
          <a:p>
            <a:pPr algn="ctr">
              <a:lnSpc>
                <a:spcPct val="100000"/>
              </a:lnSpc>
              <a:buNone/>
              <a:defRPr sz="1200" b="0">
                <a:solidFill>
                  <a:srgbClr val="5F6C7B"/>
                </a:solidFill>
                <a:latin typeface="Arial" panose="020B0604020202020204"/>
                <a:ea typeface="Arial" panose="020B0604020202020204"/>
                <a:cs typeface="Arial" panose="020B0604020202020204"/>
              </a:defRPr>
            </a:pPr>
            <a:r>
              <a:rPr sz="1200" b="0">
                <a:solidFill>
                  <a:srgbClr val="5F6C7B"/>
                </a:solidFill>
                <a:latin typeface="Arial" panose="020B0604020202020204"/>
                <a:ea typeface="Arial" panose="020B0604020202020204"/>
                <a:cs typeface="Arial" panose="020B0604020202020204"/>
              </a:rPr>
              <a:t>Validate và tạo 3 tỷ lệ</a:t>
            </a:r>
            <a:endParaRPr sz="1200" b="0">
              <a:solidFill>
                <a:srgbClr val="5F6C7B"/>
              </a:solidFill>
              <a:latin typeface="Arial" panose="020B0604020202020204"/>
              <a:ea typeface="Arial" panose="020B0604020202020204"/>
              <a:cs typeface="Arial" panose="020B0604020202020204"/>
            </a:endParaRPr>
          </a:p>
        </p:txBody>
      </p:sp>
      <p:sp>
        <p:nvSpPr>
          <p:cNvPr id="17" name="Rounded Rectangle 16"/>
          <p:cNvSpPr>
            <a:spLocks noGrp="1"/>
          </p:cNvSpPr>
          <p:nvPr/>
        </p:nvSpPr>
        <p:spPr>
          <a:xfrm>
            <a:off x="8096250" y="3905250"/>
            <a:ext cx="3143250" cy="1524000"/>
          </a:xfrm>
          <a:prstGeom prst="roundRect">
            <a:avLst>
              <a:gd name="adj" fmla="val 4375"/>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18" name="Rounded Rectangle 17"/>
          <p:cNvSpPr>
            <a:spLocks noGrp="1"/>
          </p:cNvSpPr>
          <p:nvPr/>
        </p:nvSpPr>
        <p:spPr>
          <a:xfrm>
            <a:off x="8267700" y="4076700"/>
            <a:ext cx="419100" cy="419100"/>
          </a:xfrm>
          <a:prstGeom prst="roundRect">
            <a:avLst>
              <a:gd name="adj" fmla="val 50000"/>
            </a:avLst>
          </a:prstGeom>
          <a:solidFill>
            <a:srgbClr val="E9C46A"/>
          </a:solidFill>
          <a:ln w="9525">
            <a:solidFill>
              <a:srgbClr val="E9C46A"/>
            </a:solidFill>
            <a:prstDash val="solid"/>
          </a:ln>
        </p:spPr>
        <p:txBody>
          <a:bodyPr wrap="square" lIns="0" tIns="0" rIns="0" bIns="0" anchor="ctr">
            <a:normAutofit/>
          </a:bodyPr>
          <a:lstStyle/>
          <a:p>
            <a:pPr algn="ctr">
              <a:lnSpc>
                <a:spcPct val="100000"/>
              </a:lnSpc>
              <a:buNone/>
              <a:defRPr sz="1350" b="1">
                <a:solidFill>
                  <a:srgbClr val="FFFFFF"/>
                </a:solidFill>
                <a:latin typeface="Arial" panose="020B0604020202020204"/>
                <a:ea typeface="Arial" panose="020B0604020202020204"/>
                <a:cs typeface="Arial" panose="020B0604020202020204"/>
              </a:defRPr>
            </a:pPr>
            <a:r>
              <a:rPr sz="1350" b="1">
                <a:solidFill>
                  <a:srgbClr val="FFFFFF"/>
                </a:solidFill>
                <a:latin typeface="Arial" panose="020B0604020202020204"/>
                <a:ea typeface="Arial" panose="020B0604020202020204"/>
                <a:cs typeface="Arial" panose="020B0604020202020204"/>
              </a:rPr>
              <a:t>4</a:t>
            </a:r>
            <a:endParaRPr sz="1350" b="1">
              <a:solidFill>
                <a:srgbClr val="FFFFFF"/>
              </a:solidFill>
              <a:latin typeface="Arial" panose="020B0604020202020204"/>
              <a:ea typeface="Arial" panose="020B0604020202020204"/>
              <a:cs typeface="Arial" panose="020B0604020202020204"/>
            </a:endParaRPr>
          </a:p>
        </p:txBody>
      </p:sp>
      <p:sp>
        <p:nvSpPr>
          <p:cNvPr id="19" name="Rectangle 18"/>
          <p:cNvSpPr>
            <a:spLocks noGrp="1"/>
          </p:cNvSpPr>
          <p:nvPr/>
        </p:nvSpPr>
        <p:spPr>
          <a:xfrm>
            <a:off x="8858250" y="4095750"/>
            <a:ext cx="2143125" cy="333375"/>
          </a:xfrm>
          <a:prstGeom prst="rect">
            <a:avLst/>
          </a:prstGeom>
          <a:noFill/>
          <a:ln w="0">
            <a:noFill/>
            <a:prstDash val="solid"/>
          </a:ln>
        </p:spPr>
        <p:txBody>
          <a:bodyPr wrap="square" lIns="0" tIns="0" rIns="0" bIns="0" anchor="ctr">
            <a:normAutofit/>
          </a:bodyPr>
          <a:lstStyle/>
          <a:p>
            <a:pPr algn="l">
              <a:lnSpc>
                <a:spcPct val="100000"/>
              </a:lnSpc>
              <a:buNone/>
              <a:defRPr sz="1650" b="1">
                <a:solidFill>
                  <a:srgbClr val="102A43"/>
                </a:solidFill>
                <a:latin typeface="Arial" panose="020B0604020202020204"/>
                <a:ea typeface="Arial" panose="020B0604020202020204"/>
                <a:cs typeface="Arial" panose="020B0604020202020204"/>
              </a:defRPr>
            </a:pPr>
            <a:r>
              <a:rPr sz="1650" b="1">
                <a:solidFill>
                  <a:srgbClr val="102A43"/>
                </a:solidFill>
                <a:latin typeface="Arial" panose="020B0604020202020204"/>
                <a:ea typeface="Arial" panose="020B0604020202020204"/>
                <a:cs typeface="Arial" panose="020B0604020202020204"/>
              </a:rPr>
              <a:t>AI Service</a:t>
            </a:r>
            <a:endParaRPr sz="1650" b="1">
              <a:solidFill>
                <a:srgbClr val="102A43"/>
              </a:solidFill>
              <a:latin typeface="Arial" panose="020B0604020202020204"/>
              <a:ea typeface="Arial" panose="020B0604020202020204"/>
              <a:cs typeface="Arial" panose="020B0604020202020204"/>
            </a:endParaRPr>
          </a:p>
        </p:txBody>
      </p:sp>
      <p:sp>
        <p:nvSpPr>
          <p:cNvPr id="20" name="Rectangle 19"/>
          <p:cNvSpPr>
            <a:spLocks noGrp="1"/>
          </p:cNvSpPr>
          <p:nvPr/>
        </p:nvSpPr>
        <p:spPr>
          <a:xfrm>
            <a:off x="8334375" y="4686300"/>
            <a:ext cx="2667000" cy="476250"/>
          </a:xfrm>
          <a:prstGeom prst="rect">
            <a:avLst/>
          </a:prstGeom>
          <a:noFill/>
          <a:ln w="0">
            <a:noFill/>
            <a:prstDash val="solid"/>
          </a:ln>
        </p:spPr>
        <p:txBody>
          <a:bodyPr wrap="square" lIns="95250" tIns="57150" rIns="95250" bIns="57150" anchor="ctr">
            <a:normAutofit/>
          </a:bodyPr>
          <a:lstStyle/>
          <a:p>
            <a:pPr algn="ctr">
              <a:lnSpc>
                <a:spcPct val="100000"/>
              </a:lnSpc>
              <a:buNone/>
              <a:defRPr sz="1200" b="0">
                <a:solidFill>
                  <a:srgbClr val="5F6C7B"/>
                </a:solidFill>
                <a:latin typeface="Arial" panose="020B0604020202020204"/>
                <a:ea typeface="Arial" panose="020B0604020202020204"/>
                <a:cs typeface="Arial" panose="020B0604020202020204"/>
              </a:defRPr>
            </a:pPr>
            <a:r>
              <a:rPr sz="1200" b="0">
                <a:solidFill>
                  <a:srgbClr val="5F6C7B"/>
                </a:solidFill>
                <a:latin typeface="Arial" panose="020B0604020202020204"/>
                <a:ea typeface="Arial" panose="020B0604020202020204"/>
                <a:cs typeface="Arial" panose="020B0604020202020204"/>
              </a:rPr>
              <a:t>Pipeline transform + predict</a:t>
            </a:r>
            <a:endParaRPr sz="1200" b="0">
              <a:solidFill>
                <a:srgbClr val="5F6C7B"/>
              </a:solidFill>
              <a:latin typeface="Arial" panose="020B0604020202020204"/>
              <a:ea typeface="Arial" panose="020B0604020202020204"/>
              <a:cs typeface="Arial" panose="020B0604020202020204"/>
            </a:endParaRPr>
          </a:p>
        </p:txBody>
      </p:sp>
      <p:sp>
        <p:nvSpPr>
          <p:cNvPr id="21" name="Rounded Rectangle 20"/>
          <p:cNvSpPr>
            <a:spLocks noGrp="1"/>
          </p:cNvSpPr>
          <p:nvPr/>
        </p:nvSpPr>
        <p:spPr>
          <a:xfrm>
            <a:off x="4476750" y="3905250"/>
            <a:ext cx="3143250" cy="1524000"/>
          </a:xfrm>
          <a:prstGeom prst="roundRect">
            <a:avLst>
              <a:gd name="adj" fmla="val 4375"/>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22" name="Rounded Rectangle 21"/>
          <p:cNvSpPr>
            <a:spLocks noGrp="1"/>
          </p:cNvSpPr>
          <p:nvPr/>
        </p:nvSpPr>
        <p:spPr>
          <a:xfrm>
            <a:off x="4648200" y="4076700"/>
            <a:ext cx="419100" cy="419100"/>
          </a:xfrm>
          <a:prstGeom prst="roundRect">
            <a:avLst>
              <a:gd name="adj" fmla="val 50000"/>
            </a:avLst>
          </a:prstGeom>
          <a:solidFill>
            <a:srgbClr val="2A9D8F"/>
          </a:solidFill>
          <a:ln w="9525">
            <a:solidFill>
              <a:srgbClr val="2A9D8F"/>
            </a:solidFill>
            <a:prstDash val="solid"/>
          </a:ln>
        </p:spPr>
        <p:txBody>
          <a:bodyPr wrap="square" lIns="0" tIns="0" rIns="0" bIns="0" anchor="ctr">
            <a:normAutofit/>
          </a:bodyPr>
          <a:lstStyle/>
          <a:p>
            <a:pPr algn="ctr">
              <a:lnSpc>
                <a:spcPct val="100000"/>
              </a:lnSpc>
              <a:buNone/>
              <a:defRPr sz="1350" b="1">
                <a:solidFill>
                  <a:srgbClr val="FFFFFF"/>
                </a:solidFill>
                <a:latin typeface="Arial" panose="020B0604020202020204"/>
                <a:ea typeface="Arial" panose="020B0604020202020204"/>
                <a:cs typeface="Arial" panose="020B0604020202020204"/>
              </a:defRPr>
            </a:pPr>
            <a:r>
              <a:rPr sz="1350" b="1">
                <a:solidFill>
                  <a:srgbClr val="FFFFFF"/>
                </a:solidFill>
                <a:latin typeface="Arial" panose="020B0604020202020204"/>
                <a:ea typeface="Arial" panose="020B0604020202020204"/>
                <a:cs typeface="Arial" panose="020B0604020202020204"/>
              </a:rPr>
              <a:t>5</a:t>
            </a:r>
            <a:endParaRPr sz="1350" b="1">
              <a:solidFill>
                <a:srgbClr val="FFFFFF"/>
              </a:solidFill>
              <a:latin typeface="Arial" panose="020B0604020202020204"/>
              <a:ea typeface="Arial" panose="020B0604020202020204"/>
              <a:cs typeface="Arial" panose="020B0604020202020204"/>
            </a:endParaRPr>
          </a:p>
        </p:txBody>
      </p:sp>
      <p:sp>
        <p:nvSpPr>
          <p:cNvPr id="23" name="Rectangle 22"/>
          <p:cNvSpPr>
            <a:spLocks noGrp="1"/>
          </p:cNvSpPr>
          <p:nvPr/>
        </p:nvSpPr>
        <p:spPr>
          <a:xfrm>
            <a:off x="5238750" y="4095750"/>
            <a:ext cx="2143125" cy="333375"/>
          </a:xfrm>
          <a:prstGeom prst="rect">
            <a:avLst/>
          </a:prstGeom>
          <a:noFill/>
          <a:ln w="0">
            <a:noFill/>
            <a:prstDash val="solid"/>
          </a:ln>
        </p:spPr>
        <p:txBody>
          <a:bodyPr wrap="square" lIns="0" tIns="0" rIns="0" bIns="0" anchor="ctr">
            <a:normAutofit/>
          </a:bodyPr>
          <a:lstStyle/>
          <a:p>
            <a:pPr algn="l">
              <a:lnSpc>
                <a:spcPct val="100000"/>
              </a:lnSpc>
              <a:buNone/>
              <a:defRPr sz="1650" b="1">
                <a:solidFill>
                  <a:srgbClr val="102A43"/>
                </a:solidFill>
                <a:latin typeface="Arial" panose="020B0604020202020204"/>
                <a:ea typeface="Arial" panose="020B0604020202020204"/>
                <a:cs typeface="Arial" panose="020B0604020202020204"/>
              </a:defRPr>
            </a:pPr>
            <a:r>
              <a:rPr sz="1650" b="1">
                <a:solidFill>
                  <a:srgbClr val="102A43"/>
                </a:solidFill>
                <a:latin typeface="Arial" panose="020B0604020202020204"/>
                <a:ea typeface="Arial" panose="020B0604020202020204"/>
                <a:cs typeface="Arial" panose="020B0604020202020204"/>
              </a:rPr>
              <a:t>Lưu lịch sử</a:t>
            </a:r>
            <a:endParaRPr sz="1650" b="1">
              <a:solidFill>
                <a:srgbClr val="102A43"/>
              </a:solidFill>
              <a:latin typeface="Arial" panose="020B0604020202020204"/>
              <a:ea typeface="Arial" panose="020B0604020202020204"/>
              <a:cs typeface="Arial" panose="020B0604020202020204"/>
            </a:endParaRPr>
          </a:p>
        </p:txBody>
      </p:sp>
      <p:sp>
        <p:nvSpPr>
          <p:cNvPr id="24" name="Rectangle 23"/>
          <p:cNvSpPr>
            <a:spLocks noGrp="1"/>
          </p:cNvSpPr>
          <p:nvPr/>
        </p:nvSpPr>
        <p:spPr>
          <a:xfrm>
            <a:off x="4714875" y="4686300"/>
            <a:ext cx="2667000" cy="476250"/>
          </a:xfrm>
          <a:prstGeom prst="rect">
            <a:avLst/>
          </a:prstGeom>
          <a:noFill/>
          <a:ln w="0">
            <a:noFill/>
            <a:prstDash val="solid"/>
          </a:ln>
        </p:spPr>
        <p:txBody>
          <a:bodyPr wrap="square" lIns="95250" tIns="57150" rIns="95250" bIns="57150" anchor="ctr">
            <a:normAutofit/>
          </a:bodyPr>
          <a:lstStyle/>
          <a:p>
            <a:pPr algn="ctr">
              <a:lnSpc>
                <a:spcPct val="100000"/>
              </a:lnSpc>
              <a:buNone/>
              <a:defRPr sz="1200" b="0">
                <a:solidFill>
                  <a:srgbClr val="5F6C7B"/>
                </a:solidFill>
                <a:latin typeface="Arial" panose="020B0604020202020204"/>
                <a:ea typeface="Arial" panose="020B0604020202020204"/>
                <a:cs typeface="Arial" panose="020B0604020202020204"/>
              </a:defRPr>
            </a:pPr>
            <a:r>
              <a:rPr sz="1200" b="0">
                <a:solidFill>
                  <a:srgbClr val="5F6C7B"/>
                </a:solidFill>
                <a:latin typeface="Arial" panose="020B0604020202020204"/>
                <a:ea typeface="Arial" panose="020B0604020202020204"/>
                <a:cs typeface="Arial" panose="020B0604020202020204"/>
              </a:rPr>
              <a:t>MongoDB nếu khả dụng</a:t>
            </a:r>
            <a:endParaRPr sz="1200" b="0">
              <a:solidFill>
                <a:srgbClr val="5F6C7B"/>
              </a:solidFill>
              <a:latin typeface="Arial" panose="020B0604020202020204"/>
              <a:ea typeface="Arial" panose="020B0604020202020204"/>
              <a:cs typeface="Arial" panose="020B0604020202020204"/>
            </a:endParaRPr>
          </a:p>
        </p:txBody>
      </p:sp>
      <p:sp>
        <p:nvSpPr>
          <p:cNvPr id="25" name="Rounded Rectangle 24"/>
          <p:cNvSpPr>
            <a:spLocks noGrp="1"/>
          </p:cNvSpPr>
          <p:nvPr/>
        </p:nvSpPr>
        <p:spPr>
          <a:xfrm>
            <a:off x="857250" y="3905250"/>
            <a:ext cx="3143250" cy="1524000"/>
          </a:xfrm>
          <a:prstGeom prst="roundRect">
            <a:avLst>
              <a:gd name="adj" fmla="val 4375"/>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26" name="Rounded Rectangle 25"/>
          <p:cNvSpPr>
            <a:spLocks noGrp="1"/>
          </p:cNvSpPr>
          <p:nvPr/>
        </p:nvSpPr>
        <p:spPr>
          <a:xfrm>
            <a:off x="1028700" y="4076700"/>
            <a:ext cx="419100" cy="419100"/>
          </a:xfrm>
          <a:prstGeom prst="roundRect">
            <a:avLst>
              <a:gd name="adj" fmla="val 50000"/>
            </a:avLst>
          </a:prstGeom>
          <a:solidFill>
            <a:srgbClr val="173F5F"/>
          </a:solidFill>
          <a:ln w="9525">
            <a:solidFill>
              <a:srgbClr val="173F5F"/>
            </a:solidFill>
            <a:prstDash val="solid"/>
          </a:ln>
        </p:spPr>
        <p:txBody>
          <a:bodyPr wrap="square" lIns="0" tIns="0" rIns="0" bIns="0" anchor="ctr">
            <a:normAutofit/>
          </a:bodyPr>
          <a:lstStyle/>
          <a:p>
            <a:pPr algn="ctr">
              <a:lnSpc>
                <a:spcPct val="100000"/>
              </a:lnSpc>
              <a:buNone/>
              <a:defRPr sz="1350" b="1">
                <a:solidFill>
                  <a:srgbClr val="FFFFFF"/>
                </a:solidFill>
                <a:latin typeface="Arial" panose="020B0604020202020204"/>
                <a:ea typeface="Arial" panose="020B0604020202020204"/>
                <a:cs typeface="Arial" panose="020B0604020202020204"/>
              </a:defRPr>
            </a:pPr>
            <a:r>
              <a:rPr sz="1350" b="1">
                <a:solidFill>
                  <a:srgbClr val="FFFFFF"/>
                </a:solidFill>
                <a:latin typeface="Arial" panose="020B0604020202020204"/>
                <a:ea typeface="Arial" panose="020B0604020202020204"/>
                <a:cs typeface="Arial" panose="020B0604020202020204"/>
              </a:rPr>
              <a:t>6</a:t>
            </a:r>
            <a:endParaRPr sz="1350" b="1">
              <a:solidFill>
                <a:srgbClr val="FFFFFF"/>
              </a:solidFill>
              <a:latin typeface="Arial" panose="020B0604020202020204"/>
              <a:ea typeface="Arial" panose="020B0604020202020204"/>
              <a:cs typeface="Arial" panose="020B0604020202020204"/>
            </a:endParaRPr>
          </a:p>
        </p:txBody>
      </p:sp>
      <p:sp>
        <p:nvSpPr>
          <p:cNvPr id="27" name="Rectangle 26"/>
          <p:cNvSpPr>
            <a:spLocks noGrp="1"/>
          </p:cNvSpPr>
          <p:nvPr/>
        </p:nvSpPr>
        <p:spPr>
          <a:xfrm>
            <a:off x="1619250" y="4095750"/>
            <a:ext cx="2143125" cy="333375"/>
          </a:xfrm>
          <a:prstGeom prst="rect">
            <a:avLst/>
          </a:prstGeom>
          <a:noFill/>
          <a:ln w="0">
            <a:noFill/>
            <a:prstDash val="solid"/>
          </a:ln>
        </p:spPr>
        <p:txBody>
          <a:bodyPr wrap="square" lIns="0" tIns="0" rIns="0" bIns="0" anchor="ctr">
            <a:normAutofit/>
          </a:bodyPr>
          <a:lstStyle/>
          <a:p>
            <a:pPr algn="l">
              <a:lnSpc>
                <a:spcPct val="100000"/>
              </a:lnSpc>
              <a:buNone/>
              <a:defRPr sz="1650" b="1">
                <a:solidFill>
                  <a:srgbClr val="102A43"/>
                </a:solidFill>
                <a:latin typeface="Arial" panose="020B0604020202020204"/>
                <a:ea typeface="Arial" panose="020B0604020202020204"/>
                <a:cs typeface="Arial" panose="020B0604020202020204"/>
              </a:defRPr>
            </a:pPr>
            <a:r>
              <a:rPr sz="1650" b="1">
                <a:solidFill>
                  <a:srgbClr val="102A43"/>
                </a:solidFill>
                <a:latin typeface="Arial" panose="020B0604020202020204"/>
                <a:ea typeface="Arial" panose="020B0604020202020204"/>
                <a:cs typeface="Arial" panose="020B0604020202020204"/>
              </a:rPr>
              <a:t>Trả kết quả</a:t>
            </a:r>
            <a:endParaRPr sz="1650" b="1">
              <a:solidFill>
                <a:srgbClr val="102A43"/>
              </a:solidFill>
              <a:latin typeface="Arial" panose="020B0604020202020204"/>
              <a:ea typeface="Arial" panose="020B0604020202020204"/>
              <a:cs typeface="Arial" panose="020B0604020202020204"/>
            </a:endParaRPr>
          </a:p>
        </p:txBody>
      </p:sp>
      <p:sp>
        <p:nvSpPr>
          <p:cNvPr id="28" name="Rectangle 27"/>
          <p:cNvSpPr>
            <a:spLocks noGrp="1"/>
          </p:cNvSpPr>
          <p:nvPr/>
        </p:nvSpPr>
        <p:spPr>
          <a:xfrm>
            <a:off x="1095375" y="4686300"/>
            <a:ext cx="2667000" cy="476250"/>
          </a:xfrm>
          <a:prstGeom prst="rect">
            <a:avLst/>
          </a:prstGeom>
          <a:noFill/>
          <a:ln w="0">
            <a:noFill/>
            <a:prstDash val="solid"/>
          </a:ln>
        </p:spPr>
        <p:txBody>
          <a:bodyPr wrap="square" lIns="95250" tIns="57150" rIns="95250" bIns="57150" anchor="ctr">
            <a:normAutofit/>
          </a:bodyPr>
          <a:lstStyle/>
          <a:p>
            <a:pPr algn="ctr">
              <a:lnSpc>
                <a:spcPct val="100000"/>
              </a:lnSpc>
              <a:buNone/>
              <a:defRPr sz="1200" b="0">
                <a:solidFill>
                  <a:srgbClr val="5F6C7B"/>
                </a:solidFill>
                <a:latin typeface="Arial" panose="020B0604020202020204"/>
                <a:ea typeface="Arial" panose="020B0604020202020204"/>
                <a:cs typeface="Arial" panose="020B0604020202020204"/>
              </a:defRPr>
            </a:pPr>
            <a:r>
              <a:rPr sz="1200" b="0">
                <a:solidFill>
                  <a:srgbClr val="5F6C7B"/>
                </a:solidFill>
                <a:latin typeface="Arial" panose="020B0604020202020204"/>
                <a:ea typeface="Arial" panose="020B0604020202020204"/>
                <a:cs typeface="Arial" panose="020B0604020202020204"/>
              </a:rPr>
              <a:t>prediction + model_version</a:t>
            </a:r>
            <a:endParaRPr sz="1200" b="0">
              <a:solidFill>
                <a:srgbClr val="5F6C7B"/>
              </a:solidFill>
              <a:latin typeface="Arial" panose="020B0604020202020204"/>
              <a:ea typeface="Arial" panose="020B0604020202020204"/>
              <a:cs typeface="Arial" panose="020B0604020202020204"/>
            </a:endParaRPr>
          </a:p>
        </p:txBody>
      </p:sp>
      <p:sp>
        <p:nvSpPr>
          <p:cNvPr id="29" name="Right Arrow 28"/>
          <p:cNvSpPr>
            <a:spLocks noGrp="1"/>
          </p:cNvSpPr>
          <p:nvPr/>
        </p:nvSpPr>
        <p:spPr>
          <a:xfrm>
            <a:off x="4048125" y="2266950"/>
            <a:ext cx="323850" cy="266700"/>
          </a:xfrm>
          <a:prstGeom prst="rightArrow">
            <a:avLst/>
          </a:prstGeom>
          <a:solidFill>
            <a:srgbClr val="D7E0E8"/>
          </a:solidFill>
          <a:ln w="9525">
            <a:solidFill>
              <a:srgbClr val="D7E0E8"/>
            </a:solidFill>
            <a:prstDash val="solid"/>
          </a:ln>
        </p:spPr>
      </p:sp>
      <p:sp>
        <p:nvSpPr>
          <p:cNvPr id="30" name="Right Arrow 29"/>
          <p:cNvSpPr>
            <a:spLocks noGrp="1"/>
          </p:cNvSpPr>
          <p:nvPr/>
        </p:nvSpPr>
        <p:spPr>
          <a:xfrm>
            <a:off x="7667625" y="2266950"/>
            <a:ext cx="323850" cy="266700"/>
          </a:xfrm>
          <a:prstGeom prst="rightArrow">
            <a:avLst/>
          </a:prstGeom>
          <a:solidFill>
            <a:srgbClr val="D7E0E8"/>
          </a:solidFill>
          <a:ln w="9525">
            <a:solidFill>
              <a:srgbClr val="D7E0E8"/>
            </a:solidFill>
            <a:prstDash val="solid"/>
          </a:ln>
        </p:spPr>
      </p:sp>
      <p:sp>
        <p:nvSpPr>
          <p:cNvPr id="31" name="Down Arrow 30"/>
          <p:cNvSpPr>
            <a:spLocks noGrp="1"/>
          </p:cNvSpPr>
          <p:nvPr/>
        </p:nvSpPr>
        <p:spPr>
          <a:xfrm>
            <a:off x="10715625" y="3286125"/>
            <a:ext cx="247650" cy="476250"/>
          </a:xfrm>
          <a:prstGeom prst="downArrow">
            <a:avLst/>
          </a:prstGeom>
          <a:solidFill>
            <a:srgbClr val="D7E0E8"/>
          </a:solidFill>
          <a:ln w="9525">
            <a:solidFill>
              <a:srgbClr val="D7E0E8"/>
            </a:solidFill>
            <a:prstDash val="solid"/>
          </a:ln>
        </p:spPr>
      </p:sp>
      <p:sp>
        <p:nvSpPr>
          <p:cNvPr id="32" name="Right Arrow 31"/>
          <p:cNvSpPr>
            <a:spLocks noGrp="1"/>
          </p:cNvSpPr>
          <p:nvPr/>
        </p:nvSpPr>
        <p:spPr>
          <a:xfrm>
            <a:off x="7667625" y="4505325"/>
            <a:ext cx="323850" cy="266700"/>
          </a:xfrm>
          <a:prstGeom prst="rightArrow">
            <a:avLst/>
          </a:prstGeom>
          <a:solidFill>
            <a:srgbClr val="D7E0E8"/>
          </a:solidFill>
          <a:ln w="9525">
            <a:solidFill>
              <a:srgbClr val="D7E0E8"/>
            </a:solidFill>
            <a:prstDash val="solid"/>
          </a:ln>
        </p:spPr>
      </p:sp>
      <p:sp>
        <p:nvSpPr>
          <p:cNvPr id="33" name="Right Arrow 32"/>
          <p:cNvSpPr>
            <a:spLocks noGrp="1"/>
          </p:cNvSpPr>
          <p:nvPr/>
        </p:nvSpPr>
        <p:spPr>
          <a:xfrm>
            <a:off x="4048125" y="4505325"/>
            <a:ext cx="323850" cy="266700"/>
          </a:xfrm>
          <a:prstGeom prst="rightArrow">
            <a:avLst/>
          </a:prstGeom>
          <a:solidFill>
            <a:srgbClr val="D7E0E8"/>
          </a:solidFill>
          <a:ln w="9525">
            <a:solidFill>
              <a:srgbClr val="D7E0E8"/>
            </a:solidFill>
            <a:prstDash val="solid"/>
          </a:ln>
        </p:spPr>
      </p:sp>
      <p:sp>
        <p:nvSpPr>
          <p:cNvPr id="34" name="Rounded Rectangle 33"/>
          <p:cNvSpPr>
            <a:spLocks noGrp="1"/>
          </p:cNvSpPr>
          <p:nvPr/>
        </p:nvSpPr>
        <p:spPr>
          <a:xfrm>
            <a:off x="3143250" y="5762625"/>
            <a:ext cx="5905500" cy="428625"/>
          </a:xfrm>
          <a:prstGeom prst="roundRect">
            <a:avLst>
              <a:gd name="adj" fmla="val 15556"/>
            </a:avLst>
          </a:prstGeom>
          <a:solidFill>
            <a:srgbClr val="EAF1F8"/>
          </a:solidFill>
          <a:ln w="9525">
            <a:solidFill>
              <a:srgbClr val="D7E0E8"/>
            </a:solidFill>
            <a:prstDash val="solid"/>
          </a:ln>
        </p:spPr>
        <p:style>
          <a:lnRef idx="0">
            <a:srgbClr val="FFFFFF"/>
          </a:lnRef>
          <a:fillRef idx="0">
            <a:srgbClr val="FFFFFF"/>
          </a:fillRef>
          <a:effectRef idx="4">
            <a:srgbClr val="FFFFFF"/>
          </a:effectRef>
          <a:fontRef idx="major"/>
        </p:style>
      </p:sp>
      <p:sp>
        <p:nvSpPr>
          <p:cNvPr id="35" name="Rectangle 34"/>
          <p:cNvSpPr>
            <a:spLocks noGrp="1"/>
          </p:cNvSpPr>
          <p:nvPr/>
        </p:nvSpPr>
        <p:spPr>
          <a:xfrm>
            <a:off x="3286125" y="5819775"/>
            <a:ext cx="5619750" cy="285750"/>
          </a:xfrm>
          <a:prstGeom prst="rect">
            <a:avLst/>
          </a:prstGeom>
          <a:noFill/>
          <a:ln w="0">
            <a:noFill/>
            <a:prstDash val="solid"/>
          </a:ln>
        </p:spPr>
        <p:txBody>
          <a:bodyPr wrap="square" lIns="95250" tIns="57150" rIns="95250" bIns="57150" anchor="ctr">
            <a:normAutofit/>
          </a:bodyPr>
          <a:lstStyle/>
          <a:p>
            <a:pPr algn="ctr">
              <a:lnSpc>
                <a:spcPct val="100000"/>
              </a:lnSpc>
              <a:buNone/>
              <a:defRPr sz="1125" b="1">
                <a:solidFill>
                  <a:srgbClr val="173F5F"/>
                </a:solidFill>
                <a:latin typeface="Arial" panose="020B0604020202020204"/>
                <a:ea typeface="Arial" panose="020B0604020202020204"/>
                <a:cs typeface="Arial" panose="020B0604020202020204"/>
              </a:defRPr>
            </a:pPr>
            <a:r>
              <a:rPr sz="1125" b="1">
                <a:solidFill>
                  <a:srgbClr val="173F5F"/>
                </a:solidFill>
                <a:latin typeface="Arial" panose="020B0604020202020204"/>
                <a:ea typeface="Arial" panose="020B0604020202020204"/>
                <a:cs typeface="Arial" panose="020B0604020202020204"/>
              </a:rPr>
              <a:t>X-Request-ID được truyền xuyên suốt để đối chiếu log giữa các service.</a:t>
            </a:r>
            <a:endParaRPr sz="1125" b="1">
              <a:solidFill>
                <a:srgbClr val="173F5F"/>
              </a:solidFill>
              <a:latin typeface="Arial" panose="020B0604020202020204"/>
              <a:ea typeface="Arial" panose="020B0604020202020204"/>
              <a:cs typeface="Arial" panose="020B0604020202020204"/>
            </a:endParaRPr>
          </a:p>
        </p:txBody>
      </p:sp>
      <p:sp>
        <p:nvSpPr>
          <p:cNvPr id="36" name="Straight Connector 35"/>
          <p:cNvSpPr>
            <a:spLocks noGrp="1"/>
          </p:cNvSpPr>
          <p:nvPr/>
        </p:nvSpPr>
        <p:spPr>
          <a:xfrm>
            <a:off x="666750" y="6477000"/>
            <a:ext cx="10858500" cy="0"/>
          </a:xfrm>
          <a:prstGeom prst="line">
            <a:avLst/>
          </a:prstGeom>
          <a:noFill/>
          <a:ln w="9525">
            <a:solidFill>
              <a:srgbClr val="D7E0E8"/>
            </a:solidFill>
            <a:prstDash val="solid"/>
          </a:ln>
        </p:spPr>
      </p:sp>
      <p:sp>
        <p:nvSpPr>
          <p:cNvPr id="37" name="Rectangle 36"/>
          <p:cNvSpPr>
            <a:spLocks noGrp="1"/>
          </p:cNvSpPr>
          <p:nvPr/>
        </p:nvSpPr>
        <p:spPr>
          <a:xfrm>
            <a:off x="666750" y="6524625"/>
            <a:ext cx="10572750" cy="209550"/>
          </a:xfrm>
          <a:prstGeom prst="rect">
            <a:avLst/>
          </a:prstGeom>
          <a:noFill/>
          <a:ln w="0">
            <a:noFill/>
            <a:prstDash val="solid"/>
          </a:ln>
        </p:spPr>
        <p:txBody>
          <a:bodyPr wrap="square" lIns="0" tIns="0" rIns="0" bIns="0" anchor="t">
            <a:normAutofit/>
          </a:bodyPr>
          <a:lstStyle/>
          <a:p>
            <a:pPr algn="l">
              <a:lnSpc>
                <a:spcPct val="100000"/>
              </a:lnSpc>
              <a:buNone/>
              <a:defRPr sz="825" b="0">
                <a:solidFill>
                  <a:srgbClr val="5F6C7B"/>
                </a:solidFill>
                <a:latin typeface="Arial" panose="020B0604020202020204"/>
                <a:ea typeface="Arial" panose="020B0604020202020204"/>
                <a:cs typeface="Arial" panose="020B0604020202020204"/>
              </a:defRPr>
            </a:pPr>
            <a:r>
              <a:rPr sz="825" b="0">
                <a:solidFill>
                  <a:srgbClr val="5F6C7B"/>
                </a:solidFill>
                <a:latin typeface="Arial" panose="020B0604020202020204"/>
                <a:ea typeface="Arial" panose="020B0604020202020204"/>
                <a:cs typeface="Arial" panose="020B0604020202020204"/>
              </a:rPr>
              <a:t>Nguồn: frontend/app/main.py; backend/app/main.py; backend/app/services/ai_client.py</a:t>
            </a:r>
            <a:endParaRPr sz="825" b="0">
              <a:solidFill>
                <a:srgbClr val="5F6C7B"/>
              </a:solidFill>
              <a:latin typeface="Arial" panose="020B0604020202020204"/>
              <a:ea typeface="Arial" panose="020B0604020202020204"/>
              <a:cs typeface="Arial" panose="020B0604020202020204"/>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
        <p:cNvGrpSpPr/>
        <p:nvPr/>
      </p:nvGrpSpPr>
      <p:grpSpPr/>
      <p:sp>
        <p:nvSpPr>
          <p:cNvPr id="34" name="Rectangle 33"/>
          <p:cNvSpPr>
            <a:spLocks noGrp="1"/>
          </p:cNvSpPr>
          <p:nvPr/>
        </p:nvSpPr>
        <p:spPr>
          <a:xfrm>
            <a:off x="666750" y="323850"/>
            <a:ext cx="9525000" cy="228600"/>
          </a:xfrm>
          <a:prstGeom prst="rect">
            <a:avLst/>
          </a:prstGeom>
          <a:noFill/>
          <a:ln w="0">
            <a:noFill/>
            <a:prstDash val="solid"/>
          </a:ln>
        </p:spPr>
        <p:txBody>
          <a:bodyPr wrap="square" lIns="0" tIns="0" rIns="0" bIns="0" anchor="t">
            <a:normAutofit/>
          </a:bodyPr>
          <a:lstStyle/>
          <a:p>
            <a:pPr algn="l">
              <a:lnSpc>
                <a:spcPct val="100000"/>
              </a:lnSpc>
              <a:buNone/>
              <a:defRPr sz="975" b="1">
                <a:solidFill>
                  <a:srgbClr val="167D8D"/>
                </a:solidFill>
                <a:latin typeface="Arial" panose="020B0604020202020204"/>
                <a:ea typeface="Arial" panose="020B0604020202020204"/>
                <a:cs typeface="Arial" panose="020B0604020202020204"/>
              </a:defRPr>
            </a:pPr>
            <a:r>
              <a:rPr sz="975" b="1">
                <a:solidFill>
                  <a:srgbClr val="167D8D"/>
                </a:solidFill>
                <a:latin typeface="Arial" panose="020B0604020202020204"/>
                <a:ea typeface="Arial" panose="020B0604020202020204"/>
                <a:cs typeface="Arial" panose="020B0604020202020204"/>
              </a:rPr>
              <a:t>11 · PACKAGING</a:t>
            </a:r>
            <a:endParaRPr sz="975" b="1">
              <a:solidFill>
                <a:srgbClr val="167D8D"/>
              </a:solidFill>
              <a:latin typeface="Arial" panose="020B0604020202020204"/>
              <a:ea typeface="Arial" panose="020B0604020202020204"/>
              <a:cs typeface="Arial" panose="020B0604020202020204"/>
            </a:endParaRPr>
          </a:p>
        </p:txBody>
      </p:sp>
      <p:sp>
        <p:nvSpPr>
          <p:cNvPr id="2" name="Rectangle 1"/>
          <p:cNvSpPr>
            <a:spLocks noGrp="1"/>
          </p:cNvSpPr>
          <p:nvPr/>
        </p:nvSpPr>
        <p:spPr>
          <a:xfrm>
            <a:off x="666750" y="571500"/>
            <a:ext cx="10287000" cy="523875"/>
          </a:xfrm>
          <a:prstGeom prst="rect">
            <a:avLst/>
          </a:prstGeom>
          <a:noFill/>
          <a:ln w="0">
            <a:noFill/>
            <a:prstDash val="solid"/>
          </a:ln>
        </p:spPr>
        <p:txBody>
          <a:bodyPr wrap="square" lIns="0" tIns="0" rIns="0" bIns="0" anchor="t">
            <a:normAutofit/>
          </a:bodyPr>
          <a:lstStyle/>
          <a:p>
            <a:pPr algn="l">
              <a:lnSpc>
                <a:spcPct val="100000"/>
              </a:lnSpc>
              <a:buNone/>
              <a:defRPr sz="2700" b="1">
                <a:solidFill>
                  <a:srgbClr val="102A43"/>
                </a:solidFill>
                <a:latin typeface="Arial" panose="020B0604020202020204"/>
                <a:ea typeface="Arial" panose="020B0604020202020204"/>
                <a:cs typeface="Arial" panose="020B0604020202020204"/>
              </a:defRPr>
            </a:pPr>
            <a:r>
              <a:rPr sz="2700" b="1">
                <a:solidFill>
                  <a:srgbClr val="102A43"/>
                </a:solidFill>
                <a:latin typeface="Arial" panose="020B0604020202020204"/>
                <a:ea typeface="Arial" panose="020B0604020202020204"/>
                <a:cs typeface="Arial" panose="020B0604020202020204"/>
              </a:rPr>
              <a:t>Docker và deployment</a:t>
            </a:r>
            <a:endParaRPr sz="2700" b="1">
              <a:solidFill>
                <a:srgbClr val="102A43"/>
              </a:solidFill>
              <a:latin typeface="Arial" panose="020B0604020202020204"/>
              <a:ea typeface="Arial" panose="020B0604020202020204"/>
              <a:cs typeface="Arial" panose="020B0604020202020204"/>
            </a:endParaRPr>
          </a:p>
        </p:txBody>
      </p:sp>
      <p:sp>
        <p:nvSpPr>
          <p:cNvPr id="3" name="Rectangle 2"/>
          <p:cNvSpPr>
            <a:spLocks noGrp="1"/>
          </p:cNvSpPr>
          <p:nvPr/>
        </p:nvSpPr>
        <p:spPr>
          <a:xfrm>
            <a:off x="666750" y="1152525"/>
            <a:ext cx="714375" cy="47625"/>
          </a:xfrm>
          <a:prstGeom prst="rect">
            <a:avLst/>
          </a:prstGeom>
          <a:solidFill>
            <a:srgbClr val="E76F51"/>
          </a:solidFill>
          <a:ln w="0">
            <a:noFill/>
            <a:prstDash val="solid"/>
          </a:ln>
        </p:spPr>
      </p:sp>
      <p:sp>
        <p:nvSpPr>
          <p:cNvPr id="4" name="Rectangle 3"/>
          <p:cNvSpPr>
            <a:spLocks noGrp="1"/>
          </p:cNvSpPr>
          <p:nvPr/>
        </p:nvSpPr>
        <p:spPr>
          <a:xfrm>
            <a:off x="11191875" y="409575"/>
            <a:ext cx="381000" cy="247650"/>
          </a:xfrm>
          <a:prstGeom prst="rect">
            <a:avLst/>
          </a:prstGeom>
          <a:noFill/>
          <a:ln w="0">
            <a:noFill/>
            <a:prstDash val="solid"/>
          </a:ln>
        </p:spPr>
        <p:txBody>
          <a:bodyPr wrap="square" lIns="0" tIns="0" rIns="0" bIns="0" anchor="t">
            <a:normAutofit/>
          </a:bodyPr>
          <a:lstStyle/>
          <a:p>
            <a:pPr algn="r">
              <a:lnSpc>
                <a:spcPct val="100000"/>
              </a:lnSpc>
              <a:buNone/>
              <a:defRPr sz="1050" b="1">
                <a:solidFill>
                  <a:srgbClr val="5F6C7B"/>
                </a:solidFill>
                <a:latin typeface="Arial" panose="020B0604020202020204"/>
                <a:ea typeface="Arial" panose="020B0604020202020204"/>
                <a:cs typeface="Arial" panose="020B0604020202020204"/>
              </a:defRPr>
            </a:pPr>
            <a:r>
              <a:rPr sz="1050" b="1">
                <a:solidFill>
                  <a:srgbClr val="5F6C7B"/>
                </a:solidFill>
                <a:latin typeface="Arial" panose="020B0604020202020204"/>
                <a:ea typeface="Arial" panose="020B0604020202020204"/>
                <a:cs typeface="Arial" panose="020B0604020202020204"/>
              </a:rPr>
              <a:t>13</a:t>
            </a:r>
            <a:endParaRPr sz="1050" b="1">
              <a:solidFill>
                <a:srgbClr val="5F6C7B"/>
              </a:solidFill>
              <a:latin typeface="Arial" panose="020B0604020202020204"/>
              <a:ea typeface="Arial" panose="020B0604020202020204"/>
              <a:cs typeface="Arial" panose="020B0604020202020204"/>
            </a:endParaRPr>
          </a:p>
        </p:txBody>
      </p:sp>
      <p:sp>
        <p:nvSpPr>
          <p:cNvPr id="5" name="Rectangle 4"/>
          <p:cNvSpPr>
            <a:spLocks noGrp="1"/>
          </p:cNvSpPr>
          <p:nvPr/>
        </p:nvSpPr>
        <p:spPr>
          <a:xfrm>
            <a:off x="666750" y="1428750"/>
            <a:ext cx="4095750" cy="342900"/>
          </a:xfrm>
          <a:prstGeom prst="rect">
            <a:avLst/>
          </a:prstGeom>
          <a:noFill/>
          <a:ln w="0">
            <a:noFill/>
            <a:prstDash val="solid"/>
          </a:ln>
        </p:spPr>
        <p:txBody>
          <a:bodyPr wrap="square" lIns="0" tIns="0" rIns="0" bIns="0" anchor="t">
            <a:normAutofit/>
          </a:bodyPr>
          <a:lstStyle/>
          <a:p>
            <a:pPr algn="l">
              <a:lnSpc>
                <a:spcPct val="100000"/>
              </a:lnSpc>
              <a:buNone/>
              <a:defRPr sz="1875" b="1">
                <a:solidFill>
                  <a:srgbClr val="102A43"/>
                </a:solidFill>
                <a:latin typeface="Arial" panose="020B0604020202020204"/>
                <a:ea typeface="Arial" panose="020B0604020202020204"/>
                <a:cs typeface="Arial" panose="020B0604020202020204"/>
              </a:defRPr>
            </a:pPr>
            <a:r>
              <a:rPr sz="1875" b="1">
                <a:solidFill>
                  <a:srgbClr val="102A43"/>
                </a:solidFill>
                <a:latin typeface="Arial" panose="020B0604020202020204"/>
                <a:ea typeface="Arial" panose="020B0604020202020204"/>
                <a:cs typeface="Arial" panose="020B0604020202020204"/>
              </a:rPr>
              <a:t>Docker Compose</a:t>
            </a:r>
            <a:endParaRPr sz="1875" b="1">
              <a:solidFill>
                <a:srgbClr val="102A43"/>
              </a:solidFill>
              <a:latin typeface="Arial" panose="020B0604020202020204"/>
              <a:ea typeface="Arial" panose="020B0604020202020204"/>
              <a:cs typeface="Arial" panose="020B0604020202020204"/>
            </a:endParaRPr>
          </a:p>
        </p:txBody>
      </p:sp>
      <p:sp>
        <p:nvSpPr>
          <p:cNvPr id="6" name="Rectangle 5"/>
          <p:cNvSpPr>
            <a:spLocks noGrp="1"/>
          </p:cNvSpPr>
          <p:nvPr/>
        </p:nvSpPr>
        <p:spPr>
          <a:xfrm>
            <a:off x="666750" y="1952625"/>
            <a:ext cx="1809750" cy="523875"/>
          </a:xfrm>
          <a:prstGeom prst="rect">
            <a:avLst/>
          </a:prstGeom>
          <a:solidFill>
            <a:srgbClr val="102A43"/>
          </a:solidFill>
          <a:ln w="9525">
            <a:solidFill>
              <a:srgbClr val="D7E0E8"/>
            </a:solidFill>
            <a:prstDash val="solid"/>
          </a:ln>
        </p:spPr>
        <p:txBody>
          <a:bodyPr wrap="square" lIns="85725" tIns="38100" rIns="85725" bIns="38100" anchor="ctr">
            <a:normAutofit/>
          </a:bodyPr>
          <a:lstStyle/>
          <a:p>
            <a:pPr algn="l">
              <a:lnSpc>
                <a:spcPct val="100000"/>
              </a:lnSpc>
              <a:buNone/>
              <a:defRPr sz="975" b="1">
                <a:solidFill>
                  <a:srgbClr val="FFFFFF"/>
                </a:solidFill>
                <a:latin typeface="Arial" panose="020B0604020202020204"/>
                <a:ea typeface="Arial" panose="020B0604020202020204"/>
                <a:cs typeface="Arial" panose="020B0604020202020204"/>
              </a:defRPr>
            </a:pPr>
            <a:r>
              <a:rPr sz="975" b="1">
                <a:solidFill>
                  <a:srgbClr val="FFFFFF"/>
                </a:solidFill>
                <a:latin typeface="Arial" panose="020B0604020202020204"/>
                <a:ea typeface="Arial" panose="020B0604020202020204"/>
                <a:cs typeface="Arial" panose="020B0604020202020204"/>
              </a:rPr>
              <a:t>Service</a:t>
            </a:r>
            <a:endParaRPr sz="975" b="1">
              <a:solidFill>
                <a:srgbClr val="FFFFFF"/>
              </a:solidFill>
              <a:latin typeface="Arial" panose="020B0604020202020204"/>
              <a:ea typeface="Arial" panose="020B0604020202020204"/>
              <a:cs typeface="Arial" panose="020B0604020202020204"/>
            </a:endParaRPr>
          </a:p>
        </p:txBody>
      </p:sp>
      <p:sp>
        <p:nvSpPr>
          <p:cNvPr id="7" name="Rectangle 6"/>
          <p:cNvSpPr>
            <a:spLocks noGrp="1"/>
          </p:cNvSpPr>
          <p:nvPr/>
        </p:nvSpPr>
        <p:spPr>
          <a:xfrm>
            <a:off x="2476500" y="1952625"/>
            <a:ext cx="1047750" cy="523875"/>
          </a:xfrm>
          <a:prstGeom prst="rect">
            <a:avLst/>
          </a:prstGeom>
          <a:solidFill>
            <a:srgbClr val="102A43"/>
          </a:solidFill>
          <a:ln w="9525">
            <a:solidFill>
              <a:srgbClr val="D7E0E8"/>
            </a:solidFill>
            <a:prstDash val="solid"/>
          </a:ln>
        </p:spPr>
        <p:txBody>
          <a:bodyPr wrap="square" lIns="85725" tIns="38100" rIns="85725" bIns="38100" anchor="ctr">
            <a:normAutofit/>
          </a:bodyPr>
          <a:lstStyle/>
          <a:p>
            <a:pPr algn="l">
              <a:lnSpc>
                <a:spcPct val="100000"/>
              </a:lnSpc>
              <a:buNone/>
              <a:defRPr sz="975" b="1">
                <a:solidFill>
                  <a:srgbClr val="FFFFFF"/>
                </a:solidFill>
                <a:latin typeface="Arial" panose="020B0604020202020204"/>
                <a:ea typeface="Arial" panose="020B0604020202020204"/>
                <a:cs typeface="Arial" panose="020B0604020202020204"/>
              </a:defRPr>
            </a:pPr>
            <a:r>
              <a:rPr sz="975" b="1">
                <a:solidFill>
                  <a:srgbClr val="FFFFFF"/>
                </a:solidFill>
                <a:latin typeface="Arial" panose="020B0604020202020204"/>
                <a:ea typeface="Arial" panose="020B0604020202020204"/>
                <a:cs typeface="Arial" panose="020B0604020202020204"/>
              </a:rPr>
              <a:t>Port</a:t>
            </a:r>
            <a:endParaRPr sz="975" b="1">
              <a:solidFill>
                <a:srgbClr val="FFFFFF"/>
              </a:solidFill>
              <a:latin typeface="Arial" panose="020B0604020202020204"/>
              <a:ea typeface="Arial" panose="020B0604020202020204"/>
              <a:cs typeface="Arial" panose="020B0604020202020204"/>
            </a:endParaRPr>
          </a:p>
        </p:txBody>
      </p:sp>
      <p:sp>
        <p:nvSpPr>
          <p:cNvPr id="8" name="Rectangle 7"/>
          <p:cNvSpPr>
            <a:spLocks noGrp="1"/>
          </p:cNvSpPr>
          <p:nvPr/>
        </p:nvSpPr>
        <p:spPr>
          <a:xfrm>
            <a:off x="3524250" y="1952625"/>
            <a:ext cx="2762250" cy="523875"/>
          </a:xfrm>
          <a:prstGeom prst="rect">
            <a:avLst/>
          </a:prstGeom>
          <a:solidFill>
            <a:srgbClr val="102A43"/>
          </a:solidFill>
          <a:ln w="9525">
            <a:solidFill>
              <a:srgbClr val="D7E0E8"/>
            </a:solidFill>
            <a:prstDash val="solid"/>
          </a:ln>
        </p:spPr>
        <p:txBody>
          <a:bodyPr wrap="square" lIns="85725" tIns="38100" rIns="85725" bIns="38100" anchor="ctr">
            <a:normAutofit/>
          </a:bodyPr>
          <a:lstStyle/>
          <a:p>
            <a:pPr algn="l">
              <a:lnSpc>
                <a:spcPct val="100000"/>
              </a:lnSpc>
              <a:buNone/>
              <a:defRPr sz="975" b="1">
                <a:solidFill>
                  <a:srgbClr val="FFFFFF"/>
                </a:solidFill>
                <a:latin typeface="Arial" panose="020B0604020202020204"/>
                <a:ea typeface="Arial" panose="020B0604020202020204"/>
                <a:cs typeface="Arial" panose="020B0604020202020204"/>
              </a:defRPr>
            </a:pPr>
            <a:r>
              <a:rPr sz="975" b="1">
                <a:solidFill>
                  <a:srgbClr val="FFFFFF"/>
                </a:solidFill>
                <a:latin typeface="Arial" panose="020B0604020202020204"/>
                <a:ea typeface="Arial" panose="020B0604020202020204"/>
                <a:cs typeface="Arial" panose="020B0604020202020204"/>
              </a:rPr>
              <a:t>Build / image</a:t>
            </a:r>
            <a:endParaRPr sz="975" b="1">
              <a:solidFill>
                <a:srgbClr val="FFFFFF"/>
              </a:solidFill>
              <a:latin typeface="Arial" panose="020B0604020202020204"/>
              <a:ea typeface="Arial" panose="020B0604020202020204"/>
              <a:cs typeface="Arial" panose="020B0604020202020204"/>
            </a:endParaRPr>
          </a:p>
        </p:txBody>
      </p:sp>
      <p:sp>
        <p:nvSpPr>
          <p:cNvPr id="9" name="Rectangle 8"/>
          <p:cNvSpPr>
            <a:spLocks noGrp="1"/>
          </p:cNvSpPr>
          <p:nvPr/>
        </p:nvSpPr>
        <p:spPr>
          <a:xfrm>
            <a:off x="666750" y="2476500"/>
            <a:ext cx="1809750" cy="523875"/>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l">
              <a:lnSpc>
                <a:spcPct val="100000"/>
              </a:lnSpc>
              <a:buNone/>
              <a:defRPr sz="1125" b="1">
                <a:solidFill>
                  <a:srgbClr val="1D2939"/>
                </a:solidFill>
                <a:latin typeface="Arial" panose="020B0604020202020204"/>
                <a:ea typeface="Arial" panose="020B0604020202020204"/>
                <a:cs typeface="Arial" panose="020B0604020202020204"/>
              </a:defRPr>
            </a:pPr>
            <a:r>
              <a:rPr sz="1125" b="1">
                <a:solidFill>
                  <a:srgbClr val="1D2939"/>
                </a:solidFill>
                <a:latin typeface="Arial" panose="020B0604020202020204"/>
                <a:ea typeface="Arial" panose="020B0604020202020204"/>
                <a:cs typeface="Arial" panose="020B0604020202020204"/>
              </a:rPr>
              <a:t>frontend</a:t>
            </a:r>
            <a:endParaRPr sz="1125" b="1">
              <a:solidFill>
                <a:srgbClr val="1D2939"/>
              </a:solidFill>
              <a:latin typeface="Arial" panose="020B0604020202020204"/>
              <a:ea typeface="Arial" panose="020B0604020202020204"/>
              <a:cs typeface="Arial" panose="020B0604020202020204"/>
            </a:endParaRPr>
          </a:p>
        </p:txBody>
      </p:sp>
      <p:sp>
        <p:nvSpPr>
          <p:cNvPr id="10" name="Rectangle 9"/>
          <p:cNvSpPr>
            <a:spLocks noGrp="1"/>
          </p:cNvSpPr>
          <p:nvPr/>
        </p:nvSpPr>
        <p:spPr>
          <a:xfrm>
            <a:off x="2476500" y="2476500"/>
            <a:ext cx="1047750" cy="523875"/>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l">
              <a:lnSpc>
                <a:spcPct val="100000"/>
              </a:lnSpc>
              <a:buNone/>
              <a:defRPr sz="1125" b="0">
                <a:solidFill>
                  <a:srgbClr val="1D2939"/>
                </a:solidFill>
                <a:latin typeface="Arial" panose="020B0604020202020204"/>
                <a:ea typeface="Arial" panose="020B0604020202020204"/>
                <a:cs typeface="Arial" panose="020B0604020202020204"/>
              </a:defRPr>
            </a:pPr>
            <a:r>
              <a:rPr sz="1125" b="0">
                <a:solidFill>
                  <a:srgbClr val="1D2939"/>
                </a:solidFill>
                <a:latin typeface="Arial" panose="020B0604020202020204"/>
                <a:ea typeface="Arial" panose="020B0604020202020204"/>
                <a:cs typeface="Arial" panose="020B0604020202020204"/>
              </a:rPr>
              <a:t>3000</a:t>
            </a:r>
            <a:endParaRPr sz="1125" b="0">
              <a:solidFill>
                <a:srgbClr val="1D2939"/>
              </a:solidFill>
              <a:latin typeface="Arial" panose="020B0604020202020204"/>
              <a:ea typeface="Arial" panose="020B0604020202020204"/>
              <a:cs typeface="Arial" panose="020B0604020202020204"/>
            </a:endParaRPr>
          </a:p>
        </p:txBody>
      </p:sp>
      <p:sp>
        <p:nvSpPr>
          <p:cNvPr id="11" name="Rectangle 10"/>
          <p:cNvSpPr>
            <a:spLocks noGrp="1"/>
          </p:cNvSpPr>
          <p:nvPr/>
        </p:nvSpPr>
        <p:spPr>
          <a:xfrm>
            <a:off x="3524250" y="2476500"/>
            <a:ext cx="2762250" cy="523875"/>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l">
              <a:lnSpc>
                <a:spcPct val="100000"/>
              </a:lnSpc>
              <a:buNone/>
              <a:defRPr sz="1125" b="0">
                <a:solidFill>
                  <a:srgbClr val="1D2939"/>
                </a:solidFill>
                <a:latin typeface="Arial" panose="020B0604020202020204"/>
                <a:ea typeface="Arial" panose="020B0604020202020204"/>
                <a:cs typeface="Arial" panose="020B0604020202020204"/>
              </a:defRPr>
            </a:pPr>
            <a:r>
              <a:rPr sz="1125" b="0">
                <a:solidFill>
                  <a:srgbClr val="1D2939"/>
                </a:solidFill>
                <a:latin typeface="Arial" panose="020B0604020202020204"/>
                <a:ea typeface="Arial" panose="020B0604020202020204"/>
                <a:cs typeface="Arial" panose="020B0604020202020204"/>
              </a:rPr>
              <a:t>./frontend</a:t>
            </a:r>
            <a:endParaRPr sz="1125" b="0">
              <a:solidFill>
                <a:srgbClr val="1D2939"/>
              </a:solidFill>
              <a:latin typeface="Arial" panose="020B0604020202020204"/>
              <a:ea typeface="Arial" panose="020B0604020202020204"/>
              <a:cs typeface="Arial" panose="020B0604020202020204"/>
            </a:endParaRPr>
          </a:p>
        </p:txBody>
      </p:sp>
      <p:sp>
        <p:nvSpPr>
          <p:cNvPr id="12" name="Rectangle 11"/>
          <p:cNvSpPr>
            <a:spLocks noGrp="1"/>
          </p:cNvSpPr>
          <p:nvPr/>
        </p:nvSpPr>
        <p:spPr>
          <a:xfrm>
            <a:off x="666750" y="3000375"/>
            <a:ext cx="1809750" cy="523875"/>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l">
              <a:lnSpc>
                <a:spcPct val="100000"/>
              </a:lnSpc>
              <a:buNone/>
              <a:defRPr sz="1125" b="1">
                <a:solidFill>
                  <a:srgbClr val="1D2939"/>
                </a:solidFill>
                <a:latin typeface="Arial" panose="020B0604020202020204"/>
                <a:ea typeface="Arial" panose="020B0604020202020204"/>
                <a:cs typeface="Arial" panose="020B0604020202020204"/>
              </a:defRPr>
            </a:pPr>
            <a:r>
              <a:rPr sz="1125" b="1">
                <a:solidFill>
                  <a:srgbClr val="1D2939"/>
                </a:solidFill>
                <a:latin typeface="Arial" panose="020B0604020202020204"/>
                <a:ea typeface="Arial" panose="020B0604020202020204"/>
                <a:cs typeface="Arial" panose="020B0604020202020204"/>
              </a:rPr>
              <a:t>backend</a:t>
            </a:r>
            <a:endParaRPr sz="1125" b="1">
              <a:solidFill>
                <a:srgbClr val="1D2939"/>
              </a:solidFill>
              <a:latin typeface="Arial" panose="020B0604020202020204"/>
              <a:ea typeface="Arial" panose="020B0604020202020204"/>
              <a:cs typeface="Arial" panose="020B0604020202020204"/>
            </a:endParaRPr>
          </a:p>
        </p:txBody>
      </p:sp>
      <p:sp>
        <p:nvSpPr>
          <p:cNvPr id="13" name="Rectangle 12"/>
          <p:cNvSpPr>
            <a:spLocks noGrp="1"/>
          </p:cNvSpPr>
          <p:nvPr/>
        </p:nvSpPr>
        <p:spPr>
          <a:xfrm>
            <a:off x="2476500" y="3000375"/>
            <a:ext cx="1047750" cy="523875"/>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l">
              <a:lnSpc>
                <a:spcPct val="100000"/>
              </a:lnSpc>
              <a:buNone/>
              <a:defRPr sz="1125" b="0">
                <a:solidFill>
                  <a:srgbClr val="1D2939"/>
                </a:solidFill>
                <a:latin typeface="Arial" panose="020B0604020202020204"/>
                <a:ea typeface="Arial" panose="020B0604020202020204"/>
                <a:cs typeface="Arial" panose="020B0604020202020204"/>
              </a:defRPr>
            </a:pPr>
            <a:r>
              <a:rPr sz="1125" b="0">
                <a:solidFill>
                  <a:srgbClr val="1D2939"/>
                </a:solidFill>
                <a:latin typeface="Arial" panose="020B0604020202020204"/>
                <a:ea typeface="Arial" panose="020B0604020202020204"/>
                <a:cs typeface="Arial" panose="020B0604020202020204"/>
              </a:rPr>
              <a:t>8000</a:t>
            </a:r>
            <a:endParaRPr sz="1125" b="0">
              <a:solidFill>
                <a:srgbClr val="1D2939"/>
              </a:solidFill>
              <a:latin typeface="Arial" panose="020B0604020202020204"/>
              <a:ea typeface="Arial" panose="020B0604020202020204"/>
              <a:cs typeface="Arial" panose="020B0604020202020204"/>
            </a:endParaRPr>
          </a:p>
        </p:txBody>
      </p:sp>
      <p:sp>
        <p:nvSpPr>
          <p:cNvPr id="14" name="Rectangle 13"/>
          <p:cNvSpPr>
            <a:spLocks noGrp="1"/>
          </p:cNvSpPr>
          <p:nvPr/>
        </p:nvSpPr>
        <p:spPr>
          <a:xfrm>
            <a:off x="3524250" y="3000375"/>
            <a:ext cx="2762250" cy="523875"/>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l">
              <a:lnSpc>
                <a:spcPct val="100000"/>
              </a:lnSpc>
              <a:buNone/>
              <a:defRPr sz="1125" b="0">
                <a:solidFill>
                  <a:srgbClr val="1D2939"/>
                </a:solidFill>
                <a:latin typeface="Arial" panose="020B0604020202020204"/>
                <a:ea typeface="Arial" panose="020B0604020202020204"/>
                <a:cs typeface="Arial" panose="020B0604020202020204"/>
              </a:defRPr>
            </a:pPr>
            <a:r>
              <a:rPr sz="1125" b="0">
                <a:solidFill>
                  <a:srgbClr val="1D2939"/>
                </a:solidFill>
                <a:latin typeface="Arial" panose="020B0604020202020204"/>
                <a:ea typeface="Arial" panose="020B0604020202020204"/>
                <a:cs typeface="Arial" panose="020B0604020202020204"/>
              </a:rPr>
              <a:t>./backend</a:t>
            </a:r>
            <a:endParaRPr sz="1125" b="0">
              <a:solidFill>
                <a:srgbClr val="1D2939"/>
              </a:solidFill>
              <a:latin typeface="Arial" panose="020B0604020202020204"/>
              <a:ea typeface="Arial" panose="020B0604020202020204"/>
              <a:cs typeface="Arial" panose="020B0604020202020204"/>
            </a:endParaRPr>
          </a:p>
        </p:txBody>
      </p:sp>
      <p:sp>
        <p:nvSpPr>
          <p:cNvPr id="15" name="Rectangle 14"/>
          <p:cNvSpPr>
            <a:spLocks noGrp="1"/>
          </p:cNvSpPr>
          <p:nvPr/>
        </p:nvSpPr>
        <p:spPr>
          <a:xfrm>
            <a:off x="666750" y="3524250"/>
            <a:ext cx="1809750" cy="523875"/>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l">
              <a:lnSpc>
                <a:spcPct val="100000"/>
              </a:lnSpc>
              <a:buNone/>
              <a:defRPr sz="1125" b="1">
                <a:solidFill>
                  <a:srgbClr val="1D2939"/>
                </a:solidFill>
                <a:latin typeface="Arial" panose="020B0604020202020204"/>
                <a:ea typeface="Arial" panose="020B0604020202020204"/>
                <a:cs typeface="Arial" panose="020B0604020202020204"/>
              </a:defRPr>
            </a:pPr>
            <a:r>
              <a:rPr sz="1125" b="1">
                <a:solidFill>
                  <a:srgbClr val="1D2939"/>
                </a:solidFill>
                <a:latin typeface="Arial" panose="020B0604020202020204"/>
                <a:ea typeface="Arial" panose="020B0604020202020204"/>
                <a:cs typeface="Arial" panose="020B0604020202020204"/>
              </a:rPr>
              <a:t>ai-service</a:t>
            </a:r>
            <a:endParaRPr sz="1125" b="1">
              <a:solidFill>
                <a:srgbClr val="1D2939"/>
              </a:solidFill>
              <a:latin typeface="Arial" panose="020B0604020202020204"/>
              <a:ea typeface="Arial" panose="020B0604020202020204"/>
              <a:cs typeface="Arial" panose="020B0604020202020204"/>
            </a:endParaRPr>
          </a:p>
        </p:txBody>
      </p:sp>
      <p:sp>
        <p:nvSpPr>
          <p:cNvPr id="16" name="Rectangle 15"/>
          <p:cNvSpPr>
            <a:spLocks noGrp="1"/>
          </p:cNvSpPr>
          <p:nvPr/>
        </p:nvSpPr>
        <p:spPr>
          <a:xfrm>
            <a:off x="2476500" y="3524250"/>
            <a:ext cx="1047750" cy="523875"/>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l">
              <a:lnSpc>
                <a:spcPct val="100000"/>
              </a:lnSpc>
              <a:buNone/>
              <a:defRPr sz="1125" b="0">
                <a:solidFill>
                  <a:srgbClr val="1D2939"/>
                </a:solidFill>
                <a:latin typeface="Arial" panose="020B0604020202020204"/>
                <a:ea typeface="Arial" panose="020B0604020202020204"/>
                <a:cs typeface="Arial" panose="020B0604020202020204"/>
              </a:defRPr>
            </a:pPr>
            <a:r>
              <a:rPr sz="1125" b="0">
                <a:solidFill>
                  <a:srgbClr val="1D2939"/>
                </a:solidFill>
                <a:latin typeface="Arial" panose="020B0604020202020204"/>
                <a:ea typeface="Arial" panose="020B0604020202020204"/>
                <a:cs typeface="Arial" panose="020B0604020202020204"/>
              </a:rPr>
              <a:t>8001</a:t>
            </a:r>
            <a:endParaRPr sz="1125" b="0">
              <a:solidFill>
                <a:srgbClr val="1D2939"/>
              </a:solidFill>
              <a:latin typeface="Arial" panose="020B0604020202020204"/>
              <a:ea typeface="Arial" panose="020B0604020202020204"/>
              <a:cs typeface="Arial" panose="020B0604020202020204"/>
            </a:endParaRPr>
          </a:p>
        </p:txBody>
      </p:sp>
      <p:sp>
        <p:nvSpPr>
          <p:cNvPr id="17" name="Rectangle 16"/>
          <p:cNvSpPr>
            <a:spLocks noGrp="1"/>
          </p:cNvSpPr>
          <p:nvPr/>
        </p:nvSpPr>
        <p:spPr>
          <a:xfrm>
            <a:off x="3524250" y="3524250"/>
            <a:ext cx="2762250" cy="523875"/>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l">
              <a:lnSpc>
                <a:spcPct val="100000"/>
              </a:lnSpc>
              <a:buNone/>
              <a:defRPr sz="1125" b="0">
                <a:solidFill>
                  <a:srgbClr val="1D2939"/>
                </a:solidFill>
                <a:latin typeface="Arial" panose="020B0604020202020204"/>
                <a:ea typeface="Arial" panose="020B0604020202020204"/>
                <a:cs typeface="Arial" panose="020B0604020202020204"/>
              </a:defRPr>
            </a:pPr>
            <a:r>
              <a:rPr sz="1125" b="0">
                <a:solidFill>
                  <a:srgbClr val="1D2939"/>
                </a:solidFill>
                <a:latin typeface="Arial" panose="020B0604020202020204"/>
                <a:ea typeface="Arial" panose="020B0604020202020204"/>
                <a:cs typeface="Arial" panose="020B0604020202020204"/>
              </a:rPr>
              <a:t>./ai-service</a:t>
            </a:r>
            <a:endParaRPr sz="1125" b="0">
              <a:solidFill>
                <a:srgbClr val="1D2939"/>
              </a:solidFill>
              <a:latin typeface="Arial" panose="020B0604020202020204"/>
              <a:ea typeface="Arial" panose="020B0604020202020204"/>
              <a:cs typeface="Arial" panose="020B0604020202020204"/>
            </a:endParaRPr>
          </a:p>
        </p:txBody>
      </p:sp>
      <p:sp>
        <p:nvSpPr>
          <p:cNvPr id="18" name="Rectangle 17"/>
          <p:cNvSpPr>
            <a:spLocks noGrp="1"/>
          </p:cNvSpPr>
          <p:nvPr/>
        </p:nvSpPr>
        <p:spPr>
          <a:xfrm>
            <a:off x="666750" y="4048125"/>
            <a:ext cx="1809750" cy="523875"/>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l">
              <a:lnSpc>
                <a:spcPct val="100000"/>
              </a:lnSpc>
              <a:buNone/>
              <a:defRPr sz="1125" b="1">
                <a:solidFill>
                  <a:srgbClr val="1D2939"/>
                </a:solidFill>
                <a:latin typeface="Arial" panose="020B0604020202020204"/>
                <a:ea typeface="Arial" panose="020B0604020202020204"/>
                <a:cs typeface="Arial" panose="020B0604020202020204"/>
              </a:defRPr>
            </a:pPr>
            <a:r>
              <a:rPr sz="1125" b="1">
                <a:solidFill>
                  <a:srgbClr val="1D2939"/>
                </a:solidFill>
                <a:latin typeface="Arial" panose="020B0604020202020204"/>
                <a:ea typeface="Arial" panose="020B0604020202020204"/>
                <a:cs typeface="Arial" panose="020B0604020202020204"/>
              </a:rPr>
              <a:t>mongodb</a:t>
            </a:r>
            <a:endParaRPr sz="1125" b="1">
              <a:solidFill>
                <a:srgbClr val="1D2939"/>
              </a:solidFill>
              <a:latin typeface="Arial" panose="020B0604020202020204"/>
              <a:ea typeface="Arial" panose="020B0604020202020204"/>
              <a:cs typeface="Arial" panose="020B0604020202020204"/>
            </a:endParaRPr>
          </a:p>
        </p:txBody>
      </p:sp>
      <p:sp>
        <p:nvSpPr>
          <p:cNvPr id="19" name="Rectangle 18"/>
          <p:cNvSpPr>
            <a:spLocks noGrp="1"/>
          </p:cNvSpPr>
          <p:nvPr/>
        </p:nvSpPr>
        <p:spPr>
          <a:xfrm>
            <a:off x="2476500" y="4048125"/>
            <a:ext cx="1047750" cy="523875"/>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l">
              <a:lnSpc>
                <a:spcPct val="100000"/>
              </a:lnSpc>
              <a:buNone/>
              <a:defRPr sz="1125" b="0">
                <a:solidFill>
                  <a:srgbClr val="1D2939"/>
                </a:solidFill>
                <a:latin typeface="Arial" panose="020B0604020202020204"/>
                <a:ea typeface="Arial" panose="020B0604020202020204"/>
                <a:cs typeface="Arial" panose="020B0604020202020204"/>
              </a:defRPr>
            </a:pPr>
            <a:r>
              <a:rPr sz="1125" b="0">
                <a:solidFill>
                  <a:srgbClr val="1D2939"/>
                </a:solidFill>
                <a:latin typeface="Arial" panose="020B0604020202020204"/>
                <a:ea typeface="Arial" panose="020B0604020202020204"/>
                <a:cs typeface="Arial" panose="020B0604020202020204"/>
              </a:rPr>
              <a:t>27017</a:t>
            </a:r>
            <a:endParaRPr sz="1125" b="0">
              <a:solidFill>
                <a:srgbClr val="1D2939"/>
              </a:solidFill>
              <a:latin typeface="Arial" panose="020B0604020202020204"/>
              <a:ea typeface="Arial" panose="020B0604020202020204"/>
              <a:cs typeface="Arial" panose="020B0604020202020204"/>
            </a:endParaRPr>
          </a:p>
        </p:txBody>
      </p:sp>
      <p:sp>
        <p:nvSpPr>
          <p:cNvPr id="20" name="Rectangle 19"/>
          <p:cNvSpPr>
            <a:spLocks noGrp="1"/>
          </p:cNvSpPr>
          <p:nvPr/>
        </p:nvSpPr>
        <p:spPr>
          <a:xfrm>
            <a:off x="3524250" y="4048125"/>
            <a:ext cx="2762250" cy="523875"/>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l">
              <a:lnSpc>
                <a:spcPct val="100000"/>
              </a:lnSpc>
              <a:buNone/>
              <a:defRPr sz="1125" b="0">
                <a:solidFill>
                  <a:srgbClr val="1D2939"/>
                </a:solidFill>
                <a:latin typeface="Arial" panose="020B0604020202020204"/>
                <a:ea typeface="Arial" panose="020B0604020202020204"/>
                <a:cs typeface="Arial" panose="020B0604020202020204"/>
              </a:defRPr>
            </a:pPr>
            <a:r>
              <a:rPr sz="1125" b="0">
                <a:solidFill>
                  <a:srgbClr val="1D2939"/>
                </a:solidFill>
                <a:latin typeface="Arial" panose="020B0604020202020204"/>
                <a:ea typeface="Arial" panose="020B0604020202020204"/>
                <a:cs typeface="Arial" panose="020B0604020202020204"/>
              </a:rPr>
              <a:t>mongo</a:t>
            </a:r>
            <a:endParaRPr sz="1125" b="0">
              <a:solidFill>
                <a:srgbClr val="1D2939"/>
              </a:solidFill>
              <a:latin typeface="Arial" panose="020B0604020202020204"/>
              <a:ea typeface="Arial" panose="020B0604020202020204"/>
              <a:cs typeface="Arial" panose="020B0604020202020204"/>
            </a:endParaRPr>
          </a:p>
        </p:txBody>
      </p:sp>
      <p:sp>
        <p:nvSpPr>
          <p:cNvPr id="21" name="Rounded Rectangle 20"/>
          <p:cNvSpPr>
            <a:spLocks noGrp="1"/>
          </p:cNvSpPr>
          <p:nvPr/>
        </p:nvSpPr>
        <p:spPr>
          <a:xfrm>
            <a:off x="6667500" y="1428750"/>
            <a:ext cx="4857750" cy="1762125"/>
          </a:xfrm>
          <a:prstGeom prst="roundRect">
            <a:avLst>
              <a:gd name="adj" fmla="val 3784"/>
            </a:avLst>
          </a:prstGeom>
          <a:solidFill>
            <a:srgbClr val="EAF6F5"/>
          </a:solidFill>
          <a:ln w="9525">
            <a:solidFill>
              <a:srgbClr val="167D8D"/>
            </a:solidFill>
            <a:prstDash val="solid"/>
          </a:ln>
        </p:spPr>
        <p:style>
          <a:lnRef idx="0">
            <a:srgbClr val="FFFFFF"/>
          </a:lnRef>
          <a:fillRef idx="0">
            <a:srgbClr val="FFFFFF"/>
          </a:fillRef>
          <a:effectRef idx="4">
            <a:srgbClr val="FFFFFF"/>
          </a:effectRef>
          <a:fontRef idx="major"/>
        </p:style>
      </p:sp>
      <p:sp>
        <p:nvSpPr>
          <p:cNvPr id="22" name="Rectangle 21"/>
          <p:cNvSpPr>
            <a:spLocks noGrp="1"/>
          </p:cNvSpPr>
          <p:nvPr/>
        </p:nvSpPr>
        <p:spPr>
          <a:xfrm>
            <a:off x="6934200" y="1666875"/>
            <a:ext cx="4191000" cy="295275"/>
          </a:xfrm>
          <a:prstGeom prst="rect">
            <a:avLst/>
          </a:prstGeom>
          <a:noFill/>
          <a:ln w="0">
            <a:noFill/>
            <a:prstDash val="solid"/>
          </a:ln>
        </p:spPr>
        <p:txBody>
          <a:bodyPr wrap="square" lIns="0" tIns="0" rIns="0" bIns="0" anchor="t">
            <a:normAutofit/>
          </a:bodyPr>
          <a:lstStyle/>
          <a:p>
            <a:pPr algn="l">
              <a:lnSpc>
                <a:spcPct val="100000"/>
              </a:lnSpc>
              <a:buNone/>
              <a:defRPr sz="1650" b="1">
                <a:solidFill>
                  <a:srgbClr val="102A43"/>
                </a:solidFill>
                <a:latin typeface="Arial" panose="020B0604020202020204"/>
                <a:ea typeface="Arial" panose="020B0604020202020204"/>
                <a:cs typeface="Arial" panose="020B0604020202020204"/>
              </a:defRPr>
            </a:pPr>
            <a:r>
              <a:rPr sz="1650" b="1">
                <a:solidFill>
                  <a:srgbClr val="102A43"/>
                </a:solidFill>
                <a:latin typeface="Arial" panose="020B0604020202020204"/>
                <a:ea typeface="Arial" panose="020B0604020202020204"/>
                <a:cs typeface="Arial" panose="020B0604020202020204"/>
              </a:rPr>
              <a:t>Kiểm tra cấu hình</a:t>
            </a:r>
            <a:endParaRPr sz="1650" b="1">
              <a:solidFill>
                <a:srgbClr val="102A43"/>
              </a:solidFill>
              <a:latin typeface="Arial" panose="020B0604020202020204"/>
              <a:ea typeface="Arial" panose="020B0604020202020204"/>
              <a:cs typeface="Arial" panose="020B0604020202020204"/>
            </a:endParaRPr>
          </a:p>
        </p:txBody>
      </p:sp>
      <p:sp>
        <p:nvSpPr>
          <p:cNvPr id="23" name="Rounded Rectangle 22"/>
          <p:cNvSpPr>
            <a:spLocks noGrp="1"/>
          </p:cNvSpPr>
          <p:nvPr/>
        </p:nvSpPr>
        <p:spPr>
          <a:xfrm>
            <a:off x="6934200" y="2143125"/>
            <a:ext cx="1047750" cy="438150"/>
          </a:xfrm>
          <a:prstGeom prst="roundRect">
            <a:avLst>
              <a:gd name="adj" fmla="val 50000"/>
            </a:avLst>
          </a:prstGeom>
          <a:solidFill>
            <a:srgbClr val="2E7D5B"/>
          </a:solidFill>
          <a:ln w="9525">
            <a:solidFill>
              <a:srgbClr val="2E7D5B"/>
            </a:solidFill>
            <a:prstDash val="solid"/>
          </a:ln>
        </p:spPr>
        <p:txBody>
          <a:bodyPr wrap="square" lIns="0" tIns="0" rIns="0" bIns="0" anchor="ctr">
            <a:normAutofit/>
          </a:bodyPr>
          <a:lstStyle/>
          <a:p>
            <a:pPr algn="ctr">
              <a:lnSpc>
                <a:spcPct val="100000"/>
              </a:lnSpc>
              <a:buNone/>
              <a:defRPr sz="1725" b="1">
                <a:solidFill>
                  <a:srgbClr val="FFFFFF"/>
                </a:solidFill>
                <a:latin typeface="Arial" panose="020B0604020202020204"/>
                <a:ea typeface="Arial" panose="020B0604020202020204"/>
                <a:cs typeface="Arial" panose="020B0604020202020204"/>
              </a:defRPr>
            </a:pPr>
            <a:r>
              <a:rPr sz="1725" b="1">
                <a:solidFill>
                  <a:srgbClr val="FFFFFF"/>
                </a:solidFill>
                <a:latin typeface="Arial" panose="020B0604020202020204"/>
                <a:ea typeface="Arial" panose="020B0604020202020204"/>
                <a:cs typeface="Arial" panose="020B0604020202020204"/>
              </a:rPr>
              <a:t>PASS</a:t>
            </a:r>
            <a:endParaRPr sz="1725" b="1">
              <a:solidFill>
                <a:srgbClr val="FFFFFF"/>
              </a:solidFill>
              <a:latin typeface="Arial" panose="020B0604020202020204"/>
              <a:ea typeface="Arial" panose="020B0604020202020204"/>
              <a:cs typeface="Arial" panose="020B0604020202020204"/>
            </a:endParaRPr>
          </a:p>
        </p:txBody>
      </p:sp>
      <p:sp>
        <p:nvSpPr>
          <p:cNvPr id="24" name="Rectangle 23"/>
          <p:cNvSpPr>
            <a:spLocks noGrp="1"/>
          </p:cNvSpPr>
          <p:nvPr/>
        </p:nvSpPr>
        <p:spPr>
          <a:xfrm>
            <a:off x="8172450" y="2076450"/>
            <a:ext cx="3048000" cy="561975"/>
          </a:xfrm>
          <a:prstGeom prst="rect">
            <a:avLst/>
          </a:prstGeom>
          <a:noFill/>
          <a:ln w="0">
            <a:noFill/>
            <a:prstDash val="solid"/>
          </a:ln>
        </p:spPr>
        <p:txBody>
          <a:bodyPr wrap="square" lIns="95250" tIns="57150" rIns="95250" bIns="57150" anchor="ctr">
            <a:normAutofit/>
          </a:bodyPr>
          <a:lstStyle/>
          <a:p>
            <a:pPr algn="l">
              <a:lnSpc>
                <a:spcPct val="100000"/>
              </a:lnSpc>
              <a:buNone/>
              <a:defRPr sz="1125" b="0">
                <a:solidFill>
                  <a:srgbClr val="1D2939"/>
                </a:solidFill>
                <a:latin typeface="Arial" panose="020B0604020202020204"/>
                <a:ea typeface="Arial" panose="020B0604020202020204"/>
                <a:cs typeface="Arial" panose="020B0604020202020204"/>
              </a:defRPr>
            </a:pPr>
            <a:r>
              <a:rPr sz="1125" b="0">
                <a:solidFill>
                  <a:srgbClr val="1D2939"/>
                </a:solidFill>
                <a:latin typeface="Arial" panose="020B0604020202020204"/>
                <a:ea typeface="Arial" panose="020B0604020202020204"/>
                <a:cs typeface="Arial" panose="020B0604020202020204"/>
              </a:rPr>
              <a:t>docker compose --env-file .env.example config</a:t>
            </a:r>
            <a:endParaRPr sz="1125" b="0">
              <a:solidFill>
                <a:srgbClr val="1D2939"/>
              </a:solidFill>
              <a:latin typeface="Arial" panose="020B0604020202020204"/>
              <a:ea typeface="Arial" panose="020B0604020202020204"/>
              <a:cs typeface="Arial" panose="020B0604020202020204"/>
            </a:endParaRPr>
          </a:p>
        </p:txBody>
      </p:sp>
      <p:sp>
        <p:nvSpPr>
          <p:cNvPr id="25" name="Rounded Rectangle 24"/>
          <p:cNvSpPr>
            <a:spLocks noGrp="1"/>
          </p:cNvSpPr>
          <p:nvPr/>
        </p:nvSpPr>
        <p:spPr>
          <a:xfrm>
            <a:off x="6667500" y="3429000"/>
            <a:ext cx="4857750" cy="1619250"/>
          </a:xfrm>
          <a:prstGeom prst="roundRect">
            <a:avLst>
              <a:gd name="adj" fmla="val 4118"/>
            </a:avLst>
          </a:prstGeom>
          <a:solidFill>
            <a:srgbClr val="FFF7DF"/>
          </a:solidFill>
          <a:ln w="9525">
            <a:solidFill>
              <a:srgbClr val="E9C46A"/>
            </a:solidFill>
            <a:prstDash val="solid"/>
          </a:ln>
        </p:spPr>
        <p:style>
          <a:lnRef idx="0">
            <a:srgbClr val="FFFFFF"/>
          </a:lnRef>
          <a:fillRef idx="0">
            <a:srgbClr val="FFFFFF"/>
          </a:fillRef>
          <a:effectRef idx="4">
            <a:srgbClr val="FFFFFF"/>
          </a:effectRef>
          <a:fontRef idx="major"/>
        </p:style>
      </p:sp>
      <p:sp>
        <p:nvSpPr>
          <p:cNvPr id="26" name="Rectangle 25"/>
          <p:cNvSpPr>
            <a:spLocks noGrp="1"/>
          </p:cNvSpPr>
          <p:nvPr/>
        </p:nvSpPr>
        <p:spPr>
          <a:xfrm>
            <a:off x="6934200" y="3638550"/>
            <a:ext cx="2000250" cy="266700"/>
          </a:xfrm>
          <a:prstGeom prst="rect">
            <a:avLst/>
          </a:prstGeom>
          <a:noFill/>
          <a:ln w="0">
            <a:noFill/>
            <a:prstDash val="solid"/>
          </a:ln>
        </p:spPr>
        <p:txBody>
          <a:bodyPr wrap="square" lIns="0" tIns="0" rIns="0" bIns="0" anchor="t">
            <a:normAutofit/>
          </a:bodyPr>
          <a:lstStyle/>
          <a:p>
            <a:pPr algn="l">
              <a:lnSpc>
                <a:spcPct val="100000"/>
              </a:lnSpc>
              <a:buNone/>
              <a:defRPr sz="1500" b="1">
                <a:solidFill>
                  <a:srgbClr val="102A43"/>
                </a:solidFill>
                <a:latin typeface="Arial" panose="020B0604020202020204"/>
                <a:ea typeface="Arial" panose="020B0604020202020204"/>
                <a:cs typeface="Arial" panose="020B0604020202020204"/>
              </a:defRPr>
            </a:pPr>
            <a:r>
              <a:rPr sz="1500" b="1">
                <a:solidFill>
                  <a:srgbClr val="102A43"/>
                </a:solidFill>
                <a:latin typeface="Arial" panose="020B0604020202020204"/>
                <a:ea typeface="Arial" panose="020B0604020202020204"/>
                <a:cs typeface="Arial" panose="020B0604020202020204"/>
              </a:rPr>
              <a:t>Runtime Docker</a:t>
            </a:r>
            <a:endParaRPr sz="1500" b="1">
              <a:solidFill>
                <a:srgbClr val="102A43"/>
              </a:solidFill>
              <a:latin typeface="Arial" panose="020B0604020202020204"/>
              <a:ea typeface="Arial" panose="020B0604020202020204"/>
              <a:cs typeface="Arial" panose="020B0604020202020204"/>
            </a:endParaRPr>
          </a:p>
        </p:txBody>
      </p:sp>
      <p:sp>
        <p:nvSpPr>
          <p:cNvPr id="27" name="Rectangle 26"/>
          <p:cNvSpPr>
            <a:spLocks noGrp="1"/>
          </p:cNvSpPr>
          <p:nvPr/>
        </p:nvSpPr>
        <p:spPr>
          <a:xfrm>
            <a:off x="6934200" y="4048125"/>
            <a:ext cx="4095750" cy="352425"/>
          </a:xfrm>
          <a:prstGeom prst="rect">
            <a:avLst/>
          </a:prstGeom>
          <a:noFill/>
          <a:ln w="0">
            <a:noFill/>
            <a:prstDash val="solid"/>
          </a:ln>
        </p:spPr>
        <p:txBody>
          <a:bodyPr wrap="square" lIns="0" tIns="0" rIns="0" bIns="0" anchor="t">
            <a:normAutofit/>
          </a:bodyPr>
          <a:lstStyle/>
          <a:p>
            <a:pPr algn="l">
              <a:lnSpc>
                <a:spcPct val="100000"/>
              </a:lnSpc>
              <a:buNone/>
              <a:defRPr sz="1725" b="1">
                <a:solidFill>
                  <a:srgbClr val="B54736"/>
                </a:solidFill>
                <a:latin typeface="Arial" panose="020B0604020202020204"/>
                <a:ea typeface="Arial" panose="020B0604020202020204"/>
                <a:cs typeface="Arial" panose="020B0604020202020204"/>
              </a:defRPr>
            </a:pPr>
            <a:r>
              <a:rPr sz="1725" b="1">
                <a:solidFill>
                  <a:srgbClr val="B54736"/>
                </a:solidFill>
                <a:latin typeface="Arial" panose="020B0604020202020204"/>
                <a:ea typeface="Arial" panose="020B0604020202020204"/>
                <a:cs typeface="Arial" panose="020B0604020202020204"/>
              </a:rPr>
              <a:t>Chưa xác minh end-to-end</a:t>
            </a:r>
            <a:endParaRPr sz="1725" b="1">
              <a:solidFill>
                <a:srgbClr val="B54736"/>
              </a:solidFill>
              <a:latin typeface="Arial" panose="020B0604020202020204"/>
              <a:ea typeface="Arial" panose="020B0604020202020204"/>
              <a:cs typeface="Arial" panose="020B0604020202020204"/>
            </a:endParaRPr>
          </a:p>
        </p:txBody>
      </p:sp>
      <p:sp>
        <p:nvSpPr>
          <p:cNvPr id="28" name="Rectangle 27"/>
          <p:cNvSpPr>
            <a:spLocks noGrp="1"/>
          </p:cNvSpPr>
          <p:nvPr/>
        </p:nvSpPr>
        <p:spPr>
          <a:xfrm>
            <a:off x="6934200" y="4505325"/>
            <a:ext cx="4095750" cy="333375"/>
          </a:xfrm>
          <a:prstGeom prst="rect">
            <a:avLst/>
          </a:prstGeom>
          <a:noFill/>
          <a:ln w="0">
            <a:noFill/>
            <a:prstDash val="solid"/>
          </a:ln>
        </p:spPr>
        <p:txBody>
          <a:bodyPr wrap="square" lIns="0" tIns="0" rIns="0" bIns="0" anchor="t">
            <a:normAutofit fontScale="98863"/>
          </a:bodyPr>
          <a:lstStyle/>
          <a:p>
            <a:pPr algn="l">
              <a:lnSpc>
                <a:spcPct val="100000"/>
              </a:lnSpc>
              <a:buNone/>
              <a:defRPr sz="1125" b="0">
                <a:solidFill>
                  <a:srgbClr val="5F6C7B"/>
                </a:solidFill>
                <a:latin typeface="Arial" panose="020B0604020202020204"/>
                <a:ea typeface="Arial" panose="020B0604020202020204"/>
                <a:cs typeface="Arial" panose="020B0604020202020204"/>
              </a:defRPr>
            </a:pPr>
            <a:r>
              <a:rPr sz="1125" b="0">
                <a:solidFill>
                  <a:srgbClr val="5F6C7B"/>
                </a:solidFill>
                <a:latin typeface="Arial" panose="020B0604020202020204"/>
                <a:ea typeface="Arial" panose="020B0604020202020204"/>
                <a:cs typeface="Arial" panose="020B0604020202020204"/>
              </a:rPr>
              <a:t>Docker CLI có sẵn nhưng daemon không chạy trong lúc kiểm tra.</a:t>
            </a:r>
            <a:endParaRPr sz="1125" b="0">
              <a:solidFill>
                <a:srgbClr val="5F6C7B"/>
              </a:solidFill>
              <a:latin typeface="Arial" panose="020B0604020202020204"/>
              <a:ea typeface="Arial" panose="020B0604020202020204"/>
              <a:cs typeface="Arial" panose="020B0604020202020204"/>
            </a:endParaRPr>
          </a:p>
        </p:txBody>
      </p:sp>
      <p:sp>
        <p:nvSpPr>
          <p:cNvPr id="29" name="Rounded Rectangle 28"/>
          <p:cNvSpPr>
            <a:spLocks noGrp="1"/>
          </p:cNvSpPr>
          <p:nvPr/>
        </p:nvSpPr>
        <p:spPr>
          <a:xfrm>
            <a:off x="666750" y="5095875"/>
            <a:ext cx="10858500" cy="876300"/>
          </a:xfrm>
          <a:prstGeom prst="roundRect">
            <a:avLst>
              <a:gd name="adj" fmla="val 7609"/>
            </a:avLst>
          </a:prstGeom>
          <a:solidFill>
            <a:srgbClr val="102A43"/>
          </a:solidFill>
          <a:ln w="9525">
            <a:solidFill>
              <a:srgbClr val="102A43"/>
            </a:solidFill>
            <a:prstDash val="solid"/>
          </a:ln>
        </p:spPr>
        <p:style>
          <a:lnRef idx="0">
            <a:srgbClr val="FFFFFF"/>
          </a:lnRef>
          <a:fillRef idx="0">
            <a:srgbClr val="FFFFFF"/>
          </a:fillRef>
          <a:effectRef idx="4">
            <a:srgbClr val="FFFFFF"/>
          </a:effectRef>
          <a:fontRef idx="major"/>
        </p:style>
      </p:sp>
      <p:sp>
        <p:nvSpPr>
          <p:cNvPr id="30" name="Rectangle 29"/>
          <p:cNvSpPr>
            <a:spLocks noGrp="1"/>
          </p:cNvSpPr>
          <p:nvPr/>
        </p:nvSpPr>
        <p:spPr>
          <a:xfrm>
            <a:off x="904875" y="5286375"/>
            <a:ext cx="2095500" cy="285750"/>
          </a:xfrm>
          <a:prstGeom prst="rect">
            <a:avLst/>
          </a:prstGeom>
          <a:noFill/>
          <a:ln w="0">
            <a:noFill/>
            <a:prstDash val="solid"/>
          </a:ln>
        </p:spPr>
        <p:txBody>
          <a:bodyPr wrap="square" lIns="0" tIns="0" rIns="0" bIns="0" anchor="t">
            <a:normAutofit/>
          </a:bodyPr>
          <a:lstStyle/>
          <a:p>
            <a:pPr algn="l">
              <a:lnSpc>
                <a:spcPct val="100000"/>
              </a:lnSpc>
              <a:buNone/>
              <a:defRPr sz="1275" b="1">
                <a:solidFill>
                  <a:srgbClr val="E9C46A"/>
                </a:solidFill>
                <a:latin typeface="Arial" panose="020B0604020202020204"/>
                <a:ea typeface="Arial" panose="020B0604020202020204"/>
                <a:cs typeface="Arial" panose="020B0604020202020204"/>
              </a:defRPr>
            </a:pPr>
            <a:r>
              <a:rPr sz="1275" b="1">
                <a:solidFill>
                  <a:srgbClr val="E9C46A"/>
                </a:solidFill>
                <a:latin typeface="Arial" panose="020B0604020202020204"/>
                <a:ea typeface="Arial" panose="020B0604020202020204"/>
                <a:cs typeface="Arial" panose="020B0604020202020204"/>
              </a:rPr>
              <a:t>Deployment public</a:t>
            </a:r>
            <a:endParaRPr sz="1275" b="1">
              <a:solidFill>
                <a:srgbClr val="E9C46A"/>
              </a:solidFill>
              <a:latin typeface="Arial" panose="020B0604020202020204"/>
              <a:ea typeface="Arial" panose="020B0604020202020204"/>
              <a:cs typeface="Arial" panose="020B0604020202020204"/>
            </a:endParaRPr>
          </a:p>
        </p:txBody>
      </p:sp>
      <p:sp>
        <p:nvSpPr>
          <p:cNvPr id="31" name="Rectangle 30"/>
          <p:cNvSpPr>
            <a:spLocks noGrp="1"/>
          </p:cNvSpPr>
          <p:nvPr/>
        </p:nvSpPr>
        <p:spPr>
          <a:xfrm>
            <a:off x="3048000" y="5219700"/>
            <a:ext cx="8001000" cy="419100"/>
          </a:xfrm>
          <a:prstGeom prst="rect">
            <a:avLst/>
          </a:prstGeom>
          <a:noFill/>
          <a:ln w="0">
            <a:noFill/>
            <a:prstDash val="solid"/>
          </a:ln>
        </p:spPr>
        <p:txBody>
          <a:bodyPr wrap="square" lIns="95250" tIns="57150" rIns="95250" bIns="57150" anchor="ctr">
            <a:normAutofit/>
          </a:bodyPr>
          <a:lstStyle/>
          <a:p>
            <a:pPr algn="l">
              <a:lnSpc>
                <a:spcPct val="100000"/>
              </a:lnSpc>
              <a:buNone/>
              <a:defRPr sz="1725" b="1">
                <a:solidFill>
                  <a:srgbClr val="FFFFFF"/>
                </a:solidFill>
                <a:latin typeface="Arial" panose="020B0604020202020204"/>
                <a:ea typeface="Arial" panose="020B0604020202020204"/>
                <a:cs typeface="Arial" panose="020B0604020202020204"/>
              </a:defRPr>
            </a:pPr>
            <a:r>
              <a:rPr sz="1725" b="1">
                <a:solidFill>
                  <a:srgbClr val="FFFFFF"/>
                </a:solidFill>
                <a:latin typeface="Arial" panose="020B0604020202020204"/>
                <a:ea typeface="Arial" panose="020B0604020202020204"/>
                <a:cs typeface="Arial" panose="020B0604020202020204"/>
              </a:rPr>
              <a:t>Đang chuẩn bị · URL public: CHƯA CÓ</a:t>
            </a:r>
            <a:endParaRPr sz="1725" b="1">
              <a:solidFill>
                <a:srgbClr val="FFFFFF"/>
              </a:solidFill>
              <a:latin typeface="Arial" panose="020B0604020202020204"/>
              <a:ea typeface="Arial" panose="020B0604020202020204"/>
              <a:cs typeface="Arial" panose="020B0604020202020204"/>
            </a:endParaRPr>
          </a:p>
        </p:txBody>
      </p:sp>
      <p:sp>
        <p:nvSpPr>
          <p:cNvPr id="32" name="Straight Connector 31"/>
          <p:cNvSpPr>
            <a:spLocks noGrp="1"/>
          </p:cNvSpPr>
          <p:nvPr/>
        </p:nvSpPr>
        <p:spPr>
          <a:xfrm>
            <a:off x="666750" y="6477000"/>
            <a:ext cx="10858500" cy="0"/>
          </a:xfrm>
          <a:prstGeom prst="line">
            <a:avLst/>
          </a:prstGeom>
          <a:noFill/>
          <a:ln w="9525">
            <a:solidFill>
              <a:srgbClr val="D7E0E8"/>
            </a:solidFill>
            <a:prstDash val="solid"/>
          </a:ln>
        </p:spPr>
      </p:sp>
      <p:sp>
        <p:nvSpPr>
          <p:cNvPr id="33" name="Rectangle 32"/>
          <p:cNvSpPr>
            <a:spLocks noGrp="1"/>
          </p:cNvSpPr>
          <p:nvPr/>
        </p:nvSpPr>
        <p:spPr>
          <a:xfrm>
            <a:off x="666750" y="6524625"/>
            <a:ext cx="10572750" cy="209550"/>
          </a:xfrm>
          <a:prstGeom prst="rect">
            <a:avLst/>
          </a:prstGeom>
          <a:noFill/>
          <a:ln w="0">
            <a:noFill/>
            <a:prstDash val="solid"/>
          </a:ln>
        </p:spPr>
        <p:txBody>
          <a:bodyPr wrap="square" lIns="0" tIns="0" rIns="0" bIns="0" anchor="t">
            <a:normAutofit/>
          </a:bodyPr>
          <a:lstStyle/>
          <a:p>
            <a:pPr algn="l">
              <a:lnSpc>
                <a:spcPct val="100000"/>
              </a:lnSpc>
              <a:buNone/>
              <a:defRPr sz="825" b="0">
                <a:solidFill>
                  <a:srgbClr val="5F6C7B"/>
                </a:solidFill>
                <a:latin typeface="Arial" panose="020B0604020202020204"/>
                <a:ea typeface="Arial" panose="020B0604020202020204"/>
                <a:cs typeface="Arial" panose="020B0604020202020204"/>
              </a:defRPr>
            </a:pPr>
            <a:r>
              <a:rPr sz="825" b="0">
                <a:solidFill>
                  <a:srgbClr val="5F6C7B"/>
                </a:solidFill>
                <a:latin typeface="Arial" panose="020B0604020202020204"/>
                <a:ea typeface="Arial" panose="020B0604020202020204"/>
                <a:cs typeface="Arial" panose="020B0604020202020204"/>
              </a:rPr>
              <a:t>Nguồn: docker-compose.yml; .env.example; README.md</a:t>
            </a:r>
            <a:endParaRPr sz="825" b="0">
              <a:solidFill>
                <a:srgbClr val="5F6C7B"/>
              </a:solidFill>
              <a:latin typeface="Arial" panose="020B0604020202020204"/>
              <a:ea typeface="Arial" panose="020B0604020202020204"/>
              <a:cs typeface="Arial" panose="020B0604020202020204"/>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
        <p:cNvGrpSpPr/>
        <p:nvPr/>
      </p:nvGrpSpPr>
      <p:grpSpPr/>
      <p:sp>
        <p:nvSpPr>
          <p:cNvPr id="28" name="Rectangle 27"/>
          <p:cNvSpPr>
            <a:spLocks noGrp="1"/>
          </p:cNvSpPr>
          <p:nvPr/>
        </p:nvSpPr>
        <p:spPr>
          <a:xfrm>
            <a:off x="666750" y="323850"/>
            <a:ext cx="9525000" cy="228600"/>
          </a:xfrm>
          <a:prstGeom prst="rect">
            <a:avLst/>
          </a:prstGeom>
          <a:noFill/>
          <a:ln w="0">
            <a:noFill/>
            <a:prstDash val="solid"/>
          </a:ln>
        </p:spPr>
        <p:txBody>
          <a:bodyPr wrap="square" lIns="0" tIns="0" rIns="0" bIns="0" anchor="t">
            <a:normAutofit/>
          </a:bodyPr>
          <a:lstStyle/>
          <a:p>
            <a:pPr algn="l">
              <a:lnSpc>
                <a:spcPct val="100000"/>
              </a:lnSpc>
              <a:buNone/>
              <a:defRPr sz="975" b="1">
                <a:solidFill>
                  <a:srgbClr val="167D8D"/>
                </a:solidFill>
                <a:latin typeface="Arial" panose="020B0604020202020204"/>
                <a:ea typeface="Arial" panose="020B0604020202020204"/>
                <a:cs typeface="Arial" panose="020B0604020202020204"/>
              </a:defRPr>
            </a:pPr>
            <a:r>
              <a:rPr sz="975" b="1">
                <a:solidFill>
                  <a:srgbClr val="167D8D"/>
                </a:solidFill>
                <a:latin typeface="Arial" panose="020B0604020202020204"/>
                <a:ea typeface="Arial" panose="020B0604020202020204"/>
                <a:cs typeface="Arial" panose="020B0604020202020204"/>
              </a:rPr>
              <a:t>12 · VERIFICATION</a:t>
            </a:r>
            <a:endParaRPr sz="975" b="1">
              <a:solidFill>
                <a:srgbClr val="167D8D"/>
              </a:solidFill>
              <a:latin typeface="Arial" panose="020B0604020202020204"/>
              <a:ea typeface="Arial" panose="020B0604020202020204"/>
              <a:cs typeface="Arial" panose="020B0604020202020204"/>
            </a:endParaRPr>
          </a:p>
        </p:txBody>
      </p:sp>
      <p:sp>
        <p:nvSpPr>
          <p:cNvPr id="2" name="Rectangle 1"/>
          <p:cNvSpPr>
            <a:spLocks noGrp="1"/>
          </p:cNvSpPr>
          <p:nvPr/>
        </p:nvSpPr>
        <p:spPr>
          <a:xfrm>
            <a:off x="666750" y="571500"/>
            <a:ext cx="10287000" cy="523875"/>
          </a:xfrm>
          <a:prstGeom prst="rect">
            <a:avLst/>
          </a:prstGeom>
          <a:noFill/>
          <a:ln w="0">
            <a:noFill/>
            <a:prstDash val="solid"/>
          </a:ln>
        </p:spPr>
        <p:txBody>
          <a:bodyPr wrap="square" lIns="0" tIns="0" rIns="0" bIns="0" anchor="t">
            <a:normAutofit/>
          </a:bodyPr>
          <a:lstStyle/>
          <a:p>
            <a:pPr algn="l">
              <a:lnSpc>
                <a:spcPct val="100000"/>
              </a:lnSpc>
              <a:buNone/>
              <a:defRPr sz="2700" b="1">
                <a:solidFill>
                  <a:srgbClr val="102A43"/>
                </a:solidFill>
                <a:latin typeface="Arial" panose="020B0604020202020204"/>
                <a:ea typeface="Arial" panose="020B0604020202020204"/>
                <a:cs typeface="Arial" panose="020B0604020202020204"/>
              </a:defRPr>
            </a:pPr>
            <a:r>
              <a:rPr sz="2700" b="1">
                <a:solidFill>
                  <a:srgbClr val="102A43"/>
                </a:solidFill>
                <a:latin typeface="Arial" panose="020B0604020202020204"/>
                <a:ea typeface="Arial" panose="020B0604020202020204"/>
                <a:cs typeface="Arial" panose="020B0604020202020204"/>
              </a:rPr>
              <a:t>Kiểm thử</a:t>
            </a:r>
            <a:endParaRPr sz="2700" b="1">
              <a:solidFill>
                <a:srgbClr val="102A43"/>
              </a:solidFill>
              <a:latin typeface="Arial" panose="020B0604020202020204"/>
              <a:ea typeface="Arial" panose="020B0604020202020204"/>
              <a:cs typeface="Arial" panose="020B0604020202020204"/>
            </a:endParaRPr>
          </a:p>
        </p:txBody>
      </p:sp>
      <p:sp>
        <p:nvSpPr>
          <p:cNvPr id="3" name="Rectangle 2"/>
          <p:cNvSpPr>
            <a:spLocks noGrp="1"/>
          </p:cNvSpPr>
          <p:nvPr/>
        </p:nvSpPr>
        <p:spPr>
          <a:xfrm>
            <a:off x="666750" y="1152525"/>
            <a:ext cx="714375" cy="47625"/>
          </a:xfrm>
          <a:prstGeom prst="rect">
            <a:avLst/>
          </a:prstGeom>
          <a:solidFill>
            <a:srgbClr val="E76F51"/>
          </a:solidFill>
          <a:ln w="0">
            <a:noFill/>
            <a:prstDash val="solid"/>
          </a:ln>
        </p:spPr>
      </p:sp>
      <p:sp>
        <p:nvSpPr>
          <p:cNvPr id="4" name="Rectangle 3"/>
          <p:cNvSpPr>
            <a:spLocks noGrp="1"/>
          </p:cNvSpPr>
          <p:nvPr/>
        </p:nvSpPr>
        <p:spPr>
          <a:xfrm>
            <a:off x="11191875" y="409575"/>
            <a:ext cx="381000" cy="247650"/>
          </a:xfrm>
          <a:prstGeom prst="rect">
            <a:avLst/>
          </a:prstGeom>
          <a:noFill/>
          <a:ln w="0">
            <a:noFill/>
            <a:prstDash val="solid"/>
          </a:ln>
        </p:spPr>
        <p:txBody>
          <a:bodyPr wrap="square" lIns="0" tIns="0" rIns="0" bIns="0" anchor="t">
            <a:normAutofit/>
          </a:bodyPr>
          <a:lstStyle/>
          <a:p>
            <a:pPr algn="r">
              <a:lnSpc>
                <a:spcPct val="100000"/>
              </a:lnSpc>
              <a:buNone/>
              <a:defRPr sz="1050" b="1">
                <a:solidFill>
                  <a:srgbClr val="5F6C7B"/>
                </a:solidFill>
                <a:latin typeface="Arial" panose="020B0604020202020204"/>
                <a:ea typeface="Arial" panose="020B0604020202020204"/>
                <a:cs typeface="Arial" panose="020B0604020202020204"/>
              </a:defRPr>
            </a:pPr>
            <a:r>
              <a:rPr sz="1050" b="1">
                <a:solidFill>
                  <a:srgbClr val="5F6C7B"/>
                </a:solidFill>
                <a:latin typeface="Arial" panose="020B0604020202020204"/>
                <a:ea typeface="Arial" panose="020B0604020202020204"/>
                <a:cs typeface="Arial" panose="020B0604020202020204"/>
              </a:rPr>
              <a:t>14</a:t>
            </a:r>
            <a:endParaRPr sz="1050" b="1">
              <a:solidFill>
                <a:srgbClr val="5F6C7B"/>
              </a:solidFill>
              <a:latin typeface="Arial" panose="020B0604020202020204"/>
              <a:ea typeface="Arial" panose="020B0604020202020204"/>
              <a:cs typeface="Arial" panose="020B0604020202020204"/>
            </a:endParaRPr>
          </a:p>
        </p:txBody>
      </p:sp>
      <p:sp>
        <p:nvSpPr>
          <p:cNvPr id="5" name="Rounded Rectangle 4"/>
          <p:cNvSpPr>
            <a:spLocks noGrp="1"/>
          </p:cNvSpPr>
          <p:nvPr/>
        </p:nvSpPr>
        <p:spPr>
          <a:xfrm>
            <a:off x="666750" y="1476375"/>
            <a:ext cx="3333750" cy="1238250"/>
          </a:xfrm>
          <a:prstGeom prst="roundRect">
            <a:avLst>
              <a:gd name="adj" fmla="val 5385"/>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6" name="Rectangle 5"/>
          <p:cNvSpPr>
            <a:spLocks noGrp="1"/>
          </p:cNvSpPr>
          <p:nvPr/>
        </p:nvSpPr>
        <p:spPr>
          <a:xfrm>
            <a:off x="666750" y="1476375"/>
            <a:ext cx="57150" cy="1238250"/>
          </a:xfrm>
          <a:prstGeom prst="rect">
            <a:avLst/>
          </a:prstGeom>
          <a:solidFill>
            <a:srgbClr val="2E7D5B"/>
          </a:solidFill>
          <a:ln w="0">
            <a:noFill/>
            <a:prstDash val="solid"/>
          </a:ln>
        </p:spPr>
      </p:sp>
      <p:sp>
        <p:nvSpPr>
          <p:cNvPr id="7" name="Rectangle 6"/>
          <p:cNvSpPr>
            <a:spLocks noGrp="1"/>
          </p:cNvSpPr>
          <p:nvPr/>
        </p:nvSpPr>
        <p:spPr>
          <a:xfrm>
            <a:off x="838200" y="1590675"/>
            <a:ext cx="3048000" cy="419100"/>
          </a:xfrm>
          <a:prstGeom prst="rect">
            <a:avLst/>
          </a:prstGeom>
          <a:noFill/>
          <a:ln w="0">
            <a:noFill/>
            <a:prstDash val="solid"/>
          </a:ln>
        </p:spPr>
        <p:txBody>
          <a:bodyPr wrap="square" lIns="0" tIns="0" rIns="0" bIns="0" anchor="t">
            <a:normAutofit/>
          </a:bodyPr>
          <a:lstStyle/>
          <a:p>
            <a:pPr algn="l">
              <a:lnSpc>
                <a:spcPct val="100000"/>
              </a:lnSpc>
              <a:buNone/>
              <a:defRPr sz="2250" b="1">
                <a:solidFill>
                  <a:srgbClr val="102A43"/>
                </a:solidFill>
                <a:latin typeface="Arial" panose="020B0604020202020204"/>
                <a:ea typeface="Arial" panose="020B0604020202020204"/>
                <a:cs typeface="Arial" panose="020B0604020202020204"/>
              </a:defRPr>
            </a:pPr>
            <a:r>
              <a:rPr sz="2250" b="1">
                <a:solidFill>
                  <a:srgbClr val="102A43"/>
                </a:solidFill>
                <a:latin typeface="Arial" panose="020B0604020202020204"/>
                <a:ea typeface="Arial" panose="020B0604020202020204"/>
                <a:cs typeface="Arial" panose="020B0604020202020204"/>
              </a:rPr>
              <a:t>12 / 12</a:t>
            </a:r>
            <a:endParaRPr sz="2250" b="1">
              <a:solidFill>
                <a:srgbClr val="102A43"/>
              </a:solidFill>
              <a:latin typeface="Arial" panose="020B0604020202020204"/>
              <a:ea typeface="Arial" panose="020B0604020202020204"/>
              <a:cs typeface="Arial" panose="020B0604020202020204"/>
            </a:endParaRPr>
          </a:p>
        </p:txBody>
      </p:sp>
      <p:sp>
        <p:nvSpPr>
          <p:cNvPr id="8" name="Rectangle 7"/>
          <p:cNvSpPr>
            <a:spLocks noGrp="1"/>
          </p:cNvSpPr>
          <p:nvPr/>
        </p:nvSpPr>
        <p:spPr>
          <a:xfrm>
            <a:off x="838200" y="2019300"/>
            <a:ext cx="3048000" cy="276225"/>
          </a:xfrm>
          <a:prstGeom prst="rect">
            <a:avLst/>
          </a:prstGeom>
          <a:noFill/>
          <a:ln w="0">
            <a:noFill/>
            <a:prstDash val="solid"/>
          </a:ln>
        </p:spPr>
        <p:txBody>
          <a:bodyPr wrap="square" lIns="0" tIns="0" rIns="0" bIns="0" anchor="t">
            <a:normAutofit/>
          </a:bodyPr>
          <a:lstStyle/>
          <a:p>
            <a:pPr algn="l">
              <a:lnSpc>
                <a:spcPct val="100000"/>
              </a:lnSpc>
              <a:buNone/>
              <a:defRPr sz="1125" b="1">
                <a:solidFill>
                  <a:srgbClr val="5F6C7B"/>
                </a:solidFill>
                <a:latin typeface="Arial" panose="020B0604020202020204"/>
                <a:ea typeface="Arial" panose="020B0604020202020204"/>
                <a:cs typeface="Arial" panose="020B0604020202020204"/>
              </a:defRPr>
            </a:pPr>
            <a:r>
              <a:rPr sz="1125" b="1">
                <a:solidFill>
                  <a:srgbClr val="5F6C7B"/>
                </a:solidFill>
                <a:latin typeface="Arial" panose="020B0604020202020204"/>
                <a:ea typeface="Arial" panose="020B0604020202020204"/>
                <a:cs typeface="Arial" panose="020B0604020202020204"/>
              </a:rPr>
              <a:t>Pytest đã pass</a:t>
            </a:r>
            <a:endParaRPr sz="1125" b="1">
              <a:solidFill>
                <a:srgbClr val="5F6C7B"/>
              </a:solidFill>
              <a:latin typeface="Arial" panose="020B0604020202020204"/>
              <a:ea typeface="Arial" panose="020B0604020202020204"/>
              <a:cs typeface="Arial" panose="020B0604020202020204"/>
            </a:endParaRPr>
          </a:p>
        </p:txBody>
      </p:sp>
      <p:sp>
        <p:nvSpPr>
          <p:cNvPr id="9" name="Rectangle 8"/>
          <p:cNvSpPr>
            <a:spLocks noGrp="1"/>
          </p:cNvSpPr>
          <p:nvPr/>
        </p:nvSpPr>
        <p:spPr>
          <a:xfrm>
            <a:off x="838200" y="2305050"/>
            <a:ext cx="3048000" cy="323850"/>
          </a:xfrm>
          <a:prstGeom prst="rect">
            <a:avLst/>
          </a:prstGeom>
          <a:noFill/>
          <a:ln w="0">
            <a:noFill/>
            <a:prstDash val="solid"/>
          </a:ln>
        </p:spPr>
        <p:txBody>
          <a:bodyPr wrap="square" lIns="0" tIns="0" rIns="0" bIns="0" anchor="t">
            <a:normAutofit/>
          </a:bodyPr>
          <a:lstStyle/>
          <a:p>
            <a:pPr algn="l">
              <a:lnSpc>
                <a:spcPct val="100000"/>
              </a:lnSpc>
              <a:buNone/>
              <a:defRPr sz="900" b="0">
                <a:solidFill>
                  <a:srgbClr val="5F6C7B"/>
                </a:solidFill>
                <a:latin typeface="Arial" panose="020B0604020202020204"/>
                <a:ea typeface="Arial" panose="020B0604020202020204"/>
                <a:cs typeface="Arial" panose="020B0604020202020204"/>
              </a:defRPr>
            </a:pPr>
            <a:r>
              <a:rPr sz="900" b="0">
                <a:solidFill>
                  <a:srgbClr val="5F6C7B"/>
                </a:solidFill>
                <a:latin typeface="Arial" panose="020B0604020202020204"/>
                <a:ea typeface="Arial" panose="020B0604020202020204"/>
                <a:cs typeface="Arial" panose="020B0604020202020204"/>
              </a:rPr>
              <a:t>AI service: 7 · Backend: 5</a:t>
            </a:r>
            <a:endParaRPr sz="900" b="0">
              <a:solidFill>
                <a:srgbClr val="5F6C7B"/>
              </a:solidFill>
              <a:latin typeface="Arial" panose="020B0604020202020204"/>
              <a:ea typeface="Arial" panose="020B0604020202020204"/>
              <a:cs typeface="Arial" panose="020B0604020202020204"/>
            </a:endParaRPr>
          </a:p>
        </p:txBody>
      </p:sp>
      <p:sp>
        <p:nvSpPr>
          <p:cNvPr id="10" name="Rounded Rectangle 9"/>
          <p:cNvSpPr>
            <a:spLocks noGrp="1"/>
          </p:cNvSpPr>
          <p:nvPr/>
        </p:nvSpPr>
        <p:spPr>
          <a:xfrm>
            <a:off x="4286250" y="1476375"/>
            <a:ext cx="3333750" cy="1238250"/>
          </a:xfrm>
          <a:prstGeom prst="roundRect">
            <a:avLst>
              <a:gd name="adj" fmla="val 5385"/>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11" name="Rectangle 10"/>
          <p:cNvSpPr>
            <a:spLocks noGrp="1"/>
          </p:cNvSpPr>
          <p:nvPr/>
        </p:nvSpPr>
        <p:spPr>
          <a:xfrm>
            <a:off x="4286250" y="1476375"/>
            <a:ext cx="57150" cy="1238250"/>
          </a:xfrm>
          <a:prstGeom prst="rect">
            <a:avLst/>
          </a:prstGeom>
          <a:solidFill>
            <a:srgbClr val="167D8D"/>
          </a:solidFill>
          <a:ln w="0">
            <a:noFill/>
            <a:prstDash val="solid"/>
          </a:ln>
        </p:spPr>
      </p:sp>
      <p:sp>
        <p:nvSpPr>
          <p:cNvPr id="12" name="Rectangle 11"/>
          <p:cNvSpPr>
            <a:spLocks noGrp="1"/>
          </p:cNvSpPr>
          <p:nvPr/>
        </p:nvSpPr>
        <p:spPr>
          <a:xfrm>
            <a:off x="4457700" y="1590675"/>
            <a:ext cx="3048000" cy="419100"/>
          </a:xfrm>
          <a:prstGeom prst="rect">
            <a:avLst/>
          </a:prstGeom>
          <a:noFill/>
          <a:ln w="0">
            <a:noFill/>
            <a:prstDash val="solid"/>
          </a:ln>
        </p:spPr>
        <p:txBody>
          <a:bodyPr wrap="square" lIns="0" tIns="0" rIns="0" bIns="0" anchor="t">
            <a:normAutofit/>
          </a:bodyPr>
          <a:lstStyle/>
          <a:p>
            <a:pPr algn="l">
              <a:lnSpc>
                <a:spcPct val="100000"/>
              </a:lnSpc>
              <a:buNone/>
              <a:defRPr sz="2250" b="1">
                <a:solidFill>
                  <a:srgbClr val="102A43"/>
                </a:solidFill>
                <a:latin typeface="Arial" panose="020B0604020202020204"/>
                <a:ea typeface="Arial" panose="020B0604020202020204"/>
                <a:cs typeface="Arial" panose="020B0604020202020204"/>
              </a:defRPr>
            </a:pPr>
            <a:r>
              <a:rPr sz="2250" b="1">
                <a:solidFill>
                  <a:srgbClr val="102A43"/>
                </a:solidFill>
                <a:latin typeface="Arial" panose="020B0604020202020204"/>
                <a:ea typeface="Arial" panose="020B0604020202020204"/>
                <a:cs typeface="Arial" panose="020B0604020202020204"/>
              </a:rPr>
              <a:t>PASS</a:t>
            </a:r>
            <a:endParaRPr sz="2250" b="1">
              <a:solidFill>
                <a:srgbClr val="102A43"/>
              </a:solidFill>
              <a:latin typeface="Arial" panose="020B0604020202020204"/>
              <a:ea typeface="Arial" panose="020B0604020202020204"/>
              <a:cs typeface="Arial" panose="020B0604020202020204"/>
            </a:endParaRPr>
          </a:p>
        </p:txBody>
      </p:sp>
      <p:sp>
        <p:nvSpPr>
          <p:cNvPr id="13" name="Rectangle 12"/>
          <p:cNvSpPr>
            <a:spLocks noGrp="1"/>
          </p:cNvSpPr>
          <p:nvPr/>
        </p:nvSpPr>
        <p:spPr>
          <a:xfrm>
            <a:off x="4457700" y="2019300"/>
            <a:ext cx="3048000" cy="276225"/>
          </a:xfrm>
          <a:prstGeom prst="rect">
            <a:avLst/>
          </a:prstGeom>
          <a:noFill/>
          <a:ln w="0">
            <a:noFill/>
            <a:prstDash val="solid"/>
          </a:ln>
        </p:spPr>
        <p:txBody>
          <a:bodyPr wrap="square" lIns="0" tIns="0" rIns="0" bIns="0" anchor="t">
            <a:normAutofit/>
          </a:bodyPr>
          <a:lstStyle/>
          <a:p>
            <a:pPr algn="l">
              <a:lnSpc>
                <a:spcPct val="100000"/>
              </a:lnSpc>
              <a:buNone/>
              <a:defRPr sz="1125" b="1">
                <a:solidFill>
                  <a:srgbClr val="5F6C7B"/>
                </a:solidFill>
                <a:latin typeface="Arial" panose="020B0604020202020204"/>
                <a:ea typeface="Arial" panose="020B0604020202020204"/>
                <a:cs typeface="Arial" panose="020B0604020202020204"/>
              </a:defRPr>
            </a:pPr>
            <a:r>
              <a:rPr sz="1125" b="1">
                <a:solidFill>
                  <a:srgbClr val="5F6C7B"/>
                </a:solidFill>
                <a:latin typeface="Arial" panose="020B0604020202020204"/>
                <a:ea typeface="Arial" panose="020B0604020202020204"/>
                <a:cs typeface="Arial" panose="020B0604020202020204"/>
              </a:rPr>
              <a:t>Smoke test</a:t>
            </a:r>
            <a:endParaRPr sz="1125" b="1">
              <a:solidFill>
                <a:srgbClr val="5F6C7B"/>
              </a:solidFill>
              <a:latin typeface="Arial" panose="020B0604020202020204"/>
              <a:ea typeface="Arial" panose="020B0604020202020204"/>
              <a:cs typeface="Arial" panose="020B0604020202020204"/>
            </a:endParaRPr>
          </a:p>
        </p:txBody>
      </p:sp>
      <p:sp>
        <p:nvSpPr>
          <p:cNvPr id="14" name="Rectangle 13"/>
          <p:cNvSpPr>
            <a:spLocks noGrp="1"/>
          </p:cNvSpPr>
          <p:nvPr/>
        </p:nvSpPr>
        <p:spPr>
          <a:xfrm>
            <a:off x="4457700" y="2305050"/>
            <a:ext cx="3048000" cy="323850"/>
          </a:xfrm>
          <a:prstGeom prst="rect">
            <a:avLst/>
          </a:prstGeom>
          <a:noFill/>
          <a:ln w="0">
            <a:noFill/>
            <a:prstDash val="solid"/>
          </a:ln>
        </p:spPr>
        <p:txBody>
          <a:bodyPr wrap="square" lIns="0" tIns="0" rIns="0" bIns="0" anchor="t">
            <a:normAutofit/>
          </a:bodyPr>
          <a:lstStyle/>
          <a:p>
            <a:pPr algn="l">
              <a:lnSpc>
                <a:spcPct val="100000"/>
              </a:lnSpc>
              <a:buNone/>
              <a:defRPr sz="900" b="0">
                <a:solidFill>
                  <a:srgbClr val="5F6C7B"/>
                </a:solidFill>
                <a:latin typeface="Arial" panose="020B0604020202020204"/>
                <a:ea typeface="Arial" panose="020B0604020202020204"/>
                <a:cs typeface="Arial" panose="020B0604020202020204"/>
              </a:defRPr>
            </a:pPr>
            <a:r>
              <a:rPr sz="900" b="0">
                <a:solidFill>
                  <a:srgbClr val="5F6C7B"/>
                </a:solidFill>
                <a:latin typeface="Arial" panose="020B0604020202020204"/>
                <a:ea typeface="Arial" panose="020B0604020202020204"/>
                <a:cs typeface="Arial" panose="020B0604020202020204"/>
              </a:rPr>
              <a:t>health + predict qua HTTP cục bộ</a:t>
            </a:r>
            <a:endParaRPr sz="900" b="0">
              <a:solidFill>
                <a:srgbClr val="5F6C7B"/>
              </a:solidFill>
              <a:latin typeface="Arial" panose="020B0604020202020204"/>
              <a:ea typeface="Arial" panose="020B0604020202020204"/>
              <a:cs typeface="Arial" panose="020B0604020202020204"/>
            </a:endParaRPr>
          </a:p>
        </p:txBody>
      </p:sp>
      <p:sp>
        <p:nvSpPr>
          <p:cNvPr id="15" name="Rounded Rectangle 14"/>
          <p:cNvSpPr>
            <a:spLocks noGrp="1"/>
          </p:cNvSpPr>
          <p:nvPr/>
        </p:nvSpPr>
        <p:spPr>
          <a:xfrm>
            <a:off x="7905750" y="1476375"/>
            <a:ext cx="3619500" cy="1238250"/>
          </a:xfrm>
          <a:prstGeom prst="roundRect">
            <a:avLst>
              <a:gd name="adj" fmla="val 5385"/>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16" name="Rectangle 15"/>
          <p:cNvSpPr>
            <a:spLocks noGrp="1"/>
          </p:cNvSpPr>
          <p:nvPr/>
        </p:nvSpPr>
        <p:spPr>
          <a:xfrm>
            <a:off x="7905750" y="1476375"/>
            <a:ext cx="57150" cy="1238250"/>
          </a:xfrm>
          <a:prstGeom prst="rect">
            <a:avLst/>
          </a:prstGeom>
          <a:solidFill>
            <a:srgbClr val="E9C46A"/>
          </a:solidFill>
          <a:ln w="0">
            <a:noFill/>
            <a:prstDash val="solid"/>
          </a:ln>
        </p:spPr>
      </p:sp>
      <p:sp>
        <p:nvSpPr>
          <p:cNvPr id="17" name="Rectangle 16"/>
          <p:cNvSpPr>
            <a:spLocks noGrp="1"/>
          </p:cNvSpPr>
          <p:nvPr/>
        </p:nvSpPr>
        <p:spPr>
          <a:xfrm>
            <a:off x="8077200" y="1590675"/>
            <a:ext cx="3333750" cy="419100"/>
          </a:xfrm>
          <a:prstGeom prst="rect">
            <a:avLst/>
          </a:prstGeom>
          <a:noFill/>
          <a:ln w="0">
            <a:noFill/>
            <a:prstDash val="solid"/>
          </a:ln>
        </p:spPr>
        <p:txBody>
          <a:bodyPr wrap="square" lIns="0" tIns="0" rIns="0" bIns="0" anchor="t">
            <a:normAutofit/>
          </a:bodyPr>
          <a:lstStyle/>
          <a:p>
            <a:pPr algn="l">
              <a:lnSpc>
                <a:spcPct val="100000"/>
              </a:lnSpc>
              <a:buNone/>
              <a:defRPr sz="2250" b="1">
                <a:solidFill>
                  <a:srgbClr val="102A43"/>
                </a:solidFill>
                <a:latin typeface="Arial" panose="020B0604020202020204"/>
                <a:ea typeface="Arial" panose="020B0604020202020204"/>
                <a:cs typeface="Arial" panose="020B0604020202020204"/>
              </a:defRPr>
            </a:pPr>
            <a:r>
              <a:rPr sz="2250" b="1">
                <a:solidFill>
                  <a:srgbClr val="102A43"/>
                </a:solidFill>
                <a:latin typeface="Arial" panose="020B0604020202020204"/>
                <a:ea typeface="Arial" panose="020B0604020202020204"/>
                <a:cs typeface="Arial" panose="020B0604020202020204"/>
              </a:rPr>
              <a:t>262.225,38</a:t>
            </a:r>
            <a:endParaRPr sz="2250" b="1">
              <a:solidFill>
                <a:srgbClr val="102A43"/>
              </a:solidFill>
              <a:latin typeface="Arial" panose="020B0604020202020204"/>
              <a:ea typeface="Arial" panose="020B0604020202020204"/>
              <a:cs typeface="Arial" panose="020B0604020202020204"/>
            </a:endParaRPr>
          </a:p>
        </p:txBody>
      </p:sp>
      <p:sp>
        <p:nvSpPr>
          <p:cNvPr id="18" name="Rectangle 17"/>
          <p:cNvSpPr>
            <a:spLocks noGrp="1"/>
          </p:cNvSpPr>
          <p:nvPr/>
        </p:nvSpPr>
        <p:spPr>
          <a:xfrm>
            <a:off x="8077200" y="2019300"/>
            <a:ext cx="3333750" cy="276225"/>
          </a:xfrm>
          <a:prstGeom prst="rect">
            <a:avLst/>
          </a:prstGeom>
          <a:noFill/>
          <a:ln w="0">
            <a:noFill/>
            <a:prstDash val="solid"/>
          </a:ln>
        </p:spPr>
        <p:txBody>
          <a:bodyPr wrap="square" lIns="0" tIns="0" rIns="0" bIns="0" anchor="t">
            <a:normAutofit/>
          </a:bodyPr>
          <a:lstStyle/>
          <a:p>
            <a:pPr algn="l">
              <a:lnSpc>
                <a:spcPct val="100000"/>
              </a:lnSpc>
              <a:buNone/>
              <a:defRPr sz="1125" b="1">
                <a:solidFill>
                  <a:srgbClr val="5F6C7B"/>
                </a:solidFill>
                <a:latin typeface="Arial" panose="020B0604020202020204"/>
                <a:ea typeface="Arial" panose="020B0604020202020204"/>
                <a:cs typeface="Arial" panose="020B0604020202020204"/>
              </a:defRPr>
            </a:pPr>
            <a:r>
              <a:rPr sz="1125" b="1">
                <a:solidFill>
                  <a:srgbClr val="5F6C7B"/>
                </a:solidFill>
                <a:latin typeface="Arial" panose="020B0604020202020204"/>
                <a:ea typeface="Arial" panose="020B0604020202020204"/>
                <a:cs typeface="Arial" panose="020B0604020202020204"/>
              </a:rPr>
              <a:t>Prediction mẫu (USD)</a:t>
            </a:r>
            <a:endParaRPr sz="1125" b="1">
              <a:solidFill>
                <a:srgbClr val="5F6C7B"/>
              </a:solidFill>
              <a:latin typeface="Arial" panose="020B0604020202020204"/>
              <a:ea typeface="Arial" panose="020B0604020202020204"/>
              <a:cs typeface="Arial" panose="020B0604020202020204"/>
            </a:endParaRPr>
          </a:p>
        </p:txBody>
      </p:sp>
      <p:sp>
        <p:nvSpPr>
          <p:cNvPr id="19" name="Rectangle 18"/>
          <p:cNvSpPr>
            <a:spLocks noGrp="1"/>
          </p:cNvSpPr>
          <p:nvPr/>
        </p:nvSpPr>
        <p:spPr>
          <a:xfrm>
            <a:off x="8077200" y="2305050"/>
            <a:ext cx="3333750" cy="323850"/>
          </a:xfrm>
          <a:prstGeom prst="rect">
            <a:avLst/>
          </a:prstGeom>
          <a:noFill/>
          <a:ln w="0">
            <a:noFill/>
            <a:prstDash val="solid"/>
          </a:ln>
        </p:spPr>
        <p:txBody>
          <a:bodyPr wrap="square" lIns="0" tIns="0" rIns="0" bIns="0" anchor="t">
            <a:normAutofit/>
          </a:bodyPr>
          <a:lstStyle/>
          <a:p>
            <a:pPr algn="l">
              <a:lnSpc>
                <a:spcPct val="100000"/>
              </a:lnSpc>
              <a:buNone/>
              <a:defRPr sz="900" b="0">
                <a:solidFill>
                  <a:srgbClr val="5F6C7B"/>
                </a:solidFill>
                <a:latin typeface="Arial" panose="020B0604020202020204"/>
                <a:ea typeface="Arial" panose="020B0604020202020204"/>
                <a:cs typeface="Arial" panose="020B0604020202020204"/>
              </a:defRPr>
            </a:pPr>
            <a:r>
              <a:rPr sz="900" b="0">
                <a:solidFill>
                  <a:srgbClr val="5F6C7B"/>
                </a:solidFill>
                <a:latin typeface="Arial" panose="020B0604020202020204"/>
                <a:ea typeface="Arial" panose="020B0604020202020204"/>
                <a:cs typeface="Arial" panose="020B0604020202020204"/>
              </a:rPr>
              <a:t>model_version 1.0.0</a:t>
            </a:r>
            <a:endParaRPr sz="900" b="0">
              <a:solidFill>
                <a:srgbClr val="5F6C7B"/>
              </a:solidFill>
              <a:latin typeface="Arial" panose="020B0604020202020204"/>
              <a:ea typeface="Arial" panose="020B0604020202020204"/>
              <a:cs typeface="Arial" panose="020B0604020202020204"/>
            </a:endParaRPr>
          </a:p>
        </p:txBody>
      </p:sp>
      <p:sp>
        <p:nvSpPr>
          <p:cNvPr id="20" name="Rounded Rectangle 19"/>
          <p:cNvSpPr>
            <a:spLocks noGrp="1"/>
          </p:cNvSpPr>
          <p:nvPr/>
        </p:nvSpPr>
        <p:spPr>
          <a:xfrm>
            <a:off x="666750" y="3190875"/>
            <a:ext cx="5191125" cy="2524125"/>
          </a:xfrm>
          <a:prstGeom prst="roundRect">
            <a:avLst>
              <a:gd name="adj" fmla="val 2642"/>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21" name="Rectangle 20"/>
          <p:cNvSpPr>
            <a:spLocks noGrp="1"/>
          </p:cNvSpPr>
          <p:nvPr/>
        </p:nvSpPr>
        <p:spPr>
          <a:xfrm>
            <a:off x="904875" y="3429000"/>
            <a:ext cx="4572000" cy="295275"/>
          </a:xfrm>
          <a:prstGeom prst="rect">
            <a:avLst/>
          </a:prstGeom>
          <a:noFill/>
          <a:ln w="0">
            <a:noFill/>
            <a:prstDash val="solid"/>
          </a:ln>
        </p:spPr>
        <p:txBody>
          <a:bodyPr wrap="square" lIns="0" tIns="0" rIns="0" bIns="0" anchor="t">
            <a:normAutofit/>
          </a:bodyPr>
          <a:lstStyle/>
          <a:p>
            <a:pPr algn="l">
              <a:lnSpc>
                <a:spcPct val="100000"/>
              </a:lnSpc>
              <a:buNone/>
              <a:defRPr sz="1650" b="1">
                <a:solidFill>
                  <a:srgbClr val="102A43"/>
                </a:solidFill>
                <a:latin typeface="Arial" panose="020B0604020202020204"/>
                <a:ea typeface="Arial" panose="020B0604020202020204"/>
                <a:cs typeface="Arial" panose="020B0604020202020204"/>
              </a:defRPr>
            </a:pPr>
            <a:r>
              <a:rPr sz="1650" b="1">
                <a:solidFill>
                  <a:srgbClr val="102A43"/>
                </a:solidFill>
                <a:latin typeface="Arial" panose="020B0604020202020204"/>
                <a:ea typeface="Arial" panose="020B0604020202020204"/>
                <a:cs typeface="Arial" panose="020B0604020202020204"/>
              </a:rPr>
              <a:t>Phạm vi đã kiểm tra</a:t>
            </a:r>
            <a:endParaRPr sz="1650" b="1">
              <a:solidFill>
                <a:srgbClr val="102A43"/>
              </a:solidFill>
              <a:latin typeface="Arial" panose="020B0604020202020204"/>
              <a:ea typeface="Arial" panose="020B0604020202020204"/>
              <a:cs typeface="Arial" panose="020B0604020202020204"/>
            </a:endParaRPr>
          </a:p>
        </p:txBody>
      </p:sp>
      <p:sp>
        <p:nvSpPr>
          <p:cNvPr id="22" name="Rectangle 21"/>
          <p:cNvSpPr>
            <a:spLocks noGrp="1"/>
          </p:cNvSpPr>
          <p:nvPr/>
        </p:nvSpPr>
        <p:spPr>
          <a:xfrm>
            <a:off x="904875" y="3905250"/>
            <a:ext cx="4619625" cy="1524000"/>
          </a:xfrm>
          <a:prstGeom prst="rect">
            <a:avLst/>
          </a:prstGeom>
          <a:noFill/>
          <a:ln w="0">
            <a:noFill/>
            <a:prstDash val="solid"/>
          </a:ln>
        </p:spPr>
        <p:txBody>
          <a:bodyPr wrap="square" lIns="114300" tIns="76200" rIns="114300" bIns="76200" anchor="t">
            <a:normAutofit/>
          </a:bodyPr>
          <a:lstStyle/>
          <a:p>
            <a:pPr marL="254000" indent="-127000" algn="l">
              <a:lnSpc>
                <a:spcPct val="100000"/>
              </a:lnSpc>
              <a:spcAft>
                <a:spcPts val="800"/>
              </a:spcAft>
              <a:buNone/>
              <a:defRPr sz="1200">
                <a:solidFill>
                  <a:srgbClr val="1D2939"/>
                </a:solidFill>
                <a:latin typeface="Arial" panose="020B0604020202020204"/>
                <a:ea typeface="Arial" panose="020B0604020202020204"/>
                <a:cs typeface="Arial" panose="020B0604020202020204"/>
              </a:defRPr>
            </a:pPr>
            <a:r>
              <a:rPr sz="1200">
                <a:solidFill>
                  <a:srgbClr val="1D2939"/>
                </a:solidFill>
                <a:latin typeface="Arial" panose="020B0604020202020204"/>
                <a:ea typeface="Arial" panose="020B0604020202020204"/>
                <a:cs typeface="Arial" panose="020B0604020202020204"/>
              </a:rPr>
              <a:t>AI service: health, model info, predict, schema validation.</a:t>
            </a:r>
            <a:endParaRPr sz="1200">
              <a:solidFill>
                <a:srgbClr val="1D2939"/>
              </a:solidFill>
              <a:latin typeface="Arial" panose="020B0604020202020204"/>
              <a:ea typeface="Arial" panose="020B0604020202020204"/>
              <a:cs typeface="Arial" panose="020B0604020202020204"/>
            </a:endParaRPr>
          </a:p>
          <a:p>
            <a:pPr marL="254000" indent="-127000" algn="l">
              <a:lnSpc>
                <a:spcPct val="100000"/>
              </a:lnSpc>
              <a:spcAft>
                <a:spcPts val="800"/>
              </a:spcAft>
              <a:buNone/>
              <a:defRPr sz="1200">
                <a:solidFill>
                  <a:srgbClr val="1D2939"/>
                </a:solidFill>
                <a:latin typeface="Arial" panose="020B0604020202020204"/>
                <a:ea typeface="Arial" panose="020B0604020202020204"/>
                <a:cs typeface="Arial" panose="020B0604020202020204"/>
              </a:defRPr>
            </a:pPr>
            <a:r>
              <a:rPr sz="1200">
                <a:solidFill>
                  <a:srgbClr val="1D2939"/>
                </a:solidFill>
                <a:latin typeface="Arial" panose="020B0604020202020204"/>
                <a:ea typeface="Arial" panose="020B0604020202020204"/>
                <a:cs typeface="Arial" panose="020B0604020202020204"/>
              </a:rPr>
              <a:t>Backend: health, API behavior và xử lý client mock.</a:t>
            </a:r>
            <a:endParaRPr sz="1200">
              <a:solidFill>
                <a:srgbClr val="1D2939"/>
              </a:solidFill>
              <a:latin typeface="Arial" panose="020B0604020202020204"/>
              <a:ea typeface="Arial" panose="020B0604020202020204"/>
              <a:cs typeface="Arial" panose="020B0604020202020204"/>
            </a:endParaRPr>
          </a:p>
          <a:p>
            <a:pPr marL="254000" indent="-127000" algn="l">
              <a:lnSpc>
                <a:spcPct val="100000"/>
              </a:lnSpc>
              <a:spcAft>
                <a:spcPts val="800"/>
              </a:spcAft>
              <a:buNone/>
              <a:defRPr sz="1200">
                <a:solidFill>
                  <a:srgbClr val="1D2939"/>
                </a:solidFill>
                <a:latin typeface="Arial" panose="020B0604020202020204"/>
                <a:ea typeface="Arial" panose="020B0604020202020204"/>
                <a:cs typeface="Arial" panose="020B0604020202020204"/>
              </a:defRPr>
            </a:pPr>
            <a:r>
              <a:rPr sz="1200">
                <a:solidFill>
                  <a:srgbClr val="1D2939"/>
                </a:solidFill>
                <a:latin typeface="Arial" panose="020B0604020202020204"/>
                <a:ea typeface="Arial" panose="020B0604020202020204"/>
                <a:cs typeface="Arial" panose="020B0604020202020204"/>
              </a:rPr>
              <a:t>Smoke: backend :18000 gọi AI service :18001 thành công.</a:t>
            </a:r>
            <a:endParaRPr sz="1200">
              <a:solidFill>
                <a:srgbClr val="1D2939"/>
              </a:solidFill>
              <a:latin typeface="Arial" panose="020B0604020202020204"/>
              <a:ea typeface="Arial" panose="020B0604020202020204"/>
              <a:cs typeface="Arial" panose="020B0604020202020204"/>
            </a:endParaRPr>
          </a:p>
          <a:p>
            <a:pPr marL="254000" indent="-127000" algn="l">
              <a:lnSpc>
                <a:spcPct val="100000"/>
              </a:lnSpc>
              <a:spcAft>
                <a:spcPts val="800"/>
              </a:spcAft>
              <a:buNone/>
              <a:defRPr sz="1200">
                <a:solidFill>
                  <a:srgbClr val="1D2939"/>
                </a:solidFill>
                <a:latin typeface="Arial" panose="020B0604020202020204"/>
                <a:ea typeface="Arial" panose="020B0604020202020204"/>
                <a:cs typeface="Arial" panose="020B0604020202020204"/>
              </a:defRPr>
            </a:pPr>
            <a:r>
              <a:rPr sz="1200">
                <a:solidFill>
                  <a:srgbClr val="1D2939"/>
                </a:solidFill>
                <a:latin typeface="Arial" panose="020B0604020202020204"/>
                <a:ea typeface="Arial" panose="020B0604020202020204"/>
                <a:cs typeface="Arial" panose="020B0604020202020204"/>
              </a:rPr>
              <a:t>Response chứa prediction, model_version và request_id.</a:t>
            </a:r>
            <a:endParaRPr sz="1200">
              <a:solidFill>
                <a:srgbClr val="1D2939"/>
              </a:solidFill>
              <a:latin typeface="Arial" panose="020B0604020202020204"/>
              <a:ea typeface="Arial" panose="020B0604020202020204"/>
              <a:cs typeface="Arial" panose="020B0604020202020204"/>
            </a:endParaRPr>
          </a:p>
        </p:txBody>
      </p:sp>
      <p:sp>
        <p:nvSpPr>
          <p:cNvPr id="23" name="Rounded Rectangle 22"/>
          <p:cNvSpPr>
            <a:spLocks noGrp="1"/>
          </p:cNvSpPr>
          <p:nvPr/>
        </p:nvSpPr>
        <p:spPr>
          <a:xfrm>
            <a:off x="6191250" y="3190875"/>
            <a:ext cx="5334000" cy="2524125"/>
          </a:xfrm>
          <a:prstGeom prst="roundRect">
            <a:avLst>
              <a:gd name="adj" fmla="val 2642"/>
            </a:avLst>
          </a:prstGeom>
          <a:solidFill>
            <a:srgbClr val="FCEDE8"/>
          </a:solidFill>
          <a:ln w="9525">
            <a:solidFill>
              <a:srgbClr val="E76F51"/>
            </a:solidFill>
            <a:prstDash val="solid"/>
          </a:ln>
        </p:spPr>
        <p:style>
          <a:lnRef idx="0">
            <a:srgbClr val="FFFFFF"/>
          </a:lnRef>
          <a:fillRef idx="0">
            <a:srgbClr val="FFFFFF"/>
          </a:fillRef>
          <a:effectRef idx="4">
            <a:srgbClr val="FFFFFF"/>
          </a:effectRef>
          <a:fontRef idx="major"/>
        </p:style>
      </p:sp>
      <p:sp>
        <p:nvSpPr>
          <p:cNvPr id="24" name="Rectangle 23"/>
          <p:cNvSpPr>
            <a:spLocks noGrp="1"/>
          </p:cNvSpPr>
          <p:nvPr/>
        </p:nvSpPr>
        <p:spPr>
          <a:xfrm>
            <a:off x="6429375" y="3429000"/>
            <a:ext cx="4762500" cy="295275"/>
          </a:xfrm>
          <a:prstGeom prst="rect">
            <a:avLst/>
          </a:prstGeom>
          <a:noFill/>
          <a:ln w="0">
            <a:noFill/>
            <a:prstDash val="solid"/>
          </a:ln>
        </p:spPr>
        <p:txBody>
          <a:bodyPr wrap="square" lIns="0" tIns="0" rIns="0" bIns="0" anchor="t">
            <a:normAutofit/>
          </a:bodyPr>
          <a:lstStyle/>
          <a:p>
            <a:pPr algn="l">
              <a:lnSpc>
                <a:spcPct val="100000"/>
              </a:lnSpc>
              <a:buNone/>
              <a:defRPr sz="1650" b="1">
                <a:solidFill>
                  <a:srgbClr val="102A43"/>
                </a:solidFill>
                <a:latin typeface="Arial" panose="020B0604020202020204"/>
                <a:ea typeface="Arial" panose="020B0604020202020204"/>
                <a:cs typeface="Arial" panose="020B0604020202020204"/>
              </a:defRPr>
            </a:pPr>
            <a:r>
              <a:rPr sz="1650" b="1">
                <a:solidFill>
                  <a:srgbClr val="102A43"/>
                </a:solidFill>
                <a:latin typeface="Arial" panose="020B0604020202020204"/>
                <a:ea typeface="Arial" panose="020B0604020202020204"/>
                <a:cs typeface="Arial" panose="020B0604020202020204"/>
              </a:rPr>
              <a:t>Giới hạn kiểm thử</a:t>
            </a:r>
            <a:endParaRPr sz="1650" b="1">
              <a:solidFill>
                <a:srgbClr val="102A43"/>
              </a:solidFill>
              <a:latin typeface="Arial" panose="020B0604020202020204"/>
              <a:ea typeface="Arial" panose="020B0604020202020204"/>
              <a:cs typeface="Arial" panose="020B0604020202020204"/>
            </a:endParaRPr>
          </a:p>
        </p:txBody>
      </p:sp>
      <p:sp>
        <p:nvSpPr>
          <p:cNvPr id="25" name="Rectangle 24"/>
          <p:cNvSpPr>
            <a:spLocks noGrp="1"/>
          </p:cNvSpPr>
          <p:nvPr/>
        </p:nvSpPr>
        <p:spPr>
          <a:xfrm>
            <a:off x="6429375" y="3905250"/>
            <a:ext cx="4762500" cy="1524000"/>
          </a:xfrm>
          <a:prstGeom prst="rect">
            <a:avLst/>
          </a:prstGeom>
          <a:noFill/>
          <a:ln w="0">
            <a:noFill/>
            <a:prstDash val="solid"/>
          </a:ln>
        </p:spPr>
        <p:txBody>
          <a:bodyPr wrap="square" lIns="114300" tIns="76200" rIns="114300" bIns="76200" anchor="t">
            <a:normAutofit/>
          </a:bodyPr>
          <a:lstStyle/>
          <a:p>
            <a:pPr marL="254000" indent="-127000" algn="l">
              <a:lnSpc>
                <a:spcPct val="100000"/>
              </a:lnSpc>
              <a:spcAft>
                <a:spcPts val="800"/>
              </a:spcAft>
              <a:buNone/>
              <a:defRPr sz="1200">
                <a:solidFill>
                  <a:srgbClr val="1D2939"/>
                </a:solidFill>
                <a:latin typeface="Arial" panose="020B0604020202020204"/>
                <a:ea typeface="Arial" panose="020B0604020202020204"/>
                <a:cs typeface="Arial" panose="020B0604020202020204"/>
              </a:defRPr>
            </a:pPr>
            <a:r>
              <a:rPr sz="1200">
                <a:solidFill>
                  <a:srgbClr val="1D2939"/>
                </a:solidFill>
                <a:latin typeface="Arial" panose="020B0604020202020204"/>
                <a:ea typeface="Arial" panose="020B0604020202020204"/>
                <a:cs typeface="Arial" panose="020B0604020202020204"/>
              </a:rPr>
              <a:t>MongoDB không chạy trong smoke test.</a:t>
            </a:r>
            <a:endParaRPr sz="1200">
              <a:solidFill>
                <a:srgbClr val="1D2939"/>
              </a:solidFill>
              <a:latin typeface="Arial" panose="020B0604020202020204"/>
              <a:ea typeface="Arial" panose="020B0604020202020204"/>
              <a:cs typeface="Arial" panose="020B0604020202020204"/>
            </a:endParaRPr>
          </a:p>
          <a:p>
            <a:pPr marL="254000" indent="-127000" algn="l">
              <a:lnSpc>
                <a:spcPct val="100000"/>
              </a:lnSpc>
              <a:spcAft>
                <a:spcPts val="800"/>
              </a:spcAft>
              <a:buNone/>
              <a:defRPr sz="1200">
                <a:solidFill>
                  <a:srgbClr val="1D2939"/>
                </a:solidFill>
                <a:latin typeface="Arial" panose="020B0604020202020204"/>
                <a:ea typeface="Arial" panose="020B0604020202020204"/>
                <a:cs typeface="Arial" panose="020B0604020202020204"/>
              </a:defRPr>
            </a:pPr>
            <a:r>
              <a:rPr sz="1200">
                <a:solidFill>
                  <a:srgbClr val="1D2939"/>
                </a:solidFill>
                <a:latin typeface="Arial" panose="020B0604020202020204"/>
                <a:ea typeface="Arial" panose="020B0604020202020204"/>
                <a:cs typeface="Arial" panose="020B0604020202020204"/>
              </a:rPr>
              <a:t>API vẫn trả 200; lưu lịch sử báo lỗi kết nối.</a:t>
            </a:r>
            <a:endParaRPr sz="1200">
              <a:solidFill>
                <a:srgbClr val="1D2939"/>
              </a:solidFill>
              <a:latin typeface="Arial" panose="020B0604020202020204"/>
              <a:ea typeface="Arial" panose="020B0604020202020204"/>
              <a:cs typeface="Arial" panose="020B0604020202020204"/>
            </a:endParaRPr>
          </a:p>
          <a:p>
            <a:pPr marL="254000" indent="-127000" algn="l">
              <a:lnSpc>
                <a:spcPct val="100000"/>
              </a:lnSpc>
              <a:spcAft>
                <a:spcPts val="800"/>
              </a:spcAft>
              <a:buNone/>
              <a:defRPr sz="1200">
                <a:solidFill>
                  <a:srgbClr val="1D2939"/>
                </a:solidFill>
                <a:latin typeface="Arial" panose="020B0604020202020204"/>
                <a:ea typeface="Arial" panose="020B0604020202020204"/>
                <a:cs typeface="Arial" panose="020B0604020202020204"/>
              </a:defRPr>
            </a:pPr>
            <a:r>
              <a:rPr sz="1200">
                <a:solidFill>
                  <a:srgbClr val="1D2939"/>
                </a:solidFill>
                <a:latin typeface="Arial" panose="020B0604020202020204"/>
                <a:ea typeface="Arial" panose="020B0604020202020204"/>
                <a:cs typeface="Arial" panose="020B0604020202020204"/>
              </a:rPr>
              <a:t>Chưa xác minh endpoint history với dữ liệu thật.</a:t>
            </a:r>
            <a:endParaRPr sz="1200">
              <a:solidFill>
                <a:srgbClr val="1D2939"/>
              </a:solidFill>
              <a:latin typeface="Arial" panose="020B0604020202020204"/>
              <a:ea typeface="Arial" panose="020B0604020202020204"/>
              <a:cs typeface="Arial" panose="020B0604020202020204"/>
            </a:endParaRPr>
          </a:p>
          <a:p>
            <a:pPr marL="254000" indent="-127000" algn="l">
              <a:lnSpc>
                <a:spcPct val="100000"/>
              </a:lnSpc>
              <a:spcAft>
                <a:spcPts val="800"/>
              </a:spcAft>
              <a:buNone/>
              <a:defRPr sz="1200">
                <a:solidFill>
                  <a:srgbClr val="1D2939"/>
                </a:solidFill>
                <a:latin typeface="Arial" panose="020B0604020202020204"/>
                <a:ea typeface="Arial" panose="020B0604020202020204"/>
                <a:cs typeface="Arial" panose="020B0604020202020204"/>
              </a:defRPr>
            </a:pPr>
            <a:r>
              <a:rPr sz="1200">
                <a:solidFill>
                  <a:srgbClr val="1D2939"/>
                </a:solidFill>
                <a:latin typeface="Arial" panose="020B0604020202020204"/>
                <a:ea typeface="Arial" panose="020B0604020202020204"/>
                <a:cs typeface="Arial" panose="020B0604020202020204"/>
              </a:rPr>
              <a:t>Mỗi nhóm test có 1 warning deprecation từ thư viện.</a:t>
            </a:r>
            <a:endParaRPr sz="1200">
              <a:solidFill>
                <a:srgbClr val="1D2939"/>
              </a:solidFill>
              <a:latin typeface="Arial" panose="020B0604020202020204"/>
              <a:ea typeface="Arial" panose="020B0604020202020204"/>
              <a:cs typeface="Arial" panose="020B0604020202020204"/>
            </a:endParaRPr>
          </a:p>
        </p:txBody>
      </p:sp>
      <p:sp>
        <p:nvSpPr>
          <p:cNvPr id="26" name="Straight Connector 25"/>
          <p:cNvSpPr>
            <a:spLocks noGrp="1"/>
          </p:cNvSpPr>
          <p:nvPr/>
        </p:nvSpPr>
        <p:spPr>
          <a:xfrm>
            <a:off x="666750" y="6477000"/>
            <a:ext cx="10858500" cy="0"/>
          </a:xfrm>
          <a:prstGeom prst="line">
            <a:avLst/>
          </a:prstGeom>
          <a:noFill/>
          <a:ln w="9525">
            <a:solidFill>
              <a:srgbClr val="D7E0E8"/>
            </a:solidFill>
            <a:prstDash val="solid"/>
          </a:ln>
        </p:spPr>
      </p:sp>
      <p:sp>
        <p:nvSpPr>
          <p:cNvPr id="27" name="Rectangle 26"/>
          <p:cNvSpPr>
            <a:spLocks noGrp="1"/>
          </p:cNvSpPr>
          <p:nvPr/>
        </p:nvSpPr>
        <p:spPr>
          <a:xfrm>
            <a:off x="666750" y="6524625"/>
            <a:ext cx="10572750" cy="209550"/>
          </a:xfrm>
          <a:prstGeom prst="rect">
            <a:avLst/>
          </a:prstGeom>
          <a:noFill/>
          <a:ln w="0">
            <a:noFill/>
            <a:prstDash val="solid"/>
          </a:ln>
        </p:spPr>
        <p:txBody>
          <a:bodyPr wrap="square" lIns="0" tIns="0" rIns="0" bIns="0" anchor="t">
            <a:normAutofit/>
          </a:bodyPr>
          <a:lstStyle/>
          <a:p>
            <a:pPr algn="l">
              <a:lnSpc>
                <a:spcPct val="100000"/>
              </a:lnSpc>
              <a:buNone/>
              <a:defRPr sz="825" b="0">
                <a:solidFill>
                  <a:srgbClr val="5F6C7B"/>
                </a:solidFill>
                <a:latin typeface="Arial" panose="020B0604020202020204"/>
                <a:ea typeface="Arial" panose="020B0604020202020204"/>
                <a:cs typeface="Arial" panose="020B0604020202020204"/>
              </a:defRPr>
            </a:pPr>
            <a:r>
              <a:rPr sz="825" b="0">
                <a:solidFill>
                  <a:srgbClr val="5F6C7B"/>
                </a:solidFill>
                <a:latin typeface="Arial" panose="020B0604020202020204"/>
                <a:ea typeface="Arial" panose="020B0604020202020204"/>
                <a:cs typeface="Arial" panose="020B0604020202020204"/>
              </a:rPr>
              <a:t>Nguồn: ai-service/tests; backend/tests; tests/smoke/smoke_test.py; log chạy 27/09/2026</a:t>
            </a:r>
            <a:endParaRPr sz="825" b="0">
              <a:solidFill>
                <a:srgbClr val="5F6C7B"/>
              </a:solidFill>
              <a:latin typeface="Arial" panose="020B0604020202020204"/>
              <a:ea typeface="Arial" panose="020B0604020202020204"/>
              <a:cs typeface="Arial" panose="020B0604020202020204"/>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
        <p:cNvGrpSpPr/>
        <p:nvPr/>
      </p:nvGrpSpPr>
      <p:grpSpPr/>
      <p:sp>
        <p:nvSpPr>
          <p:cNvPr id="26" name="Rectangle 25"/>
          <p:cNvSpPr>
            <a:spLocks noGrp="1"/>
          </p:cNvSpPr>
          <p:nvPr/>
        </p:nvSpPr>
        <p:spPr>
          <a:xfrm>
            <a:off x="666750" y="323850"/>
            <a:ext cx="9525000" cy="228600"/>
          </a:xfrm>
          <a:prstGeom prst="rect">
            <a:avLst/>
          </a:prstGeom>
          <a:noFill/>
          <a:ln w="0">
            <a:noFill/>
            <a:prstDash val="solid"/>
          </a:ln>
        </p:spPr>
        <p:txBody>
          <a:bodyPr wrap="square" lIns="0" tIns="0" rIns="0" bIns="0" anchor="t">
            <a:normAutofit/>
          </a:bodyPr>
          <a:lstStyle/>
          <a:p>
            <a:pPr algn="l">
              <a:lnSpc>
                <a:spcPct val="100000"/>
              </a:lnSpc>
              <a:buNone/>
              <a:defRPr sz="975" b="1">
                <a:solidFill>
                  <a:srgbClr val="167D8D"/>
                </a:solidFill>
                <a:latin typeface="Arial" panose="020B0604020202020204"/>
                <a:ea typeface="Arial" panose="020B0604020202020204"/>
                <a:cs typeface="Arial" panose="020B0604020202020204"/>
              </a:defRPr>
            </a:pPr>
            <a:r>
              <a:rPr sz="975" b="1">
                <a:solidFill>
                  <a:srgbClr val="167D8D"/>
                </a:solidFill>
                <a:latin typeface="Arial" panose="020B0604020202020204"/>
                <a:ea typeface="Arial" panose="020B0604020202020204"/>
                <a:cs typeface="Arial" panose="020B0604020202020204"/>
              </a:rPr>
              <a:t>13 · NON-FUNCTIONAL TESTING</a:t>
            </a:r>
            <a:endParaRPr sz="975" b="1">
              <a:solidFill>
                <a:srgbClr val="167D8D"/>
              </a:solidFill>
              <a:latin typeface="Arial" panose="020B0604020202020204"/>
              <a:ea typeface="Arial" panose="020B0604020202020204"/>
              <a:cs typeface="Arial" panose="020B0604020202020204"/>
            </a:endParaRPr>
          </a:p>
        </p:txBody>
      </p:sp>
      <p:sp>
        <p:nvSpPr>
          <p:cNvPr id="2" name="Rectangle 1"/>
          <p:cNvSpPr>
            <a:spLocks noGrp="1"/>
          </p:cNvSpPr>
          <p:nvPr/>
        </p:nvSpPr>
        <p:spPr>
          <a:xfrm>
            <a:off x="666750" y="571500"/>
            <a:ext cx="10287000" cy="523875"/>
          </a:xfrm>
          <a:prstGeom prst="rect">
            <a:avLst/>
          </a:prstGeom>
          <a:noFill/>
          <a:ln w="0">
            <a:noFill/>
            <a:prstDash val="solid"/>
          </a:ln>
        </p:spPr>
        <p:txBody>
          <a:bodyPr wrap="square" lIns="0" tIns="0" rIns="0" bIns="0" anchor="t">
            <a:normAutofit/>
          </a:bodyPr>
          <a:lstStyle/>
          <a:p>
            <a:pPr algn="l">
              <a:lnSpc>
                <a:spcPct val="100000"/>
              </a:lnSpc>
              <a:buNone/>
              <a:defRPr sz="2700" b="1">
                <a:solidFill>
                  <a:srgbClr val="102A43"/>
                </a:solidFill>
                <a:latin typeface="Arial" panose="020B0604020202020204"/>
                <a:ea typeface="Arial" panose="020B0604020202020204"/>
                <a:cs typeface="Arial" panose="020B0604020202020204"/>
              </a:defRPr>
            </a:pPr>
            <a:r>
              <a:rPr sz="2700" b="1">
                <a:solidFill>
                  <a:srgbClr val="102A43"/>
                </a:solidFill>
                <a:latin typeface="Arial" panose="020B0604020202020204"/>
                <a:ea typeface="Arial" panose="020B0604020202020204"/>
                <a:cs typeface="Arial" panose="020B0604020202020204"/>
              </a:rPr>
              <a:t>Load test và performance</a:t>
            </a:r>
            <a:endParaRPr sz="2700" b="1">
              <a:solidFill>
                <a:srgbClr val="102A43"/>
              </a:solidFill>
              <a:latin typeface="Arial" panose="020B0604020202020204"/>
              <a:ea typeface="Arial" panose="020B0604020202020204"/>
              <a:cs typeface="Arial" panose="020B0604020202020204"/>
            </a:endParaRPr>
          </a:p>
        </p:txBody>
      </p:sp>
      <p:sp>
        <p:nvSpPr>
          <p:cNvPr id="3" name="Rectangle 2"/>
          <p:cNvSpPr>
            <a:spLocks noGrp="1"/>
          </p:cNvSpPr>
          <p:nvPr/>
        </p:nvSpPr>
        <p:spPr>
          <a:xfrm>
            <a:off x="666750" y="1152525"/>
            <a:ext cx="714375" cy="47625"/>
          </a:xfrm>
          <a:prstGeom prst="rect">
            <a:avLst/>
          </a:prstGeom>
          <a:solidFill>
            <a:srgbClr val="E76F51"/>
          </a:solidFill>
          <a:ln w="0">
            <a:noFill/>
            <a:prstDash val="solid"/>
          </a:ln>
        </p:spPr>
      </p:sp>
      <p:sp>
        <p:nvSpPr>
          <p:cNvPr id="4" name="Rectangle 3"/>
          <p:cNvSpPr>
            <a:spLocks noGrp="1"/>
          </p:cNvSpPr>
          <p:nvPr/>
        </p:nvSpPr>
        <p:spPr>
          <a:xfrm>
            <a:off x="11191875" y="409575"/>
            <a:ext cx="381000" cy="247650"/>
          </a:xfrm>
          <a:prstGeom prst="rect">
            <a:avLst/>
          </a:prstGeom>
          <a:noFill/>
          <a:ln w="0">
            <a:noFill/>
            <a:prstDash val="solid"/>
          </a:ln>
        </p:spPr>
        <p:txBody>
          <a:bodyPr wrap="square" lIns="0" tIns="0" rIns="0" bIns="0" anchor="t">
            <a:normAutofit/>
          </a:bodyPr>
          <a:lstStyle/>
          <a:p>
            <a:pPr algn="r">
              <a:lnSpc>
                <a:spcPct val="100000"/>
              </a:lnSpc>
              <a:buNone/>
              <a:defRPr sz="1050" b="1">
                <a:solidFill>
                  <a:srgbClr val="5F6C7B"/>
                </a:solidFill>
                <a:latin typeface="Arial" panose="020B0604020202020204"/>
                <a:ea typeface="Arial" panose="020B0604020202020204"/>
                <a:cs typeface="Arial" panose="020B0604020202020204"/>
              </a:defRPr>
            </a:pPr>
            <a:r>
              <a:rPr sz="1050" b="1">
                <a:solidFill>
                  <a:srgbClr val="5F6C7B"/>
                </a:solidFill>
                <a:latin typeface="Arial" panose="020B0604020202020204"/>
                <a:ea typeface="Arial" panose="020B0604020202020204"/>
                <a:cs typeface="Arial" panose="020B0604020202020204"/>
              </a:rPr>
              <a:t>15</a:t>
            </a:r>
            <a:endParaRPr sz="1050" b="1">
              <a:solidFill>
                <a:srgbClr val="5F6C7B"/>
              </a:solidFill>
              <a:latin typeface="Arial" panose="020B0604020202020204"/>
              <a:ea typeface="Arial" panose="020B0604020202020204"/>
              <a:cs typeface="Arial" panose="020B0604020202020204"/>
            </a:endParaRPr>
          </a:p>
        </p:txBody>
      </p:sp>
      <p:sp>
        <p:nvSpPr>
          <p:cNvPr id="5" name="Rounded Rectangle 4"/>
          <p:cNvSpPr>
            <a:spLocks noGrp="1"/>
          </p:cNvSpPr>
          <p:nvPr/>
        </p:nvSpPr>
        <p:spPr>
          <a:xfrm>
            <a:off x="666750" y="1476375"/>
            <a:ext cx="4857750" cy="4095750"/>
          </a:xfrm>
          <a:prstGeom prst="roundRect">
            <a:avLst>
              <a:gd name="adj" fmla="val 1628"/>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6" name="Rectangle 5"/>
          <p:cNvSpPr>
            <a:spLocks noGrp="1"/>
          </p:cNvSpPr>
          <p:nvPr/>
        </p:nvSpPr>
        <p:spPr>
          <a:xfrm>
            <a:off x="904875" y="1714500"/>
            <a:ext cx="4286250" cy="333375"/>
          </a:xfrm>
          <a:prstGeom prst="rect">
            <a:avLst/>
          </a:prstGeom>
          <a:noFill/>
          <a:ln w="0">
            <a:noFill/>
            <a:prstDash val="solid"/>
          </a:ln>
        </p:spPr>
        <p:txBody>
          <a:bodyPr wrap="square" lIns="0" tIns="0" rIns="0" bIns="0" anchor="t">
            <a:normAutofit/>
          </a:bodyPr>
          <a:lstStyle/>
          <a:p>
            <a:pPr algn="l">
              <a:lnSpc>
                <a:spcPct val="100000"/>
              </a:lnSpc>
              <a:buNone/>
              <a:defRPr sz="1875" b="1">
                <a:solidFill>
                  <a:srgbClr val="102A43"/>
                </a:solidFill>
                <a:latin typeface="Arial" panose="020B0604020202020204"/>
                <a:ea typeface="Arial" panose="020B0604020202020204"/>
                <a:cs typeface="Arial" panose="020B0604020202020204"/>
              </a:defRPr>
            </a:pPr>
            <a:r>
              <a:rPr sz="1875" b="1">
                <a:solidFill>
                  <a:srgbClr val="102A43"/>
                </a:solidFill>
                <a:latin typeface="Arial" panose="020B0604020202020204"/>
                <a:ea typeface="Arial" panose="020B0604020202020204"/>
                <a:cs typeface="Arial" panose="020B0604020202020204"/>
              </a:rPr>
              <a:t>Kịch bản k6 đã có</a:t>
            </a:r>
            <a:endParaRPr sz="1875" b="1">
              <a:solidFill>
                <a:srgbClr val="102A43"/>
              </a:solidFill>
              <a:latin typeface="Arial" panose="020B0604020202020204"/>
              <a:ea typeface="Arial" panose="020B0604020202020204"/>
              <a:cs typeface="Arial" panose="020B0604020202020204"/>
            </a:endParaRPr>
          </a:p>
        </p:txBody>
      </p:sp>
      <p:sp>
        <p:nvSpPr>
          <p:cNvPr id="7" name="Rectangle 6"/>
          <p:cNvSpPr>
            <a:spLocks noGrp="1"/>
          </p:cNvSpPr>
          <p:nvPr/>
        </p:nvSpPr>
        <p:spPr>
          <a:xfrm>
            <a:off x="904875" y="2238375"/>
            <a:ext cx="1809750" cy="485775"/>
          </a:xfrm>
          <a:prstGeom prst="rect">
            <a:avLst/>
          </a:prstGeom>
          <a:solidFill>
            <a:srgbClr val="102A43"/>
          </a:solidFill>
          <a:ln w="9525">
            <a:solidFill>
              <a:srgbClr val="D7E0E8"/>
            </a:solidFill>
            <a:prstDash val="solid"/>
          </a:ln>
        </p:spPr>
        <p:txBody>
          <a:bodyPr wrap="square" lIns="85725" tIns="38100" rIns="85725" bIns="38100" anchor="ctr">
            <a:normAutofit/>
          </a:bodyPr>
          <a:lstStyle/>
          <a:p>
            <a:pPr algn="l">
              <a:lnSpc>
                <a:spcPct val="100000"/>
              </a:lnSpc>
              <a:buNone/>
              <a:defRPr sz="975" b="1">
                <a:solidFill>
                  <a:srgbClr val="FFFFFF"/>
                </a:solidFill>
                <a:latin typeface="Arial" panose="020B0604020202020204"/>
                <a:ea typeface="Arial" panose="020B0604020202020204"/>
                <a:cs typeface="Arial" panose="020B0604020202020204"/>
              </a:defRPr>
            </a:pPr>
            <a:r>
              <a:rPr sz="975" b="1">
                <a:solidFill>
                  <a:srgbClr val="FFFFFF"/>
                </a:solidFill>
                <a:latin typeface="Arial" panose="020B0604020202020204"/>
                <a:ea typeface="Arial" panose="020B0604020202020204"/>
                <a:cs typeface="Arial" panose="020B0604020202020204"/>
              </a:rPr>
              <a:t>Tham số</a:t>
            </a:r>
            <a:endParaRPr sz="975" b="1">
              <a:solidFill>
                <a:srgbClr val="FFFFFF"/>
              </a:solidFill>
              <a:latin typeface="Arial" panose="020B0604020202020204"/>
              <a:ea typeface="Arial" panose="020B0604020202020204"/>
              <a:cs typeface="Arial" panose="020B0604020202020204"/>
            </a:endParaRPr>
          </a:p>
        </p:txBody>
      </p:sp>
      <p:sp>
        <p:nvSpPr>
          <p:cNvPr id="8" name="Rectangle 7"/>
          <p:cNvSpPr>
            <a:spLocks noGrp="1"/>
          </p:cNvSpPr>
          <p:nvPr/>
        </p:nvSpPr>
        <p:spPr>
          <a:xfrm>
            <a:off x="2714625" y="2238375"/>
            <a:ext cx="2333625" cy="485775"/>
          </a:xfrm>
          <a:prstGeom prst="rect">
            <a:avLst/>
          </a:prstGeom>
          <a:solidFill>
            <a:srgbClr val="102A43"/>
          </a:solidFill>
          <a:ln w="9525">
            <a:solidFill>
              <a:srgbClr val="D7E0E8"/>
            </a:solidFill>
            <a:prstDash val="solid"/>
          </a:ln>
        </p:spPr>
        <p:txBody>
          <a:bodyPr wrap="square" lIns="85725" tIns="38100" rIns="85725" bIns="38100" anchor="ctr">
            <a:normAutofit/>
          </a:bodyPr>
          <a:lstStyle/>
          <a:p>
            <a:pPr algn="l">
              <a:lnSpc>
                <a:spcPct val="100000"/>
              </a:lnSpc>
              <a:buNone/>
              <a:defRPr sz="975" b="1">
                <a:solidFill>
                  <a:srgbClr val="FFFFFF"/>
                </a:solidFill>
                <a:latin typeface="Arial" panose="020B0604020202020204"/>
                <a:ea typeface="Arial" panose="020B0604020202020204"/>
                <a:cs typeface="Arial" panose="020B0604020202020204"/>
              </a:defRPr>
            </a:pPr>
            <a:r>
              <a:rPr sz="975" b="1">
                <a:solidFill>
                  <a:srgbClr val="FFFFFF"/>
                </a:solidFill>
                <a:latin typeface="Arial" panose="020B0604020202020204"/>
                <a:ea typeface="Arial" panose="020B0604020202020204"/>
                <a:cs typeface="Arial" panose="020B0604020202020204"/>
              </a:rPr>
              <a:t>Giá trị cấu hình</a:t>
            </a:r>
            <a:endParaRPr sz="975" b="1">
              <a:solidFill>
                <a:srgbClr val="FFFFFF"/>
              </a:solidFill>
              <a:latin typeface="Arial" panose="020B0604020202020204"/>
              <a:ea typeface="Arial" panose="020B0604020202020204"/>
              <a:cs typeface="Arial" panose="020B0604020202020204"/>
            </a:endParaRPr>
          </a:p>
        </p:txBody>
      </p:sp>
      <p:sp>
        <p:nvSpPr>
          <p:cNvPr id="9" name="Rectangle 8"/>
          <p:cNvSpPr>
            <a:spLocks noGrp="1"/>
          </p:cNvSpPr>
          <p:nvPr/>
        </p:nvSpPr>
        <p:spPr>
          <a:xfrm>
            <a:off x="904875" y="2724150"/>
            <a:ext cx="1809750" cy="485775"/>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l">
              <a:lnSpc>
                <a:spcPct val="100000"/>
              </a:lnSpc>
              <a:buNone/>
              <a:defRPr sz="1125" b="1">
                <a:solidFill>
                  <a:srgbClr val="1D2939"/>
                </a:solidFill>
                <a:latin typeface="Arial" panose="020B0604020202020204"/>
                <a:ea typeface="Arial" panose="020B0604020202020204"/>
                <a:cs typeface="Arial" panose="020B0604020202020204"/>
              </a:defRPr>
            </a:pPr>
            <a:r>
              <a:rPr sz="1125" b="1">
                <a:solidFill>
                  <a:srgbClr val="1D2939"/>
                </a:solidFill>
                <a:latin typeface="Arial" panose="020B0604020202020204"/>
                <a:ea typeface="Arial" panose="020B0604020202020204"/>
                <a:cs typeface="Arial" panose="020B0604020202020204"/>
              </a:rPr>
              <a:t>Virtual users</a:t>
            </a:r>
            <a:endParaRPr sz="1125" b="1">
              <a:solidFill>
                <a:srgbClr val="1D2939"/>
              </a:solidFill>
              <a:latin typeface="Arial" panose="020B0604020202020204"/>
              <a:ea typeface="Arial" panose="020B0604020202020204"/>
              <a:cs typeface="Arial" panose="020B0604020202020204"/>
            </a:endParaRPr>
          </a:p>
        </p:txBody>
      </p:sp>
      <p:sp>
        <p:nvSpPr>
          <p:cNvPr id="10" name="Rectangle 9"/>
          <p:cNvSpPr>
            <a:spLocks noGrp="1"/>
          </p:cNvSpPr>
          <p:nvPr/>
        </p:nvSpPr>
        <p:spPr>
          <a:xfrm>
            <a:off x="2714625" y="2724150"/>
            <a:ext cx="2333625" cy="485775"/>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l">
              <a:lnSpc>
                <a:spcPct val="100000"/>
              </a:lnSpc>
              <a:buNone/>
              <a:defRPr sz="1125" b="0">
                <a:solidFill>
                  <a:srgbClr val="1D2939"/>
                </a:solidFill>
                <a:latin typeface="Arial" panose="020B0604020202020204"/>
                <a:ea typeface="Arial" panose="020B0604020202020204"/>
                <a:cs typeface="Arial" panose="020B0604020202020204"/>
              </a:defRPr>
            </a:pPr>
            <a:r>
              <a:rPr sz="1125" b="0">
                <a:solidFill>
                  <a:srgbClr val="1D2939"/>
                </a:solidFill>
                <a:latin typeface="Arial" panose="020B0604020202020204"/>
                <a:ea typeface="Arial" panose="020B0604020202020204"/>
                <a:cs typeface="Arial" panose="020B0604020202020204"/>
              </a:rPr>
              <a:t>10 VUs</a:t>
            </a:r>
            <a:endParaRPr sz="1125" b="0">
              <a:solidFill>
                <a:srgbClr val="1D2939"/>
              </a:solidFill>
              <a:latin typeface="Arial" panose="020B0604020202020204"/>
              <a:ea typeface="Arial" panose="020B0604020202020204"/>
              <a:cs typeface="Arial" panose="020B0604020202020204"/>
            </a:endParaRPr>
          </a:p>
        </p:txBody>
      </p:sp>
      <p:sp>
        <p:nvSpPr>
          <p:cNvPr id="11" name="Rectangle 10"/>
          <p:cNvSpPr>
            <a:spLocks noGrp="1"/>
          </p:cNvSpPr>
          <p:nvPr/>
        </p:nvSpPr>
        <p:spPr>
          <a:xfrm>
            <a:off x="904875" y="3209925"/>
            <a:ext cx="1809750" cy="485775"/>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l">
              <a:lnSpc>
                <a:spcPct val="100000"/>
              </a:lnSpc>
              <a:buNone/>
              <a:defRPr sz="1125" b="1">
                <a:solidFill>
                  <a:srgbClr val="1D2939"/>
                </a:solidFill>
                <a:latin typeface="Arial" panose="020B0604020202020204"/>
                <a:ea typeface="Arial" panose="020B0604020202020204"/>
                <a:cs typeface="Arial" panose="020B0604020202020204"/>
              </a:defRPr>
            </a:pPr>
            <a:r>
              <a:rPr sz="1125" b="1">
                <a:solidFill>
                  <a:srgbClr val="1D2939"/>
                </a:solidFill>
                <a:latin typeface="Arial" panose="020B0604020202020204"/>
                <a:ea typeface="Arial" panose="020B0604020202020204"/>
                <a:cs typeface="Arial" panose="020B0604020202020204"/>
              </a:rPr>
              <a:t>Thời lượng</a:t>
            </a:r>
            <a:endParaRPr sz="1125" b="1">
              <a:solidFill>
                <a:srgbClr val="1D2939"/>
              </a:solidFill>
              <a:latin typeface="Arial" panose="020B0604020202020204"/>
              <a:ea typeface="Arial" panose="020B0604020202020204"/>
              <a:cs typeface="Arial" panose="020B0604020202020204"/>
            </a:endParaRPr>
          </a:p>
        </p:txBody>
      </p:sp>
      <p:sp>
        <p:nvSpPr>
          <p:cNvPr id="12" name="Rectangle 11"/>
          <p:cNvSpPr>
            <a:spLocks noGrp="1"/>
          </p:cNvSpPr>
          <p:nvPr/>
        </p:nvSpPr>
        <p:spPr>
          <a:xfrm>
            <a:off x="2714625" y="3209925"/>
            <a:ext cx="2333625" cy="485775"/>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l">
              <a:lnSpc>
                <a:spcPct val="100000"/>
              </a:lnSpc>
              <a:buNone/>
              <a:defRPr sz="1125" b="0">
                <a:solidFill>
                  <a:srgbClr val="1D2939"/>
                </a:solidFill>
                <a:latin typeface="Arial" panose="020B0604020202020204"/>
                <a:ea typeface="Arial" panose="020B0604020202020204"/>
                <a:cs typeface="Arial" panose="020B0604020202020204"/>
              </a:defRPr>
            </a:pPr>
            <a:r>
              <a:rPr sz="1125" b="0">
                <a:solidFill>
                  <a:srgbClr val="1D2939"/>
                </a:solidFill>
                <a:latin typeface="Arial" panose="020B0604020202020204"/>
                <a:ea typeface="Arial" panose="020B0604020202020204"/>
                <a:cs typeface="Arial" panose="020B0604020202020204"/>
              </a:rPr>
              <a:t>60 giây</a:t>
            </a:r>
            <a:endParaRPr sz="1125" b="0">
              <a:solidFill>
                <a:srgbClr val="1D2939"/>
              </a:solidFill>
              <a:latin typeface="Arial" panose="020B0604020202020204"/>
              <a:ea typeface="Arial" panose="020B0604020202020204"/>
              <a:cs typeface="Arial" panose="020B0604020202020204"/>
            </a:endParaRPr>
          </a:p>
        </p:txBody>
      </p:sp>
      <p:sp>
        <p:nvSpPr>
          <p:cNvPr id="13" name="Rectangle 12"/>
          <p:cNvSpPr>
            <a:spLocks noGrp="1"/>
          </p:cNvSpPr>
          <p:nvPr/>
        </p:nvSpPr>
        <p:spPr>
          <a:xfrm>
            <a:off x="904875" y="3695700"/>
            <a:ext cx="1809750" cy="485775"/>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l">
              <a:lnSpc>
                <a:spcPct val="100000"/>
              </a:lnSpc>
              <a:buNone/>
              <a:defRPr sz="1125" b="1">
                <a:solidFill>
                  <a:srgbClr val="1D2939"/>
                </a:solidFill>
                <a:latin typeface="Arial" panose="020B0604020202020204"/>
                <a:ea typeface="Arial" panose="020B0604020202020204"/>
                <a:cs typeface="Arial" panose="020B0604020202020204"/>
              </a:defRPr>
            </a:pPr>
            <a:r>
              <a:rPr sz="1125" b="1">
                <a:solidFill>
                  <a:srgbClr val="1D2939"/>
                </a:solidFill>
                <a:latin typeface="Arial" panose="020B0604020202020204"/>
                <a:ea typeface="Arial" panose="020B0604020202020204"/>
                <a:cs typeface="Arial" panose="020B0604020202020204"/>
              </a:rPr>
              <a:t>p95 latency</a:t>
            </a:r>
            <a:endParaRPr sz="1125" b="1">
              <a:solidFill>
                <a:srgbClr val="1D2939"/>
              </a:solidFill>
              <a:latin typeface="Arial" panose="020B0604020202020204"/>
              <a:ea typeface="Arial" panose="020B0604020202020204"/>
              <a:cs typeface="Arial" panose="020B0604020202020204"/>
            </a:endParaRPr>
          </a:p>
        </p:txBody>
      </p:sp>
      <p:sp>
        <p:nvSpPr>
          <p:cNvPr id="14" name="Rectangle 13"/>
          <p:cNvSpPr>
            <a:spLocks noGrp="1"/>
          </p:cNvSpPr>
          <p:nvPr/>
        </p:nvSpPr>
        <p:spPr>
          <a:xfrm>
            <a:off x="2714625" y="3695700"/>
            <a:ext cx="2333625" cy="485775"/>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l">
              <a:lnSpc>
                <a:spcPct val="100000"/>
              </a:lnSpc>
              <a:buNone/>
              <a:defRPr sz="1125" b="0">
                <a:solidFill>
                  <a:srgbClr val="1D2939"/>
                </a:solidFill>
                <a:latin typeface="Arial" panose="020B0604020202020204"/>
                <a:ea typeface="Arial" panose="020B0604020202020204"/>
                <a:cs typeface="Arial" panose="020B0604020202020204"/>
              </a:defRPr>
            </a:pPr>
            <a:r>
              <a:rPr sz="1125" b="0">
                <a:solidFill>
                  <a:srgbClr val="1D2939"/>
                </a:solidFill>
                <a:latin typeface="Arial" panose="020B0604020202020204"/>
                <a:ea typeface="Arial" panose="020B0604020202020204"/>
                <a:cs typeface="Arial" panose="020B0604020202020204"/>
              </a:rPr>
              <a:t>&lt; 2.000 ms</a:t>
            </a:r>
            <a:endParaRPr sz="1125" b="0">
              <a:solidFill>
                <a:srgbClr val="1D2939"/>
              </a:solidFill>
              <a:latin typeface="Arial" panose="020B0604020202020204"/>
              <a:ea typeface="Arial" panose="020B0604020202020204"/>
              <a:cs typeface="Arial" panose="020B0604020202020204"/>
            </a:endParaRPr>
          </a:p>
        </p:txBody>
      </p:sp>
      <p:sp>
        <p:nvSpPr>
          <p:cNvPr id="15" name="Rectangle 14"/>
          <p:cNvSpPr>
            <a:spLocks noGrp="1"/>
          </p:cNvSpPr>
          <p:nvPr/>
        </p:nvSpPr>
        <p:spPr>
          <a:xfrm>
            <a:off x="904875" y="4181475"/>
            <a:ext cx="1809750" cy="485775"/>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l">
              <a:lnSpc>
                <a:spcPct val="100000"/>
              </a:lnSpc>
              <a:buNone/>
              <a:defRPr sz="1125" b="1">
                <a:solidFill>
                  <a:srgbClr val="1D2939"/>
                </a:solidFill>
                <a:latin typeface="Arial" panose="020B0604020202020204"/>
                <a:ea typeface="Arial" panose="020B0604020202020204"/>
                <a:cs typeface="Arial" panose="020B0604020202020204"/>
              </a:defRPr>
            </a:pPr>
            <a:r>
              <a:rPr sz="1125" b="1">
                <a:solidFill>
                  <a:srgbClr val="1D2939"/>
                </a:solidFill>
                <a:latin typeface="Arial" panose="020B0604020202020204"/>
                <a:ea typeface="Arial" panose="020B0604020202020204"/>
                <a:cs typeface="Arial" panose="020B0604020202020204"/>
              </a:rPr>
              <a:t>Error rate</a:t>
            </a:r>
            <a:endParaRPr sz="1125" b="1">
              <a:solidFill>
                <a:srgbClr val="1D2939"/>
              </a:solidFill>
              <a:latin typeface="Arial" panose="020B0604020202020204"/>
              <a:ea typeface="Arial" panose="020B0604020202020204"/>
              <a:cs typeface="Arial" panose="020B0604020202020204"/>
            </a:endParaRPr>
          </a:p>
        </p:txBody>
      </p:sp>
      <p:sp>
        <p:nvSpPr>
          <p:cNvPr id="16" name="Rectangle 15"/>
          <p:cNvSpPr>
            <a:spLocks noGrp="1"/>
          </p:cNvSpPr>
          <p:nvPr/>
        </p:nvSpPr>
        <p:spPr>
          <a:xfrm>
            <a:off x="2714625" y="4181475"/>
            <a:ext cx="2333625" cy="485775"/>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l">
              <a:lnSpc>
                <a:spcPct val="100000"/>
              </a:lnSpc>
              <a:buNone/>
              <a:defRPr sz="1125" b="0">
                <a:solidFill>
                  <a:srgbClr val="1D2939"/>
                </a:solidFill>
                <a:latin typeface="Arial" panose="020B0604020202020204"/>
                <a:ea typeface="Arial" panose="020B0604020202020204"/>
                <a:cs typeface="Arial" panose="020B0604020202020204"/>
              </a:defRPr>
            </a:pPr>
            <a:r>
              <a:rPr sz="1125" b="0">
                <a:solidFill>
                  <a:srgbClr val="1D2939"/>
                </a:solidFill>
                <a:latin typeface="Arial" panose="020B0604020202020204"/>
                <a:ea typeface="Arial" panose="020B0604020202020204"/>
                <a:cs typeface="Arial" panose="020B0604020202020204"/>
              </a:rPr>
              <a:t>&lt; 1%</a:t>
            </a:r>
            <a:endParaRPr sz="1125" b="0">
              <a:solidFill>
                <a:srgbClr val="1D2939"/>
              </a:solidFill>
              <a:latin typeface="Arial" panose="020B0604020202020204"/>
              <a:ea typeface="Arial" panose="020B0604020202020204"/>
              <a:cs typeface="Arial" panose="020B0604020202020204"/>
            </a:endParaRPr>
          </a:p>
        </p:txBody>
      </p:sp>
      <p:sp>
        <p:nvSpPr>
          <p:cNvPr id="17" name="Rectangle 16"/>
          <p:cNvSpPr>
            <a:spLocks noGrp="1"/>
          </p:cNvSpPr>
          <p:nvPr/>
        </p:nvSpPr>
        <p:spPr>
          <a:xfrm>
            <a:off x="1000125" y="4953000"/>
            <a:ext cx="3905250" cy="247650"/>
          </a:xfrm>
          <a:prstGeom prst="rect">
            <a:avLst/>
          </a:prstGeom>
          <a:noFill/>
          <a:ln w="0">
            <a:noFill/>
            <a:prstDash val="solid"/>
          </a:ln>
        </p:spPr>
        <p:txBody>
          <a:bodyPr wrap="square" lIns="0" tIns="0" rIns="0" bIns="0" anchor="t">
            <a:normAutofit/>
          </a:bodyPr>
          <a:lstStyle/>
          <a:p>
            <a:pPr algn="l">
              <a:lnSpc>
                <a:spcPct val="100000"/>
              </a:lnSpc>
              <a:buNone/>
              <a:defRPr sz="975" b="0">
                <a:solidFill>
                  <a:srgbClr val="5F6C7B"/>
                </a:solidFill>
                <a:latin typeface="Arial" panose="020B0604020202020204"/>
                <a:ea typeface="Arial" panose="020B0604020202020204"/>
                <a:cs typeface="Arial" panose="020B0604020202020204"/>
              </a:defRPr>
            </a:pPr>
            <a:r>
              <a:rPr sz="975" b="0">
                <a:solidFill>
                  <a:srgbClr val="5F6C7B"/>
                </a:solidFill>
                <a:latin typeface="Arial" panose="020B0604020202020204"/>
                <a:ea typeface="Arial" panose="020B0604020202020204"/>
                <a:cs typeface="Arial" panose="020B0604020202020204"/>
              </a:rPr>
              <a:t>File: tests/load/predict.js</a:t>
            </a:r>
            <a:endParaRPr sz="975" b="0">
              <a:solidFill>
                <a:srgbClr val="5F6C7B"/>
              </a:solidFill>
              <a:latin typeface="Arial" panose="020B0604020202020204"/>
              <a:ea typeface="Arial" panose="020B0604020202020204"/>
              <a:cs typeface="Arial" panose="020B0604020202020204"/>
            </a:endParaRPr>
          </a:p>
        </p:txBody>
      </p:sp>
      <p:sp>
        <p:nvSpPr>
          <p:cNvPr id="18" name="Rounded Rectangle 17"/>
          <p:cNvSpPr>
            <a:spLocks noGrp="1"/>
          </p:cNvSpPr>
          <p:nvPr/>
        </p:nvSpPr>
        <p:spPr>
          <a:xfrm>
            <a:off x="5905500" y="1476375"/>
            <a:ext cx="5619750" cy="4095750"/>
          </a:xfrm>
          <a:prstGeom prst="roundRect">
            <a:avLst>
              <a:gd name="adj" fmla="val 1628"/>
            </a:avLst>
          </a:prstGeom>
          <a:solidFill>
            <a:srgbClr val="FFF7DF"/>
          </a:solidFill>
          <a:ln w="9525">
            <a:solidFill>
              <a:srgbClr val="E9C46A"/>
            </a:solidFill>
            <a:prstDash val="solid"/>
          </a:ln>
        </p:spPr>
        <p:style>
          <a:lnRef idx="0">
            <a:srgbClr val="FFFFFF"/>
          </a:lnRef>
          <a:fillRef idx="0">
            <a:srgbClr val="FFFFFF"/>
          </a:fillRef>
          <a:effectRef idx="4">
            <a:srgbClr val="FFFFFF"/>
          </a:effectRef>
          <a:fontRef idx="major"/>
        </p:style>
      </p:sp>
      <p:sp>
        <p:nvSpPr>
          <p:cNvPr id="19" name="Rectangle 18"/>
          <p:cNvSpPr>
            <a:spLocks noGrp="1"/>
          </p:cNvSpPr>
          <p:nvPr/>
        </p:nvSpPr>
        <p:spPr>
          <a:xfrm>
            <a:off x="6191250" y="1714500"/>
            <a:ext cx="5048250" cy="333375"/>
          </a:xfrm>
          <a:prstGeom prst="rect">
            <a:avLst/>
          </a:prstGeom>
          <a:noFill/>
          <a:ln w="0">
            <a:noFill/>
            <a:prstDash val="solid"/>
          </a:ln>
        </p:spPr>
        <p:txBody>
          <a:bodyPr wrap="square" lIns="0" tIns="0" rIns="0" bIns="0" anchor="t">
            <a:normAutofit/>
          </a:bodyPr>
          <a:lstStyle/>
          <a:p>
            <a:pPr algn="l">
              <a:lnSpc>
                <a:spcPct val="100000"/>
              </a:lnSpc>
              <a:buNone/>
              <a:defRPr sz="1875" b="1">
                <a:solidFill>
                  <a:srgbClr val="102A43"/>
                </a:solidFill>
                <a:latin typeface="Arial" panose="020B0604020202020204"/>
                <a:ea typeface="Arial" panose="020B0604020202020204"/>
                <a:cs typeface="Arial" panose="020B0604020202020204"/>
              </a:defRPr>
            </a:pPr>
            <a:r>
              <a:rPr sz="1875" b="1">
                <a:solidFill>
                  <a:srgbClr val="102A43"/>
                </a:solidFill>
                <a:latin typeface="Arial" panose="020B0604020202020204"/>
                <a:ea typeface="Arial" panose="020B0604020202020204"/>
                <a:cs typeface="Arial" panose="020B0604020202020204"/>
              </a:rPr>
              <a:t>Kết quả thực tế</a:t>
            </a:r>
            <a:endParaRPr sz="1875" b="1">
              <a:solidFill>
                <a:srgbClr val="102A43"/>
              </a:solidFill>
              <a:latin typeface="Arial" panose="020B0604020202020204"/>
              <a:ea typeface="Arial" panose="020B0604020202020204"/>
              <a:cs typeface="Arial" panose="020B0604020202020204"/>
            </a:endParaRPr>
          </a:p>
        </p:txBody>
      </p:sp>
      <p:sp>
        <p:nvSpPr>
          <p:cNvPr id="20" name="Rectangle 19"/>
          <p:cNvSpPr>
            <a:spLocks noGrp="1"/>
          </p:cNvSpPr>
          <p:nvPr/>
        </p:nvSpPr>
        <p:spPr>
          <a:xfrm>
            <a:off x="6191250" y="2286000"/>
            <a:ext cx="2476500" cy="628650"/>
          </a:xfrm>
          <a:prstGeom prst="rect">
            <a:avLst/>
          </a:prstGeom>
          <a:noFill/>
          <a:ln w="0">
            <a:noFill/>
            <a:prstDash val="solid"/>
          </a:ln>
        </p:spPr>
        <p:txBody>
          <a:bodyPr wrap="square" lIns="0" tIns="0" rIns="0" bIns="0" anchor="t">
            <a:normAutofit/>
          </a:bodyPr>
          <a:lstStyle/>
          <a:p>
            <a:pPr algn="l">
              <a:lnSpc>
                <a:spcPct val="100000"/>
              </a:lnSpc>
              <a:buNone/>
              <a:defRPr sz="2850" b="1">
                <a:solidFill>
                  <a:srgbClr val="B54736"/>
                </a:solidFill>
                <a:latin typeface="Arial" panose="020B0604020202020204"/>
                <a:ea typeface="Arial" panose="020B0604020202020204"/>
                <a:cs typeface="Arial" panose="020B0604020202020204"/>
              </a:defRPr>
            </a:pPr>
            <a:r>
              <a:rPr sz="2850" b="1">
                <a:solidFill>
                  <a:srgbClr val="B54736"/>
                </a:solidFill>
                <a:latin typeface="Arial" panose="020B0604020202020204"/>
                <a:ea typeface="Arial" panose="020B0604020202020204"/>
                <a:cs typeface="Arial" panose="020B0604020202020204"/>
              </a:rPr>
              <a:t>CHƯA CÓ</a:t>
            </a:r>
            <a:endParaRPr sz="2850" b="1">
              <a:solidFill>
                <a:srgbClr val="B54736"/>
              </a:solidFill>
              <a:latin typeface="Arial" panose="020B0604020202020204"/>
              <a:ea typeface="Arial" panose="020B0604020202020204"/>
              <a:cs typeface="Arial" panose="020B0604020202020204"/>
            </a:endParaRPr>
          </a:p>
        </p:txBody>
      </p:sp>
      <p:sp>
        <p:nvSpPr>
          <p:cNvPr id="21" name="Rectangle 20"/>
          <p:cNvSpPr>
            <a:spLocks noGrp="1"/>
          </p:cNvSpPr>
          <p:nvPr/>
        </p:nvSpPr>
        <p:spPr>
          <a:xfrm>
            <a:off x="6191250" y="3095625"/>
            <a:ext cx="4762500" cy="1619250"/>
          </a:xfrm>
          <a:prstGeom prst="rect">
            <a:avLst/>
          </a:prstGeom>
          <a:noFill/>
          <a:ln w="0">
            <a:noFill/>
            <a:prstDash val="solid"/>
          </a:ln>
        </p:spPr>
        <p:txBody>
          <a:bodyPr wrap="square" lIns="114300" tIns="76200" rIns="114300" bIns="76200" anchor="t">
            <a:normAutofit/>
          </a:bodyPr>
          <a:lstStyle/>
          <a:p>
            <a:pPr marL="254000" indent="-127000" algn="l">
              <a:lnSpc>
                <a:spcPct val="100000"/>
              </a:lnSpc>
              <a:spcAft>
                <a:spcPts val="1000"/>
              </a:spcAft>
              <a:buNone/>
              <a:defRPr sz="1350">
                <a:solidFill>
                  <a:srgbClr val="1D2939"/>
                </a:solidFill>
                <a:latin typeface="Arial" panose="020B0604020202020204"/>
                <a:ea typeface="Arial" panose="020B0604020202020204"/>
                <a:cs typeface="Arial" panose="020B0604020202020204"/>
              </a:defRPr>
            </a:pPr>
            <a:r>
              <a:rPr sz="1350">
                <a:solidFill>
                  <a:srgbClr val="1D2939"/>
                </a:solidFill>
                <a:latin typeface="Arial" panose="020B0604020202020204"/>
                <a:ea typeface="Arial" panose="020B0604020202020204"/>
                <a:cs typeface="Arial" panose="020B0604020202020204"/>
              </a:rPr>
              <a:t>k6 chưa được cài trên môi trường kiểm tra.</a:t>
            </a:r>
            <a:endParaRPr sz="1350">
              <a:solidFill>
                <a:srgbClr val="1D2939"/>
              </a:solidFill>
              <a:latin typeface="Arial" panose="020B0604020202020204"/>
              <a:ea typeface="Arial" panose="020B0604020202020204"/>
              <a:cs typeface="Arial" panose="020B0604020202020204"/>
            </a:endParaRPr>
          </a:p>
          <a:p>
            <a:pPr marL="254000" indent="-127000" algn="l">
              <a:lnSpc>
                <a:spcPct val="100000"/>
              </a:lnSpc>
              <a:spcAft>
                <a:spcPts val="1000"/>
              </a:spcAft>
              <a:buNone/>
              <a:defRPr sz="1350">
                <a:solidFill>
                  <a:srgbClr val="1D2939"/>
                </a:solidFill>
                <a:latin typeface="Arial" panose="020B0604020202020204"/>
                <a:ea typeface="Arial" panose="020B0604020202020204"/>
                <a:cs typeface="Arial" panose="020B0604020202020204"/>
              </a:defRPr>
            </a:pPr>
            <a:r>
              <a:rPr sz="1350">
                <a:solidFill>
                  <a:srgbClr val="1D2939"/>
                </a:solidFill>
                <a:latin typeface="Arial" panose="020B0604020202020204"/>
                <a:ea typeface="Arial" panose="020B0604020202020204"/>
                <a:cs typeface="Arial" panose="020B0604020202020204"/>
              </a:rPr>
              <a:t>p50 / p95 / throughput: chưa đo.</a:t>
            </a:r>
            <a:endParaRPr sz="1350">
              <a:solidFill>
                <a:srgbClr val="1D2939"/>
              </a:solidFill>
              <a:latin typeface="Arial" panose="020B0604020202020204"/>
              <a:ea typeface="Arial" panose="020B0604020202020204"/>
              <a:cs typeface="Arial" panose="020B0604020202020204"/>
            </a:endParaRPr>
          </a:p>
          <a:p>
            <a:pPr marL="254000" indent="-127000" algn="l">
              <a:lnSpc>
                <a:spcPct val="100000"/>
              </a:lnSpc>
              <a:spcAft>
                <a:spcPts val="1000"/>
              </a:spcAft>
              <a:buNone/>
              <a:defRPr sz="1350">
                <a:solidFill>
                  <a:srgbClr val="1D2939"/>
                </a:solidFill>
                <a:latin typeface="Arial" panose="020B0604020202020204"/>
                <a:ea typeface="Arial" panose="020B0604020202020204"/>
                <a:cs typeface="Arial" panose="020B0604020202020204"/>
              </a:defRPr>
            </a:pPr>
            <a:r>
              <a:rPr sz="1350">
                <a:solidFill>
                  <a:srgbClr val="1D2939"/>
                </a:solidFill>
                <a:latin typeface="Arial" panose="020B0604020202020204"/>
                <a:ea typeface="Arial" panose="020B0604020202020204"/>
                <a:cs typeface="Arial" panose="020B0604020202020204"/>
              </a:rPr>
              <a:t>Lighthouse frontend: chưa đo.</a:t>
            </a:r>
            <a:endParaRPr sz="1350">
              <a:solidFill>
                <a:srgbClr val="1D2939"/>
              </a:solidFill>
              <a:latin typeface="Arial" panose="020B0604020202020204"/>
              <a:ea typeface="Arial" panose="020B0604020202020204"/>
              <a:cs typeface="Arial" panose="020B0604020202020204"/>
            </a:endParaRPr>
          </a:p>
          <a:p>
            <a:pPr marL="254000" indent="-127000" algn="l">
              <a:lnSpc>
                <a:spcPct val="100000"/>
              </a:lnSpc>
              <a:spcAft>
                <a:spcPts val="1000"/>
              </a:spcAft>
              <a:buNone/>
              <a:defRPr sz="1350">
                <a:solidFill>
                  <a:srgbClr val="1D2939"/>
                </a:solidFill>
                <a:latin typeface="Arial" panose="020B0604020202020204"/>
                <a:ea typeface="Arial" panose="020B0604020202020204"/>
                <a:cs typeface="Arial" panose="020B0604020202020204"/>
              </a:defRPr>
            </a:pPr>
            <a:r>
              <a:rPr sz="1350">
                <a:solidFill>
                  <a:srgbClr val="1D2939"/>
                </a:solidFill>
                <a:latin typeface="Arial" panose="020B0604020202020204"/>
                <a:ea typeface="Arial" panose="020B0604020202020204"/>
                <a:cs typeface="Arial" panose="020B0604020202020204"/>
              </a:rPr>
              <a:t>docs/performance-test.md hiện vẫn là TBD.</a:t>
            </a:r>
            <a:endParaRPr sz="1350">
              <a:solidFill>
                <a:srgbClr val="1D2939"/>
              </a:solidFill>
              <a:latin typeface="Arial" panose="020B0604020202020204"/>
              <a:ea typeface="Arial" panose="020B0604020202020204"/>
              <a:cs typeface="Arial" panose="020B0604020202020204"/>
            </a:endParaRPr>
          </a:p>
        </p:txBody>
      </p:sp>
      <p:sp>
        <p:nvSpPr>
          <p:cNvPr id="22" name="Rounded Rectangle 21"/>
          <p:cNvSpPr>
            <a:spLocks noGrp="1"/>
          </p:cNvSpPr>
          <p:nvPr/>
        </p:nvSpPr>
        <p:spPr>
          <a:xfrm>
            <a:off x="6191250" y="4857750"/>
            <a:ext cx="4762500" cy="428625"/>
          </a:xfrm>
          <a:prstGeom prst="roundRect">
            <a:avLst>
              <a:gd name="adj" fmla="val 15556"/>
            </a:avLst>
          </a:prstGeom>
          <a:solidFill>
            <a:srgbClr val="FFFFFF"/>
          </a:solidFill>
          <a:ln w="9525">
            <a:solidFill>
              <a:srgbClr val="E9C46A"/>
            </a:solidFill>
            <a:prstDash val="solid"/>
          </a:ln>
        </p:spPr>
        <p:style>
          <a:lnRef idx="0">
            <a:srgbClr val="FFFFFF"/>
          </a:lnRef>
          <a:fillRef idx="0">
            <a:srgbClr val="FFFFFF"/>
          </a:fillRef>
          <a:effectRef idx="4">
            <a:srgbClr val="FFFFFF"/>
          </a:effectRef>
          <a:fontRef idx="major"/>
        </p:style>
      </p:sp>
      <p:sp>
        <p:nvSpPr>
          <p:cNvPr id="23" name="Rectangle 22"/>
          <p:cNvSpPr>
            <a:spLocks noGrp="1"/>
          </p:cNvSpPr>
          <p:nvPr/>
        </p:nvSpPr>
        <p:spPr>
          <a:xfrm>
            <a:off x="6334125" y="4914900"/>
            <a:ext cx="4476750" cy="295275"/>
          </a:xfrm>
          <a:prstGeom prst="rect">
            <a:avLst/>
          </a:prstGeom>
          <a:noFill/>
          <a:ln w="0">
            <a:noFill/>
            <a:prstDash val="solid"/>
          </a:ln>
        </p:spPr>
        <p:txBody>
          <a:bodyPr wrap="square" lIns="95250" tIns="57150" rIns="95250" bIns="57150" anchor="ctr">
            <a:normAutofit/>
          </a:bodyPr>
          <a:lstStyle/>
          <a:p>
            <a:pPr algn="ctr">
              <a:lnSpc>
                <a:spcPct val="100000"/>
              </a:lnSpc>
              <a:buNone/>
              <a:defRPr sz="1125" b="1">
                <a:solidFill>
                  <a:srgbClr val="102A43"/>
                </a:solidFill>
                <a:latin typeface="Arial" panose="020B0604020202020204"/>
                <a:ea typeface="Arial" panose="020B0604020202020204"/>
                <a:cs typeface="Arial" panose="020B0604020202020204"/>
              </a:defRPr>
            </a:pPr>
            <a:r>
              <a:rPr sz="1125" b="1">
                <a:solidFill>
                  <a:srgbClr val="102A43"/>
                </a:solidFill>
                <a:latin typeface="Arial" panose="020B0604020202020204"/>
                <a:ea typeface="Arial" panose="020B0604020202020204"/>
                <a:cs typeface="Arial" panose="020B0604020202020204"/>
              </a:rPr>
              <a:t>Không suy diễn số liệu khi chưa chạy benchmark.</a:t>
            </a:r>
            <a:endParaRPr sz="1125" b="1">
              <a:solidFill>
                <a:srgbClr val="102A43"/>
              </a:solidFill>
              <a:latin typeface="Arial" panose="020B0604020202020204"/>
              <a:ea typeface="Arial" panose="020B0604020202020204"/>
              <a:cs typeface="Arial" panose="020B0604020202020204"/>
            </a:endParaRPr>
          </a:p>
        </p:txBody>
      </p:sp>
      <p:sp>
        <p:nvSpPr>
          <p:cNvPr id="24" name="Straight Connector 23"/>
          <p:cNvSpPr>
            <a:spLocks noGrp="1"/>
          </p:cNvSpPr>
          <p:nvPr/>
        </p:nvSpPr>
        <p:spPr>
          <a:xfrm>
            <a:off x="666750" y="6477000"/>
            <a:ext cx="10858500" cy="0"/>
          </a:xfrm>
          <a:prstGeom prst="line">
            <a:avLst/>
          </a:prstGeom>
          <a:noFill/>
          <a:ln w="9525">
            <a:solidFill>
              <a:srgbClr val="D7E0E8"/>
            </a:solidFill>
            <a:prstDash val="solid"/>
          </a:ln>
        </p:spPr>
      </p:sp>
      <p:sp>
        <p:nvSpPr>
          <p:cNvPr id="25" name="Rectangle 24"/>
          <p:cNvSpPr>
            <a:spLocks noGrp="1"/>
          </p:cNvSpPr>
          <p:nvPr/>
        </p:nvSpPr>
        <p:spPr>
          <a:xfrm>
            <a:off x="666750" y="6524625"/>
            <a:ext cx="10572750" cy="209550"/>
          </a:xfrm>
          <a:prstGeom prst="rect">
            <a:avLst/>
          </a:prstGeom>
          <a:noFill/>
          <a:ln w="0">
            <a:noFill/>
            <a:prstDash val="solid"/>
          </a:ln>
        </p:spPr>
        <p:txBody>
          <a:bodyPr wrap="square" lIns="0" tIns="0" rIns="0" bIns="0" anchor="t">
            <a:normAutofit/>
          </a:bodyPr>
          <a:lstStyle/>
          <a:p>
            <a:pPr algn="l">
              <a:lnSpc>
                <a:spcPct val="100000"/>
              </a:lnSpc>
              <a:buNone/>
              <a:defRPr sz="825" b="0">
                <a:solidFill>
                  <a:srgbClr val="5F6C7B"/>
                </a:solidFill>
                <a:latin typeface="Arial" panose="020B0604020202020204"/>
                <a:ea typeface="Arial" panose="020B0604020202020204"/>
                <a:cs typeface="Arial" panose="020B0604020202020204"/>
              </a:defRPr>
            </a:pPr>
            <a:r>
              <a:rPr sz="825" b="0">
                <a:solidFill>
                  <a:srgbClr val="5F6C7B"/>
                </a:solidFill>
                <a:latin typeface="Arial" panose="020B0604020202020204"/>
                <a:ea typeface="Arial" panose="020B0604020202020204"/>
                <a:cs typeface="Arial" panose="020B0604020202020204"/>
              </a:rPr>
              <a:t>Nguồn: tests/load/predict.js; docs/performance-test.md</a:t>
            </a:r>
            <a:endParaRPr sz="825" b="0">
              <a:solidFill>
                <a:srgbClr val="5F6C7B"/>
              </a:solidFill>
              <a:latin typeface="Arial" panose="020B0604020202020204"/>
              <a:ea typeface="Arial" panose="020B0604020202020204"/>
              <a:cs typeface="Arial" panose="020B0604020202020204"/>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02A43"/>
        </a:solidFill>
        <a:effectLst/>
      </p:bgPr>
    </p:bg>
    <p:spTree>
      <p:nvGrpSpPr>
        <p:cNvPr id="1" name=""/>
        <p:cNvGrpSpPr/>
        <p:nvPr/>
      </p:nvGrpSpPr>
      <p:grpSpPr/>
      <p:sp>
        <p:nvSpPr>
          <p:cNvPr id="19" name="Rectangle 18"/>
          <p:cNvSpPr>
            <a:spLocks noGrp="1"/>
          </p:cNvSpPr>
          <p:nvPr/>
        </p:nvSpPr>
        <p:spPr>
          <a:xfrm>
            <a:off x="666750" y="400050"/>
            <a:ext cx="9334500" cy="247650"/>
          </a:xfrm>
          <a:prstGeom prst="rect">
            <a:avLst/>
          </a:prstGeom>
          <a:noFill/>
          <a:ln w="0">
            <a:noFill/>
            <a:prstDash val="solid"/>
          </a:ln>
        </p:spPr>
        <p:txBody>
          <a:bodyPr wrap="square" lIns="0" tIns="0" rIns="0" bIns="0" anchor="t">
            <a:normAutofit/>
          </a:bodyPr>
          <a:lstStyle/>
          <a:p>
            <a:pPr algn="l">
              <a:lnSpc>
                <a:spcPct val="100000"/>
              </a:lnSpc>
              <a:buNone/>
              <a:defRPr sz="1050" b="1">
                <a:solidFill>
                  <a:srgbClr val="E9C46A"/>
                </a:solidFill>
                <a:latin typeface="Arial" panose="020B0604020202020204"/>
                <a:ea typeface="Arial" panose="020B0604020202020204"/>
                <a:cs typeface="Arial" panose="020B0604020202020204"/>
              </a:defRPr>
            </a:pPr>
            <a:r>
              <a:rPr sz="1050" b="1">
                <a:solidFill>
                  <a:srgbClr val="E9C46A"/>
                </a:solidFill>
                <a:latin typeface="Arial" panose="020B0604020202020204"/>
                <a:ea typeface="Arial" panose="020B0604020202020204"/>
                <a:cs typeface="Arial" panose="020B0604020202020204"/>
              </a:rPr>
              <a:t>14 · WRAP-UP</a:t>
            </a:r>
            <a:endParaRPr sz="1050" b="1">
              <a:solidFill>
                <a:srgbClr val="E9C46A"/>
              </a:solidFill>
              <a:latin typeface="Arial" panose="020B0604020202020204"/>
              <a:ea typeface="Arial" panose="020B0604020202020204"/>
              <a:cs typeface="Arial" panose="020B0604020202020204"/>
            </a:endParaRPr>
          </a:p>
        </p:txBody>
      </p:sp>
      <p:sp>
        <p:nvSpPr>
          <p:cNvPr id="2" name="Rectangle 1"/>
          <p:cNvSpPr>
            <a:spLocks noGrp="1"/>
          </p:cNvSpPr>
          <p:nvPr/>
        </p:nvSpPr>
        <p:spPr>
          <a:xfrm>
            <a:off x="666750" y="685800"/>
            <a:ext cx="10287000" cy="552450"/>
          </a:xfrm>
          <a:prstGeom prst="rect">
            <a:avLst/>
          </a:prstGeom>
          <a:noFill/>
          <a:ln w="0">
            <a:noFill/>
            <a:prstDash val="solid"/>
          </a:ln>
        </p:spPr>
        <p:txBody>
          <a:bodyPr wrap="square" lIns="0" tIns="0" rIns="0" bIns="0" anchor="t">
            <a:normAutofit/>
          </a:bodyPr>
          <a:lstStyle/>
          <a:p>
            <a:pPr algn="l">
              <a:lnSpc>
                <a:spcPct val="100000"/>
              </a:lnSpc>
              <a:buNone/>
              <a:defRPr sz="2850" b="1">
                <a:solidFill>
                  <a:srgbClr val="FFFFFF"/>
                </a:solidFill>
                <a:latin typeface="Arial" panose="020B0604020202020204"/>
                <a:ea typeface="Arial" panose="020B0604020202020204"/>
                <a:cs typeface="Arial" panose="020B0604020202020204"/>
              </a:defRPr>
            </a:pPr>
            <a:r>
              <a:rPr sz="2850" b="1">
                <a:solidFill>
                  <a:srgbClr val="FFFFFF"/>
                </a:solidFill>
                <a:latin typeface="Arial" panose="020B0604020202020204"/>
                <a:ea typeface="Arial" panose="020B0604020202020204"/>
                <a:cs typeface="Arial" panose="020B0604020202020204"/>
              </a:rPr>
              <a:t>Kết luận và hướng phát triển</a:t>
            </a:r>
            <a:endParaRPr sz="2850" b="1">
              <a:solidFill>
                <a:srgbClr val="FFFFFF"/>
              </a:solidFill>
              <a:latin typeface="Arial" panose="020B0604020202020204"/>
              <a:ea typeface="Arial" panose="020B0604020202020204"/>
              <a:cs typeface="Arial" panose="020B0604020202020204"/>
            </a:endParaRPr>
          </a:p>
        </p:txBody>
      </p:sp>
      <p:sp>
        <p:nvSpPr>
          <p:cNvPr id="3" name="Rectangle 2"/>
          <p:cNvSpPr>
            <a:spLocks noGrp="1"/>
          </p:cNvSpPr>
          <p:nvPr/>
        </p:nvSpPr>
        <p:spPr>
          <a:xfrm>
            <a:off x="11191875" y="409575"/>
            <a:ext cx="381000" cy="247650"/>
          </a:xfrm>
          <a:prstGeom prst="rect">
            <a:avLst/>
          </a:prstGeom>
          <a:noFill/>
          <a:ln w="0">
            <a:noFill/>
            <a:prstDash val="solid"/>
          </a:ln>
        </p:spPr>
        <p:txBody>
          <a:bodyPr wrap="square" lIns="0" tIns="0" rIns="0" bIns="0" anchor="t">
            <a:normAutofit/>
          </a:bodyPr>
          <a:lstStyle/>
          <a:p>
            <a:pPr algn="r">
              <a:lnSpc>
                <a:spcPct val="100000"/>
              </a:lnSpc>
              <a:buNone/>
              <a:defRPr sz="1050" b="1">
                <a:solidFill>
                  <a:srgbClr val="FFFFFF"/>
                </a:solidFill>
                <a:latin typeface="Arial" panose="020B0604020202020204"/>
                <a:ea typeface="Arial" panose="020B0604020202020204"/>
                <a:cs typeface="Arial" panose="020B0604020202020204"/>
              </a:defRPr>
            </a:pPr>
            <a:r>
              <a:rPr sz="1050" b="1">
                <a:solidFill>
                  <a:srgbClr val="FFFFFF"/>
                </a:solidFill>
                <a:latin typeface="Arial" panose="020B0604020202020204"/>
                <a:ea typeface="Arial" panose="020B0604020202020204"/>
                <a:cs typeface="Arial" panose="020B0604020202020204"/>
              </a:rPr>
              <a:t>16</a:t>
            </a:r>
            <a:endParaRPr sz="1050" b="1">
              <a:solidFill>
                <a:srgbClr val="FFFFFF"/>
              </a:solidFill>
              <a:latin typeface="Arial" panose="020B0604020202020204"/>
              <a:ea typeface="Arial" panose="020B0604020202020204"/>
              <a:cs typeface="Arial" panose="020B0604020202020204"/>
            </a:endParaRPr>
          </a:p>
        </p:txBody>
      </p:sp>
      <p:sp>
        <p:nvSpPr>
          <p:cNvPr id="4" name="Rounded Rectangle 3"/>
          <p:cNvSpPr>
            <a:spLocks noGrp="1"/>
          </p:cNvSpPr>
          <p:nvPr/>
        </p:nvSpPr>
        <p:spPr>
          <a:xfrm>
            <a:off x="666750" y="1571625"/>
            <a:ext cx="3238500" cy="3714750"/>
          </a:xfrm>
          <a:prstGeom prst="roundRect">
            <a:avLst>
              <a:gd name="adj" fmla="val 2059"/>
            </a:avLst>
          </a:prstGeom>
          <a:solidFill>
            <a:srgbClr val="FFFFFF"/>
          </a:solidFill>
          <a:ln w="9525">
            <a:solidFill>
              <a:srgbClr val="167D8D"/>
            </a:solidFill>
            <a:prstDash val="solid"/>
          </a:ln>
        </p:spPr>
        <p:style>
          <a:lnRef idx="0">
            <a:srgbClr val="FFFFFF"/>
          </a:lnRef>
          <a:fillRef idx="0">
            <a:srgbClr val="FFFFFF"/>
          </a:fillRef>
          <a:effectRef idx="6">
            <a:srgbClr val="FFFFFF"/>
          </a:effectRef>
          <a:fontRef idx="major"/>
        </p:style>
      </p:sp>
      <p:sp>
        <p:nvSpPr>
          <p:cNvPr id="5" name="Rectangle 4"/>
          <p:cNvSpPr>
            <a:spLocks noGrp="1"/>
          </p:cNvSpPr>
          <p:nvPr/>
        </p:nvSpPr>
        <p:spPr>
          <a:xfrm>
            <a:off x="666750" y="1571625"/>
            <a:ext cx="3238500" cy="85725"/>
          </a:xfrm>
          <a:prstGeom prst="rect">
            <a:avLst/>
          </a:prstGeom>
          <a:solidFill>
            <a:srgbClr val="167D8D"/>
          </a:solidFill>
          <a:ln w="0">
            <a:noFill/>
            <a:prstDash val="solid"/>
          </a:ln>
        </p:spPr>
      </p:sp>
      <p:sp>
        <p:nvSpPr>
          <p:cNvPr id="6" name="Rectangle 5"/>
          <p:cNvSpPr>
            <a:spLocks noGrp="1"/>
          </p:cNvSpPr>
          <p:nvPr/>
        </p:nvSpPr>
        <p:spPr>
          <a:xfrm>
            <a:off x="904875" y="1885950"/>
            <a:ext cx="2762250" cy="400050"/>
          </a:xfrm>
          <a:prstGeom prst="rect">
            <a:avLst/>
          </a:prstGeom>
          <a:noFill/>
          <a:ln w="0">
            <a:noFill/>
            <a:prstDash val="solid"/>
          </a:ln>
        </p:spPr>
        <p:txBody>
          <a:bodyPr wrap="square" lIns="95250" tIns="57150" rIns="95250" bIns="57150" anchor="ctr">
            <a:normAutofit/>
          </a:bodyPr>
          <a:lstStyle/>
          <a:p>
            <a:pPr algn="ctr">
              <a:lnSpc>
                <a:spcPct val="100000"/>
              </a:lnSpc>
              <a:buNone/>
              <a:defRPr sz="1800" b="1">
                <a:solidFill>
                  <a:srgbClr val="102A43"/>
                </a:solidFill>
                <a:latin typeface="Arial" panose="020B0604020202020204"/>
                <a:ea typeface="Arial" panose="020B0604020202020204"/>
                <a:cs typeface="Arial" panose="020B0604020202020204"/>
              </a:defRPr>
            </a:pPr>
            <a:r>
              <a:rPr sz="1800" b="1">
                <a:solidFill>
                  <a:srgbClr val="102A43"/>
                </a:solidFill>
                <a:latin typeface="Arial" panose="020B0604020202020204"/>
                <a:ea typeface="Arial" panose="020B0604020202020204"/>
                <a:cs typeface="Arial" panose="020B0604020202020204"/>
              </a:rPr>
              <a:t>Đã hoàn thành</a:t>
            </a:r>
            <a:endParaRPr sz="1800" b="1">
              <a:solidFill>
                <a:srgbClr val="102A43"/>
              </a:solidFill>
              <a:latin typeface="Arial" panose="020B0604020202020204"/>
              <a:ea typeface="Arial" panose="020B0604020202020204"/>
              <a:cs typeface="Arial" panose="020B0604020202020204"/>
            </a:endParaRPr>
          </a:p>
        </p:txBody>
      </p:sp>
      <p:sp>
        <p:nvSpPr>
          <p:cNvPr id="7" name="Rectangle 6"/>
          <p:cNvSpPr>
            <a:spLocks noGrp="1"/>
          </p:cNvSpPr>
          <p:nvPr/>
        </p:nvSpPr>
        <p:spPr>
          <a:xfrm>
            <a:off x="933450" y="2571750"/>
            <a:ext cx="2667000" cy="2190750"/>
          </a:xfrm>
          <a:prstGeom prst="rect">
            <a:avLst/>
          </a:prstGeom>
          <a:noFill/>
          <a:ln w="0">
            <a:noFill/>
            <a:prstDash val="solid"/>
          </a:ln>
        </p:spPr>
        <p:txBody>
          <a:bodyPr wrap="square" lIns="114300" tIns="76200" rIns="114300" bIns="76200" anchor="t">
            <a:normAutofit/>
          </a:bodyPr>
          <a:lstStyle/>
          <a:p>
            <a:pPr marL="254000" indent="-127000" algn="l">
              <a:lnSpc>
                <a:spcPct val="100000"/>
              </a:lnSpc>
              <a:spcAft>
                <a:spcPts val="1200"/>
              </a:spcAft>
              <a:buNone/>
              <a:defRPr sz="1275">
                <a:solidFill>
                  <a:srgbClr val="1D2939"/>
                </a:solidFill>
                <a:latin typeface="Arial" panose="020B0604020202020204"/>
                <a:ea typeface="Arial" panose="020B0604020202020204"/>
                <a:cs typeface="Arial" panose="020B0604020202020204"/>
              </a:defRPr>
            </a:pPr>
            <a:r>
              <a:rPr sz="1275">
                <a:solidFill>
                  <a:srgbClr val="1D2939"/>
                </a:solidFill>
                <a:latin typeface="Arial" panose="020B0604020202020204"/>
                <a:ea typeface="Arial" panose="020B0604020202020204"/>
                <a:cs typeface="Arial" panose="020B0604020202020204"/>
              </a:rPr>
              <a:t>EDA với hình thực tế</a:t>
            </a:r>
            <a:endParaRPr sz="1275">
              <a:solidFill>
                <a:srgbClr val="1D2939"/>
              </a:solidFill>
              <a:latin typeface="Arial" panose="020B0604020202020204"/>
              <a:ea typeface="Arial" panose="020B0604020202020204"/>
              <a:cs typeface="Arial" panose="020B0604020202020204"/>
            </a:endParaRPr>
          </a:p>
          <a:p>
            <a:pPr marL="254000" indent="-127000" algn="l">
              <a:lnSpc>
                <a:spcPct val="100000"/>
              </a:lnSpc>
              <a:spcAft>
                <a:spcPts val="1200"/>
              </a:spcAft>
              <a:buNone/>
              <a:defRPr sz="1275">
                <a:solidFill>
                  <a:srgbClr val="1D2939"/>
                </a:solidFill>
                <a:latin typeface="Arial" panose="020B0604020202020204"/>
                <a:ea typeface="Arial" panose="020B0604020202020204"/>
                <a:cs typeface="Arial" panose="020B0604020202020204"/>
              </a:defRPr>
            </a:pPr>
            <a:r>
              <a:rPr sz="1275">
                <a:solidFill>
                  <a:srgbClr val="1D2939"/>
                </a:solidFill>
                <a:latin typeface="Arial" panose="020B0604020202020204"/>
                <a:ea typeface="Arial" panose="020B0604020202020204"/>
                <a:cs typeface="Arial" panose="020B0604020202020204"/>
              </a:rPr>
              <a:t>4 model + tuning</a:t>
            </a:r>
            <a:endParaRPr sz="1275">
              <a:solidFill>
                <a:srgbClr val="1D2939"/>
              </a:solidFill>
              <a:latin typeface="Arial" panose="020B0604020202020204"/>
              <a:ea typeface="Arial" panose="020B0604020202020204"/>
              <a:cs typeface="Arial" panose="020B0604020202020204"/>
            </a:endParaRPr>
          </a:p>
          <a:p>
            <a:pPr marL="254000" indent="-127000" algn="l">
              <a:lnSpc>
                <a:spcPct val="100000"/>
              </a:lnSpc>
              <a:spcAft>
                <a:spcPts val="1200"/>
              </a:spcAft>
              <a:buNone/>
              <a:defRPr sz="1275">
                <a:solidFill>
                  <a:srgbClr val="1D2939"/>
                </a:solidFill>
                <a:latin typeface="Arial" panose="020B0604020202020204"/>
                <a:ea typeface="Arial" panose="020B0604020202020204"/>
                <a:cs typeface="Arial" panose="020B0604020202020204"/>
              </a:defRPr>
            </a:pPr>
            <a:r>
              <a:rPr sz="1275">
                <a:solidFill>
                  <a:srgbClr val="1D2939"/>
                </a:solidFill>
                <a:latin typeface="Arial" panose="020B0604020202020204"/>
                <a:ea typeface="Arial" panose="020B0604020202020204"/>
                <a:cs typeface="Arial" panose="020B0604020202020204"/>
              </a:rPr>
              <a:t>Artifact Gradient Boosting</a:t>
            </a:r>
            <a:endParaRPr sz="1275">
              <a:solidFill>
                <a:srgbClr val="1D2939"/>
              </a:solidFill>
              <a:latin typeface="Arial" panose="020B0604020202020204"/>
              <a:ea typeface="Arial" panose="020B0604020202020204"/>
              <a:cs typeface="Arial" panose="020B0604020202020204"/>
            </a:endParaRPr>
          </a:p>
          <a:p>
            <a:pPr marL="254000" indent="-127000" algn="l">
              <a:lnSpc>
                <a:spcPct val="100000"/>
              </a:lnSpc>
              <a:spcAft>
                <a:spcPts val="1200"/>
              </a:spcAft>
              <a:buNone/>
              <a:defRPr sz="1275">
                <a:solidFill>
                  <a:srgbClr val="1D2939"/>
                </a:solidFill>
                <a:latin typeface="Arial" panose="020B0604020202020204"/>
                <a:ea typeface="Arial" panose="020B0604020202020204"/>
                <a:cs typeface="Arial" panose="020B0604020202020204"/>
              </a:defRPr>
            </a:pPr>
            <a:r>
              <a:rPr sz="1275">
                <a:solidFill>
                  <a:srgbClr val="1D2939"/>
                </a:solidFill>
                <a:latin typeface="Arial" panose="020B0604020202020204"/>
                <a:ea typeface="Arial" panose="020B0604020202020204"/>
                <a:cs typeface="Arial" panose="020B0604020202020204"/>
              </a:rPr>
              <a:t>API đa service</a:t>
            </a:r>
            <a:endParaRPr sz="1275">
              <a:solidFill>
                <a:srgbClr val="1D2939"/>
              </a:solidFill>
              <a:latin typeface="Arial" panose="020B0604020202020204"/>
              <a:ea typeface="Arial" panose="020B0604020202020204"/>
              <a:cs typeface="Arial" panose="020B0604020202020204"/>
            </a:endParaRPr>
          </a:p>
          <a:p>
            <a:pPr marL="254000" indent="-127000" algn="l">
              <a:lnSpc>
                <a:spcPct val="100000"/>
              </a:lnSpc>
              <a:spcAft>
                <a:spcPts val="1200"/>
              </a:spcAft>
              <a:buNone/>
              <a:defRPr sz="1275">
                <a:solidFill>
                  <a:srgbClr val="1D2939"/>
                </a:solidFill>
                <a:latin typeface="Arial" panose="020B0604020202020204"/>
                <a:ea typeface="Arial" panose="020B0604020202020204"/>
                <a:cs typeface="Arial" panose="020B0604020202020204"/>
              </a:defRPr>
            </a:pPr>
            <a:r>
              <a:rPr sz="1275">
                <a:solidFill>
                  <a:srgbClr val="1D2939"/>
                </a:solidFill>
                <a:latin typeface="Arial" panose="020B0604020202020204"/>
                <a:ea typeface="Arial" panose="020B0604020202020204"/>
                <a:cs typeface="Arial" panose="020B0604020202020204"/>
              </a:rPr>
              <a:t>12/12 pytest + smoke PASS</a:t>
            </a:r>
            <a:endParaRPr sz="1275">
              <a:solidFill>
                <a:srgbClr val="1D2939"/>
              </a:solidFill>
              <a:latin typeface="Arial" panose="020B0604020202020204"/>
              <a:ea typeface="Arial" panose="020B0604020202020204"/>
              <a:cs typeface="Arial" panose="020B0604020202020204"/>
            </a:endParaRPr>
          </a:p>
        </p:txBody>
      </p:sp>
      <p:sp>
        <p:nvSpPr>
          <p:cNvPr id="8" name="Rounded Rectangle 7"/>
          <p:cNvSpPr>
            <a:spLocks noGrp="1"/>
          </p:cNvSpPr>
          <p:nvPr/>
        </p:nvSpPr>
        <p:spPr>
          <a:xfrm>
            <a:off x="4238625" y="1571625"/>
            <a:ext cx="3238500" cy="3714750"/>
          </a:xfrm>
          <a:prstGeom prst="roundRect">
            <a:avLst>
              <a:gd name="adj" fmla="val 2059"/>
            </a:avLst>
          </a:prstGeom>
          <a:solidFill>
            <a:srgbClr val="FFFFFF"/>
          </a:solidFill>
          <a:ln w="9525">
            <a:solidFill>
              <a:srgbClr val="E76F51"/>
            </a:solidFill>
            <a:prstDash val="solid"/>
          </a:ln>
        </p:spPr>
        <p:style>
          <a:lnRef idx="0">
            <a:srgbClr val="FFFFFF"/>
          </a:lnRef>
          <a:fillRef idx="0">
            <a:srgbClr val="FFFFFF"/>
          </a:fillRef>
          <a:effectRef idx="6">
            <a:srgbClr val="FFFFFF"/>
          </a:effectRef>
          <a:fontRef idx="major"/>
        </p:style>
      </p:sp>
      <p:sp>
        <p:nvSpPr>
          <p:cNvPr id="9" name="Rectangle 8"/>
          <p:cNvSpPr>
            <a:spLocks noGrp="1"/>
          </p:cNvSpPr>
          <p:nvPr/>
        </p:nvSpPr>
        <p:spPr>
          <a:xfrm>
            <a:off x="4238625" y="1571625"/>
            <a:ext cx="3238500" cy="85725"/>
          </a:xfrm>
          <a:prstGeom prst="rect">
            <a:avLst/>
          </a:prstGeom>
          <a:solidFill>
            <a:srgbClr val="E76F51"/>
          </a:solidFill>
          <a:ln w="0">
            <a:noFill/>
            <a:prstDash val="solid"/>
          </a:ln>
        </p:spPr>
      </p:sp>
      <p:sp>
        <p:nvSpPr>
          <p:cNvPr id="10" name="Rectangle 9"/>
          <p:cNvSpPr>
            <a:spLocks noGrp="1"/>
          </p:cNvSpPr>
          <p:nvPr/>
        </p:nvSpPr>
        <p:spPr>
          <a:xfrm>
            <a:off x="4476750" y="1885950"/>
            <a:ext cx="2762250" cy="400050"/>
          </a:xfrm>
          <a:prstGeom prst="rect">
            <a:avLst/>
          </a:prstGeom>
          <a:noFill/>
          <a:ln w="0">
            <a:noFill/>
            <a:prstDash val="solid"/>
          </a:ln>
        </p:spPr>
        <p:txBody>
          <a:bodyPr wrap="square" lIns="95250" tIns="57150" rIns="95250" bIns="57150" anchor="ctr">
            <a:normAutofit/>
          </a:bodyPr>
          <a:lstStyle/>
          <a:p>
            <a:pPr algn="ctr">
              <a:lnSpc>
                <a:spcPct val="100000"/>
              </a:lnSpc>
              <a:buNone/>
              <a:defRPr sz="1800" b="1">
                <a:solidFill>
                  <a:srgbClr val="102A43"/>
                </a:solidFill>
                <a:latin typeface="Arial" panose="020B0604020202020204"/>
                <a:ea typeface="Arial" panose="020B0604020202020204"/>
                <a:cs typeface="Arial" panose="020B0604020202020204"/>
              </a:defRPr>
            </a:pPr>
            <a:r>
              <a:rPr sz="1800" b="1">
                <a:solidFill>
                  <a:srgbClr val="102A43"/>
                </a:solidFill>
                <a:latin typeface="Arial" panose="020B0604020202020204"/>
                <a:ea typeface="Arial" panose="020B0604020202020204"/>
                <a:cs typeface="Arial" panose="020B0604020202020204"/>
              </a:rPr>
              <a:t>Giới hạn hiện tại</a:t>
            </a:r>
            <a:endParaRPr sz="1800" b="1">
              <a:solidFill>
                <a:srgbClr val="102A43"/>
              </a:solidFill>
              <a:latin typeface="Arial" panose="020B0604020202020204"/>
              <a:ea typeface="Arial" panose="020B0604020202020204"/>
              <a:cs typeface="Arial" panose="020B0604020202020204"/>
            </a:endParaRPr>
          </a:p>
        </p:txBody>
      </p:sp>
      <p:sp>
        <p:nvSpPr>
          <p:cNvPr id="11" name="Rectangle 10"/>
          <p:cNvSpPr>
            <a:spLocks noGrp="1"/>
          </p:cNvSpPr>
          <p:nvPr/>
        </p:nvSpPr>
        <p:spPr>
          <a:xfrm>
            <a:off x="4505325" y="2571750"/>
            <a:ext cx="2667000" cy="2190750"/>
          </a:xfrm>
          <a:prstGeom prst="rect">
            <a:avLst/>
          </a:prstGeom>
          <a:noFill/>
          <a:ln w="0">
            <a:noFill/>
            <a:prstDash val="solid"/>
          </a:ln>
        </p:spPr>
        <p:txBody>
          <a:bodyPr wrap="square" lIns="114300" tIns="76200" rIns="114300" bIns="76200" anchor="t">
            <a:normAutofit/>
          </a:bodyPr>
          <a:lstStyle/>
          <a:p>
            <a:pPr marL="254000" indent="-127000" algn="l">
              <a:lnSpc>
                <a:spcPct val="100000"/>
              </a:lnSpc>
              <a:spcAft>
                <a:spcPts val="1200"/>
              </a:spcAft>
              <a:buNone/>
              <a:defRPr sz="1275">
                <a:solidFill>
                  <a:srgbClr val="1D2939"/>
                </a:solidFill>
                <a:latin typeface="Arial" panose="020B0604020202020204"/>
                <a:ea typeface="Arial" panose="020B0604020202020204"/>
                <a:cs typeface="Arial" panose="020B0604020202020204"/>
              </a:defRPr>
            </a:pPr>
            <a:r>
              <a:rPr sz="1275">
                <a:solidFill>
                  <a:srgbClr val="1D2939"/>
                </a:solidFill>
                <a:latin typeface="Arial" panose="020B0604020202020204"/>
                <a:ea typeface="Arial" panose="020B0604020202020204"/>
                <a:cs typeface="Arial" panose="020B0604020202020204"/>
              </a:rPr>
              <a:t>Chưa có URL public</a:t>
            </a:r>
            <a:endParaRPr sz="1275">
              <a:solidFill>
                <a:srgbClr val="1D2939"/>
              </a:solidFill>
              <a:latin typeface="Arial" panose="020B0604020202020204"/>
              <a:ea typeface="Arial" panose="020B0604020202020204"/>
              <a:cs typeface="Arial" panose="020B0604020202020204"/>
            </a:endParaRPr>
          </a:p>
          <a:p>
            <a:pPr marL="254000" indent="-127000" algn="l">
              <a:lnSpc>
                <a:spcPct val="100000"/>
              </a:lnSpc>
              <a:spcAft>
                <a:spcPts val="1200"/>
              </a:spcAft>
              <a:buNone/>
              <a:defRPr sz="1275">
                <a:solidFill>
                  <a:srgbClr val="1D2939"/>
                </a:solidFill>
                <a:latin typeface="Arial" panose="020B0604020202020204"/>
                <a:ea typeface="Arial" panose="020B0604020202020204"/>
                <a:cs typeface="Arial" panose="020B0604020202020204"/>
              </a:defRPr>
            </a:pPr>
            <a:r>
              <a:rPr sz="1275">
                <a:solidFill>
                  <a:srgbClr val="1D2939"/>
                </a:solidFill>
                <a:latin typeface="Arial" panose="020B0604020202020204"/>
                <a:ea typeface="Arial" panose="020B0604020202020204"/>
                <a:cs typeface="Arial" panose="020B0604020202020204"/>
              </a:rPr>
              <a:t>Docker runtime chưa xác minh</a:t>
            </a:r>
            <a:endParaRPr sz="1275">
              <a:solidFill>
                <a:srgbClr val="1D2939"/>
              </a:solidFill>
              <a:latin typeface="Arial" panose="020B0604020202020204"/>
              <a:ea typeface="Arial" panose="020B0604020202020204"/>
              <a:cs typeface="Arial" panose="020B0604020202020204"/>
            </a:endParaRPr>
          </a:p>
          <a:p>
            <a:pPr marL="254000" indent="-127000" algn="l">
              <a:lnSpc>
                <a:spcPct val="100000"/>
              </a:lnSpc>
              <a:spcAft>
                <a:spcPts val="1200"/>
              </a:spcAft>
              <a:buNone/>
              <a:defRPr sz="1275">
                <a:solidFill>
                  <a:srgbClr val="1D2939"/>
                </a:solidFill>
                <a:latin typeface="Arial" panose="020B0604020202020204"/>
                <a:ea typeface="Arial" panose="020B0604020202020204"/>
                <a:cs typeface="Arial" panose="020B0604020202020204"/>
              </a:defRPr>
            </a:pPr>
            <a:r>
              <a:rPr sz="1275">
                <a:solidFill>
                  <a:srgbClr val="1D2939"/>
                </a:solidFill>
                <a:latin typeface="Arial" panose="020B0604020202020204"/>
                <a:ea typeface="Arial" panose="020B0604020202020204"/>
                <a:cs typeface="Arial" panose="020B0604020202020204"/>
              </a:rPr>
              <a:t>Mongo history chưa test thật</a:t>
            </a:r>
            <a:endParaRPr sz="1275">
              <a:solidFill>
                <a:srgbClr val="1D2939"/>
              </a:solidFill>
              <a:latin typeface="Arial" panose="020B0604020202020204"/>
              <a:ea typeface="Arial" panose="020B0604020202020204"/>
              <a:cs typeface="Arial" panose="020B0604020202020204"/>
            </a:endParaRPr>
          </a:p>
          <a:p>
            <a:pPr marL="254000" indent="-127000" algn="l">
              <a:lnSpc>
                <a:spcPct val="100000"/>
              </a:lnSpc>
              <a:spcAft>
                <a:spcPts val="1200"/>
              </a:spcAft>
              <a:buNone/>
              <a:defRPr sz="1275">
                <a:solidFill>
                  <a:srgbClr val="1D2939"/>
                </a:solidFill>
                <a:latin typeface="Arial" panose="020B0604020202020204"/>
                <a:ea typeface="Arial" panose="020B0604020202020204"/>
                <a:cs typeface="Arial" panose="020B0604020202020204"/>
              </a:defRPr>
            </a:pPr>
            <a:r>
              <a:rPr sz="1275">
                <a:solidFill>
                  <a:srgbClr val="1D2939"/>
                </a:solidFill>
                <a:latin typeface="Arial" panose="020B0604020202020204"/>
                <a:ea typeface="Arial" panose="020B0604020202020204"/>
                <a:cs typeface="Arial" panose="020B0604020202020204"/>
              </a:rPr>
              <a:t>Chưa có k6 / Lighthouse</a:t>
            </a:r>
            <a:endParaRPr sz="1275">
              <a:solidFill>
                <a:srgbClr val="1D2939"/>
              </a:solidFill>
              <a:latin typeface="Arial" panose="020B0604020202020204"/>
              <a:ea typeface="Arial" panose="020B0604020202020204"/>
              <a:cs typeface="Arial" panose="020B0604020202020204"/>
            </a:endParaRPr>
          </a:p>
          <a:p>
            <a:pPr marL="254000" indent="-127000" algn="l">
              <a:lnSpc>
                <a:spcPct val="100000"/>
              </a:lnSpc>
              <a:spcAft>
                <a:spcPts val="1200"/>
              </a:spcAft>
              <a:buNone/>
              <a:defRPr sz="1275">
                <a:solidFill>
                  <a:srgbClr val="1D2939"/>
                </a:solidFill>
                <a:latin typeface="Arial" panose="020B0604020202020204"/>
                <a:ea typeface="Arial" panose="020B0604020202020204"/>
                <a:cs typeface="Arial" panose="020B0604020202020204"/>
              </a:defRPr>
            </a:pPr>
            <a:r>
              <a:rPr sz="1275">
                <a:solidFill>
                  <a:srgbClr val="1D2939"/>
                </a:solidFill>
                <a:latin typeface="Arial" panose="020B0604020202020204"/>
                <a:ea typeface="Arial" panose="020B0604020202020204"/>
                <a:cs typeface="Arial" panose="020B0604020202020204"/>
              </a:rPr>
              <a:t>Target có mức trần</a:t>
            </a:r>
            <a:endParaRPr sz="1275">
              <a:solidFill>
                <a:srgbClr val="1D2939"/>
              </a:solidFill>
              <a:latin typeface="Arial" panose="020B0604020202020204"/>
              <a:ea typeface="Arial" panose="020B0604020202020204"/>
              <a:cs typeface="Arial" panose="020B0604020202020204"/>
            </a:endParaRPr>
          </a:p>
        </p:txBody>
      </p:sp>
      <p:sp>
        <p:nvSpPr>
          <p:cNvPr id="12" name="Rounded Rectangle 11"/>
          <p:cNvSpPr>
            <a:spLocks noGrp="1"/>
          </p:cNvSpPr>
          <p:nvPr/>
        </p:nvSpPr>
        <p:spPr>
          <a:xfrm>
            <a:off x="7810500" y="1571625"/>
            <a:ext cx="3238500" cy="3714750"/>
          </a:xfrm>
          <a:prstGeom prst="roundRect">
            <a:avLst>
              <a:gd name="adj" fmla="val 2059"/>
            </a:avLst>
          </a:prstGeom>
          <a:solidFill>
            <a:srgbClr val="FFFFFF"/>
          </a:solidFill>
          <a:ln w="9525">
            <a:solidFill>
              <a:srgbClr val="E9C46A"/>
            </a:solidFill>
            <a:prstDash val="solid"/>
          </a:ln>
        </p:spPr>
        <p:style>
          <a:lnRef idx="0">
            <a:srgbClr val="FFFFFF"/>
          </a:lnRef>
          <a:fillRef idx="0">
            <a:srgbClr val="FFFFFF"/>
          </a:fillRef>
          <a:effectRef idx="6">
            <a:srgbClr val="FFFFFF"/>
          </a:effectRef>
          <a:fontRef idx="major"/>
        </p:style>
      </p:sp>
      <p:sp>
        <p:nvSpPr>
          <p:cNvPr id="13" name="Rectangle 12"/>
          <p:cNvSpPr>
            <a:spLocks noGrp="1"/>
          </p:cNvSpPr>
          <p:nvPr/>
        </p:nvSpPr>
        <p:spPr>
          <a:xfrm>
            <a:off x="7810500" y="1571625"/>
            <a:ext cx="3238500" cy="85725"/>
          </a:xfrm>
          <a:prstGeom prst="rect">
            <a:avLst/>
          </a:prstGeom>
          <a:solidFill>
            <a:srgbClr val="E9C46A"/>
          </a:solidFill>
          <a:ln w="0">
            <a:noFill/>
            <a:prstDash val="solid"/>
          </a:ln>
        </p:spPr>
      </p:sp>
      <p:sp>
        <p:nvSpPr>
          <p:cNvPr id="14" name="Rectangle 13"/>
          <p:cNvSpPr>
            <a:spLocks noGrp="1"/>
          </p:cNvSpPr>
          <p:nvPr/>
        </p:nvSpPr>
        <p:spPr>
          <a:xfrm>
            <a:off x="8048625" y="1885950"/>
            <a:ext cx="2762250" cy="400050"/>
          </a:xfrm>
          <a:prstGeom prst="rect">
            <a:avLst/>
          </a:prstGeom>
          <a:noFill/>
          <a:ln w="0">
            <a:noFill/>
            <a:prstDash val="solid"/>
          </a:ln>
        </p:spPr>
        <p:txBody>
          <a:bodyPr wrap="square" lIns="95250" tIns="57150" rIns="95250" bIns="57150" anchor="ctr">
            <a:normAutofit/>
          </a:bodyPr>
          <a:lstStyle/>
          <a:p>
            <a:pPr algn="ctr">
              <a:lnSpc>
                <a:spcPct val="100000"/>
              </a:lnSpc>
              <a:buNone/>
              <a:defRPr sz="1800" b="1">
                <a:solidFill>
                  <a:srgbClr val="102A43"/>
                </a:solidFill>
                <a:latin typeface="Arial" panose="020B0604020202020204"/>
                <a:ea typeface="Arial" panose="020B0604020202020204"/>
                <a:cs typeface="Arial" panose="020B0604020202020204"/>
              </a:defRPr>
            </a:pPr>
            <a:r>
              <a:rPr sz="1800" b="1">
                <a:solidFill>
                  <a:srgbClr val="102A43"/>
                </a:solidFill>
                <a:latin typeface="Arial" panose="020B0604020202020204"/>
                <a:ea typeface="Arial" panose="020B0604020202020204"/>
                <a:cs typeface="Arial" panose="020B0604020202020204"/>
              </a:rPr>
              <a:t>Bước tiếp theo</a:t>
            </a:r>
            <a:endParaRPr sz="1800" b="1">
              <a:solidFill>
                <a:srgbClr val="102A43"/>
              </a:solidFill>
              <a:latin typeface="Arial" panose="020B0604020202020204"/>
              <a:ea typeface="Arial" panose="020B0604020202020204"/>
              <a:cs typeface="Arial" panose="020B0604020202020204"/>
            </a:endParaRPr>
          </a:p>
        </p:txBody>
      </p:sp>
      <p:sp>
        <p:nvSpPr>
          <p:cNvPr id="15" name="Rectangle 14"/>
          <p:cNvSpPr>
            <a:spLocks noGrp="1"/>
          </p:cNvSpPr>
          <p:nvPr/>
        </p:nvSpPr>
        <p:spPr>
          <a:xfrm>
            <a:off x="8077200" y="2571750"/>
            <a:ext cx="2667000" cy="2190750"/>
          </a:xfrm>
          <a:prstGeom prst="rect">
            <a:avLst/>
          </a:prstGeom>
          <a:noFill/>
          <a:ln w="0">
            <a:noFill/>
            <a:prstDash val="solid"/>
          </a:ln>
        </p:spPr>
        <p:txBody>
          <a:bodyPr wrap="square" lIns="114300" tIns="76200" rIns="114300" bIns="76200" anchor="t">
            <a:normAutofit/>
          </a:bodyPr>
          <a:lstStyle/>
          <a:p>
            <a:pPr marL="254000" indent="-127000" algn="l">
              <a:lnSpc>
                <a:spcPct val="100000"/>
              </a:lnSpc>
              <a:spcAft>
                <a:spcPts val="1200"/>
              </a:spcAft>
              <a:buNone/>
              <a:defRPr sz="1275">
                <a:solidFill>
                  <a:srgbClr val="1D2939"/>
                </a:solidFill>
                <a:latin typeface="Arial" panose="020B0604020202020204"/>
                <a:ea typeface="Arial" panose="020B0604020202020204"/>
                <a:cs typeface="Arial" panose="020B0604020202020204"/>
              </a:defRPr>
            </a:pPr>
            <a:r>
              <a:rPr sz="1275">
                <a:solidFill>
                  <a:srgbClr val="1D2939"/>
                </a:solidFill>
                <a:latin typeface="Arial" panose="020B0604020202020204"/>
                <a:ea typeface="Arial" panose="020B0604020202020204"/>
                <a:cs typeface="Arial" panose="020B0604020202020204"/>
              </a:rPr>
              <a:t>Chạy Compose end-to-end</a:t>
            </a:r>
            <a:endParaRPr sz="1275">
              <a:solidFill>
                <a:srgbClr val="1D2939"/>
              </a:solidFill>
              <a:latin typeface="Arial" panose="020B0604020202020204"/>
              <a:ea typeface="Arial" panose="020B0604020202020204"/>
              <a:cs typeface="Arial" panose="020B0604020202020204"/>
            </a:endParaRPr>
          </a:p>
          <a:p>
            <a:pPr marL="254000" indent="-127000" algn="l">
              <a:lnSpc>
                <a:spcPct val="100000"/>
              </a:lnSpc>
              <a:spcAft>
                <a:spcPts val="1200"/>
              </a:spcAft>
              <a:buNone/>
              <a:defRPr sz="1275">
                <a:solidFill>
                  <a:srgbClr val="1D2939"/>
                </a:solidFill>
                <a:latin typeface="Arial" panose="020B0604020202020204"/>
                <a:ea typeface="Arial" panose="020B0604020202020204"/>
                <a:cs typeface="Arial" panose="020B0604020202020204"/>
              </a:defRPr>
            </a:pPr>
            <a:r>
              <a:rPr sz="1275">
                <a:solidFill>
                  <a:srgbClr val="1D2939"/>
                </a:solidFill>
                <a:latin typeface="Arial" panose="020B0604020202020204"/>
                <a:ea typeface="Arial" panose="020B0604020202020204"/>
                <a:cs typeface="Arial" panose="020B0604020202020204"/>
              </a:rPr>
              <a:t>Đo load và frontend</a:t>
            </a:r>
            <a:endParaRPr sz="1275">
              <a:solidFill>
                <a:srgbClr val="1D2939"/>
              </a:solidFill>
              <a:latin typeface="Arial" panose="020B0604020202020204"/>
              <a:ea typeface="Arial" panose="020B0604020202020204"/>
              <a:cs typeface="Arial" panose="020B0604020202020204"/>
            </a:endParaRPr>
          </a:p>
          <a:p>
            <a:pPr marL="254000" indent="-127000" algn="l">
              <a:lnSpc>
                <a:spcPct val="100000"/>
              </a:lnSpc>
              <a:spcAft>
                <a:spcPts val="1200"/>
              </a:spcAft>
              <a:buNone/>
              <a:defRPr sz="1275">
                <a:solidFill>
                  <a:srgbClr val="1D2939"/>
                </a:solidFill>
                <a:latin typeface="Arial" panose="020B0604020202020204"/>
                <a:ea typeface="Arial" panose="020B0604020202020204"/>
                <a:cs typeface="Arial" panose="020B0604020202020204"/>
              </a:defRPr>
            </a:pPr>
            <a:r>
              <a:rPr sz="1275">
                <a:solidFill>
                  <a:srgbClr val="1D2939"/>
                </a:solidFill>
                <a:latin typeface="Arial" panose="020B0604020202020204"/>
                <a:ea typeface="Arial" panose="020B0604020202020204"/>
                <a:cs typeface="Arial" panose="020B0604020202020204"/>
              </a:rPr>
              <a:t>Pin version dependencies</a:t>
            </a:r>
            <a:endParaRPr sz="1275">
              <a:solidFill>
                <a:srgbClr val="1D2939"/>
              </a:solidFill>
              <a:latin typeface="Arial" panose="020B0604020202020204"/>
              <a:ea typeface="Arial" panose="020B0604020202020204"/>
              <a:cs typeface="Arial" panose="020B0604020202020204"/>
            </a:endParaRPr>
          </a:p>
          <a:p>
            <a:pPr marL="254000" indent="-127000" algn="l">
              <a:lnSpc>
                <a:spcPct val="100000"/>
              </a:lnSpc>
              <a:spcAft>
                <a:spcPts val="1200"/>
              </a:spcAft>
              <a:buNone/>
              <a:defRPr sz="1275">
                <a:solidFill>
                  <a:srgbClr val="1D2939"/>
                </a:solidFill>
                <a:latin typeface="Arial" panose="020B0604020202020204"/>
                <a:ea typeface="Arial" panose="020B0604020202020204"/>
                <a:cs typeface="Arial" panose="020B0604020202020204"/>
              </a:defRPr>
            </a:pPr>
            <a:r>
              <a:rPr sz="1275">
                <a:solidFill>
                  <a:srgbClr val="1D2939"/>
                </a:solidFill>
                <a:latin typeface="Arial" panose="020B0604020202020204"/>
                <a:ea typeface="Arial" panose="020B0604020202020204"/>
                <a:cs typeface="Arial" panose="020B0604020202020204"/>
              </a:rPr>
              <a:t>Giám sát drift / latency</a:t>
            </a:r>
            <a:endParaRPr sz="1275">
              <a:solidFill>
                <a:srgbClr val="1D2939"/>
              </a:solidFill>
              <a:latin typeface="Arial" panose="020B0604020202020204"/>
              <a:ea typeface="Arial" panose="020B0604020202020204"/>
              <a:cs typeface="Arial" panose="020B0604020202020204"/>
            </a:endParaRPr>
          </a:p>
          <a:p>
            <a:pPr marL="254000" indent="-127000" algn="l">
              <a:lnSpc>
                <a:spcPct val="100000"/>
              </a:lnSpc>
              <a:spcAft>
                <a:spcPts val="1200"/>
              </a:spcAft>
              <a:buNone/>
              <a:defRPr sz="1275">
                <a:solidFill>
                  <a:srgbClr val="1D2939"/>
                </a:solidFill>
                <a:latin typeface="Arial" panose="020B0604020202020204"/>
                <a:ea typeface="Arial" panose="020B0604020202020204"/>
                <a:cs typeface="Arial" panose="020B0604020202020204"/>
              </a:defRPr>
            </a:pPr>
            <a:r>
              <a:rPr sz="1275">
                <a:solidFill>
                  <a:srgbClr val="1D2939"/>
                </a:solidFill>
                <a:latin typeface="Arial" panose="020B0604020202020204"/>
                <a:ea typeface="Arial" panose="020B0604020202020204"/>
                <a:cs typeface="Arial" panose="020B0604020202020204"/>
              </a:rPr>
              <a:t>Bổ sung CI/CD</a:t>
            </a:r>
            <a:endParaRPr sz="1275">
              <a:solidFill>
                <a:srgbClr val="1D2939"/>
              </a:solidFill>
              <a:latin typeface="Arial" panose="020B0604020202020204"/>
              <a:ea typeface="Arial" panose="020B0604020202020204"/>
              <a:cs typeface="Arial" panose="020B0604020202020204"/>
            </a:endParaRPr>
          </a:p>
        </p:txBody>
      </p:sp>
      <p:sp>
        <p:nvSpPr>
          <p:cNvPr id="16" name="Rectangle 15"/>
          <p:cNvSpPr>
            <a:spLocks noGrp="1"/>
          </p:cNvSpPr>
          <p:nvPr/>
        </p:nvSpPr>
        <p:spPr>
          <a:xfrm>
            <a:off x="666750" y="5619750"/>
            <a:ext cx="10858500" cy="552450"/>
          </a:xfrm>
          <a:prstGeom prst="rect">
            <a:avLst/>
          </a:prstGeom>
          <a:noFill/>
          <a:ln w="0">
            <a:noFill/>
            <a:prstDash val="solid"/>
          </a:ln>
        </p:spPr>
        <p:txBody>
          <a:bodyPr wrap="square" lIns="95250" tIns="57150" rIns="95250" bIns="57150" anchor="ctr">
            <a:normAutofit fontScale="91270"/>
          </a:bodyPr>
          <a:lstStyle/>
          <a:p>
            <a:pPr algn="ctr">
              <a:lnSpc>
                <a:spcPct val="100000"/>
              </a:lnSpc>
              <a:buNone/>
              <a:defRPr sz="3150" b="1">
                <a:solidFill>
                  <a:srgbClr val="FFFFFF"/>
                </a:solidFill>
                <a:latin typeface="Arial" panose="020B0604020202020204"/>
                <a:ea typeface="Arial" panose="020B0604020202020204"/>
                <a:cs typeface="Arial" panose="020B0604020202020204"/>
              </a:defRPr>
            </a:pPr>
            <a:r>
              <a:rPr sz="3150" b="1">
                <a:solidFill>
                  <a:srgbClr val="FFFFFF"/>
                </a:solidFill>
                <a:latin typeface="Arial" panose="020B0604020202020204"/>
                <a:ea typeface="Arial" panose="020B0604020202020204"/>
                <a:cs typeface="Arial" panose="020B0604020202020204"/>
              </a:rPr>
              <a:t>Q&amp;A</a:t>
            </a:r>
            <a:endParaRPr sz="3150" b="1">
              <a:solidFill>
                <a:srgbClr val="FFFFFF"/>
              </a:solidFill>
              <a:latin typeface="Arial" panose="020B0604020202020204"/>
              <a:ea typeface="Arial" panose="020B0604020202020204"/>
              <a:cs typeface="Arial" panose="020B0604020202020204"/>
            </a:endParaRPr>
          </a:p>
        </p:txBody>
      </p:sp>
      <p:sp>
        <p:nvSpPr>
          <p:cNvPr id="17" name="Straight Connector 16"/>
          <p:cNvSpPr>
            <a:spLocks noGrp="1"/>
          </p:cNvSpPr>
          <p:nvPr/>
        </p:nvSpPr>
        <p:spPr>
          <a:xfrm>
            <a:off x="666750" y="6477000"/>
            <a:ext cx="10858500" cy="0"/>
          </a:xfrm>
          <a:prstGeom prst="line">
            <a:avLst/>
          </a:prstGeom>
          <a:noFill/>
          <a:ln w="9525">
            <a:solidFill>
              <a:srgbClr val="FFFFFF">
                <a:alpha val="33333"/>
              </a:srgbClr>
            </a:solidFill>
            <a:prstDash val="solid"/>
          </a:ln>
        </p:spPr>
      </p:sp>
      <p:sp>
        <p:nvSpPr>
          <p:cNvPr id="18" name="Rectangle 17"/>
          <p:cNvSpPr>
            <a:spLocks noGrp="1"/>
          </p:cNvSpPr>
          <p:nvPr/>
        </p:nvSpPr>
        <p:spPr>
          <a:xfrm>
            <a:off x="666750" y="6524625"/>
            <a:ext cx="10572750" cy="209550"/>
          </a:xfrm>
          <a:prstGeom prst="rect">
            <a:avLst/>
          </a:prstGeom>
          <a:noFill/>
          <a:ln w="0">
            <a:noFill/>
            <a:prstDash val="solid"/>
          </a:ln>
        </p:spPr>
        <p:txBody>
          <a:bodyPr wrap="square" lIns="0" tIns="0" rIns="0" bIns="0" anchor="t">
            <a:normAutofit/>
          </a:bodyPr>
          <a:lstStyle/>
          <a:p>
            <a:pPr algn="l">
              <a:lnSpc>
                <a:spcPct val="100000"/>
              </a:lnSpc>
              <a:buNone/>
              <a:defRPr sz="825" b="0">
                <a:solidFill>
                  <a:srgbClr val="D9E3EC"/>
                </a:solidFill>
                <a:latin typeface="Arial" panose="020B0604020202020204"/>
                <a:ea typeface="Arial" panose="020B0604020202020204"/>
                <a:cs typeface="Arial" panose="020B0604020202020204"/>
              </a:defRPr>
            </a:pPr>
            <a:r>
              <a:rPr sz="825" b="0">
                <a:solidFill>
                  <a:srgbClr val="D9E3EC"/>
                </a:solidFill>
                <a:latin typeface="Arial" panose="020B0604020202020204"/>
                <a:ea typeface="Arial" panose="020B0604020202020204"/>
                <a:cs typeface="Arial" panose="020B0604020202020204"/>
              </a:rPr>
              <a:t>Tổng hợp từ repository cali-house-price-prediction-git</a:t>
            </a:r>
            <a:endParaRPr sz="825" b="0">
              <a:solidFill>
                <a:srgbClr val="D9E3EC"/>
              </a:solidFill>
              <a:latin typeface="Arial" panose="020B0604020202020204"/>
              <a:ea typeface="Arial" panose="020B0604020202020204"/>
              <a:cs typeface="Arial" panose="020B0604020202020204"/>
            </a:endParaRP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6871</Words>
  <Application>WPS Presentation</Application>
  <PresentationFormat>Converted Presentation</PresentationFormat>
  <Paragraphs>638</Paragraphs>
  <Slides>16</Slides>
  <Notes>0</Notes>
  <HiddenSlides>0</HiddenSlides>
  <MMClips>0</MMClips>
  <ScaleCrop>false</ScaleCrop>
  <HeadingPairs>
    <vt:vector size="6" baseType="variant">
      <vt:variant>
        <vt:lpstr>已用的字体</vt:lpstr>
      </vt:variant>
      <vt:variant>
        <vt:i4>7</vt:i4>
      </vt:variant>
      <vt:variant>
        <vt:lpstr>主题</vt:lpstr>
      </vt:variant>
      <vt:variant>
        <vt:i4>1</vt:i4>
      </vt:variant>
      <vt:variant>
        <vt:lpstr>幻灯片标题</vt:lpstr>
      </vt:variant>
      <vt:variant>
        <vt:i4>16</vt:i4>
      </vt:variant>
    </vt:vector>
  </HeadingPairs>
  <TitlesOfParts>
    <vt:vector size="24" baseType="lpstr">
      <vt:lpstr>Arial</vt:lpstr>
      <vt:lpstr>SimSun</vt:lpstr>
      <vt:lpstr>Wingdings</vt:lpstr>
      <vt:lpstr>Arial</vt:lpstr>
      <vt:lpstr>Microsoft YaHei</vt:lpstr>
      <vt:lpstr>Arial Unicode MS</vt:lpstr>
      <vt:lpstr>Calibri</vt:lpstr>
      <vt:lpstr>ChatGPT</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Đào Chính Quang</cp:lastModifiedBy>
  <cp:revision>1</cp:revision>
  <dcterms:created xsi:type="dcterms:W3CDTF">2026-09-27T12:29:53Z</dcterms:created>
  <dcterms:modified xsi:type="dcterms:W3CDTF">2026-09-27T12:29:53Z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1033-12.1.0.28485</vt:lpwstr>
  </property>
  <property fmtid="{D5CDD505-2E9C-101B-9397-08002B2CF9AE}" pid="3" name="ICV">
    <vt:lpwstr>CD0675A086CB42FCA49D615082F5B964_12</vt:lpwstr>
  </property>
</Properties>
</file>